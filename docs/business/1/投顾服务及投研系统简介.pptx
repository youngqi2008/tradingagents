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8" r:id="rId10"/>
    <p:sldId id="261" r:id="rId11"/>
    <p:sldId id="269" r:id="rId12"/>
    <p:sldId id="262" r:id="rId13"/>
    <p:sldId id="263" r:id="rId14"/>
    <p:sldId id="264" r:id="rId15"/>
    <p:sldId id="265" r:id="rId16"/>
    <p:sldId id="270" r:id="rId17"/>
    <p:sldId id="266" r:id="rId18"/>
    <p:sldId id="272" r:id="rId19"/>
    <p:sldId id="267" r:id="rId20"/>
  </p:sldIdLst>
  <p:sldSz cx="12192000" cy="6858000"/>
  <p:notesSz cx="6858000" cy="12192000"/>
  <p:embeddedFontLst>
    <p:embeddedFont>
      <p:font typeface="Liter" panose="02000503030000020004" pitchFamily="34" charset="0"/>
      <p:regular r:id="rId24"/>
    </p:embeddedFont>
    <p:embeddedFont>
      <p:font typeface="Liter" panose="02000503030000020004" pitchFamily="34" charset="-122"/>
      <p:regular r:id="rId25"/>
    </p:embeddedFont>
    <p:embeddedFont>
      <p:font typeface="Liter" panose="02000503030000020004" pitchFamily="34" charset="-120"/>
      <p:regular r:id="rId26"/>
    </p:embeddedFont>
    <p:embeddedFont>
      <p:font typeface="MiSans" pitchFamily="34" charset="-122"/>
      <p:regular r:id="rId27"/>
    </p:embeddedFont>
    <p:embeddedFont>
      <p:font typeface="MiSans" pitchFamily="34" charset="-120"/>
      <p:regular r:id="rId28"/>
    </p:embeddedFont>
    <p:embeddedFont>
      <p:font typeface="Alimama ShuHeiTi" pitchFamily="34" charset="-122"/>
      <p:bold r:id="rId29"/>
    </p:embeddedFont>
    <p:embeddedFont>
      <p:font typeface="Alimama ShuHeiTi" pitchFamily="34" charset="-120"/>
      <p:bold r:id="rId30"/>
    </p:embeddedFont>
    <p:embeddedFont>
      <p:font typeface="Noto Sans SC" panose="020B0200000000000000" pitchFamily="34" charset="-122"/>
      <p:regular r:id="rId31"/>
    </p:embeddedFont>
    <p:embeddedFont>
      <p:font typeface="Noto Sans SC" panose="020B0200000000000000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font" Target="fonts/font13.fntdata"/><Relationship Id="rId35" Type="http://schemas.openxmlformats.org/officeDocument/2006/relationships/font" Target="fonts/font12.fntdata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c7b5a6b88d676e68f462de03747ebb93f7cc8333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0327" y="514350"/>
            <a:ext cx="3333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43000" y="43815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90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74295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智能研报系统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466975"/>
            <a:ext cx="1177290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投顾服务及投研系统简介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4766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0" scaled="1"/>
          </a:gradFill>
        </p:spPr>
      </p:sp>
      <p:sp>
        <p:nvSpPr>
          <p:cNvPr id="10" name="Text 7"/>
          <p:cNvSpPr/>
          <p:nvPr/>
        </p:nvSpPr>
        <p:spPr>
          <a:xfrm>
            <a:off x="381000" y="3819525"/>
            <a:ext cx="11572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基于多智能体AI的实战验证与商业展望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4813" y="5962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12" name="Text 9"/>
          <p:cNvSpPr/>
          <p:nvPr/>
        </p:nvSpPr>
        <p:spPr>
          <a:xfrm>
            <a:off x="733425" y="594360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实战验证 · 系统支撑 · 商业闭环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6719" y="6267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4" name="Text 11"/>
          <p:cNvSpPr/>
          <p:nvPr/>
        </p:nvSpPr>
        <p:spPr>
          <a:xfrm>
            <a:off x="733425" y="6248400"/>
            <a:ext cx="828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2026年2月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59355" y="5638800"/>
            <a:ext cx="12477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58</a:t>
            </a:r>
            <a:r>
              <a:rPr lang="en-US" sz="225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万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68905" y="6248400"/>
            <a:ext cx="1038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累计付费验证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从0到1：AI投研系统的实战验证之路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实战是检验真理的唯一标准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1975" y="1957388"/>
            <a:ext cx="19050" cy="3819525"/>
          </a:xfrm>
          <a:custGeom>
            <a:avLst/>
            <a:gdLst/>
            <a:ahLst/>
            <a:cxnLst/>
            <a:rect l="l" t="t" r="r" b="b"/>
            <a:pathLst>
              <a:path w="19050" h="3819525">
                <a:moveTo>
                  <a:pt x="0" y="0"/>
                </a:moveTo>
                <a:lnTo>
                  <a:pt x="19050" y="0"/>
                </a:lnTo>
                <a:lnTo>
                  <a:pt x="19050" y="3819525"/>
                </a:lnTo>
                <a:lnTo>
                  <a:pt x="0" y="38195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0">
                <a:srgbClr val="FFFFFF"/>
              </a:gs>
              <a:gs pos="50000">
                <a:srgbClr val="4A6C8C"/>
              </a:gs>
              <a:gs pos="100000">
                <a:srgbClr val="7D90A1"/>
              </a:gs>
            </a:gsLst>
            <a:lin ang="5400000" scaled="1"/>
          </a:gradFill>
        </p:spPr>
      </p:sp>
      <p:sp>
        <p:nvSpPr>
          <p:cNvPr id="6" name="Text 4"/>
          <p:cNvSpPr/>
          <p:nvPr/>
        </p:nvSpPr>
        <p:spPr>
          <a:xfrm>
            <a:off x="990600" y="1814513"/>
            <a:ext cx="571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10.30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0406" y="1804988"/>
            <a:ext cx="476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启航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2119313"/>
            <a:ext cx="1089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项目正式启动运营，开启AI投研实战验证之旅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433638"/>
            <a:ext cx="1076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11.07 - 11.22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89993" y="2424113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关键战役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2738438"/>
            <a:ext cx="1089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精准捕捉 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沃尔德、谷歌链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等主升浪机会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5363" y="3009900"/>
            <a:ext cx="1314450" cy="352425"/>
          </a:xfrm>
          <a:custGeom>
            <a:avLst/>
            <a:gdLst/>
            <a:ahLst/>
            <a:cxnLst/>
            <a:rect l="l" t="t" r="r" b="b"/>
            <a:pathLst>
              <a:path w="1314450" h="352425">
                <a:moveTo>
                  <a:pt x="76201" y="0"/>
                </a:moveTo>
                <a:lnTo>
                  <a:pt x="1238249" y="0"/>
                </a:lnTo>
                <a:cubicBezTo>
                  <a:pt x="1280334" y="0"/>
                  <a:pt x="1314450" y="34116"/>
                  <a:pt x="1314450" y="76201"/>
                </a:cubicBezTo>
                <a:lnTo>
                  <a:pt x="1314450" y="276224"/>
                </a:lnTo>
                <a:cubicBezTo>
                  <a:pt x="1314450" y="318309"/>
                  <a:pt x="1280334" y="352425"/>
                  <a:pt x="123824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4425" y="3100388"/>
            <a:ext cx="466725" cy="176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沃尔德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34728" y="3062288"/>
            <a:ext cx="646063" cy="242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+47.3%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76054" y="3009900"/>
            <a:ext cx="1333500" cy="352425"/>
          </a:xfrm>
          <a:custGeom>
            <a:avLst/>
            <a:gdLst/>
            <a:ahLst/>
            <a:cxnLst/>
            <a:rect l="l" t="t" r="r" b="b"/>
            <a:pathLst>
              <a:path w="1333500" h="352425">
                <a:moveTo>
                  <a:pt x="76201" y="0"/>
                </a:moveTo>
                <a:lnTo>
                  <a:pt x="1257299" y="0"/>
                </a:lnTo>
                <a:cubicBezTo>
                  <a:pt x="1299384" y="0"/>
                  <a:pt x="1333500" y="34116"/>
                  <a:pt x="1333500" y="76201"/>
                </a:cubicBezTo>
                <a:lnTo>
                  <a:pt x="1333500" y="276224"/>
                </a:lnTo>
                <a:cubicBezTo>
                  <a:pt x="1333500" y="318309"/>
                  <a:pt x="1299384" y="352425"/>
                  <a:pt x="125729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5116" y="3100388"/>
            <a:ext cx="466725" cy="176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谷歌链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15419" y="3062288"/>
            <a:ext cx="657895" cy="242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+42.3%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3452813"/>
            <a:ext cx="476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11.15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87091" y="3443288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首次商业化验证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3757613"/>
            <a:ext cx="10896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小红书首次打赏，单日收入 </a:t>
            </a: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1.5万元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，验证内容价值和用户付费意愿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4110038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11.16 - 11.22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61046" y="4100513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流量洗礼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4414838"/>
            <a:ext cx="1089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主号被封(0-1.3万粉)，小号接力(0-2000粉)，展现 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团队韧性与快速迭代能力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4729163"/>
            <a:ext cx="904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11.18 至今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13409" y="4719638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商业模式探索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600" y="5033963"/>
            <a:ext cx="1089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从知识星球 → 咸鱼 → VIP 1v1， 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累计付费58万元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，跑通MVP商业模式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5363" y="5343525"/>
            <a:ext cx="1019175" cy="581025"/>
          </a:xfrm>
          <a:custGeom>
            <a:avLst/>
            <a:gdLst/>
            <a:ahLst/>
            <a:cxnLst/>
            <a:rect l="l" t="t" r="r" b="b"/>
            <a:pathLst>
              <a:path w="1019175" h="581025">
                <a:moveTo>
                  <a:pt x="76201" y="0"/>
                </a:moveTo>
                <a:lnTo>
                  <a:pt x="942974" y="0"/>
                </a:lnTo>
                <a:cubicBezTo>
                  <a:pt x="985030" y="0"/>
                  <a:pt x="1019175" y="34145"/>
                  <a:pt x="1019175" y="76201"/>
                </a:cubicBezTo>
                <a:lnTo>
                  <a:pt x="1019175" y="504824"/>
                </a:lnTo>
                <a:cubicBezTo>
                  <a:pt x="1019175" y="546880"/>
                  <a:pt x="985030" y="581025"/>
                  <a:pt x="9429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30000"/>
                </a:srgbClr>
              </a:gs>
            </a:gsLst>
            <a:lin ang="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6806" y="5434013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29" name="Text 27"/>
          <p:cNvSpPr/>
          <p:nvPr/>
        </p:nvSpPr>
        <p:spPr>
          <a:xfrm>
            <a:off x="1357313" y="5405438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知识星球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4425" y="5595938"/>
            <a:ext cx="866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133600" y="5343525"/>
            <a:ext cx="752475" cy="581025"/>
          </a:xfrm>
          <a:custGeom>
            <a:avLst/>
            <a:gdLst/>
            <a:ahLst/>
            <a:cxnLst/>
            <a:rect l="l" t="t" r="r" b="b"/>
            <a:pathLst>
              <a:path w="752475" h="581025">
                <a:moveTo>
                  <a:pt x="76201" y="0"/>
                </a:moveTo>
                <a:lnTo>
                  <a:pt x="676274" y="0"/>
                </a:lnTo>
                <a:cubicBezTo>
                  <a:pt x="718330" y="0"/>
                  <a:pt x="752475" y="34145"/>
                  <a:pt x="752475" y="76201"/>
                </a:cubicBezTo>
                <a:lnTo>
                  <a:pt x="752475" y="504824"/>
                </a:lnTo>
                <a:cubicBezTo>
                  <a:pt x="752475" y="546880"/>
                  <a:pt x="718330" y="581025"/>
                  <a:pt x="6762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30000"/>
                </a:srgbClr>
              </a:gs>
            </a:gsLst>
            <a:lin ang="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55044" y="5434013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6251" y="-4167"/>
                </a:moveTo>
                <a:cubicBezTo>
                  <a:pt x="2787" y="-4167"/>
                  <a:pt x="0" y="-1380"/>
                  <a:pt x="0" y="2084"/>
                </a:cubicBezTo>
                <a:cubicBezTo>
                  <a:pt x="0" y="5548"/>
                  <a:pt x="2787" y="8334"/>
                  <a:pt x="6251" y="8334"/>
                </a:cubicBezTo>
                <a:lnTo>
                  <a:pt x="18049" y="8334"/>
                </a:lnTo>
                <a:cubicBezTo>
                  <a:pt x="19065" y="8334"/>
                  <a:pt x="19924" y="9064"/>
                  <a:pt x="20107" y="10053"/>
                </a:cubicBezTo>
                <a:lnTo>
                  <a:pt x="33676" y="84620"/>
                </a:lnTo>
                <a:cubicBezTo>
                  <a:pt x="35291" y="93527"/>
                  <a:pt x="43052" y="100013"/>
                  <a:pt x="52116" y="100013"/>
                </a:cubicBezTo>
                <a:lnTo>
                  <a:pt x="118765" y="100013"/>
                </a:lnTo>
                <a:cubicBezTo>
                  <a:pt x="122229" y="100013"/>
                  <a:pt x="125016" y="97226"/>
                  <a:pt x="125016" y="93762"/>
                </a:cubicBezTo>
                <a:cubicBezTo>
                  <a:pt x="125016" y="90298"/>
                  <a:pt x="122229" y="87511"/>
                  <a:pt x="118765" y="87511"/>
                </a:cubicBezTo>
                <a:lnTo>
                  <a:pt x="52116" y="87511"/>
                </a:lnTo>
                <a:cubicBezTo>
                  <a:pt x="49095" y="87511"/>
                  <a:pt x="46516" y="85349"/>
                  <a:pt x="45969" y="82380"/>
                </a:cubicBezTo>
                <a:lnTo>
                  <a:pt x="44641" y="75009"/>
                </a:lnTo>
                <a:lnTo>
                  <a:pt x="123713" y="75009"/>
                </a:lnTo>
                <a:cubicBezTo>
                  <a:pt x="131735" y="75009"/>
                  <a:pt x="138611" y="69306"/>
                  <a:pt x="140096" y="61414"/>
                </a:cubicBezTo>
                <a:lnTo>
                  <a:pt x="148170" y="18205"/>
                </a:lnTo>
                <a:cubicBezTo>
                  <a:pt x="149133" y="13075"/>
                  <a:pt x="145200" y="8334"/>
                  <a:pt x="139965" y="8334"/>
                </a:cubicBezTo>
                <a:lnTo>
                  <a:pt x="32478" y="8334"/>
                </a:lnTo>
                <a:lnTo>
                  <a:pt x="32374" y="7813"/>
                </a:lnTo>
                <a:cubicBezTo>
                  <a:pt x="31124" y="886"/>
                  <a:pt x="25081" y="-4167"/>
                  <a:pt x="18023" y="-4167"/>
                </a:cubicBezTo>
                <a:lnTo>
                  <a:pt x="6251" y="-4167"/>
                </a:lnTo>
                <a:close/>
                <a:moveTo>
                  <a:pt x="54173" y="133350"/>
                </a:moveTo>
                <a:cubicBezTo>
                  <a:pt x="61073" y="133350"/>
                  <a:pt x="66675" y="127748"/>
                  <a:pt x="66675" y="120848"/>
                </a:cubicBezTo>
                <a:cubicBezTo>
                  <a:pt x="66675" y="113949"/>
                  <a:pt x="61073" y="108347"/>
                  <a:pt x="54173" y="108347"/>
                </a:cubicBezTo>
                <a:cubicBezTo>
                  <a:pt x="47274" y="108347"/>
                  <a:pt x="41672" y="113949"/>
                  <a:pt x="41672" y="120848"/>
                </a:cubicBezTo>
                <a:cubicBezTo>
                  <a:pt x="41672" y="127748"/>
                  <a:pt x="47274" y="133350"/>
                  <a:pt x="54173" y="133350"/>
                </a:cubicBezTo>
                <a:close/>
                <a:moveTo>
                  <a:pt x="112514" y="133350"/>
                </a:moveTo>
                <a:cubicBezTo>
                  <a:pt x="119414" y="133350"/>
                  <a:pt x="125016" y="127748"/>
                  <a:pt x="125016" y="120848"/>
                </a:cubicBezTo>
                <a:cubicBezTo>
                  <a:pt x="125016" y="113949"/>
                  <a:pt x="119414" y="108347"/>
                  <a:pt x="112514" y="108347"/>
                </a:cubicBezTo>
                <a:cubicBezTo>
                  <a:pt x="105614" y="108347"/>
                  <a:pt x="100013" y="113949"/>
                  <a:pt x="100013" y="120848"/>
                </a:cubicBezTo>
                <a:cubicBezTo>
                  <a:pt x="100013" y="127748"/>
                  <a:pt x="105614" y="133350"/>
                  <a:pt x="112514" y="133350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33" name="Text 31"/>
          <p:cNvSpPr/>
          <p:nvPr/>
        </p:nvSpPr>
        <p:spPr>
          <a:xfrm>
            <a:off x="2495550" y="5405438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咸鱼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252663" y="5595938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26万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005138" y="5343525"/>
            <a:ext cx="895350" cy="581025"/>
          </a:xfrm>
          <a:custGeom>
            <a:avLst/>
            <a:gdLst/>
            <a:ahLst/>
            <a:cxnLst/>
            <a:rect l="l" t="t" r="r" b="b"/>
            <a:pathLst>
              <a:path w="895350" h="581025">
                <a:moveTo>
                  <a:pt x="76201" y="0"/>
                </a:moveTo>
                <a:lnTo>
                  <a:pt x="819149" y="0"/>
                </a:lnTo>
                <a:cubicBezTo>
                  <a:pt x="861205" y="0"/>
                  <a:pt x="895350" y="34145"/>
                  <a:pt x="895350" y="76201"/>
                </a:cubicBezTo>
                <a:lnTo>
                  <a:pt x="895350" y="504824"/>
                </a:lnTo>
                <a:cubicBezTo>
                  <a:pt x="895350" y="546880"/>
                  <a:pt x="861205" y="581025"/>
                  <a:pt x="8191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30000"/>
                </a:srgbClr>
              </a:gs>
            </a:gsLst>
            <a:lin ang="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34916" y="543401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1521" y="22711"/>
                </a:moveTo>
                <a:cubicBezTo>
                  <a:pt x="83917" y="20810"/>
                  <a:pt x="85427" y="17867"/>
                  <a:pt x="85427" y="14585"/>
                </a:cubicBezTo>
                <a:cubicBezTo>
                  <a:pt x="85427" y="8829"/>
                  <a:pt x="80765" y="4167"/>
                  <a:pt x="75009" y="4167"/>
                </a:cubicBezTo>
                <a:cubicBezTo>
                  <a:pt x="69253" y="4167"/>
                  <a:pt x="64591" y="8829"/>
                  <a:pt x="64591" y="14585"/>
                </a:cubicBezTo>
                <a:cubicBezTo>
                  <a:pt x="64591" y="17867"/>
                  <a:pt x="66128" y="20810"/>
                  <a:pt x="68498" y="22711"/>
                </a:cubicBezTo>
                <a:lnTo>
                  <a:pt x="50683" y="50736"/>
                </a:lnTo>
                <a:cubicBezTo>
                  <a:pt x="48079" y="54825"/>
                  <a:pt x="42531" y="55840"/>
                  <a:pt x="38651" y="52923"/>
                </a:cubicBezTo>
                <a:lnTo>
                  <a:pt x="23154" y="41333"/>
                </a:lnTo>
                <a:cubicBezTo>
                  <a:pt x="24326" y="39666"/>
                  <a:pt x="25003" y="37609"/>
                  <a:pt x="25003" y="35421"/>
                </a:cubicBezTo>
                <a:cubicBezTo>
                  <a:pt x="25003" y="29665"/>
                  <a:pt x="20341" y="25003"/>
                  <a:pt x="14585" y="25003"/>
                </a:cubicBezTo>
                <a:cubicBezTo>
                  <a:pt x="8829" y="25003"/>
                  <a:pt x="4167" y="29665"/>
                  <a:pt x="4167" y="35421"/>
                </a:cubicBezTo>
                <a:cubicBezTo>
                  <a:pt x="4167" y="41099"/>
                  <a:pt x="8725" y="45735"/>
                  <a:pt x="14377" y="45839"/>
                </a:cubicBezTo>
                <a:lnTo>
                  <a:pt x="22867" y="102487"/>
                </a:lnTo>
                <a:cubicBezTo>
                  <a:pt x="24092" y="110639"/>
                  <a:pt x="31098" y="116681"/>
                  <a:pt x="39354" y="116681"/>
                </a:cubicBezTo>
                <a:lnTo>
                  <a:pt x="110665" y="116681"/>
                </a:lnTo>
                <a:cubicBezTo>
                  <a:pt x="118921" y="116681"/>
                  <a:pt x="125927" y="110639"/>
                  <a:pt x="127151" y="102487"/>
                </a:cubicBezTo>
                <a:lnTo>
                  <a:pt x="135642" y="45839"/>
                </a:lnTo>
                <a:cubicBezTo>
                  <a:pt x="141294" y="45735"/>
                  <a:pt x="145852" y="41099"/>
                  <a:pt x="145852" y="35421"/>
                </a:cubicBezTo>
                <a:cubicBezTo>
                  <a:pt x="145852" y="29665"/>
                  <a:pt x="141190" y="25003"/>
                  <a:pt x="135434" y="25003"/>
                </a:cubicBezTo>
                <a:cubicBezTo>
                  <a:pt x="129678" y="25003"/>
                  <a:pt x="125016" y="29665"/>
                  <a:pt x="125016" y="35421"/>
                </a:cubicBezTo>
                <a:cubicBezTo>
                  <a:pt x="125016" y="37609"/>
                  <a:pt x="125693" y="39666"/>
                  <a:pt x="126865" y="41333"/>
                </a:cubicBezTo>
                <a:lnTo>
                  <a:pt x="111394" y="52949"/>
                </a:lnTo>
                <a:cubicBezTo>
                  <a:pt x="107513" y="55866"/>
                  <a:pt x="101966" y="54851"/>
                  <a:pt x="99361" y="50762"/>
                </a:cubicBezTo>
                <a:lnTo>
                  <a:pt x="81521" y="22711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7" name="Text 35"/>
          <p:cNvSpPr/>
          <p:nvPr/>
        </p:nvSpPr>
        <p:spPr>
          <a:xfrm>
            <a:off x="3367088" y="5405438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VIP 1v1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124200" y="5595938"/>
            <a:ext cx="742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1000" y="18049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8156" y="190976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1" name="Shape 39"/>
          <p:cNvSpPr/>
          <p:nvPr/>
        </p:nvSpPr>
        <p:spPr>
          <a:xfrm>
            <a:off x="381000" y="24241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8156" y="25288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3" name="Shape 41"/>
          <p:cNvSpPr/>
          <p:nvPr/>
        </p:nvSpPr>
        <p:spPr>
          <a:xfrm>
            <a:off x="381000" y="34432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8156" y="35480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32147"/>
                </a:moveTo>
                <a:lnTo>
                  <a:pt x="42863" y="26789"/>
                </a:lnTo>
                <a:cubicBezTo>
                  <a:pt x="42863" y="11988"/>
                  <a:pt x="71661" y="0"/>
                  <a:pt x="107156" y="0"/>
                </a:cubicBezTo>
                <a:cubicBezTo>
                  <a:pt x="142652" y="0"/>
                  <a:pt x="171450" y="11988"/>
                  <a:pt x="171450" y="26789"/>
                </a:cubicBezTo>
                <a:lnTo>
                  <a:pt x="171450" y="32147"/>
                </a:lnTo>
                <a:cubicBezTo>
                  <a:pt x="171450" y="42394"/>
                  <a:pt x="157620" y="51301"/>
                  <a:pt x="137294" y="55822"/>
                </a:cubicBezTo>
                <a:cubicBezTo>
                  <a:pt x="136490" y="54884"/>
                  <a:pt x="135653" y="53980"/>
                  <a:pt x="134816" y="53143"/>
                </a:cubicBezTo>
                <a:cubicBezTo>
                  <a:pt x="129626" y="48019"/>
                  <a:pt x="122928" y="44135"/>
                  <a:pt x="115930" y="41255"/>
                </a:cubicBezTo>
                <a:cubicBezTo>
                  <a:pt x="101899" y="35395"/>
                  <a:pt x="83615" y="32180"/>
                  <a:pt x="64294" y="32180"/>
                </a:cubicBezTo>
                <a:cubicBezTo>
                  <a:pt x="56960" y="32180"/>
                  <a:pt x="49794" y="32649"/>
                  <a:pt x="42929" y="33553"/>
                </a:cubicBezTo>
                <a:cubicBezTo>
                  <a:pt x="42863" y="33118"/>
                  <a:pt x="42863" y="32649"/>
                  <a:pt x="42863" y="32180"/>
                </a:cubicBezTo>
                <a:close/>
                <a:moveTo>
                  <a:pt x="144661" y="118207"/>
                </a:moveTo>
                <a:lnTo>
                  <a:pt x="144661" y="102736"/>
                </a:lnTo>
                <a:cubicBezTo>
                  <a:pt x="149717" y="101430"/>
                  <a:pt x="154472" y="99890"/>
                  <a:pt x="158792" y="98081"/>
                </a:cubicBezTo>
                <a:cubicBezTo>
                  <a:pt x="163212" y="96240"/>
                  <a:pt x="167532" y="93996"/>
                  <a:pt x="171450" y="91284"/>
                </a:cubicBezTo>
                <a:lnTo>
                  <a:pt x="171450" y="96441"/>
                </a:lnTo>
                <a:cubicBezTo>
                  <a:pt x="171450" y="105415"/>
                  <a:pt x="160902" y="113351"/>
                  <a:pt x="144661" y="118207"/>
                </a:cubicBezTo>
                <a:close/>
                <a:moveTo>
                  <a:pt x="144661" y="86060"/>
                </a:moveTo>
                <a:lnTo>
                  <a:pt x="144661" y="75009"/>
                </a:lnTo>
                <a:cubicBezTo>
                  <a:pt x="144661" y="73502"/>
                  <a:pt x="144527" y="72063"/>
                  <a:pt x="144326" y="70656"/>
                </a:cubicBezTo>
                <a:cubicBezTo>
                  <a:pt x="149516" y="69350"/>
                  <a:pt x="154372" y="67776"/>
                  <a:pt x="158792" y="65901"/>
                </a:cubicBezTo>
                <a:cubicBezTo>
                  <a:pt x="163212" y="64026"/>
                  <a:pt x="167532" y="61816"/>
                  <a:pt x="171450" y="59103"/>
                </a:cubicBezTo>
                <a:lnTo>
                  <a:pt x="171450" y="64260"/>
                </a:lnTo>
                <a:cubicBezTo>
                  <a:pt x="171450" y="73235"/>
                  <a:pt x="160902" y="81171"/>
                  <a:pt x="144661" y="86026"/>
                </a:cubicBezTo>
                <a:close/>
                <a:moveTo>
                  <a:pt x="0" y="80367"/>
                </a:moveTo>
                <a:lnTo>
                  <a:pt x="0" y="75009"/>
                </a:lnTo>
                <a:cubicBezTo>
                  <a:pt x="0" y="60208"/>
                  <a:pt x="28798" y="48220"/>
                  <a:pt x="64294" y="48220"/>
                </a:cubicBezTo>
                <a:cubicBezTo>
                  <a:pt x="99789" y="48220"/>
                  <a:pt x="128588" y="60208"/>
                  <a:pt x="128588" y="75009"/>
                </a:cubicBezTo>
                <a:lnTo>
                  <a:pt x="128588" y="80367"/>
                </a:lnTo>
                <a:cubicBezTo>
                  <a:pt x="128588" y="95168"/>
                  <a:pt x="99789" y="107156"/>
                  <a:pt x="64294" y="107156"/>
                </a:cubicBezTo>
                <a:cubicBezTo>
                  <a:pt x="28798" y="107156"/>
                  <a:pt x="0" y="95168"/>
                  <a:pt x="0" y="80367"/>
                </a:cubicBezTo>
                <a:close/>
                <a:moveTo>
                  <a:pt x="128588" y="112514"/>
                </a:moveTo>
                <a:cubicBezTo>
                  <a:pt x="128588" y="127315"/>
                  <a:pt x="99789" y="139303"/>
                  <a:pt x="64294" y="139303"/>
                </a:cubicBezTo>
                <a:cubicBezTo>
                  <a:pt x="28798" y="139303"/>
                  <a:pt x="0" y="127315"/>
                  <a:pt x="0" y="112514"/>
                </a:cubicBezTo>
                <a:lnTo>
                  <a:pt x="0" y="107357"/>
                </a:lnTo>
                <a:cubicBezTo>
                  <a:pt x="3884" y="110070"/>
                  <a:pt x="8204" y="112280"/>
                  <a:pt x="12658" y="114155"/>
                </a:cubicBezTo>
                <a:cubicBezTo>
                  <a:pt x="26689" y="120015"/>
                  <a:pt x="44972" y="123230"/>
                  <a:pt x="64294" y="123230"/>
                </a:cubicBezTo>
                <a:cubicBezTo>
                  <a:pt x="83615" y="123230"/>
                  <a:pt x="101899" y="119982"/>
                  <a:pt x="115930" y="114155"/>
                </a:cubicBezTo>
                <a:cubicBezTo>
                  <a:pt x="120350" y="112313"/>
                  <a:pt x="124670" y="110070"/>
                  <a:pt x="128588" y="107357"/>
                </a:cubicBezTo>
                <a:lnTo>
                  <a:pt x="128588" y="112514"/>
                </a:lnTo>
                <a:close/>
                <a:moveTo>
                  <a:pt x="128588" y="139504"/>
                </a:moveTo>
                <a:lnTo>
                  <a:pt x="128588" y="144661"/>
                </a:lnTo>
                <a:cubicBezTo>
                  <a:pt x="128588" y="159462"/>
                  <a:pt x="99789" y="171450"/>
                  <a:pt x="64294" y="171450"/>
                </a:cubicBezTo>
                <a:cubicBezTo>
                  <a:pt x="28798" y="171450"/>
                  <a:pt x="0" y="159462"/>
                  <a:pt x="0" y="144661"/>
                </a:cubicBezTo>
                <a:lnTo>
                  <a:pt x="0" y="139504"/>
                </a:lnTo>
                <a:cubicBezTo>
                  <a:pt x="3884" y="142216"/>
                  <a:pt x="8204" y="144427"/>
                  <a:pt x="12658" y="146302"/>
                </a:cubicBezTo>
                <a:cubicBezTo>
                  <a:pt x="26689" y="152162"/>
                  <a:pt x="44972" y="155377"/>
                  <a:pt x="64294" y="155377"/>
                </a:cubicBezTo>
                <a:cubicBezTo>
                  <a:pt x="83615" y="155377"/>
                  <a:pt x="101899" y="152128"/>
                  <a:pt x="115930" y="146302"/>
                </a:cubicBezTo>
                <a:cubicBezTo>
                  <a:pt x="120350" y="144460"/>
                  <a:pt x="124670" y="142216"/>
                  <a:pt x="128588" y="139504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5" name="Shape 43"/>
          <p:cNvSpPr/>
          <p:nvPr/>
        </p:nvSpPr>
        <p:spPr>
          <a:xfrm>
            <a:off x="381000" y="41005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8156" y="42052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68" y="64294"/>
                </a:moveTo>
                <a:lnTo>
                  <a:pt x="163413" y="64294"/>
                </a:lnTo>
                <a:cubicBezTo>
                  <a:pt x="167867" y="64294"/>
                  <a:pt x="171450" y="60711"/>
                  <a:pt x="171450" y="56257"/>
                </a:cubicBezTo>
                <a:lnTo>
                  <a:pt x="171450" y="8037"/>
                </a:lnTo>
                <a:cubicBezTo>
                  <a:pt x="171450" y="4789"/>
                  <a:pt x="169508" y="1842"/>
                  <a:pt x="166494" y="603"/>
                </a:cubicBezTo>
                <a:cubicBezTo>
                  <a:pt x="163480" y="-636"/>
                  <a:pt x="160031" y="67"/>
                  <a:pt x="157721" y="2344"/>
                </a:cubicBezTo>
                <a:lnTo>
                  <a:pt x="140408" y="19690"/>
                </a:lnTo>
                <a:cubicBezTo>
                  <a:pt x="125574" y="7400"/>
                  <a:pt x="106487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ubicBezTo>
                  <a:pt x="26521" y="45374"/>
                  <a:pt x="53344" y="21431"/>
                  <a:pt x="85725" y="21431"/>
                </a:cubicBezTo>
                <a:cubicBezTo>
                  <a:pt x="100593" y="21431"/>
                  <a:pt x="114255" y="26454"/>
                  <a:pt x="125138" y="34926"/>
                </a:cubicBezTo>
                <a:lnTo>
                  <a:pt x="109500" y="50564"/>
                </a:lnTo>
                <a:cubicBezTo>
                  <a:pt x="107190" y="52875"/>
                  <a:pt x="106520" y="56324"/>
                  <a:pt x="107759" y="59338"/>
                </a:cubicBezTo>
                <a:cubicBezTo>
                  <a:pt x="108998" y="62352"/>
                  <a:pt x="111945" y="64294"/>
                  <a:pt x="115193" y="64294"/>
                </a:cubicBezTo>
                <a:lnTo>
                  <a:pt x="160768" y="64294"/>
                </a:lnTo>
                <a:close/>
                <a:moveTo>
                  <a:pt x="170613" y="97948"/>
                </a:moveTo>
                <a:cubicBezTo>
                  <a:pt x="171450" y="92087"/>
                  <a:pt x="167365" y="86663"/>
                  <a:pt x="161538" y="85825"/>
                </a:cubicBezTo>
                <a:cubicBezTo>
                  <a:pt x="155711" y="84988"/>
                  <a:pt x="150253" y="89074"/>
                  <a:pt x="149416" y="94900"/>
                </a:cubicBezTo>
                <a:cubicBezTo>
                  <a:pt x="144962" y="126043"/>
                  <a:pt x="118140" y="149985"/>
                  <a:pt x="85758" y="149985"/>
                </a:cubicBezTo>
                <a:cubicBezTo>
                  <a:pt x="70891" y="149985"/>
                  <a:pt x="57228" y="144962"/>
                  <a:pt x="46345" y="136490"/>
                </a:cubicBezTo>
                <a:lnTo>
                  <a:pt x="61950" y="120886"/>
                </a:lnTo>
                <a:cubicBezTo>
                  <a:pt x="64260" y="118575"/>
                  <a:pt x="64930" y="115126"/>
                  <a:pt x="63691" y="112112"/>
                </a:cubicBezTo>
                <a:cubicBezTo>
                  <a:pt x="62452" y="109098"/>
                  <a:pt x="59505" y="107156"/>
                  <a:pt x="56257" y="107156"/>
                </a:cubicBezTo>
                <a:lnTo>
                  <a:pt x="8037" y="107156"/>
                </a:lnTo>
                <a:cubicBezTo>
                  <a:pt x="3583" y="107156"/>
                  <a:pt x="0" y="110739"/>
                  <a:pt x="0" y="115193"/>
                </a:cubicBezTo>
                <a:lnTo>
                  <a:pt x="0" y="163413"/>
                </a:lnTo>
                <a:cubicBezTo>
                  <a:pt x="0" y="166661"/>
                  <a:pt x="1942" y="169608"/>
                  <a:pt x="4956" y="170847"/>
                </a:cubicBezTo>
                <a:cubicBezTo>
                  <a:pt x="7970" y="172086"/>
                  <a:pt x="11419" y="171383"/>
                  <a:pt x="13729" y="169106"/>
                </a:cubicBezTo>
                <a:lnTo>
                  <a:pt x="31075" y="151760"/>
                </a:lnTo>
                <a:cubicBezTo>
                  <a:pt x="45876" y="164050"/>
                  <a:pt x="64963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7" name="Shape 45"/>
          <p:cNvSpPr/>
          <p:nvPr/>
        </p:nvSpPr>
        <p:spPr>
          <a:xfrm>
            <a:off x="381000" y="47196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8156" y="48244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1A1D21"/>
          </a:solidFill>
        </p:spPr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2780" y="3824605"/>
            <a:ext cx="4662805" cy="271018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780" y="1009650"/>
            <a:ext cx="4662000" cy="26820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6962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沃尔德(688028) - 主攻标的，3天收益47.3%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精准把握建仓时机，短线爆发力验证系统价值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00163"/>
            <a:ext cx="4448175" cy="3629025"/>
          </a:xfrm>
          <a:custGeom>
            <a:avLst/>
            <a:gdLst/>
            <a:ahLst/>
            <a:cxnLst/>
            <a:rect l="l" t="t" r="r" b="b"/>
            <a:pathLst>
              <a:path w="4448175" h="3629025">
                <a:moveTo>
                  <a:pt x="114314" y="0"/>
                </a:moveTo>
                <a:lnTo>
                  <a:pt x="4333861" y="0"/>
                </a:lnTo>
                <a:cubicBezTo>
                  <a:pt x="4396995" y="0"/>
                  <a:pt x="4448175" y="51180"/>
                  <a:pt x="4448175" y="114314"/>
                </a:cubicBezTo>
                <a:lnTo>
                  <a:pt x="4448175" y="3514711"/>
                </a:lnTo>
                <a:cubicBezTo>
                  <a:pt x="4448175" y="3577845"/>
                  <a:pt x="4396995" y="3629025"/>
                  <a:pt x="4333861" y="3629025"/>
                </a:cubicBezTo>
                <a:lnTo>
                  <a:pt x="114314" y="3629025"/>
                </a:lnTo>
                <a:cubicBezTo>
                  <a:pt x="51180" y="3629025"/>
                  <a:pt x="0" y="3577845"/>
                  <a:pt x="0" y="3514711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26281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8" name="Text 6"/>
          <p:cNvSpPr/>
          <p:nvPr/>
        </p:nvSpPr>
        <p:spPr>
          <a:xfrm>
            <a:off x="1152525" y="1495425"/>
            <a:ext cx="914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建仓时机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525" y="1762125"/>
            <a:ext cx="904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2025.11.07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2524125"/>
            <a:ext cx="4057650" cy="857250"/>
          </a:xfrm>
          <a:custGeom>
            <a:avLst/>
            <a:gdLst/>
            <a:ahLst/>
            <a:cxnLst/>
            <a:rect l="l" t="t" r="r" b="b"/>
            <a:pathLst>
              <a:path w="4057650" h="857250">
                <a:moveTo>
                  <a:pt x="76201" y="0"/>
                </a:moveTo>
                <a:lnTo>
                  <a:pt x="3981449" y="0"/>
                </a:lnTo>
                <a:cubicBezTo>
                  <a:pt x="4023534" y="0"/>
                  <a:pt x="4057650" y="34116"/>
                  <a:pt x="4057650" y="76201"/>
                </a:cubicBezTo>
                <a:lnTo>
                  <a:pt x="4057650" y="781049"/>
                </a:lnTo>
                <a:cubicBezTo>
                  <a:pt x="4057650" y="823134"/>
                  <a:pt x="4023534" y="857250"/>
                  <a:pt x="398144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733425" y="2676525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核心逻辑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3425" y="2981325"/>
            <a:ext cx="38290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主攻标的，计划做T，建仓区间 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47-58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533775"/>
            <a:ext cx="4057650" cy="857250"/>
          </a:xfrm>
          <a:custGeom>
            <a:avLst/>
            <a:gdLst/>
            <a:ahLst/>
            <a:cxnLst/>
            <a:rect l="l" t="t" r="r" b="b"/>
            <a:pathLst>
              <a:path w="4057650" h="857250">
                <a:moveTo>
                  <a:pt x="76201" y="0"/>
                </a:moveTo>
                <a:lnTo>
                  <a:pt x="3981449" y="0"/>
                </a:lnTo>
                <a:cubicBezTo>
                  <a:pt x="4023534" y="0"/>
                  <a:pt x="4057650" y="34116"/>
                  <a:pt x="4057650" y="76201"/>
                </a:cubicBezTo>
                <a:lnTo>
                  <a:pt x="4057650" y="781049"/>
                </a:lnTo>
                <a:cubicBezTo>
                  <a:pt x="4057650" y="823134"/>
                  <a:pt x="4023534" y="857250"/>
                  <a:pt x="398144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33425" y="3686175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信息来源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3425" y="3990975"/>
            <a:ext cx="38290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小红星分享截图(关键信息已打码)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5091113"/>
            <a:ext cx="2162175" cy="1152525"/>
          </a:xfrm>
          <a:custGeom>
            <a:avLst/>
            <a:gdLst/>
            <a:ahLst/>
            <a:cxnLst/>
            <a:rect l="l" t="t" r="r" b="b"/>
            <a:pathLst>
              <a:path w="2162175" h="1152525">
                <a:moveTo>
                  <a:pt x="114296" y="0"/>
                </a:moveTo>
                <a:lnTo>
                  <a:pt x="2047879" y="0"/>
                </a:lnTo>
                <a:cubicBezTo>
                  <a:pt x="2111003" y="0"/>
                  <a:pt x="2162175" y="51172"/>
                  <a:pt x="2162175" y="114296"/>
                </a:cubicBezTo>
                <a:lnTo>
                  <a:pt x="2162175" y="1038229"/>
                </a:lnTo>
                <a:cubicBezTo>
                  <a:pt x="2162175" y="1101353"/>
                  <a:pt x="2111003" y="1152525"/>
                  <a:pt x="20478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825" y="5248275"/>
            <a:ext cx="1924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短线爆发力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1488" y="5514975"/>
            <a:ext cx="19907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+47.3%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9587" y="5895975"/>
            <a:ext cx="1914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3天 57→84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71763" y="5091113"/>
            <a:ext cx="2162175" cy="1152525"/>
          </a:xfrm>
          <a:custGeom>
            <a:avLst/>
            <a:gdLst/>
            <a:ahLst/>
            <a:cxnLst/>
            <a:rect l="l" t="t" r="r" b="b"/>
            <a:pathLst>
              <a:path w="2162175" h="1152525">
                <a:moveTo>
                  <a:pt x="114296" y="0"/>
                </a:moveTo>
                <a:lnTo>
                  <a:pt x="2047879" y="0"/>
                </a:lnTo>
                <a:cubicBezTo>
                  <a:pt x="2111003" y="0"/>
                  <a:pt x="2162175" y="51172"/>
                  <a:pt x="2162175" y="114296"/>
                </a:cubicBezTo>
                <a:lnTo>
                  <a:pt x="2162175" y="1038229"/>
                </a:lnTo>
                <a:cubicBezTo>
                  <a:pt x="2162175" y="1101353"/>
                  <a:pt x="2111003" y="1152525"/>
                  <a:pt x="20478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90825" y="5248275"/>
            <a:ext cx="1924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阶段最大涨幅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57488" y="5514975"/>
            <a:ext cx="19907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+89.5%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95588" y="5895975"/>
            <a:ext cx="1914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57→108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33963" y="1300163"/>
            <a:ext cx="6772275" cy="4943475"/>
          </a:xfrm>
          <a:custGeom>
            <a:avLst/>
            <a:gdLst/>
            <a:ahLst/>
            <a:cxnLst/>
            <a:rect l="l" t="t" r="r" b="b"/>
            <a:pathLst>
              <a:path w="6772275" h="4943475">
                <a:moveTo>
                  <a:pt x="114293" y="0"/>
                </a:moveTo>
                <a:lnTo>
                  <a:pt x="6657982" y="0"/>
                </a:lnTo>
                <a:cubicBezTo>
                  <a:pt x="6721062" y="0"/>
                  <a:pt x="6772275" y="51213"/>
                  <a:pt x="6772275" y="114293"/>
                </a:cubicBezTo>
                <a:lnTo>
                  <a:pt x="6772275" y="4829182"/>
                </a:lnTo>
                <a:cubicBezTo>
                  <a:pt x="6772275" y="4892262"/>
                  <a:pt x="6721062" y="4943475"/>
                  <a:pt x="6657982" y="4943475"/>
                </a:cubicBezTo>
                <a:lnTo>
                  <a:pt x="114293" y="4943475"/>
                </a:lnTo>
                <a:cubicBezTo>
                  <a:pt x="51213" y="4943475"/>
                  <a:pt x="0" y="4892262"/>
                  <a:pt x="0" y="482918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3038" y="1533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26" name="Text 24"/>
          <p:cNvSpPr/>
          <p:nvPr/>
        </p:nvSpPr>
        <p:spPr>
          <a:xfrm>
            <a:off x="5467350" y="1495425"/>
            <a:ext cx="6238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K线走势回顾</a:t>
            </a:r>
            <a:endParaRPr lang="en-US" sz="16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475" y="1857375"/>
            <a:ext cx="2721610" cy="482219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085" y="1851660"/>
            <a:ext cx="2623185" cy="43929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79819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谷歌链(OCS光交换机) - 深度挖掘，捕捉板块主升浪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从消息到逻辑再到标的，系统快速锁定产业链核心受益者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04900"/>
            <a:ext cx="11791950" cy="962025"/>
          </a:xfrm>
          <a:custGeom>
            <a:avLst/>
            <a:gdLst/>
            <a:ahLst/>
            <a:cxnLst/>
            <a:rect l="l" t="t" r="r" b="b"/>
            <a:pathLst>
              <a:path w="11410950" h="809625">
                <a:moveTo>
                  <a:pt x="3810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695322"/>
                </a:lnTo>
                <a:cubicBezTo>
                  <a:pt x="11410950" y="758408"/>
                  <a:pt x="11359733" y="809625"/>
                  <a:pt x="11296647" y="809625"/>
                </a:cubicBezTo>
                <a:lnTo>
                  <a:pt x="38100" y="809625"/>
                </a:lnTo>
                <a:cubicBezTo>
                  <a:pt x="17072" y="809625"/>
                  <a:pt x="0" y="792553"/>
                  <a:pt x="0" y="771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6" name="Shape 4"/>
          <p:cNvSpPr/>
          <p:nvPr/>
        </p:nvSpPr>
        <p:spPr>
          <a:xfrm>
            <a:off x="400050" y="1257300"/>
            <a:ext cx="38100" cy="809625"/>
          </a:xfrm>
          <a:custGeom>
            <a:avLst/>
            <a:gdLst/>
            <a:ahLst/>
            <a:cxnLst/>
            <a:rect l="l" t="t" r="r" b="b"/>
            <a:pathLst>
              <a:path w="38100" h="809625">
                <a:moveTo>
                  <a:pt x="38100" y="0"/>
                </a:moveTo>
                <a:lnTo>
                  <a:pt x="38100" y="0"/>
                </a:lnTo>
                <a:lnTo>
                  <a:pt x="38100" y="809625"/>
                </a:lnTo>
                <a:lnTo>
                  <a:pt x="38100" y="809625"/>
                </a:lnTo>
                <a:cubicBezTo>
                  <a:pt x="17072" y="809625"/>
                  <a:pt x="0" y="792553"/>
                  <a:pt x="0" y="771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7" name="Shape 5"/>
          <p:cNvSpPr/>
          <p:nvPr/>
        </p:nvSpPr>
        <p:spPr>
          <a:xfrm>
            <a:off x="628650" y="154781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8" name="Text 6"/>
          <p:cNvSpPr/>
          <p:nvPr/>
        </p:nvSpPr>
        <p:spPr>
          <a:xfrm>
            <a:off x="1009650" y="1409700"/>
            <a:ext cx="3305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建仓逻辑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81225" y="1310005"/>
            <a:ext cx="3295650" cy="238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基于Gemini发布和巴菲特建仓逻辑 · </a:t>
            </a:r>
            <a:r>
              <a:rPr lang="en-US" sz="12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2025.11.22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1507" y="1257618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板块整体收益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63882" y="1448118"/>
            <a:ext cx="1190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平均 +62%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6080" y="2032635"/>
            <a:ext cx="3695700" cy="4177030"/>
          </a:xfrm>
          <a:custGeom>
            <a:avLst/>
            <a:gdLst/>
            <a:ahLst/>
            <a:cxnLst/>
            <a:rect l="l" t="t" r="r" b="b"/>
            <a:pathLst>
              <a:path w="3695700" h="3019425">
                <a:moveTo>
                  <a:pt x="114285" y="0"/>
                </a:moveTo>
                <a:lnTo>
                  <a:pt x="3581415" y="0"/>
                </a:lnTo>
                <a:cubicBezTo>
                  <a:pt x="3644533" y="0"/>
                  <a:pt x="3695700" y="51167"/>
                  <a:pt x="3695700" y="114285"/>
                </a:cubicBezTo>
                <a:lnTo>
                  <a:pt x="3695700" y="2905140"/>
                </a:lnTo>
                <a:cubicBezTo>
                  <a:pt x="3695700" y="2968258"/>
                  <a:pt x="3644533" y="3019425"/>
                  <a:pt x="3581415" y="3019425"/>
                </a:cubicBezTo>
                <a:lnTo>
                  <a:pt x="114285" y="3019425"/>
                </a:lnTo>
                <a:cubicBezTo>
                  <a:pt x="51167" y="3019425"/>
                  <a:pt x="0" y="2968258"/>
                  <a:pt x="0" y="290514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" y="202755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10729" y="2126615"/>
            <a:ext cx="295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2925" y="265811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光库科技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63107" y="211518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C8A97E"/>
          </a:solidFill>
        </p:spPr>
      </p:sp>
      <p:grpSp>
        <p:nvGrpSpPr>
          <p:cNvPr id="58" name="组合 57"/>
          <p:cNvGrpSpPr/>
          <p:nvPr/>
        </p:nvGrpSpPr>
        <p:grpSpPr>
          <a:xfrm>
            <a:off x="356870" y="4283075"/>
            <a:ext cx="1259840" cy="762000"/>
            <a:chOff x="915" y="8550"/>
            <a:chExt cx="2520" cy="1200"/>
          </a:xfrm>
        </p:grpSpPr>
        <p:sp>
          <p:nvSpPr>
            <p:cNvPr id="17" name="Shape 15"/>
            <p:cNvSpPr/>
            <p:nvPr/>
          </p:nvSpPr>
          <p:spPr>
            <a:xfrm>
              <a:off x="915" y="8550"/>
              <a:ext cx="2520" cy="12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76200" y="0"/>
                  </a:moveTo>
                  <a:lnTo>
                    <a:pt x="1524000" y="0"/>
                  </a:lnTo>
                  <a:cubicBezTo>
                    <a:pt x="1566056" y="0"/>
                    <a:pt x="1600200" y="34144"/>
                    <a:pt x="1600200" y="76200"/>
                  </a:cubicBezTo>
                  <a:lnTo>
                    <a:pt x="1600200" y="685800"/>
                  </a:lnTo>
                  <a:cubicBezTo>
                    <a:pt x="1600200" y="727856"/>
                    <a:pt x="1566056" y="762000"/>
                    <a:pt x="1524000" y="762000"/>
                  </a:cubicBezTo>
                  <a:lnTo>
                    <a:pt x="76200" y="762000"/>
                  </a:lnTo>
                  <a:cubicBezTo>
                    <a:pt x="34144" y="762000"/>
                    <a:pt x="0" y="727856"/>
                    <a:pt x="0" y="685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1043" y="8730"/>
              <a:ext cx="226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最大涨幅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005" y="9090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  <a:sym typeface="+mn-ea"/>
                </a:rPr>
                <a:t>+76.6%</a:t>
              </a:r>
              <a:endParaRPr lang="en-US" sz="1600" dirty="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33375" y="5368290"/>
            <a:ext cx="1260000" cy="762000"/>
            <a:chOff x="3610" y="8550"/>
            <a:chExt cx="2520" cy="1200"/>
          </a:xfrm>
        </p:grpSpPr>
        <p:sp>
          <p:nvSpPr>
            <p:cNvPr id="20" name="Shape 18"/>
            <p:cNvSpPr/>
            <p:nvPr/>
          </p:nvSpPr>
          <p:spPr>
            <a:xfrm>
              <a:off x="3610" y="8550"/>
              <a:ext cx="2520" cy="12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76200" y="0"/>
                  </a:moveTo>
                  <a:lnTo>
                    <a:pt x="1524000" y="0"/>
                  </a:lnTo>
                  <a:cubicBezTo>
                    <a:pt x="1566056" y="0"/>
                    <a:pt x="1600200" y="34144"/>
                    <a:pt x="1600200" y="76200"/>
                  </a:cubicBezTo>
                  <a:lnTo>
                    <a:pt x="1600200" y="685800"/>
                  </a:lnTo>
                  <a:cubicBezTo>
                    <a:pt x="1600200" y="727856"/>
                    <a:pt x="1566056" y="762000"/>
                    <a:pt x="1524000" y="762000"/>
                  </a:cubicBezTo>
                  <a:lnTo>
                    <a:pt x="76200" y="762000"/>
                  </a:lnTo>
                  <a:cubicBezTo>
                    <a:pt x="34144" y="762000"/>
                    <a:pt x="0" y="727856"/>
                    <a:pt x="0" y="685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3737" y="8730"/>
              <a:ext cx="226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至今</a:t>
              </a:r>
              <a:r>
                <a:rPr 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涨幅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700" y="9090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+54%</a:t>
              </a:r>
              <a:endParaRPr lang="en-US" sz="16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4246245" y="2032635"/>
            <a:ext cx="3695700" cy="4122420"/>
          </a:xfrm>
          <a:custGeom>
            <a:avLst/>
            <a:gdLst/>
            <a:ahLst/>
            <a:cxnLst/>
            <a:rect l="l" t="t" r="r" b="b"/>
            <a:pathLst>
              <a:path w="3695700" h="3019425">
                <a:moveTo>
                  <a:pt x="114285" y="0"/>
                </a:moveTo>
                <a:lnTo>
                  <a:pt x="3581415" y="0"/>
                </a:lnTo>
                <a:cubicBezTo>
                  <a:pt x="3644533" y="0"/>
                  <a:pt x="3695700" y="51167"/>
                  <a:pt x="3695700" y="114285"/>
                </a:cubicBezTo>
                <a:lnTo>
                  <a:pt x="3695700" y="2905140"/>
                </a:lnTo>
                <a:cubicBezTo>
                  <a:pt x="3695700" y="2968258"/>
                  <a:pt x="3644533" y="3019425"/>
                  <a:pt x="3581415" y="3019425"/>
                </a:cubicBezTo>
                <a:lnTo>
                  <a:pt x="114285" y="3019425"/>
                </a:lnTo>
                <a:cubicBezTo>
                  <a:pt x="51167" y="3019425"/>
                  <a:pt x="0" y="2968258"/>
                  <a:pt x="0" y="290514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41775" y="19900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4554215" y="2085340"/>
            <a:ext cx="32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14775" y="265811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腾景科技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23931" y="212344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C8A97E"/>
          </a:solidFill>
        </p:spPr>
      </p:sp>
      <p:grpSp>
        <p:nvGrpSpPr>
          <p:cNvPr id="60" name="组合 59"/>
          <p:cNvGrpSpPr/>
          <p:nvPr/>
        </p:nvGrpSpPr>
        <p:grpSpPr>
          <a:xfrm>
            <a:off x="4226560" y="4283075"/>
            <a:ext cx="1260000" cy="762000"/>
            <a:chOff x="6813" y="6795"/>
            <a:chExt cx="2520" cy="1200"/>
          </a:xfrm>
        </p:grpSpPr>
        <p:grpSp>
          <p:nvGrpSpPr>
            <p:cNvPr id="55" name="组合 54"/>
            <p:cNvGrpSpPr/>
            <p:nvPr/>
          </p:nvGrpSpPr>
          <p:grpSpPr>
            <a:xfrm>
              <a:off x="6813" y="6795"/>
              <a:ext cx="2520" cy="1200"/>
              <a:chOff x="6813" y="6795"/>
              <a:chExt cx="2520" cy="1200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6813" y="6795"/>
                <a:ext cx="2520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762000">
                    <a:moveTo>
                      <a:pt x="76200" y="0"/>
                    </a:moveTo>
                    <a:lnTo>
                      <a:pt x="1524000" y="0"/>
                    </a:lnTo>
                    <a:cubicBezTo>
                      <a:pt x="1566056" y="0"/>
                      <a:pt x="1600200" y="34144"/>
                      <a:pt x="1600200" y="76200"/>
                    </a:cubicBezTo>
                    <a:lnTo>
                      <a:pt x="1600200" y="685800"/>
                    </a:lnTo>
                    <a:cubicBezTo>
                      <a:pt x="1600200" y="727856"/>
                      <a:pt x="1566056" y="762000"/>
                      <a:pt x="1524000" y="762000"/>
                    </a:cubicBezTo>
                    <a:lnTo>
                      <a:pt x="76200" y="762000"/>
                    </a:lnTo>
                    <a:cubicBezTo>
                      <a:pt x="34144" y="762000"/>
                      <a:pt x="0" y="727856"/>
                      <a:pt x="0" y="685800"/>
                    </a:cubicBezTo>
                    <a:lnTo>
                      <a:pt x="0" y="76200"/>
                    </a:lnTo>
                    <a:cubicBezTo>
                      <a:pt x="0" y="34144"/>
                      <a:pt x="34144" y="0"/>
                      <a:pt x="76200" y="0"/>
                    </a:cubicBezTo>
                    <a:close/>
                  </a:path>
                </a:pathLst>
              </a:custGeom>
              <a:solidFill>
                <a:srgbClr val="1A1D21">
                  <a:alpha val="60000"/>
                </a:srgbClr>
              </a:solidFill>
            </p:spPr>
          </p:sp>
          <p:sp>
            <p:nvSpPr>
              <p:cNvPr id="29" name="Text 27"/>
              <p:cNvSpPr/>
              <p:nvPr/>
            </p:nvSpPr>
            <p:spPr>
              <a:xfrm>
                <a:off x="6940" y="6975"/>
                <a:ext cx="2265" cy="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050" dirty="0">
                    <a:solidFill>
                      <a:srgbClr val="7D90A1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最高</a:t>
                </a:r>
                <a:r>
                  <a:rPr lang="en-US" sz="1050" dirty="0">
                    <a:solidFill>
                      <a:srgbClr val="7D90A1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涨幅</a:t>
                </a:r>
                <a:endParaRPr lang="en-US" sz="1600" dirty="0"/>
              </a:p>
            </p:txBody>
          </p:sp>
        </p:grpSp>
        <p:sp>
          <p:nvSpPr>
            <p:cNvPr id="30" name="Text 28"/>
            <p:cNvSpPr/>
            <p:nvPr/>
          </p:nvSpPr>
          <p:spPr>
            <a:xfrm>
              <a:off x="6903" y="7335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+68.4%</a:t>
              </a:r>
              <a:endParaRPr lang="en-US" sz="16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163060" y="5368290"/>
            <a:ext cx="1260000" cy="762000"/>
            <a:chOff x="8936" y="6665"/>
            <a:chExt cx="2520" cy="1200"/>
          </a:xfrm>
        </p:grpSpPr>
        <p:sp>
          <p:nvSpPr>
            <p:cNvPr id="31" name="Shape 29"/>
            <p:cNvSpPr/>
            <p:nvPr/>
          </p:nvSpPr>
          <p:spPr>
            <a:xfrm>
              <a:off x="8936" y="6665"/>
              <a:ext cx="2520" cy="12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76200" y="0"/>
                  </a:moveTo>
                  <a:lnTo>
                    <a:pt x="1524000" y="0"/>
                  </a:lnTo>
                  <a:cubicBezTo>
                    <a:pt x="1566056" y="0"/>
                    <a:pt x="1600200" y="34144"/>
                    <a:pt x="1600200" y="76200"/>
                  </a:cubicBezTo>
                  <a:lnTo>
                    <a:pt x="1600200" y="685800"/>
                  </a:lnTo>
                  <a:cubicBezTo>
                    <a:pt x="1600200" y="727856"/>
                    <a:pt x="1566056" y="762000"/>
                    <a:pt x="1524000" y="762000"/>
                  </a:cubicBezTo>
                  <a:lnTo>
                    <a:pt x="76200" y="762000"/>
                  </a:lnTo>
                  <a:cubicBezTo>
                    <a:pt x="34144" y="762000"/>
                    <a:pt x="0" y="727856"/>
                    <a:pt x="0" y="685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32" name="Text 30"/>
            <p:cNvSpPr/>
            <p:nvPr/>
          </p:nvSpPr>
          <p:spPr>
            <a:xfrm>
              <a:off x="9063" y="6845"/>
              <a:ext cx="226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至今</a:t>
              </a:r>
              <a:r>
                <a:rPr 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涨幅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9026" y="7205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+39.5%</a:t>
              </a:r>
              <a:endParaRPr lang="en-US" sz="160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8107045" y="2032635"/>
            <a:ext cx="3695700" cy="4127500"/>
          </a:xfrm>
          <a:custGeom>
            <a:avLst/>
            <a:gdLst/>
            <a:ahLst/>
            <a:cxnLst/>
            <a:rect l="l" t="t" r="r" b="b"/>
            <a:pathLst>
              <a:path w="3695700" h="3019425">
                <a:moveTo>
                  <a:pt x="114285" y="0"/>
                </a:moveTo>
                <a:lnTo>
                  <a:pt x="3581415" y="0"/>
                </a:lnTo>
                <a:cubicBezTo>
                  <a:pt x="3644533" y="0"/>
                  <a:pt x="3695700" y="51167"/>
                  <a:pt x="3695700" y="114285"/>
                </a:cubicBezTo>
                <a:lnTo>
                  <a:pt x="3695700" y="2905140"/>
                </a:lnTo>
                <a:cubicBezTo>
                  <a:pt x="3695700" y="2968258"/>
                  <a:pt x="3644533" y="3019425"/>
                  <a:pt x="3581415" y="3019425"/>
                </a:cubicBezTo>
                <a:lnTo>
                  <a:pt x="114285" y="3019425"/>
                </a:lnTo>
                <a:cubicBezTo>
                  <a:pt x="51167" y="3019425"/>
                  <a:pt x="0" y="2968258"/>
                  <a:pt x="0" y="290514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02600" y="19900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D90A1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8414221" y="2085340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7D90A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92745" y="2658110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德科立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384756" y="212344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6458" y="32445"/>
                </a:moveTo>
                <a:cubicBezTo>
                  <a:pt x="119881" y="29728"/>
                  <a:pt x="122039" y="25524"/>
                  <a:pt x="122039" y="20836"/>
                </a:cubicBezTo>
                <a:cubicBezTo>
                  <a:pt x="122039" y="12613"/>
                  <a:pt x="115379" y="5953"/>
                  <a:pt x="107156" y="5953"/>
                </a:cubicBezTo>
                <a:cubicBezTo>
                  <a:pt x="98933" y="5953"/>
                  <a:pt x="92273" y="12613"/>
                  <a:pt x="92273" y="20836"/>
                </a:cubicBezTo>
                <a:cubicBezTo>
                  <a:pt x="92273" y="25524"/>
                  <a:pt x="94469" y="29728"/>
                  <a:pt x="97854" y="32445"/>
                </a:cubicBezTo>
                <a:lnTo>
                  <a:pt x="72405" y="72479"/>
                </a:lnTo>
                <a:cubicBezTo>
                  <a:pt x="68684" y="78321"/>
                  <a:pt x="60759" y="79772"/>
                  <a:pt x="55215" y="75605"/>
                </a:cubicBezTo>
                <a:lnTo>
                  <a:pt x="33077" y="59048"/>
                </a:lnTo>
                <a:cubicBezTo>
                  <a:pt x="34751" y="56666"/>
                  <a:pt x="35719" y="53727"/>
                  <a:pt x="35719" y="50602"/>
                </a:cubicBezTo>
                <a:cubicBezTo>
                  <a:pt x="35719" y="42379"/>
                  <a:pt x="29059" y="35719"/>
                  <a:pt x="20836" y="35719"/>
                </a:cubicBezTo>
                <a:cubicBezTo>
                  <a:pt x="12613" y="35719"/>
                  <a:pt x="5953" y="42379"/>
                  <a:pt x="5953" y="50602"/>
                </a:cubicBezTo>
                <a:cubicBezTo>
                  <a:pt x="5953" y="58713"/>
                  <a:pt x="12464" y="65336"/>
                  <a:pt x="20538" y="65484"/>
                </a:cubicBezTo>
                <a:lnTo>
                  <a:pt x="32668" y="146410"/>
                </a:lnTo>
                <a:cubicBezTo>
                  <a:pt x="34417" y="158055"/>
                  <a:pt x="44425" y="166688"/>
                  <a:pt x="56220" y="166688"/>
                </a:cubicBezTo>
                <a:lnTo>
                  <a:pt x="158093" y="166688"/>
                </a:lnTo>
                <a:cubicBezTo>
                  <a:pt x="169887" y="166688"/>
                  <a:pt x="179896" y="158055"/>
                  <a:pt x="181645" y="146410"/>
                </a:cubicBezTo>
                <a:lnTo>
                  <a:pt x="193774" y="65484"/>
                </a:lnTo>
                <a:cubicBezTo>
                  <a:pt x="201848" y="65336"/>
                  <a:pt x="208359" y="58713"/>
                  <a:pt x="208359" y="50602"/>
                </a:cubicBezTo>
                <a:cubicBezTo>
                  <a:pt x="208359" y="42379"/>
                  <a:pt x="201699" y="35719"/>
                  <a:pt x="193477" y="35719"/>
                </a:cubicBezTo>
                <a:cubicBezTo>
                  <a:pt x="185254" y="35719"/>
                  <a:pt x="178594" y="42379"/>
                  <a:pt x="178594" y="50602"/>
                </a:cubicBezTo>
                <a:cubicBezTo>
                  <a:pt x="178594" y="53727"/>
                  <a:pt x="179561" y="56666"/>
                  <a:pt x="181235" y="59048"/>
                </a:cubicBezTo>
                <a:lnTo>
                  <a:pt x="159134" y="75642"/>
                </a:lnTo>
                <a:cubicBezTo>
                  <a:pt x="153591" y="79809"/>
                  <a:pt x="145666" y="78358"/>
                  <a:pt x="141945" y="72517"/>
                </a:cubicBezTo>
                <a:lnTo>
                  <a:pt x="116458" y="32445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9" name="Shape 37"/>
          <p:cNvSpPr/>
          <p:nvPr/>
        </p:nvSpPr>
        <p:spPr>
          <a:xfrm>
            <a:off x="5486400" y="1204595"/>
            <a:ext cx="4303395" cy="636270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00495" y="11353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41" name="Text 39"/>
          <p:cNvSpPr/>
          <p:nvPr/>
        </p:nvSpPr>
        <p:spPr>
          <a:xfrm>
            <a:off x="6871945" y="1097280"/>
            <a:ext cx="2867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逻辑核心地位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0" y="1402080"/>
            <a:ext cx="464439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OCS光交换机产业链核心标的，系统通过产业链分析快速锁定其战略价值</a:t>
            </a:r>
            <a:endParaRPr lang="en-US" sz="1600" dirty="0"/>
          </a:p>
        </p:txBody>
      </p:sp>
      <p:grpSp>
        <p:nvGrpSpPr>
          <p:cNvPr id="57" name="组合 56"/>
          <p:cNvGrpSpPr/>
          <p:nvPr/>
        </p:nvGrpSpPr>
        <p:grpSpPr>
          <a:xfrm>
            <a:off x="8129270" y="5368290"/>
            <a:ext cx="1260000" cy="762000"/>
            <a:chOff x="12802" y="8537"/>
            <a:chExt cx="2520" cy="1200"/>
          </a:xfrm>
        </p:grpSpPr>
        <p:sp>
          <p:nvSpPr>
            <p:cNvPr id="43" name="Shape 41"/>
            <p:cNvSpPr/>
            <p:nvPr/>
          </p:nvSpPr>
          <p:spPr>
            <a:xfrm>
              <a:off x="12802" y="8537"/>
              <a:ext cx="2520" cy="12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76200" y="0"/>
                  </a:moveTo>
                  <a:lnTo>
                    <a:pt x="1524000" y="0"/>
                  </a:lnTo>
                  <a:cubicBezTo>
                    <a:pt x="1566056" y="0"/>
                    <a:pt x="1600200" y="34144"/>
                    <a:pt x="1600200" y="76200"/>
                  </a:cubicBezTo>
                  <a:lnTo>
                    <a:pt x="1600200" y="685800"/>
                  </a:lnTo>
                  <a:cubicBezTo>
                    <a:pt x="1600200" y="727856"/>
                    <a:pt x="1566056" y="762000"/>
                    <a:pt x="1524000" y="762000"/>
                  </a:cubicBezTo>
                  <a:lnTo>
                    <a:pt x="76200" y="762000"/>
                  </a:lnTo>
                  <a:cubicBezTo>
                    <a:pt x="34144" y="762000"/>
                    <a:pt x="0" y="727856"/>
                    <a:pt x="0" y="685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44" name="Text 42"/>
            <p:cNvSpPr/>
            <p:nvPr/>
          </p:nvSpPr>
          <p:spPr>
            <a:xfrm>
              <a:off x="12929" y="8717"/>
              <a:ext cx="226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最大涨幅</a:t>
              </a:r>
              <a:endParaRPr lang="en-US" sz="16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12892" y="9077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+63.6%</a:t>
              </a:r>
              <a:endParaRPr lang="en-US" sz="1600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8131810" y="4283075"/>
            <a:ext cx="1260000" cy="762000"/>
            <a:chOff x="12806" y="6925"/>
            <a:chExt cx="2520" cy="1200"/>
          </a:xfrm>
        </p:grpSpPr>
        <p:sp>
          <p:nvSpPr>
            <p:cNvPr id="46" name="Shape 44"/>
            <p:cNvSpPr/>
            <p:nvPr/>
          </p:nvSpPr>
          <p:spPr>
            <a:xfrm>
              <a:off x="12806" y="6925"/>
              <a:ext cx="2520" cy="12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76200" y="0"/>
                  </a:moveTo>
                  <a:lnTo>
                    <a:pt x="1524000" y="0"/>
                  </a:lnTo>
                  <a:cubicBezTo>
                    <a:pt x="1566056" y="0"/>
                    <a:pt x="1600200" y="34144"/>
                    <a:pt x="1600200" y="76200"/>
                  </a:cubicBezTo>
                  <a:lnTo>
                    <a:pt x="1600200" y="685800"/>
                  </a:lnTo>
                  <a:cubicBezTo>
                    <a:pt x="1600200" y="727856"/>
                    <a:pt x="1566056" y="762000"/>
                    <a:pt x="1524000" y="762000"/>
                  </a:cubicBezTo>
                  <a:lnTo>
                    <a:pt x="76200" y="762000"/>
                  </a:lnTo>
                  <a:cubicBezTo>
                    <a:pt x="34144" y="762000"/>
                    <a:pt x="0" y="727856"/>
                    <a:pt x="0" y="685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47" name="Text 45"/>
            <p:cNvSpPr/>
            <p:nvPr/>
          </p:nvSpPr>
          <p:spPr>
            <a:xfrm>
              <a:off x="12933" y="7105"/>
              <a:ext cx="226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最高</a:t>
              </a:r>
              <a:r>
                <a:rPr 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涨幅</a:t>
              </a:r>
              <a:endParaRPr lang="en-US" sz="16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12896" y="7465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+74.6%</a:t>
              </a:r>
              <a:endParaRPr lang="en-US" sz="1600" dirty="0"/>
            </a:p>
          </p:txBody>
        </p:sp>
      </p:grpSp>
      <p:sp>
        <p:nvSpPr>
          <p:cNvPr id="49" name="Shape 47"/>
          <p:cNvSpPr/>
          <p:nvPr/>
        </p:nvSpPr>
        <p:spPr>
          <a:xfrm>
            <a:off x="234315" y="6181725"/>
            <a:ext cx="11420475" cy="633730"/>
          </a:xfrm>
          <a:custGeom>
            <a:avLst/>
            <a:gdLst/>
            <a:ahLst/>
            <a:cxnLst/>
            <a:rect l="l" t="t" r="r" b="b"/>
            <a:pathLst>
              <a:path w="11420475" h="84772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733426"/>
                </a:lnTo>
                <a:cubicBezTo>
                  <a:pt x="11420475" y="796552"/>
                  <a:pt x="11369302" y="847725"/>
                  <a:pt x="113061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12700">
            <a:solidFill>
              <a:srgbClr val="C8A97E">
                <a:alpha val="4000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581025" y="631729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51" name="Text 49"/>
          <p:cNvSpPr/>
          <p:nvPr/>
        </p:nvSpPr>
        <p:spPr>
          <a:xfrm>
            <a:off x="1052513" y="6193473"/>
            <a:ext cx="497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系统价值验证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52513" y="6498273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系统帮助我们从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"消息"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到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"逻辑"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，再到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"标的"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，快速锁定产业链核心受益者</a:t>
            </a:r>
            <a:endParaRPr lang="en-US" sz="1600" dirty="0"/>
          </a:p>
        </p:txBody>
      </p:sp>
      <p:pic>
        <p:nvPicPr>
          <p:cNvPr id="61" name="图片 60" descr="图形用户界面, 图表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855" y="2061210"/>
            <a:ext cx="2211070" cy="4093845"/>
          </a:xfrm>
          <a:prstGeom prst="rect">
            <a:avLst/>
          </a:prstGeom>
        </p:spPr>
      </p:pic>
      <p:sp>
        <p:nvSpPr>
          <p:cNvPr id="62" name="Shape 37"/>
          <p:cNvSpPr/>
          <p:nvPr/>
        </p:nvSpPr>
        <p:spPr>
          <a:xfrm>
            <a:off x="10335895" y="1204595"/>
            <a:ext cx="1560830" cy="636270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63" name="Shape 37"/>
          <p:cNvSpPr/>
          <p:nvPr/>
        </p:nvSpPr>
        <p:spPr>
          <a:xfrm>
            <a:off x="710565" y="1204595"/>
            <a:ext cx="4711700" cy="636270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895" y="2061210"/>
            <a:ext cx="2279015" cy="4079875"/>
          </a:xfrm>
          <a:prstGeom prst="rect">
            <a:avLst/>
          </a:prstGeom>
        </p:spPr>
      </p:pic>
      <p:pic>
        <p:nvPicPr>
          <p:cNvPr id="65" name="图片 64" descr="图形用户界面, 图表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225" y="2032635"/>
            <a:ext cx="2211070" cy="4161155"/>
          </a:xfrm>
          <a:prstGeom prst="rect">
            <a:avLst/>
          </a:prstGeom>
        </p:spPr>
      </p:pic>
      <p:grpSp>
        <p:nvGrpSpPr>
          <p:cNvPr id="66" name="组合 65"/>
          <p:cNvGrpSpPr/>
          <p:nvPr/>
        </p:nvGrpSpPr>
        <p:grpSpPr>
          <a:xfrm>
            <a:off x="337820" y="3219450"/>
            <a:ext cx="1259840" cy="762000"/>
            <a:chOff x="915" y="8550"/>
            <a:chExt cx="2520" cy="1200"/>
          </a:xfrm>
        </p:grpSpPr>
        <p:sp>
          <p:nvSpPr>
            <p:cNvPr id="67" name="Shape 15"/>
            <p:cNvSpPr/>
            <p:nvPr/>
          </p:nvSpPr>
          <p:spPr>
            <a:xfrm>
              <a:off x="915" y="8550"/>
              <a:ext cx="2520" cy="12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76200" y="0"/>
                  </a:moveTo>
                  <a:lnTo>
                    <a:pt x="1524000" y="0"/>
                  </a:lnTo>
                  <a:cubicBezTo>
                    <a:pt x="1566056" y="0"/>
                    <a:pt x="1600200" y="34144"/>
                    <a:pt x="1600200" y="76200"/>
                  </a:cubicBezTo>
                  <a:lnTo>
                    <a:pt x="1600200" y="685800"/>
                  </a:lnTo>
                  <a:cubicBezTo>
                    <a:pt x="1600200" y="727856"/>
                    <a:pt x="1566056" y="762000"/>
                    <a:pt x="1524000" y="762000"/>
                  </a:cubicBezTo>
                  <a:lnTo>
                    <a:pt x="76200" y="762000"/>
                  </a:lnTo>
                  <a:cubicBezTo>
                    <a:pt x="34144" y="762000"/>
                    <a:pt x="0" y="727856"/>
                    <a:pt x="0" y="685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68" name="Text 16"/>
            <p:cNvSpPr/>
            <p:nvPr/>
          </p:nvSpPr>
          <p:spPr>
            <a:xfrm>
              <a:off x="1043" y="8730"/>
              <a:ext cx="226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短期</a:t>
              </a:r>
              <a:r>
                <a:rPr 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涨幅</a:t>
              </a:r>
              <a:endParaRPr lang="en-US" sz="1600" dirty="0"/>
            </a:p>
          </p:txBody>
        </p:sp>
        <p:sp>
          <p:nvSpPr>
            <p:cNvPr id="69" name="Text 17"/>
            <p:cNvSpPr/>
            <p:nvPr/>
          </p:nvSpPr>
          <p:spPr>
            <a:xfrm>
              <a:off x="1005" y="9090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+42.3%</a:t>
              </a:r>
              <a:endParaRPr lang="en-US" sz="1600" dirty="0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147185" y="3219450"/>
            <a:ext cx="1259840" cy="762000"/>
            <a:chOff x="915" y="8550"/>
            <a:chExt cx="2520" cy="1200"/>
          </a:xfrm>
        </p:grpSpPr>
        <p:sp>
          <p:nvSpPr>
            <p:cNvPr id="71" name="Shape 15"/>
            <p:cNvSpPr/>
            <p:nvPr/>
          </p:nvSpPr>
          <p:spPr>
            <a:xfrm>
              <a:off x="915" y="8550"/>
              <a:ext cx="2520" cy="12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76200" y="0"/>
                  </a:moveTo>
                  <a:lnTo>
                    <a:pt x="1524000" y="0"/>
                  </a:lnTo>
                  <a:cubicBezTo>
                    <a:pt x="1566056" y="0"/>
                    <a:pt x="1600200" y="34144"/>
                    <a:pt x="1600200" y="76200"/>
                  </a:cubicBezTo>
                  <a:lnTo>
                    <a:pt x="1600200" y="685800"/>
                  </a:lnTo>
                  <a:cubicBezTo>
                    <a:pt x="1600200" y="727856"/>
                    <a:pt x="1566056" y="762000"/>
                    <a:pt x="1524000" y="762000"/>
                  </a:cubicBezTo>
                  <a:lnTo>
                    <a:pt x="76200" y="762000"/>
                  </a:lnTo>
                  <a:cubicBezTo>
                    <a:pt x="34144" y="762000"/>
                    <a:pt x="0" y="727856"/>
                    <a:pt x="0" y="685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72" name="Text 16"/>
            <p:cNvSpPr/>
            <p:nvPr/>
          </p:nvSpPr>
          <p:spPr>
            <a:xfrm>
              <a:off x="1043" y="8730"/>
              <a:ext cx="226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短期</a:t>
              </a:r>
              <a:r>
                <a:rPr 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涨幅</a:t>
              </a:r>
              <a:endParaRPr lang="en-US" sz="1600" dirty="0"/>
            </a:p>
          </p:txBody>
        </p:sp>
        <p:sp>
          <p:nvSpPr>
            <p:cNvPr id="73" name="Text 17"/>
            <p:cNvSpPr/>
            <p:nvPr/>
          </p:nvSpPr>
          <p:spPr>
            <a:xfrm>
              <a:off x="1005" y="9090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+23.7%</a:t>
              </a:r>
              <a:endParaRPr lang="en-US" sz="1600" dirty="0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8065135" y="3219450"/>
            <a:ext cx="1259840" cy="762000"/>
            <a:chOff x="915" y="8550"/>
            <a:chExt cx="2520" cy="1200"/>
          </a:xfrm>
        </p:grpSpPr>
        <p:sp>
          <p:nvSpPr>
            <p:cNvPr id="75" name="Shape 15"/>
            <p:cNvSpPr/>
            <p:nvPr/>
          </p:nvSpPr>
          <p:spPr>
            <a:xfrm>
              <a:off x="915" y="8550"/>
              <a:ext cx="2520" cy="12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76200" y="0"/>
                  </a:moveTo>
                  <a:lnTo>
                    <a:pt x="1524000" y="0"/>
                  </a:lnTo>
                  <a:cubicBezTo>
                    <a:pt x="1566056" y="0"/>
                    <a:pt x="1600200" y="34144"/>
                    <a:pt x="1600200" y="76200"/>
                  </a:cubicBezTo>
                  <a:lnTo>
                    <a:pt x="1600200" y="685800"/>
                  </a:lnTo>
                  <a:cubicBezTo>
                    <a:pt x="1600200" y="727856"/>
                    <a:pt x="1566056" y="762000"/>
                    <a:pt x="1524000" y="762000"/>
                  </a:cubicBezTo>
                  <a:lnTo>
                    <a:pt x="76200" y="762000"/>
                  </a:lnTo>
                  <a:cubicBezTo>
                    <a:pt x="34144" y="762000"/>
                    <a:pt x="0" y="727856"/>
                    <a:pt x="0" y="685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76" name="Text 16"/>
            <p:cNvSpPr/>
            <p:nvPr/>
          </p:nvSpPr>
          <p:spPr>
            <a:xfrm>
              <a:off x="1043" y="8730"/>
              <a:ext cx="226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短期</a:t>
              </a:r>
              <a:r>
                <a:rPr lang="en-US" sz="1050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涨幅</a:t>
              </a:r>
              <a:endParaRPr lang="en-US" sz="1600" dirty="0"/>
            </a:p>
          </p:txBody>
        </p:sp>
        <p:sp>
          <p:nvSpPr>
            <p:cNvPr id="77" name="Text 17"/>
            <p:cNvSpPr/>
            <p:nvPr/>
          </p:nvSpPr>
          <p:spPr>
            <a:xfrm>
              <a:off x="1005" y="9090"/>
              <a:ext cx="23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zh-CN" alt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一路</a:t>
              </a:r>
              <a:r>
                <a:rPr lang="zh-CN" altLang="en-US" sz="180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长红</a:t>
              </a:r>
              <a:endParaRPr lang="zh-CN" altLang="en-US" sz="18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97075"/>
            <a:ext cx="72195" cy="288782"/>
          </a:xfrm>
          <a:custGeom>
            <a:avLst/>
            <a:gdLst/>
            <a:ahLst/>
            <a:cxnLst/>
            <a:rect l="l" t="t" r="r" b="b"/>
            <a:pathLst>
              <a:path w="72195" h="288782">
                <a:moveTo>
                  <a:pt x="0" y="0"/>
                </a:moveTo>
                <a:lnTo>
                  <a:pt x="72195" y="0"/>
                </a:lnTo>
                <a:lnTo>
                  <a:pt x="72195" y="288782"/>
                </a:lnTo>
                <a:lnTo>
                  <a:pt x="0" y="288782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41466" y="360977"/>
            <a:ext cx="6371245" cy="3609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长芯博创 &amp; 澜起科技 - 中线布局，穿越震荡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1466" y="794150"/>
            <a:ext cx="11370777" cy="252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稳健策略组合大幅跑赢市场指数，展现穿越周期能力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1900"/>
            <a:ext cx="5640070" cy="5538470"/>
          </a:xfrm>
          <a:custGeom>
            <a:avLst/>
            <a:gdLst/>
            <a:ahLst/>
            <a:cxnLst/>
            <a:rect l="l" t="t" r="r" b="b"/>
            <a:pathLst>
              <a:path w="5640266" h="2734401">
                <a:moveTo>
                  <a:pt x="108282" y="0"/>
                </a:moveTo>
                <a:lnTo>
                  <a:pt x="5531984" y="0"/>
                </a:lnTo>
                <a:cubicBezTo>
                  <a:pt x="5591787" y="0"/>
                  <a:pt x="5640266" y="48480"/>
                  <a:pt x="5640266" y="108282"/>
                </a:cubicBezTo>
                <a:lnTo>
                  <a:pt x="5640266" y="2626119"/>
                </a:lnTo>
                <a:cubicBezTo>
                  <a:pt x="5640266" y="2685922"/>
                  <a:pt x="5591787" y="2734401"/>
                  <a:pt x="5531984" y="2734401"/>
                </a:cubicBezTo>
                <a:lnTo>
                  <a:pt x="108282" y="2734401"/>
                </a:lnTo>
                <a:cubicBezTo>
                  <a:pt x="48480" y="2734401"/>
                  <a:pt x="0" y="2685922"/>
                  <a:pt x="0" y="2626119"/>
                </a:cubicBezTo>
                <a:lnTo>
                  <a:pt x="0" y="108282"/>
                </a:lnTo>
                <a:cubicBezTo>
                  <a:pt x="0" y="48520"/>
                  <a:pt x="48520" y="0"/>
                  <a:pt x="10828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0490" y="1416835"/>
            <a:ext cx="974638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长芯博创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94782" y="1416835"/>
            <a:ext cx="721954" cy="288782"/>
          </a:xfrm>
          <a:custGeom>
            <a:avLst/>
            <a:gdLst/>
            <a:ahLst/>
            <a:cxnLst/>
            <a:rect l="l" t="t" r="r" b="b"/>
            <a:pathLst>
              <a:path w="721954" h="288782">
                <a:moveTo>
                  <a:pt x="144391" y="0"/>
                </a:moveTo>
                <a:lnTo>
                  <a:pt x="577563" y="0"/>
                </a:lnTo>
                <a:cubicBezTo>
                  <a:pt x="657308" y="0"/>
                  <a:pt x="721954" y="64646"/>
                  <a:pt x="721954" y="144391"/>
                </a:cubicBezTo>
                <a:lnTo>
                  <a:pt x="721954" y="144391"/>
                </a:lnTo>
                <a:cubicBezTo>
                  <a:pt x="721954" y="224136"/>
                  <a:pt x="657308" y="288782"/>
                  <a:pt x="577563" y="288782"/>
                </a:cubicBezTo>
                <a:lnTo>
                  <a:pt x="144391" y="288782"/>
                </a:lnTo>
                <a:cubicBezTo>
                  <a:pt x="64646" y="288782"/>
                  <a:pt x="0" y="224136"/>
                  <a:pt x="0" y="144391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5203075" y="1484518"/>
            <a:ext cx="568539" cy="16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中线布局</a:t>
            </a:r>
            <a:endParaRPr lang="en-US" sz="1600" dirty="0"/>
          </a:p>
        </p:txBody>
      </p:sp>
      <p:grpSp>
        <p:nvGrpSpPr>
          <p:cNvPr id="65" name="组合 64"/>
          <p:cNvGrpSpPr/>
          <p:nvPr/>
        </p:nvGrpSpPr>
        <p:grpSpPr>
          <a:xfrm>
            <a:off x="433070" y="1849755"/>
            <a:ext cx="974725" cy="685800"/>
            <a:chOff x="867" y="2913"/>
            <a:chExt cx="4036" cy="1080"/>
          </a:xfrm>
        </p:grpSpPr>
        <p:sp>
          <p:nvSpPr>
            <p:cNvPr id="9" name="Shape 7"/>
            <p:cNvSpPr/>
            <p:nvPr/>
          </p:nvSpPr>
          <p:spPr>
            <a:xfrm>
              <a:off x="867" y="2913"/>
              <a:ext cx="4036" cy="1080"/>
            </a:xfrm>
            <a:custGeom>
              <a:avLst/>
              <a:gdLst/>
              <a:ahLst/>
              <a:cxnLst/>
              <a:rect l="l" t="t" r="r" b="b"/>
              <a:pathLst>
                <a:path w="2562937" h="685856">
                  <a:moveTo>
                    <a:pt x="72193" y="0"/>
                  </a:moveTo>
                  <a:lnTo>
                    <a:pt x="2490744" y="0"/>
                  </a:lnTo>
                  <a:cubicBezTo>
                    <a:pt x="2530615" y="0"/>
                    <a:pt x="2562937" y="32322"/>
                    <a:pt x="2562937" y="72193"/>
                  </a:cubicBezTo>
                  <a:lnTo>
                    <a:pt x="2562937" y="613663"/>
                  </a:lnTo>
                  <a:cubicBezTo>
                    <a:pt x="2562937" y="653534"/>
                    <a:pt x="2530615" y="685856"/>
                    <a:pt x="2490744" y="685856"/>
                  </a:cubicBezTo>
                  <a:lnTo>
                    <a:pt x="72193" y="685856"/>
                  </a:lnTo>
                  <a:cubicBezTo>
                    <a:pt x="32322" y="685856"/>
                    <a:pt x="0" y="653534"/>
                    <a:pt x="0" y="613663"/>
                  </a:cubicBezTo>
                  <a:lnTo>
                    <a:pt x="0" y="72193"/>
                  </a:lnTo>
                  <a:cubicBezTo>
                    <a:pt x="0" y="32349"/>
                    <a:pt x="32349" y="0"/>
                    <a:pt x="72193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10" name="Text 8"/>
            <p:cNvSpPr/>
            <p:nvPr/>
          </p:nvSpPr>
          <p:spPr>
            <a:xfrm>
              <a:off x="1037" y="3084"/>
              <a:ext cx="3795" cy="2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9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建仓时机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037" y="3425"/>
              <a:ext cx="3823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80" b="1" dirty="0">
                  <a:solidFill>
                    <a:srgbClr val="E8E9EA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2025.11.11</a:t>
              </a:r>
              <a:endParaRPr lang="en-US" sz="1600" dirty="0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33070" y="2633345"/>
            <a:ext cx="975600" cy="685800"/>
            <a:chOff x="5127" y="2913"/>
            <a:chExt cx="4036" cy="1080"/>
          </a:xfrm>
        </p:grpSpPr>
        <p:sp>
          <p:nvSpPr>
            <p:cNvPr id="12" name="Shape 10"/>
            <p:cNvSpPr/>
            <p:nvPr/>
          </p:nvSpPr>
          <p:spPr>
            <a:xfrm>
              <a:off x="5127" y="2913"/>
              <a:ext cx="4036" cy="1080"/>
            </a:xfrm>
            <a:custGeom>
              <a:avLst/>
              <a:gdLst/>
              <a:ahLst/>
              <a:cxnLst/>
              <a:rect l="l" t="t" r="r" b="b"/>
              <a:pathLst>
                <a:path w="2562937" h="685856">
                  <a:moveTo>
                    <a:pt x="72193" y="0"/>
                  </a:moveTo>
                  <a:lnTo>
                    <a:pt x="2490744" y="0"/>
                  </a:lnTo>
                  <a:cubicBezTo>
                    <a:pt x="2530615" y="0"/>
                    <a:pt x="2562937" y="32322"/>
                    <a:pt x="2562937" y="72193"/>
                  </a:cubicBezTo>
                  <a:lnTo>
                    <a:pt x="2562937" y="613663"/>
                  </a:lnTo>
                  <a:cubicBezTo>
                    <a:pt x="2562937" y="653534"/>
                    <a:pt x="2530615" y="685856"/>
                    <a:pt x="2490744" y="685856"/>
                  </a:cubicBezTo>
                  <a:lnTo>
                    <a:pt x="72193" y="685856"/>
                  </a:lnTo>
                  <a:cubicBezTo>
                    <a:pt x="32322" y="685856"/>
                    <a:pt x="0" y="653534"/>
                    <a:pt x="0" y="613663"/>
                  </a:cubicBezTo>
                  <a:lnTo>
                    <a:pt x="0" y="72193"/>
                  </a:lnTo>
                  <a:cubicBezTo>
                    <a:pt x="0" y="32349"/>
                    <a:pt x="32349" y="0"/>
                    <a:pt x="72193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5298" y="3084"/>
              <a:ext cx="3795" cy="2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9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持有周期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298" y="3425"/>
              <a:ext cx="3823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80" b="1" dirty="0">
                  <a:solidFill>
                    <a:srgbClr val="E8E9EA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40天</a:t>
              </a:r>
              <a:endParaRPr lang="en-US" sz="1600" dirty="0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33070" y="4756150"/>
            <a:ext cx="975600" cy="1092200"/>
            <a:chOff x="874" y="4228"/>
            <a:chExt cx="4022" cy="1720"/>
          </a:xfrm>
        </p:grpSpPr>
        <p:sp>
          <p:nvSpPr>
            <p:cNvPr id="15" name="Shape 13"/>
            <p:cNvSpPr/>
            <p:nvPr/>
          </p:nvSpPr>
          <p:spPr>
            <a:xfrm>
              <a:off x="874" y="4228"/>
              <a:ext cx="4022" cy="1720"/>
            </a:xfrm>
            <a:custGeom>
              <a:avLst/>
              <a:gdLst/>
              <a:ahLst/>
              <a:cxnLst/>
              <a:rect l="l" t="t" r="r" b="b"/>
              <a:pathLst>
                <a:path w="2553913" h="1091956">
                  <a:moveTo>
                    <a:pt x="108289" y="0"/>
                  </a:moveTo>
                  <a:lnTo>
                    <a:pt x="2445623" y="0"/>
                  </a:lnTo>
                  <a:cubicBezTo>
                    <a:pt x="2505430" y="0"/>
                    <a:pt x="2553913" y="48483"/>
                    <a:pt x="2553913" y="108289"/>
                  </a:cubicBezTo>
                  <a:lnTo>
                    <a:pt x="2553913" y="983666"/>
                  </a:lnTo>
                  <a:cubicBezTo>
                    <a:pt x="2553913" y="1043473"/>
                    <a:pt x="2505430" y="1091956"/>
                    <a:pt x="2445623" y="1091956"/>
                  </a:cubicBezTo>
                  <a:lnTo>
                    <a:pt x="108289" y="1091956"/>
                  </a:lnTo>
                  <a:cubicBezTo>
                    <a:pt x="48483" y="1091956"/>
                    <a:pt x="0" y="1043473"/>
                    <a:pt x="0" y="983666"/>
                  </a:cubicBezTo>
                  <a:lnTo>
                    <a:pt x="0" y="108289"/>
                  </a:lnTo>
                  <a:cubicBezTo>
                    <a:pt x="0" y="48483"/>
                    <a:pt x="48483" y="0"/>
                    <a:pt x="10828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8A97E">
                    <a:alpha val="30000"/>
                  </a:srgbClr>
                </a:gs>
                <a:gs pos="100000">
                  <a:srgbClr val="4A6C8C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C8A97E">
                  <a:alpha val="50196"/>
                </a:srgbClr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1052" y="4462"/>
              <a:ext cx="3667" cy="3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3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中线涨幅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002" y="4860"/>
              <a:ext cx="3766" cy="5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13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+57%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059" y="5429"/>
              <a:ext cx="3652" cy="2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100→157</a:t>
              </a:r>
              <a:endParaRPr lang="en-US" sz="1600" dirty="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33070" y="3391535"/>
            <a:ext cx="975600" cy="1092200"/>
            <a:chOff x="5134" y="4228"/>
            <a:chExt cx="4022" cy="1720"/>
          </a:xfrm>
        </p:grpSpPr>
        <p:sp>
          <p:nvSpPr>
            <p:cNvPr id="19" name="Shape 17"/>
            <p:cNvSpPr/>
            <p:nvPr/>
          </p:nvSpPr>
          <p:spPr>
            <a:xfrm>
              <a:off x="5134" y="4228"/>
              <a:ext cx="4022" cy="1720"/>
            </a:xfrm>
            <a:custGeom>
              <a:avLst/>
              <a:gdLst/>
              <a:ahLst/>
              <a:cxnLst/>
              <a:rect l="l" t="t" r="r" b="b"/>
              <a:pathLst>
                <a:path w="2553913" h="1091956">
                  <a:moveTo>
                    <a:pt x="108289" y="0"/>
                  </a:moveTo>
                  <a:lnTo>
                    <a:pt x="2445623" y="0"/>
                  </a:lnTo>
                  <a:cubicBezTo>
                    <a:pt x="2505430" y="0"/>
                    <a:pt x="2553913" y="48483"/>
                    <a:pt x="2553913" y="108289"/>
                  </a:cubicBezTo>
                  <a:lnTo>
                    <a:pt x="2553913" y="983666"/>
                  </a:lnTo>
                  <a:cubicBezTo>
                    <a:pt x="2553913" y="1043473"/>
                    <a:pt x="2505430" y="1091956"/>
                    <a:pt x="2445623" y="1091956"/>
                  </a:cubicBezTo>
                  <a:lnTo>
                    <a:pt x="108289" y="1091956"/>
                  </a:lnTo>
                  <a:cubicBezTo>
                    <a:pt x="48483" y="1091956"/>
                    <a:pt x="0" y="1043473"/>
                    <a:pt x="0" y="983666"/>
                  </a:cubicBezTo>
                  <a:lnTo>
                    <a:pt x="0" y="108289"/>
                  </a:lnTo>
                  <a:cubicBezTo>
                    <a:pt x="0" y="48483"/>
                    <a:pt x="48483" y="0"/>
                    <a:pt x="108289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312" y="4462"/>
              <a:ext cx="3667" cy="3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3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最大涨幅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262" y="4860"/>
              <a:ext cx="3766" cy="5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13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+77%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319" y="5429"/>
              <a:ext cx="3652" cy="2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100→177</a:t>
              </a:r>
              <a:endParaRPr lang="en-US" sz="16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6191250" y="1186180"/>
            <a:ext cx="5640070" cy="5537835"/>
          </a:xfrm>
          <a:custGeom>
            <a:avLst/>
            <a:gdLst/>
            <a:ahLst/>
            <a:cxnLst/>
            <a:rect l="l" t="t" r="r" b="b"/>
            <a:pathLst>
              <a:path w="5640266" h="2734401">
                <a:moveTo>
                  <a:pt x="108282" y="0"/>
                </a:moveTo>
                <a:lnTo>
                  <a:pt x="5531984" y="0"/>
                </a:lnTo>
                <a:cubicBezTo>
                  <a:pt x="5591787" y="0"/>
                  <a:pt x="5640266" y="48480"/>
                  <a:pt x="5640266" y="108282"/>
                </a:cubicBezTo>
                <a:lnTo>
                  <a:pt x="5640266" y="2626119"/>
                </a:lnTo>
                <a:cubicBezTo>
                  <a:pt x="5640266" y="2685922"/>
                  <a:pt x="5591787" y="2734401"/>
                  <a:pt x="5531984" y="2734401"/>
                </a:cubicBezTo>
                <a:lnTo>
                  <a:pt x="108282" y="2734401"/>
                </a:lnTo>
                <a:cubicBezTo>
                  <a:pt x="48480" y="2734401"/>
                  <a:pt x="0" y="2685922"/>
                  <a:pt x="0" y="2626119"/>
                </a:cubicBezTo>
                <a:lnTo>
                  <a:pt x="0" y="108282"/>
                </a:lnTo>
                <a:cubicBezTo>
                  <a:pt x="0" y="48520"/>
                  <a:pt x="48520" y="0"/>
                  <a:pt x="10828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6251" y="1416835"/>
            <a:ext cx="974638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澜起科技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20543" y="1416835"/>
            <a:ext cx="721954" cy="288782"/>
          </a:xfrm>
          <a:custGeom>
            <a:avLst/>
            <a:gdLst/>
            <a:ahLst/>
            <a:cxnLst/>
            <a:rect l="l" t="t" r="r" b="b"/>
            <a:pathLst>
              <a:path w="721954" h="288782">
                <a:moveTo>
                  <a:pt x="144391" y="0"/>
                </a:moveTo>
                <a:lnTo>
                  <a:pt x="577563" y="0"/>
                </a:lnTo>
                <a:cubicBezTo>
                  <a:pt x="657308" y="0"/>
                  <a:pt x="721954" y="64646"/>
                  <a:pt x="721954" y="144391"/>
                </a:cubicBezTo>
                <a:lnTo>
                  <a:pt x="721954" y="144391"/>
                </a:lnTo>
                <a:cubicBezTo>
                  <a:pt x="721954" y="224136"/>
                  <a:pt x="657308" y="288782"/>
                  <a:pt x="577563" y="288782"/>
                </a:cubicBezTo>
                <a:lnTo>
                  <a:pt x="144391" y="288782"/>
                </a:lnTo>
                <a:cubicBezTo>
                  <a:pt x="64646" y="288782"/>
                  <a:pt x="0" y="224136"/>
                  <a:pt x="0" y="144391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1028836" y="1484518"/>
            <a:ext cx="568539" cy="16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稳健持仓</a:t>
            </a:r>
            <a:endParaRPr lang="en-US" sz="1600" dirty="0"/>
          </a:p>
        </p:txBody>
      </p:sp>
      <p:grpSp>
        <p:nvGrpSpPr>
          <p:cNvPr id="73" name="组合 72"/>
          <p:cNvGrpSpPr/>
          <p:nvPr/>
        </p:nvGrpSpPr>
        <p:grpSpPr>
          <a:xfrm>
            <a:off x="6255385" y="1849755"/>
            <a:ext cx="975600" cy="685800"/>
            <a:chOff x="10041" y="2913"/>
            <a:chExt cx="4036" cy="1080"/>
          </a:xfrm>
        </p:grpSpPr>
        <p:sp>
          <p:nvSpPr>
            <p:cNvPr id="27" name="Shape 25"/>
            <p:cNvSpPr/>
            <p:nvPr/>
          </p:nvSpPr>
          <p:spPr>
            <a:xfrm>
              <a:off x="10041" y="2913"/>
              <a:ext cx="4036" cy="1080"/>
            </a:xfrm>
            <a:custGeom>
              <a:avLst/>
              <a:gdLst/>
              <a:ahLst/>
              <a:cxnLst/>
              <a:rect l="l" t="t" r="r" b="b"/>
              <a:pathLst>
                <a:path w="2562937" h="685856">
                  <a:moveTo>
                    <a:pt x="72193" y="0"/>
                  </a:moveTo>
                  <a:lnTo>
                    <a:pt x="2490744" y="0"/>
                  </a:lnTo>
                  <a:cubicBezTo>
                    <a:pt x="2530615" y="0"/>
                    <a:pt x="2562937" y="32322"/>
                    <a:pt x="2562937" y="72193"/>
                  </a:cubicBezTo>
                  <a:lnTo>
                    <a:pt x="2562937" y="613663"/>
                  </a:lnTo>
                  <a:cubicBezTo>
                    <a:pt x="2562937" y="653534"/>
                    <a:pt x="2530615" y="685856"/>
                    <a:pt x="2490744" y="685856"/>
                  </a:cubicBezTo>
                  <a:lnTo>
                    <a:pt x="72193" y="685856"/>
                  </a:lnTo>
                  <a:cubicBezTo>
                    <a:pt x="32322" y="685856"/>
                    <a:pt x="0" y="653534"/>
                    <a:pt x="0" y="613663"/>
                  </a:cubicBezTo>
                  <a:lnTo>
                    <a:pt x="0" y="72193"/>
                  </a:lnTo>
                  <a:cubicBezTo>
                    <a:pt x="0" y="32349"/>
                    <a:pt x="32349" y="0"/>
                    <a:pt x="72193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28" name="Text 26"/>
            <p:cNvSpPr/>
            <p:nvPr/>
          </p:nvSpPr>
          <p:spPr>
            <a:xfrm>
              <a:off x="10212" y="3084"/>
              <a:ext cx="3795" cy="2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9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建仓时机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0212" y="3425"/>
              <a:ext cx="3823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80" b="1" dirty="0">
                  <a:solidFill>
                    <a:srgbClr val="E8E9EA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2025.12.11</a:t>
              </a:r>
              <a:endParaRPr lang="en-US" sz="1600" dirty="0"/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255385" y="2633345"/>
            <a:ext cx="975600" cy="685800"/>
            <a:chOff x="14302" y="2913"/>
            <a:chExt cx="4036" cy="1080"/>
          </a:xfrm>
        </p:grpSpPr>
        <p:sp>
          <p:nvSpPr>
            <p:cNvPr id="30" name="Shape 28"/>
            <p:cNvSpPr/>
            <p:nvPr/>
          </p:nvSpPr>
          <p:spPr>
            <a:xfrm>
              <a:off x="14302" y="2913"/>
              <a:ext cx="4036" cy="1080"/>
            </a:xfrm>
            <a:custGeom>
              <a:avLst/>
              <a:gdLst/>
              <a:ahLst/>
              <a:cxnLst/>
              <a:rect l="l" t="t" r="r" b="b"/>
              <a:pathLst>
                <a:path w="2562937" h="685856">
                  <a:moveTo>
                    <a:pt x="72193" y="0"/>
                  </a:moveTo>
                  <a:lnTo>
                    <a:pt x="2490744" y="0"/>
                  </a:lnTo>
                  <a:cubicBezTo>
                    <a:pt x="2530615" y="0"/>
                    <a:pt x="2562937" y="32322"/>
                    <a:pt x="2562937" y="72193"/>
                  </a:cubicBezTo>
                  <a:lnTo>
                    <a:pt x="2562937" y="613663"/>
                  </a:lnTo>
                  <a:cubicBezTo>
                    <a:pt x="2562937" y="653534"/>
                    <a:pt x="2530615" y="685856"/>
                    <a:pt x="2490744" y="685856"/>
                  </a:cubicBezTo>
                  <a:lnTo>
                    <a:pt x="72193" y="685856"/>
                  </a:lnTo>
                  <a:cubicBezTo>
                    <a:pt x="32322" y="685856"/>
                    <a:pt x="0" y="653534"/>
                    <a:pt x="0" y="613663"/>
                  </a:cubicBezTo>
                  <a:lnTo>
                    <a:pt x="0" y="72193"/>
                  </a:lnTo>
                  <a:cubicBezTo>
                    <a:pt x="0" y="32349"/>
                    <a:pt x="32349" y="0"/>
                    <a:pt x="72193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</p:spPr>
        </p:sp>
        <p:sp>
          <p:nvSpPr>
            <p:cNvPr id="31" name="Text 29"/>
            <p:cNvSpPr/>
            <p:nvPr/>
          </p:nvSpPr>
          <p:spPr>
            <a:xfrm>
              <a:off x="14472" y="3084"/>
              <a:ext cx="3795" cy="2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9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持有状态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4472" y="3425"/>
              <a:ext cx="3823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80" b="1" dirty="0">
                  <a:solidFill>
                    <a:srgbClr val="C8A97E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持仓中</a:t>
              </a:r>
              <a:endParaRPr lang="en-US" sz="1600" dirty="0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6255385" y="4756150"/>
            <a:ext cx="975600" cy="1092200"/>
            <a:chOff x="10048" y="4228"/>
            <a:chExt cx="4022" cy="1720"/>
          </a:xfrm>
        </p:grpSpPr>
        <p:sp>
          <p:nvSpPr>
            <p:cNvPr id="33" name="Shape 31"/>
            <p:cNvSpPr/>
            <p:nvPr/>
          </p:nvSpPr>
          <p:spPr>
            <a:xfrm>
              <a:off x="10048" y="4228"/>
              <a:ext cx="4022" cy="1720"/>
            </a:xfrm>
            <a:custGeom>
              <a:avLst/>
              <a:gdLst/>
              <a:ahLst/>
              <a:cxnLst/>
              <a:rect l="l" t="t" r="r" b="b"/>
              <a:pathLst>
                <a:path w="2553913" h="1091956">
                  <a:moveTo>
                    <a:pt x="108289" y="0"/>
                  </a:moveTo>
                  <a:lnTo>
                    <a:pt x="2445623" y="0"/>
                  </a:lnTo>
                  <a:cubicBezTo>
                    <a:pt x="2505430" y="0"/>
                    <a:pt x="2553913" y="48483"/>
                    <a:pt x="2553913" y="108289"/>
                  </a:cubicBezTo>
                  <a:lnTo>
                    <a:pt x="2553913" y="983666"/>
                  </a:lnTo>
                  <a:cubicBezTo>
                    <a:pt x="2553913" y="1043473"/>
                    <a:pt x="2505430" y="1091956"/>
                    <a:pt x="2445623" y="1091956"/>
                  </a:cubicBezTo>
                  <a:lnTo>
                    <a:pt x="108289" y="1091956"/>
                  </a:lnTo>
                  <a:cubicBezTo>
                    <a:pt x="48483" y="1091956"/>
                    <a:pt x="0" y="1043473"/>
                    <a:pt x="0" y="983666"/>
                  </a:cubicBezTo>
                  <a:lnTo>
                    <a:pt x="0" y="108289"/>
                  </a:lnTo>
                  <a:cubicBezTo>
                    <a:pt x="0" y="48483"/>
                    <a:pt x="48483" y="0"/>
                    <a:pt x="10828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8A97E">
                    <a:alpha val="30000"/>
                  </a:srgbClr>
                </a:gs>
                <a:gs pos="100000">
                  <a:srgbClr val="4A6C8C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C8A97E">
                  <a:alpha val="50196"/>
                </a:srgbClr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10226" y="4462"/>
              <a:ext cx="3667" cy="3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3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至今涨幅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0176" y="4860"/>
              <a:ext cx="3766" cy="5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13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+37.5%</a:t>
              </a:r>
              <a:endParaRPr lang="en-US" sz="16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0233" y="5429"/>
              <a:ext cx="3652" cy="2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120→165</a:t>
              </a:r>
              <a:endParaRPr lang="en-US" sz="1600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255385" y="3391535"/>
            <a:ext cx="975600" cy="1092200"/>
            <a:chOff x="14309" y="4228"/>
            <a:chExt cx="4022" cy="1720"/>
          </a:xfrm>
        </p:grpSpPr>
        <p:sp>
          <p:nvSpPr>
            <p:cNvPr id="37" name="Shape 35"/>
            <p:cNvSpPr/>
            <p:nvPr/>
          </p:nvSpPr>
          <p:spPr>
            <a:xfrm>
              <a:off x="14309" y="4228"/>
              <a:ext cx="4022" cy="1720"/>
            </a:xfrm>
            <a:custGeom>
              <a:avLst/>
              <a:gdLst/>
              <a:ahLst/>
              <a:cxnLst/>
              <a:rect l="l" t="t" r="r" b="b"/>
              <a:pathLst>
                <a:path w="2553913" h="1091956">
                  <a:moveTo>
                    <a:pt x="108289" y="0"/>
                  </a:moveTo>
                  <a:lnTo>
                    <a:pt x="2445623" y="0"/>
                  </a:lnTo>
                  <a:cubicBezTo>
                    <a:pt x="2505430" y="0"/>
                    <a:pt x="2553913" y="48483"/>
                    <a:pt x="2553913" y="108289"/>
                  </a:cubicBezTo>
                  <a:lnTo>
                    <a:pt x="2553913" y="983666"/>
                  </a:lnTo>
                  <a:cubicBezTo>
                    <a:pt x="2553913" y="1043473"/>
                    <a:pt x="2505430" y="1091956"/>
                    <a:pt x="2445623" y="1091956"/>
                  </a:cubicBezTo>
                  <a:lnTo>
                    <a:pt x="108289" y="1091956"/>
                  </a:lnTo>
                  <a:cubicBezTo>
                    <a:pt x="48483" y="1091956"/>
                    <a:pt x="0" y="1043473"/>
                    <a:pt x="0" y="983666"/>
                  </a:cubicBezTo>
                  <a:lnTo>
                    <a:pt x="0" y="108289"/>
                  </a:lnTo>
                  <a:cubicBezTo>
                    <a:pt x="0" y="48483"/>
                    <a:pt x="48483" y="0"/>
                    <a:pt x="108289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14486" y="4462"/>
              <a:ext cx="3667" cy="3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3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最大涨幅</a:t>
              </a:r>
              <a:endParaRPr lang="en-US" sz="1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4437" y="4860"/>
              <a:ext cx="3766" cy="51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130" b="1" dirty="0">
                  <a:solidFill>
                    <a:srgbClr val="C8A97E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+56.7%</a:t>
              </a:r>
              <a:endParaRPr lang="en-US" sz="1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4493" y="5429"/>
              <a:ext cx="3652" cy="2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dirty="0">
                  <a:solidFill>
                    <a:srgbClr val="7D90A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120→188</a:t>
              </a:r>
              <a:endParaRPr lang="en-US" sz="1600" dirty="0"/>
            </a:p>
          </p:txBody>
        </p:sp>
      </p:grpSp>
      <p:pic>
        <p:nvPicPr>
          <p:cNvPr id="69" name="图片 6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318" y="1908786"/>
            <a:ext cx="2047820" cy="4438010"/>
          </a:xfrm>
          <a:prstGeom prst="rect">
            <a:avLst/>
          </a:prstGeom>
        </p:spPr>
      </p:pic>
      <p:pic>
        <p:nvPicPr>
          <p:cNvPr id="70" name="图片 69" descr="图形用户界面, 应用程序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171" y="1850069"/>
            <a:ext cx="2156729" cy="4685982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636" y="1849821"/>
            <a:ext cx="2138038" cy="4633529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805" y="1804670"/>
            <a:ext cx="2291080" cy="45758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97075"/>
            <a:ext cx="72195" cy="288782"/>
          </a:xfrm>
          <a:custGeom>
            <a:avLst/>
            <a:gdLst/>
            <a:ahLst/>
            <a:cxnLst/>
            <a:rect l="l" t="t" r="r" b="b"/>
            <a:pathLst>
              <a:path w="72195" h="288782">
                <a:moveTo>
                  <a:pt x="0" y="0"/>
                </a:moveTo>
                <a:lnTo>
                  <a:pt x="72195" y="0"/>
                </a:lnTo>
                <a:lnTo>
                  <a:pt x="72195" y="288782"/>
                </a:lnTo>
                <a:lnTo>
                  <a:pt x="0" y="288782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41466" y="360977"/>
            <a:ext cx="6371245" cy="3609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56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  <a:sym typeface="+mn-ea"/>
              </a:rPr>
              <a:t>特定用户策略组合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1466" y="794150"/>
            <a:ext cx="11370777" cy="252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2025.12.19面向特定用户提供的第一个组合策略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489" y="4155748"/>
            <a:ext cx="11461021" cy="2337326"/>
          </a:xfrm>
          <a:custGeom>
            <a:avLst/>
            <a:gdLst/>
            <a:ahLst/>
            <a:cxnLst/>
            <a:rect l="l" t="t" r="r" b="b"/>
            <a:pathLst>
              <a:path w="11461021" h="2337326">
                <a:moveTo>
                  <a:pt x="108288" y="0"/>
                </a:moveTo>
                <a:lnTo>
                  <a:pt x="11352733" y="0"/>
                </a:lnTo>
                <a:cubicBezTo>
                  <a:pt x="11412539" y="0"/>
                  <a:pt x="11461021" y="48482"/>
                  <a:pt x="11461021" y="108288"/>
                </a:cubicBezTo>
                <a:lnTo>
                  <a:pt x="11461021" y="2229038"/>
                </a:lnTo>
                <a:cubicBezTo>
                  <a:pt x="11461021" y="2288844"/>
                  <a:pt x="11412539" y="2337326"/>
                  <a:pt x="11352733" y="2337326"/>
                </a:cubicBezTo>
                <a:lnTo>
                  <a:pt x="108288" y="2337326"/>
                </a:lnTo>
                <a:cubicBezTo>
                  <a:pt x="48482" y="2337326"/>
                  <a:pt x="0" y="2288844"/>
                  <a:pt x="0" y="2229038"/>
                </a:cubicBezTo>
                <a:lnTo>
                  <a:pt x="0" y="108288"/>
                </a:lnTo>
                <a:cubicBezTo>
                  <a:pt x="0" y="48522"/>
                  <a:pt x="48522" y="0"/>
                  <a:pt x="108288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C8A97E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6588" y="4458067"/>
            <a:ext cx="270733" cy="270733"/>
          </a:xfrm>
          <a:custGeom>
            <a:avLst/>
            <a:gdLst/>
            <a:ahLst/>
            <a:cxnLst/>
            <a:rect l="l" t="t" r="r" b="b"/>
            <a:pathLst>
              <a:path w="270733" h="270733">
                <a:moveTo>
                  <a:pt x="76302" y="0"/>
                </a:moveTo>
                <a:lnTo>
                  <a:pt x="194748" y="0"/>
                </a:lnTo>
                <a:cubicBezTo>
                  <a:pt x="208760" y="0"/>
                  <a:pt x="220182" y="11527"/>
                  <a:pt x="219653" y="25487"/>
                </a:cubicBezTo>
                <a:cubicBezTo>
                  <a:pt x="219547" y="28289"/>
                  <a:pt x="219442" y="31092"/>
                  <a:pt x="219283" y="33842"/>
                </a:cubicBezTo>
                <a:lnTo>
                  <a:pt x="245510" y="33842"/>
                </a:lnTo>
                <a:cubicBezTo>
                  <a:pt x="259311" y="33842"/>
                  <a:pt x="271473" y="45263"/>
                  <a:pt x="270416" y="60175"/>
                </a:cubicBezTo>
                <a:cubicBezTo>
                  <a:pt x="266450" y="115009"/>
                  <a:pt x="238425" y="145149"/>
                  <a:pt x="208020" y="160906"/>
                </a:cubicBezTo>
                <a:cubicBezTo>
                  <a:pt x="199665" y="165242"/>
                  <a:pt x="191152" y="168468"/>
                  <a:pt x="183062" y="170847"/>
                </a:cubicBezTo>
                <a:cubicBezTo>
                  <a:pt x="172381" y="185970"/>
                  <a:pt x="161276" y="193955"/>
                  <a:pt x="152446" y="198238"/>
                </a:cubicBezTo>
                <a:lnTo>
                  <a:pt x="152446" y="236891"/>
                </a:lnTo>
                <a:lnTo>
                  <a:pt x="186287" y="236891"/>
                </a:lnTo>
                <a:cubicBezTo>
                  <a:pt x="195647" y="236891"/>
                  <a:pt x="203208" y="244453"/>
                  <a:pt x="203208" y="253812"/>
                </a:cubicBezTo>
                <a:cubicBezTo>
                  <a:pt x="203208" y="263171"/>
                  <a:pt x="195647" y="270733"/>
                  <a:pt x="186287" y="270733"/>
                </a:cubicBezTo>
                <a:lnTo>
                  <a:pt x="84763" y="270733"/>
                </a:lnTo>
                <a:cubicBezTo>
                  <a:pt x="75403" y="270733"/>
                  <a:pt x="67842" y="263171"/>
                  <a:pt x="67842" y="253812"/>
                </a:cubicBezTo>
                <a:cubicBezTo>
                  <a:pt x="67842" y="244453"/>
                  <a:pt x="75403" y="236891"/>
                  <a:pt x="84763" y="236891"/>
                </a:cubicBezTo>
                <a:lnTo>
                  <a:pt x="118604" y="236891"/>
                </a:lnTo>
                <a:lnTo>
                  <a:pt x="118604" y="198238"/>
                </a:lnTo>
                <a:cubicBezTo>
                  <a:pt x="110144" y="194166"/>
                  <a:pt x="99621" y="186605"/>
                  <a:pt x="89363" y="172698"/>
                </a:cubicBezTo>
                <a:cubicBezTo>
                  <a:pt x="79634" y="170160"/>
                  <a:pt x="69058" y="166300"/>
                  <a:pt x="58747" y="160483"/>
                </a:cubicBezTo>
                <a:cubicBezTo>
                  <a:pt x="30140" y="144461"/>
                  <a:pt x="4336" y="114268"/>
                  <a:pt x="635" y="60069"/>
                </a:cubicBezTo>
                <a:cubicBezTo>
                  <a:pt x="-370" y="45210"/>
                  <a:pt x="11739" y="33789"/>
                  <a:pt x="25540" y="33789"/>
                </a:cubicBezTo>
                <a:lnTo>
                  <a:pt x="51767" y="33789"/>
                </a:lnTo>
                <a:cubicBezTo>
                  <a:pt x="51608" y="31039"/>
                  <a:pt x="51503" y="28289"/>
                  <a:pt x="51397" y="25434"/>
                </a:cubicBezTo>
                <a:cubicBezTo>
                  <a:pt x="50868" y="11422"/>
                  <a:pt x="62290" y="-53"/>
                  <a:pt x="76302" y="-53"/>
                </a:cubicBezTo>
                <a:close/>
                <a:moveTo>
                  <a:pt x="53671" y="59223"/>
                </a:moveTo>
                <a:lnTo>
                  <a:pt x="25963" y="59223"/>
                </a:lnTo>
                <a:cubicBezTo>
                  <a:pt x="29241" y="104010"/>
                  <a:pt x="49811" y="126430"/>
                  <a:pt x="71014" y="138328"/>
                </a:cubicBezTo>
                <a:cubicBezTo>
                  <a:pt x="63400" y="118604"/>
                  <a:pt x="57108" y="92853"/>
                  <a:pt x="53671" y="59223"/>
                </a:cubicBezTo>
                <a:close/>
                <a:moveTo>
                  <a:pt x="200934" y="135789"/>
                </a:moveTo>
                <a:cubicBezTo>
                  <a:pt x="222350" y="123205"/>
                  <a:pt x="241703" y="100837"/>
                  <a:pt x="244981" y="59223"/>
                </a:cubicBezTo>
                <a:lnTo>
                  <a:pt x="217327" y="59223"/>
                </a:lnTo>
                <a:cubicBezTo>
                  <a:pt x="214048" y="91425"/>
                  <a:pt x="208126" y="116436"/>
                  <a:pt x="200934" y="135789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43" name="Text 41"/>
          <p:cNvSpPr/>
          <p:nvPr/>
        </p:nvSpPr>
        <p:spPr>
          <a:xfrm>
            <a:off x="1033297" y="4340749"/>
            <a:ext cx="3113427" cy="2887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33297" y="4629531"/>
            <a:ext cx="3077329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55002" y="4995020"/>
            <a:ext cx="2653181" cy="1308542"/>
          </a:xfrm>
          <a:custGeom>
            <a:avLst/>
            <a:gdLst/>
            <a:ahLst/>
            <a:cxnLst/>
            <a:rect l="l" t="t" r="r" b="b"/>
            <a:pathLst>
              <a:path w="2653181" h="1308542">
                <a:moveTo>
                  <a:pt x="108295" y="0"/>
                </a:moveTo>
                <a:lnTo>
                  <a:pt x="2544886" y="0"/>
                </a:lnTo>
                <a:cubicBezTo>
                  <a:pt x="2604696" y="0"/>
                  <a:pt x="2653181" y="48485"/>
                  <a:pt x="2653181" y="108295"/>
                </a:cubicBezTo>
                <a:lnTo>
                  <a:pt x="2653181" y="1200247"/>
                </a:lnTo>
                <a:cubicBezTo>
                  <a:pt x="2653181" y="1260057"/>
                  <a:pt x="2604696" y="1308542"/>
                  <a:pt x="2544886" y="1308542"/>
                </a:cubicBezTo>
                <a:lnTo>
                  <a:pt x="108295" y="1308542"/>
                </a:lnTo>
                <a:cubicBezTo>
                  <a:pt x="48485" y="1308542"/>
                  <a:pt x="0" y="1260057"/>
                  <a:pt x="0" y="1200247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97E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808" y="5143923"/>
            <a:ext cx="2427571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5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组合平均收益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2685" y="5432705"/>
            <a:ext cx="2517815" cy="3609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6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+39%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2320" y="5865877"/>
            <a:ext cx="2418546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系统策略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64066" y="4995020"/>
            <a:ext cx="2653181" cy="1308542"/>
          </a:xfrm>
          <a:custGeom>
            <a:avLst/>
            <a:gdLst/>
            <a:ahLst/>
            <a:cxnLst/>
            <a:rect l="l" t="t" r="r" b="b"/>
            <a:pathLst>
              <a:path w="2653181" h="1308542">
                <a:moveTo>
                  <a:pt x="108295" y="0"/>
                </a:moveTo>
                <a:lnTo>
                  <a:pt x="2544886" y="0"/>
                </a:lnTo>
                <a:cubicBezTo>
                  <a:pt x="2604696" y="0"/>
                  <a:pt x="2653181" y="48485"/>
                  <a:pt x="2653181" y="108295"/>
                </a:cubicBezTo>
                <a:lnTo>
                  <a:pt x="2653181" y="1200247"/>
                </a:lnTo>
                <a:cubicBezTo>
                  <a:pt x="2653181" y="1260057"/>
                  <a:pt x="2604696" y="1308542"/>
                  <a:pt x="2544886" y="1308542"/>
                </a:cubicBezTo>
                <a:lnTo>
                  <a:pt x="108295" y="1308542"/>
                </a:lnTo>
                <a:cubicBezTo>
                  <a:pt x="48485" y="1308542"/>
                  <a:pt x="0" y="1260057"/>
                  <a:pt x="0" y="1200247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6872" y="5143923"/>
            <a:ext cx="2427571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5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同期市场指数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431750" y="5432705"/>
            <a:ext cx="2517815" cy="3609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60" b="1" dirty="0">
                <a:solidFill>
                  <a:srgbClr val="7D90A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481384" y="5865877"/>
            <a:ext cx="2418546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基准对比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3201" y="4995020"/>
            <a:ext cx="2653181" cy="1308542"/>
          </a:xfrm>
          <a:custGeom>
            <a:avLst/>
            <a:gdLst/>
            <a:ahLst/>
            <a:cxnLst/>
            <a:rect l="l" t="t" r="r" b="b"/>
            <a:pathLst>
              <a:path w="2653181" h="1308542">
                <a:moveTo>
                  <a:pt x="108295" y="0"/>
                </a:moveTo>
                <a:lnTo>
                  <a:pt x="2544886" y="0"/>
                </a:lnTo>
                <a:cubicBezTo>
                  <a:pt x="2604696" y="0"/>
                  <a:pt x="2653181" y="48485"/>
                  <a:pt x="2653181" y="108295"/>
                </a:cubicBezTo>
                <a:lnTo>
                  <a:pt x="2653181" y="1200247"/>
                </a:lnTo>
                <a:cubicBezTo>
                  <a:pt x="2653181" y="1260057"/>
                  <a:pt x="2604696" y="1308542"/>
                  <a:pt x="2544886" y="1308542"/>
                </a:cubicBezTo>
                <a:lnTo>
                  <a:pt x="108295" y="1308542"/>
                </a:lnTo>
                <a:cubicBezTo>
                  <a:pt x="48485" y="1308542"/>
                  <a:pt x="0" y="1260057"/>
                  <a:pt x="0" y="1200247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97E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86006" y="5143923"/>
            <a:ext cx="2427571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5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超额收益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40884" y="5432705"/>
            <a:ext cx="2517815" cy="3609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6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+34%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90519" y="5865877"/>
            <a:ext cx="2418546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α收益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982265" y="4995020"/>
            <a:ext cx="2653181" cy="1308542"/>
          </a:xfrm>
          <a:custGeom>
            <a:avLst/>
            <a:gdLst/>
            <a:ahLst/>
            <a:cxnLst/>
            <a:rect l="l" t="t" r="r" b="b"/>
            <a:pathLst>
              <a:path w="2653181" h="1308542">
                <a:moveTo>
                  <a:pt x="108295" y="0"/>
                </a:moveTo>
                <a:lnTo>
                  <a:pt x="2544886" y="0"/>
                </a:lnTo>
                <a:cubicBezTo>
                  <a:pt x="2604696" y="0"/>
                  <a:pt x="2653181" y="48485"/>
                  <a:pt x="2653181" y="108295"/>
                </a:cubicBezTo>
                <a:lnTo>
                  <a:pt x="2653181" y="1200247"/>
                </a:lnTo>
                <a:cubicBezTo>
                  <a:pt x="2653181" y="1260057"/>
                  <a:pt x="2604696" y="1308542"/>
                  <a:pt x="2544886" y="1308542"/>
                </a:cubicBezTo>
                <a:lnTo>
                  <a:pt x="108295" y="1308542"/>
                </a:lnTo>
                <a:cubicBezTo>
                  <a:pt x="48485" y="1308542"/>
                  <a:pt x="0" y="1260057"/>
                  <a:pt x="0" y="1200247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95071" y="5143923"/>
            <a:ext cx="2427571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5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明星标的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31168" y="5450754"/>
            <a:ext cx="568539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五洲新春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48128" y="5432705"/>
            <a:ext cx="415124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+81%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31168" y="5703437"/>
            <a:ext cx="568539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华丰科技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119292" y="5685389"/>
            <a:ext cx="442197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+50%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31168" y="5956121"/>
            <a:ext cx="568539" cy="180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澜起科技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124439" y="5938073"/>
            <a:ext cx="433172" cy="2165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+44%</a:t>
            </a:r>
            <a:endParaRPr lang="en-US" sz="1600" dirty="0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5" y="1299845"/>
            <a:ext cx="11360150" cy="24638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2571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数据背后的意义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实操复盘小结：实战业绩验证系统价值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3676650" cy="2486025"/>
          </a:xfrm>
          <a:custGeom>
            <a:avLst/>
            <a:gdLst/>
            <a:ahLst/>
            <a:cxnLst/>
            <a:rect l="l" t="t" r="r" b="b"/>
            <a:pathLst>
              <a:path w="3676650" h="2486025">
                <a:moveTo>
                  <a:pt x="152393" y="0"/>
                </a:moveTo>
                <a:lnTo>
                  <a:pt x="3524257" y="0"/>
                </a:lnTo>
                <a:cubicBezTo>
                  <a:pt x="3608421" y="0"/>
                  <a:pt x="3676650" y="68229"/>
                  <a:pt x="3676650" y="152393"/>
                </a:cubicBezTo>
                <a:lnTo>
                  <a:pt x="3676650" y="2333632"/>
                </a:lnTo>
                <a:cubicBezTo>
                  <a:pt x="3676650" y="2417796"/>
                  <a:pt x="3608421" y="2486025"/>
                  <a:pt x="3524257" y="2486025"/>
                </a:cubicBezTo>
                <a:lnTo>
                  <a:pt x="152393" y="2486025"/>
                </a:lnTo>
                <a:cubicBezTo>
                  <a:pt x="68229" y="2486025"/>
                  <a:pt x="0" y="2417796"/>
                  <a:pt x="0" y="23336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571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9625" y="176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4655" y="42863"/>
                </a:moveTo>
                <a:cubicBezTo>
                  <a:pt x="89743" y="42863"/>
                  <a:pt x="85725" y="46881"/>
                  <a:pt x="85725" y="51792"/>
                </a:cubicBezTo>
                <a:lnTo>
                  <a:pt x="85725" y="53578"/>
                </a:lnTo>
                <a:cubicBezTo>
                  <a:pt x="72866" y="53712"/>
                  <a:pt x="62508" y="64160"/>
                  <a:pt x="62508" y="77019"/>
                </a:cubicBezTo>
                <a:cubicBezTo>
                  <a:pt x="62508" y="88493"/>
                  <a:pt x="70768" y="98271"/>
                  <a:pt x="82108" y="100146"/>
                </a:cubicBezTo>
                <a:lnTo>
                  <a:pt x="100727" y="103272"/>
                </a:lnTo>
                <a:cubicBezTo>
                  <a:pt x="103406" y="103718"/>
                  <a:pt x="105370" y="106040"/>
                  <a:pt x="105370" y="108764"/>
                </a:cubicBezTo>
                <a:cubicBezTo>
                  <a:pt x="105370" y="111844"/>
                  <a:pt x="102870" y="114345"/>
                  <a:pt x="99789" y="114345"/>
                </a:cubicBezTo>
                <a:lnTo>
                  <a:pt x="75009" y="114300"/>
                </a:lnTo>
                <a:cubicBezTo>
                  <a:pt x="70098" y="114300"/>
                  <a:pt x="66080" y="118318"/>
                  <a:pt x="66080" y="123230"/>
                </a:cubicBezTo>
                <a:cubicBezTo>
                  <a:pt x="66080" y="128141"/>
                  <a:pt x="70098" y="132159"/>
                  <a:pt x="75009" y="132159"/>
                </a:cubicBezTo>
                <a:lnTo>
                  <a:pt x="85725" y="132159"/>
                </a:lnTo>
                <a:lnTo>
                  <a:pt x="85725" y="133945"/>
                </a:lnTo>
                <a:cubicBezTo>
                  <a:pt x="85725" y="138857"/>
                  <a:pt x="89743" y="142875"/>
                  <a:pt x="94655" y="142875"/>
                </a:cubicBezTo>
                <a:cubicBezTo>
                  <a:pt x="99566" y="142875"/>
                  <a:pt x="103584" y="138857"/>
                  <a:pt x="103584" y="133945"/>
                </a:cubicBezTo>
                <a:lnTo>
                  <a:pt x="103584" y="131847"/>
                </a:lnTo>
                <a:cubicBezTo>
                  <a:pt x="114746" y="130016"/>
                  <a:pt x="123230" y="120372"/>
                  <a:pt x="123230" y="108719"/>
                </a:cubicBezTo>
                <a:cubicBezTo>
                  <a:pt x="123230" y="97244"/>
                  <a:pt x="114970" y="87466"/>
                  <a:pt x="103629" y="85591"/>
                </a:cubicBezTo>
                <a:lnTo>
                  <a:pt x="85011" y="82466"/>
                </a:lnTo>
                <a:cubicBezTo>
                  <a:pt x="82332" y="82019"/>
                  <a:pt x="80367" y="79697"/>
                  <a:pt x="80367" y="76974"/>
                </a:cubicBezTo>
                <a:cubicBezTo>
                  <a:pt x="80367" y="73893"/>
                  <a:pt x="82867" y="71393"/>
                  <a:pt x="85948" y="71393"/>
                </a:cubicBezTo>
                <a:lnTo>
                  <a:pt x="107156" y="71393"/>
                </a:lnTo>
                <a:cubicBezTo>
                  <a:pt x="112068" y="71393"/>
                  <a:pt x="116086" y="67374"/>
                  <a:pt x="116086" y="62463"/>
                </a:cubicBezTo>
                <a:cubicBezTo>
                  <a:pt x="116086" y="57552"/>
                  <a:pt x="112068" y="53533"/>
                  <a:pt x="107156" y="53533"/>
                </a:cubicBezTo>
                <a:lnTo>
                  <a:pt x="103584" y="53533"/>
                </a:lnTo>
                <a:lnTo>
                  <a:pt x="103584" y="51748"/>
                </a:lnTo>
                <a:cubicBezTo>
                  <a:pt x="103584" y="46836"/>
                  <a:pt x="99566" y="42818"/>
                  <a:pt x="94655" y="4281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381125" y="1571625"/>
            <a:ext cx="10287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发现机会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的能力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333625"/>
            <a:ext cx="328612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无论是短线爆发（沃尔德+47.3%）还是产业趋势（谷歌链+62%），均能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提前布局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，精准捕捉市场机会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332422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19125" y="332422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短线爆发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57325" y="332422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457325" y="332422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产业趋势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9238" y="1338263"/>
            <a:ext cx="3676650" cy="2486025"/>
          </a:xfrm>
          <a:custGeom>
            <a:avLst/>
            <a:gdLst/>
            <a:ahLst/>
            <a:cxnLst/>
            <a:rect l="l" t="t" r="r" b="b"/>
            <a:pathLst>
              <a:path w="3676650" h="2486025">
                <a:moveTo>
                  <a:pt x="152393" y="0"/>
                </a:moveTo>
                <a:lnTo>
                  <a:pt x="3524257" y="0"/>
                </a:lnTo>
                <a:cubicBezTo>
                  <a:pt x="3608421" y="0"/>
                  <a:pt x="3676650" y="68229"/>
                  <a:pt x="3676650" y="152393"/>
                </a:cubicBezTo>
                <a:lnTo>
                  <a:pt x="3676650" y="2333632"/>
                </a:lnTo>
                <a:cubicBezTo>
                  <a:pt x="3676650" y="2417796"/>
                  <a:pt x="3608421" y="2486025"/>
                  <a:pt x="3524257" y="2486025"/>
                </a:cubicBezTo>
                <a:lnTo>
                  <a:pt x="152393" y="2486025"/>
                </a:lnTo>
                <a:cubicBezTo>
                  <a:pt x="68229" y="2486025"/>
                  <a:pt x="0" y="2417796"/>
                  <a:pt x="0" y="23336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2600" y="1571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3100" y="176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17" name="Text 15"/>
          <p:cNvSpPr/>
          <p:nvPr/>
        </p:nvSpPr>
        <p:spPr>
          <a:xfrm>
            <a:off x="5254600" y="1571625"/>
            <a:ext cx="10287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穿越周期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的能力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2600" y="2333625"/>
            <a:ext cx="328612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组合策略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大幅跑赢市场指数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，特定用户组合收益+39%，同期市场仅+5%，超额收益+34%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92600" y="3095625"/>
            <a:ext cx="3209925" cy="495300"/>
          </a:xfrm>
          <a:custGeom>
            <a:avLst/>
            <a:gdLst/>
            <a:ahLst/>
            <a:cxnLst/>
            <a:rect l="l" t="t" r="r" b="b"/>
            <a:pathLst>
              <a:path w="3209925" h="4953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419098"/>
                </a:lnTo>
                <a:cubicBezTo>
                  <a:pt x="3209925" y="461183"/>
                  <a:pt x="3175808" y="495300"/>
                  <a:pt x="31337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606900" y="324802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超额收益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03790" y="3209925"/>
            <a:ext cx="581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+34%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32713" y="1338263"/>
            <a:ext cx="3676650" cy="2486025"/>
          </a:xfrm>
          <a:custGeom>
            <a:avLst/>
            <a:gdLst/>
            <a:ahLst/>
            <a:cxnLst/>
            <a:rect l="l" t="t" r="r" b="b"/>
            <a:pathLst>
              <a:path w="3676650" h="2486025">
                <a:moveTo>
                  <a:pt x="152393" y="0"/>
                </a:moveTo>
                <a:lnTo>
                  <a:pt x="3524257" y="0"/>
                </a:lnTo>
                <a:cubicBezTo>
                  <a:pt x="3608421" y="0"/>
                  <a:pt x="3676650" y="68229"/>
                  <a:pt x="3676650" y="152393"/>
                </a:cubicBezTo>
                <a:lnTo>
                  <a:pt x="3676650" y="2333632"/>
                </a:lnTo>
                <a:cubicBezTo>
                  <a:pt x="3676650" y="2417796"/>
                  <a:pt x="3608421" y="2486025"/>
                  <a:pt x="3524257" y="2486025"/>
                </a:cubicBezTo>
                <a:lnTo>
                  <a:pt x="152393" y="2486025"/>
                </a:lnTo>
                <a:cubicBezTo>
                  <a:pt x="68229" y="2486025"/>
                  <a:pt x="0" y="2417796"/>
                  <a:pt x="0" y="23336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075" y="1571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56575" y="176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5" name="Text 23"/>
          <p:cNvSpPr/>
          <p:nvPr/>
        </p:nvSpPr>
        <p:spPr>
          <a:xfrm>
            <a:off x="9128075" y="1571625"/>
            <a:ext cx="1257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快速商业化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的能力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075" y="2333625"/>
            <a:ext cx="328612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1.5个月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，在没有持续大规模引流的情况下，实现</a:t>
            </a: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58万元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付费验证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66075" y="3019425"/>
            <a:ext cx="1019175" cy="571500"/>
          </a:xfrm>
          <a:custGeom>
            <a:avLst/>
            <a:gdLst/>
            <a:ahLst/>
            <a:cxnLst/>
            <a:rect l="l" t="t" r="r" b="b"/>
            <a:pathLst>
              <a:path w="1019175" h="571500">
                <a:moveTo>
                  <a:pt x="38102" y="0"/>
                </a:moveTo>
                <a:lnTo>
                  <a:pt x="981073" y="0"/>
                </a:lnTo>
                <a:cubicBezTo>
                  <a:pt x="1002116" y="0"/>
                  <a:pt x="1019175" y="17059"/>
                  <a:pt x="1019175" y="38102"/>
                </a:cubicBezTo>
                <a:lnTo>
                  <a:pt x="1019175" y="533398"/>
                </a:lnTo>
                <a:cubicBezTo>
                  <a:pt x="1019175" y="554441"/>
                  <a:pt x="1002116" y="571500"/>
                  <a:pt x="9810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8399413" y="3095625"/>
            <a:ext cx="952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3700" y="3362325"/>
            <a:ext cx="9239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知识星球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60334" y="3019425"/>
            <a:ext cx="1019175" cy="571500"/>
          </a:xfrm>
          <a:custGeom>
            <a:avLst/>
            <a:gdLst/>
            <a:ahLst/>
            <a:cxnLst/>
            <a:rect l="l" t="t" r="r" b="b"/>
            <a:pathLst>
              <a:path w="1019175" h="571500">
                <a:moveTo>
                  <a:pt x="38102" y="0"/>
                </a:moveTo>
                <a:lnTo>
                  <a:pt x="981073" y="0"/>
                </a:lnTo>
                <a:cubicBezTo>
                  <a:pt x="1002116" y="0"/>
                  <a:pt x="1019175" y="17059"/>
                  <a:pt x="1019175" y="38102"/>
                </a:cubicBezTo>
                <a:lnTo>
                  <a:pt x="1019175" y="533398"/>
                </a:lnTo>
                <a:cubicBezTo>
                  <a:pt x="1019175" y="554441"/>
                  <a:pt x="1002116" y="571500"/>
                  <a:pt x="9810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9493672" y="3095625"/>
            <a:ext cx="952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26万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07959" y="3362325"/>
            <a:ext cx="9239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咸鱼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554667" y="3019425"/>
            <a:ext cx="1019175" cy="571500"/>
          </a:xfrm>
          <a:custGeom>
            <a:avLst/>
            <a:gdLst/>
            <a:ahLst/>
            <a:cxnLst/>
            <a:rect l="l" t="t" r="r" b="b"/>
            <a:pathLst>
              <a:path w="1019175" h="571500">
                <a:moveTo>
                  <a:pt x="38102" y="0"/>
                </a:moveTo>
                <a:lnTo>
                  <a:pt x="981073" y="0"/>
                </a:lnTo>
                <a:cubicBezTo>
                  <a:pt x="1002116" y="0"/>
                  <a:pt x="1019175" y="17059"/>
                  <a:pt x="1019175" y="38102"/>
                </a:cubicBezTo>
                <a:lnTo>
                  <a:pt x="1019175" y="533398"/>
                </a:lnTo>
                <a:cubicBezTo>
                  <a:pt x="1019175" y="554441"/>
                  <a:pt x="1002116" y="571500"/>
                  <a:pt x="9810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0588005" y="3095625"/>
            <a:ext cx="952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602292" y="3362325"/>
            <a:ext cx="9239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VIP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90525" y="4067175"/>
            <a:ext cx="11410950" cy="1257300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152397" y="0"/>
                </a:moveTo>
                <a:lnTo>
                  <a:pt x="11258553" y="0"/>
                </a:lnTo>
                <a:cubicBezTo>
                  <a:pt x="11342719" y="0"/>
                  <a:pt x="11410950" y="68231"/>
                  <a:pt x="11410950" y="152397"/>
                </a:cubicBezTo>
                <a:lnTo>
                  <a:pt x="11410950" y="1104903"/>
                </a:lnTo>
                <a:cubicBezTo>
                  <a:pt x="11410950" y="1189069"/>
                  <a:pt x="11342719" y="1257300"/>
                  <a:pt x="1125855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C8A97E">
                  <a:alpha val="30000"/>
                </a:srgbClr>
              </a:gs>
            </a:gsLst>
            <a:lin ang="0" scaled="1"/>
          </a:gradFill>
          <a:ln w="25400">
            <a:solidFill>
              <a:srgbClr val="C8A97E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650" y="431244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69156" y="455056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9" name="Text 37"/>
          <p:cNvSpPr/>
          <p:nvPr/>
        </p:nvSpPr>
        <p:spPr>
          <a:xfrm>
            <a:off x="1619250" y="4305300"/>
            <a:ext cx="9248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核心驱动力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619250" y="4762500"/>
            <a:ext cx="9201150" cy="323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这一切的背后，不仅是个人经验，更是</a:t>
            </a:r>
            <a:r>
              <a:rPr lang="en-US" sz="18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"Ares智能研报系统"</a:t>
            </a:r>
            <a:r>
              <a:rPr lang="en-US" sz="15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的强大支撑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25150" y="4331494"/>
            <a:ext cx="838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877550" y="482679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智能驱动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" y="283210"/>
            <a:ext cx="11777980" cy="62915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5381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Ares智能研报 - 您的AI投研副驾驶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基于多智能体大语言模型的智能金融分析决策平台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4467225" cy="4086225"/>
          </a:xfrm>
          <a:custGeom>
            <a:avLst/>
            <a:gdLst/>
            <a:ahLst/>
            <a:cxnLst/>
            <a:rect l="l" t="t" r="r" b="b"/>
            <a:pathLst>
              <a:path w="4467225" h="4086225">
                <a:moveTo>
                  <a:pt x="152416" y="0"/>
                </a:moveTo>
                <a:lnTo>
                  <a:pt x="4314809" y="0"/>
                </a:lnTo>
                <a:cubicBezTo>
                  <a:pt x="4398986" y="0"/>
                  <a:pt x="4467225" y="68239"/>
                  <a:pt x="4467225" y="152416"/>
                </a:cubicBezTo>
                <a:lnTo>
                  <a:pt x="4467225" y="3933809"/>
                </a:lnTo>
                <a:cubicBezTo>
                  <a:pt x="4467225" y="4017986"/>
                  <a:pt x="4398986" y="4086225"/>
                  <a:pt x="4314809" y="4086225"/>
                </a:cubicBezTo>
                <a:lnTo>
                  <a:pt x="152416" y="4086225"/>
                </a:lnTo>
                <a:cubicBezTo>
                  <a:pt x="68239" y="4086225"/>
                  <a:pt x="0" y="4017986"/>
                  <a:pt x="0" y="3933809"/>
                </a:cubicBezTo>
                <a:lnTo>
                  <a:pt x="0" y="152416"/>
                </a:lnTo>
                <a:cubicBezTo>
                  <a:pt x="0" y="68239"/>
                  <a:pt x="68239" y="0"/>
                  <a:pt x="15241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64035" y="17621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54163" y="1990725"/>
            <a:ext cx="53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9587" y="2828925"/>
            <a:ext cx="42195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163" y="3248025"/>
            <a:ext cx="4162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智能研报系统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3667125"/>
            <a:ext cx="4076700" cy="1181100"/>
          </a:xfrm>
          <a:custGeom>
            <a:avLst/>
            <a:gdLst/>
            <a:ahLst/>
            <a:cxnLst/>
            <a:rect l="l" t="t" r="r" b="b"/>
            <a:pathLst>
              <a:path w="4076700" h="1181100">
                <a:moveTo>
                  <a:pt x="114295" y="0"/>
                </a:moveTo>
                <a:lnTo>
                  <a:pt x="3962405" y="0"/>
                </a:lnTo>
                <a:cubicBezTo>
                  <a:pt x="4025528" y="0"/>
                  <a:pt x="4076700" y="51172"/>
                  <a:pt x="4076700" y="114295"/>
                </a:cubicBezTo>
                <a:lnTo>
                  <a:pt x="4076700" y="1066805"/>
                </a:lnTo>
                <a:cubicBezTo>
                  <a:pt x="4076700" y="1129928"/>
                  <a:pt x="4025528" y="1181100"/>
                  <a:pt x="3962405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757238" y="3867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12" name="Text 10"/>
          <p:cNvSpPr/>
          <p:nvPr/>
        </p:nvSpPr>
        <p:spPr>
          <a:xfrm>
            <a:off x="952500" y="3819525"/>
            <a:ext cx="3638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3425" y="4200525"/>
            <a:ext cx="38481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填补市场空白，兼具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传统量化的速度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人工投研的深度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AI技术的智能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32995" y="1257300"/>
            <a:ext cx="6781800" cy="1104900"/>
          </a:xfrm>
          <a:custGeom>
            <a:avLst/>
            <a:gdLst/>
            <a:ahLst/>
            <a:cxnLst/>
            <a:rect l="l" t="t" r="r" b="b"/>
            <a:pathLst>
              <a:path w="6781800" h="1104900">
                <a:moveTo>
                  <a:pt x="38100" y="0"/>
                </a:moveTo>
                <a:lnTo>
                  <a:pt x="6667498" y="0"/>
                </a:lnTo>
                <a:cubicBezTo>
                  <a:pt x="6730625" y="0"/>
                  <a:pt x="6781800" y="51175"/>
                  <a:pt x="6781800" y="114302"/>
                </a:cubicBezTo>
                <a:lnTo>
                  <a:pt x="6781800" y="990598"/>
                </a:lnTo>
                <a:cubicBezTo>
                  <a:pt x="6781800" y="1053725"/>
                  <a:pt x="6730625" y="1104900"/>
                  <a:pt x="6667498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15" name="Shape 13"/>
          <p:cNvSpPr/>
          <p:nvPr/>
        </p:nvSpPr>
        <p:spPr>
          <a:xfrm>
            <a:off x="5032995" y="12573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16" name="Shape 14"/>
          <p:cNvSpPr/>
          <p:nvPr/>
        </p:nvSpPr>
        <p:spPr>
          <a:xfrm>
            <a:off x="5204445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5349701" y="1543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18" name="Text 16"/>
          <p:cNvSpPr/>
          <p:nvPr/>
        </p:nvSpPr>
        <p:spPr>
          <a:xfrm>
            <a:off x="5814045" y="1409700"/>
            <a:ext cx="5943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对个人投资者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33095" y="1781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20" name="Text 18"/>
          <p:cNvSpPr/>
          <p:nvPr/>
        </p:nvSpPr>
        <p:spPr>
          <a:xfrm>
            <a:off x="6056933" y="17526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专业级分析能力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93435" y="1781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22" name="Text 20"/>
          <p:cNvSpPr/>
          <p:nvPr/>
        </p:nvSpPr>
        <p:spPr>
          <a:xfrm>
            <a:off x="9017273" y="17526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多维度决策支持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33095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24" name="Text 22"/>
          <p:cNvSpPr/>
          <p:nvPr/>
        </p:nvSpPr>
        <p:spPr>
          <a:xfrm>
            <a:off x="6056933" y="201930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降低投资门槛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93435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26" name="Text 24"/>
          <p:cNvSpPr/>
          <p:nvPr/>
        </p:nvSpPr>
        <p:spPr>
          <a:xfrm>
            <a:off x="9017273" y="20193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多层次风险控制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32995" y="2476500"/>
            <a:ext cx="6781800" cy="1104900"/>
          </a:xfrm>
          <a:custGeom>
            <a:avLst/>
            <a:gdLst/>
            <a:ahLst/>
            <a:cxnLst/>
            <a:rect l="l" t="t" r="r" b="b"/>
            <a:pathLst>
              <a:path w="6781800" h="1104900">
                <a:moveTo>
                  <a:pt x="38100" y="0"/>
                </a:moveTo>
                <a:lnTo>
                  <a:pt x="6667498" y="0"/>
                </a:lnTo>
                <a:cubicBezTo>
                  <a:pt x="6730625" y="0"/>
                  <a:pt x="6781800" y="51175"/>
                  <a:pt x="6781800" y="114302"/>
                </a:cubicBezTo>
                <a:lnTo>
                  <a:pt x="6781800" y="990598"/>
                </a:lnTo>
                <a:cubicBezTo>
                  <a:pt x="6781800" y="1053725"/>
                  <a:pt x="6730625" y="1104900"/>
                  <a:pt x="6667498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28" name="Shape 26"/>
          <p:cNvSpPr/>
          <p:nvPr/>
        </p:nvSpPr>
        <p:spPr>
          <a:xfrm>
            <a:off x="5032995" y="24765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9" name="Shape 27"/>
          <p:cNvSpPr/>
          <p:nvPr/>
        </p:nvSpPr>
        <p:spPr>
          <a:xfrm>
            <a:off x="5204445" y="2628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361608" y="2762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5814045" y="2628900"/>
            <a:ext cx="5943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对机构客户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33095" y="3000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3" name="Text 31"/>
          <p:cNvSpPr/>
          <p:nvPr/>
        </p:nvSpPr>
        <p:spPr>
          <a:xfrm>
            <a:off x="6056933" y="297180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提升研究效率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793435" y="3000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5" name="Text 33"/>
          <p:cNvSpPr/>
          <p:nvPr/>
        </p:nvSpPr>
        <p:spPr>
          <a:xfrm>
            <a:off x="9017273" y="29718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标准化分析流程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33095" y="3267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7" name="Text 35"/>
          <p:cNvSpPr/>
          <p:nvPr/>
        </p:nvSpPr>
        <p:spPr>
          <a:xfrm>
            <a:off x="6056933" y="3238500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多市场覆盖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793435" y="3267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9" name="Text 37"/>
          <p:cNvSpPr/>
          <p:nvPr/>
        </p:nvSpPr>
        <p:spPr>
          <a:xfrm>
            <a:off x="9017273" y="3238500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可扩展架构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18708" y="3700463"/>
            <a:ext cx="6791325" cy="1647825"/>
          </a:xfrm>
          <a:custGeom>
            <a:avLst/>
            <a:gdLst/>
            <a:ahLst/>
            <a:cxnLst/>
            <a:rect l="l" t="t" r="r" b="b"/>
            <a:pathLst>
              <a:path w="6791325" h="1647825">
                <a:moveTo>
                  <a:pt x="114293" y="0"/>
                </a:moveTo>
                <a:lnTo>
                  <a:pt x="6677032" y="0"/>
                </a:lnTo>
                <a:cubicBezTo>
                  <a:pt x="6740112" y="0"/>
                  <a:pt x="6791325" y="51213"/>
                  <a:pt x="6791325" y="114293"/>
                </a:cubicBezTo>
                <a:lnTo>
                  <a:pt x="6791325" y="1533532"/>
                </a:lnTo>
                <a:cubicBezTo>
                  <a:pt x="6791325" y="1596612"/>
                  <a:pt x="6740112" y="1647825"/>
                  <a:pt x="66770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C8A97E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99683" y="3905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42" name="Text 40"/>
          <p:cNvSpPr/>
          <p:nvPr/>
        </p:nvSpPr>
        <p:spPr>
          <a:xfrm>
            <a:off x="5394945" y="3857625"/>
            <a:ext cx="6343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多市场覆盖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75870" y="4238625"/>
            <a:ext cx="2085975" cy="952500"/>
          </a:xfrm>
          <a:custGeom>
            <a:avLst/>
            <a:gdLst/>
            <a:ahLst/>
            <a:cxnLst/>
            <a:rect l="l" t="t" r="r" b="b"/>
            <a:pathLst>
              <a:path w="2085975" h="952500">
                <a:moveTo>
                  <a:pt x="76200" y="0"/>
                </a:moveTo>
                <a:lnTo>
                  <a:pt x="2009775" y="0"/>
                </a:lnTo>
                <a:cubicBezTo>
                  <a:pt x="2051831" y="0"/>
                  <a:pt x="2085975" y="34144"/>
                  <a:pt x="2085975" y="76200"/>
                </a:cubicBezTo>
                <a:lnTo>
                  <a:pt x="2085975" y="876300"/>
                </a:lnTo>
                <a:cubicBezTo>
                  <a:pt x="2085975" y="918356"/>
                  <a:pt x="2051831" y="952500"/>
                  <a:pt x="20097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5233020" y="4352925"/>
            <a:ext cx="1971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56833" y="4695825"/>
            <a:ext cx="1924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A股市场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61595" y="4924425"/>
            <a:ext cx="1914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主板/创业板/科创板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71680" y="4238625"/>
            <a:ext cx="2085975" cy="952500"/>
          </a:xfrm>
          <a:custGeom>
            <a:avLst/>
            <a:gdLst/>
            <a:ahLst/>
            <a:cxnLst/>
            <a:rect l="l" t="t" r="r" b="b"/>
            <a:pathLst>
              <a:path w="2085975" h="952500">
                <a:moveTo>
                  <a:pt x="76200" y="0"/>
                </a:moveTo>
                <a:lnTo>
                  <a:pt x="2009775" y="0"/>
                </a:lnTo>
                <a:cubicBezTo>
                  <a:pt x="2051831" y="0"/>
                  <a:pt x="2085975" y="34144"/>
                  <a:pt x="2085975" y="76200"/>
                </a:cubicBezTo>
                <a:lnTo>
                  <a:pt x="2085975" y="876300"/>
                </a:lnTo>
                <a:cubicBezTo>
                  <a:pt x="2085975" y="918356"/>
                  <a:pt x="2051831" y="952500"/>
                  <a:pt x="20097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7428830" y="4352925"/>
            <a:ext cx="1971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52643" y="4695825"/>
            <a:ext cx="1924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港股市场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57405" y="4924425"/>
            <a:ext cx="1914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主板/创业板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567565" y="4238625"/>
            <a:ext cx="2085975" cy="952500"/>
          </a:xfrm>
          <a:custGeom>
            <a:avLst/>
            <a:gdLst/>
            <a:ahLst/>
            <a:cxnLst/>
            <a:rect l="l" t="t" r="r" b="b"/>
            <a:pathLst>
              <a:path w="2085975" h="952500">
                <a:moveTo>
                  <a:pt x="76200" y="0"/>
                </a:moveTo>
                <a:lnTo>
                  <a:pt x="2009775" y="0"/>
                </a:lnTo>
                <a:cubicBezTo>
                  <a:pt x="2051831" y="0"/>
                  <a:pt x="2085975" y="34144"/>
                  <a:pt x="2085975" y="76200"/>
                </a:cubicBezTo>
                <a:lnTo>
                  <a:pt x="2085975" y="876300"/>
                </a:lnTo>
                <a:cubicBezTo>
                  <a:pt x="2085975" y="918356"/>
                  <a:pt x="2051831" y="952500"/>
                  <a:pt x="20097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9624715" y="4352925"/>
            <a:ext cx="1971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648527" y="4695825"/>
            <a:ext cx="1924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美股市场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653290" y="4924425"/>
            <a:ext cx="1914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NYSE/NASDAQ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5763" y="5510213"/>
            <a:ext cx="11420475" cy="809625"/>
          </a:xfrm>
          <a:custGeom>
            <a:avLst/>
            <a:gdLst/>
            <a:ahLst/>
            <a:cxnLst/>
            <a:rect l="l" t="t" r="r" b="b"/>
            <a:pathLst>
              <a:path w="11420475" h="80962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695322"/>
                </a:lnTo>
                <a:cubicBezTo>
                  <a:pt x="11420475" y="758408"/>
                  <a:pt x="11369258" y="809625"/>
                  <a:pt x="113061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C8A97E">
                  <a:alpha val="20000"/>
                </a:srgbClr>
              </a:gs>
            </a:gsLst>
            <a:lin ang="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5788" y="58007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42863"/>
                </a:moveTo>
                <a:lnTo>
                  <a:pt x="114300" y="42863"/>
                </a:lnTo>
                <a:lnTo>
                  <a:pt x="114300" y="100013"/>
                </a:lnTo>
                <a:lnTo>
                  <a:pt x="171450" y="100013"/>
                </a:lnTo>
                <a:lnTo>
                  <a:pt x="171450" y="42863"/>
                </a:lnTo>
                <a:close/>
                <a:moveTo>
                  <a:pt x="200025" y="100013"/>
                </a:move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00013"/>
                </a:lnTo>
                <a:close/>
                <a:moveTo>
                  <a:pt x="28575" y="128588"/>
                </a:moveTo>
                <a:lnTo>
                  <a:pt x="28575" y="185738"/>
                </a:lnTo>
                <a:lnTo>
                  <a:pt x="85725" y="185738"/>
                </a:lnTo>
                <a:lnTo>
                  <a:pt x="85725" y="128588"/>
                </a:lnTo>
                <a:lnTo>
                  <a:pt x="28575" y="128588"/>
                </a:lnTo>
                <a:close/>
                <a:moveTo>
                  <a:pt x="85725" y="100013"/>
                </a:moveTo>
                <a:lnTo>
                  <a:pt x="85725" y="42863"/>
                </a:lnTo>
                <a:lnTo>
                  <a:pt x="28575" y="42863"/>
                </a:lnTo>
                <a:lnTo>
                  <a:pt x="28575" y="100013"/>
                </a:lnTo>
                <a:lnTo>
                  <a:pt x="85725" y="100013"/>
                </a:lnTo>
                <a:close/>
                <a:moveTo>
                  <a:pt x="114300" y="128588"/>
                </a:moveTo>
                <a:lnTo>
                  <a:pt x="114300" y="185738"/>
                </a:lnTo>
                <a:lnTo>
                  <a:pt x="171450" y="185738"/>
                </a:lnTo>
                <a:lnTo>
                  <a:pt x="171450" y="128588"/>
                </a:lnTo>
                <a:lnTo>
                  <a:pt x="114300" y="128588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57" name="Text 55"/>
          <p:cNvSpPr/>
          <p:nvPr/>
        </p:nvSpPr>
        <p:spPr>
          <a:xfrm>
            <a:off x="981075" y="5667375"/>
            <a:ext cx="2066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四大分析维度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81075" y="5934075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全方位覆盖投资决策所需信息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43875" y="5724525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190500" y="0"/>
                </a:moveTo>
                <a:lnTo>
                  <a:pt x="571500" y="0"/>
                </a:lnTo>
                <a:cubicBezTo>
                  <a:pt x="676640" y="0"/>
                  <a:pt x="762000" y="85360"/>
                  <a:pt x="762000" y="190500"/>
                </a:cubicBezTo>
                <a:lnTo>
                  <a:pt x="762000" y="190500"/>
                </a:lnTo>
                <a:cubicBezTo>
                  <a:pt x="762000" y="295640"/>
                  <a:pt x="676640" y="381000"/>
                  <a:pt x="571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8143875" y="5724525"/>
            <a:ext cx="838200" cy="3810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58275" y="5724525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190500" y="0"/>
                </a:moveTo>
                <a:lnTo>
                  <a:pt x="571500" y="0"/>
                </a:lnTo>
                <a:cubicBezTo>
                  <a:pt x="676640" y="0"/>
                  <a:pt x="762000" y="85360"/>
                  <a:pt x="762000" y="190500"/>
                </a:cubicBezTo>
                <a:lnTo>
                  <a:pt x="762000" y="190500"/>
                </a:lnTo>
                <a:cubicBezTo>
                  <a:pt x="762000" y="295640"/>
                  <a:pt x="676640" y="381000"/>
                  <a:pt x="571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9058275" y="5724525"/>
            <a:ext cx="838200" cy="3810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技术面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972675" y="5724525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190500" y="0"/>
                </a:moveTo>
                <a:lnTo>
                  <a:pt x="571500" y="0"/>
                </a:lnTo>
                <a:cubicBezTo>
                  <a:pt x="676640" y="0"/>
                  <a:pt x="762000" y="85360"/>
                  <a:pt x="762000" y="190500"/>
                </a:cubicBezTo>
                <a:lnTo>
                  <a:pt x="762000" y="190500"/>
                </a:lnTo>
                <a:cubicBezTo>
                  <a:pt x="762000" y="295640"/>
                  <a:pt x="676640" y="381000"/>
                  <a:pt x="571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64" name="Text 62"/>
          <p:cNvSpPr/>
          <p:nvPr/>
        </p:nvSpPr>
        <p:spPr>
          <a:xfrm>
            <a:off x="9972675" y="5724525"/>
            <a:ext cx="838200" cy="3810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消息面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887075" y="5724525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190500" y="0"/>
                </a:moveTo>
                <a:lnTo>
                  <a:pt x="571500" y="0"/>
                </a:lnTo>
                <a:cubicBezTo>
                  <a:pt x="676640" y="0"/>
                  <a:pt x="762000" y="85360"/>
                  <a:pt x="762000" y="190500"/>
                </a:cubicBezTo>
                <a:lnTo>
                  <a:pt x="762000" y="190500"/>
                </a:lnTo>
                <a:cubicBezTo>
                  <a:pt x="762000" y="295640"/>
                  <a:pt x="676640" y="381000"/>
                  <a:pt x="571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66" name="Text 64"/>
          <p:cNvSpPr/>
          <p:nvPr/>
        </p:nvSpPr>
        <p:spPr>
          <a:xfrm>
            <a:off x="10887075" y="5724525"/>
            <a:ext cx="838200" cy="3810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4619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四大核心能力，支撑实战战绩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系统能力与实战案例的对应关系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29275" cy="1781175"/>
          </a:xfrm>
          <a:custGeom>
            <a:avLst/>
            <a:gdLst/>
            <a:ahLst/>
            <a:cxnLst/>
            <a:rect l="l" t="t" r="r" b="b"/>
            <a:pathLst>
              <a:path w="5629275" h="1781175">
                <a:moveTo>
                  <a:pt x="152397" y="0"/>
                </a:moveTo>
                <a:lnTo>
                  <a:pt x="5476878" y="0"/>
                </a:lnTo>
                <a:cubicBezTo>
                  <a:pt x="5561044" y="0"/>
                  <a:pt x="5629275" y="68231"/>
                  <a:pt x="5629275" y="152397"/>
                </a:cubicBezTo>
                <a:lnTo>
                  <a:pt x="5629275" y="1628778"/>
                </a:lnTo>
                <a:cubicBezTo>
                  <a:pt x="5629275" y="1712944"/>
                  <a:pt x="5561044" y="1781175"/>
                  <a:pt x="5476878" y="1781175"/>
                </a:cubicBezTo>
                <a:lnTo>
                  <a:pt x="152397" y="1781175"/>
                </a:lnTo>
                <a:cubicBezTo>
                  <a:pt x="68231" y="1781175"/>
                  <a:pt x="0" y="1712944"/>
                  <a:pt x="0" y="16287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1525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343025" y="151447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智能分析能力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3025" y="1819275"/>
            <a:ext cx="143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Intelligent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219325"/>
            <a:ext cx="53149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沃尔德的基本面？谷歌链的技术面？情绪面？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系统全维度扫描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581275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81025" y="2581275"/>
            <a:ext cx="9620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基本面扫描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52575" y="2581275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552575" y="2581275"/>
            <a:ext cx="9620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技术面识别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24125" y="2581275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2524125" y="2581275"/>
            <a:ext cx="9620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情绪面追踪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6963" y="1262063"/>
            <a:ext cx="5629275" cy="1781175"/>
          </a:xfrm>
          <a:custGeom>
            <a:avLst/>
            <a:gdLst/>
            <a:ahLst/>
            <a:cxnLst/>
            <a:rect l="l" t="t" r="r" b="b"/>
            <a:pathLst>
              <a:path w="5629275" h="1781175">
                <a:moveTo>
                  <a:pt x="152397" y="0"/>
                </a:moveTo>
                <a:lnTo>
                  <a:pt x="5476878" y="0"/>
                </a:lnTo>
                <a:cubicBezTo>
                  <a:pt x="5561044" y="0"/>
                  <a:pt x="5629275" y="68231"/>
                  <a:pt x="5629275" y="152397"/>
                </a:cubicBezTo>
                <a:lnTo>
                  <a:pt x="5629275" y="1628778"/>
                </a:lnTo>
                <a:cubicBezTo>
                  <a:pt x="5629275" y="1712944"/>
                  <a:pt x="5561044" y="1781175"/>
                  <a:pt x="5476878" y="1781175"/>
                </a:cubicBezTo>
                <a:lnTo>
                  <a:pt x="152397" y="1781175"/>
                </a:lnTo>
                <a:cubicBezTo>
                  <a:pt x="68231" y="1781175"/>
                  <a:pt x="0" y="1712944"/>
                  <a:pt x="0" y="16287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2225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4150" y="1647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0" name="Text 18"/>
          <p:cNvSpPr/>
          <p:nvPr/>
        </p:nvSpPr>
        <p:spPr>
          <a:xfrm>
            <a:off x="7134225" y="1514475"/>
            <a:ext cx="1695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4225" y="1819275"/>
            <a:ext cx="1647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Multi-Agent Collaboration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2225" y="2219325"/>
            <a:ext cx="53149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模拟分析师、研究员、交易员团队，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像我们复盘一样，多角度辩论决策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2225" y="258127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372225" y="258127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并行分析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10425" y="258127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210425" y="258127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观点交锋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48625" y="258127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8048625" y="258127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综合决策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3205163"/>
            <a:ext cx="5629275" cy="1781175"/>
          </a:xfrm>
          <a:custGeom>
            <a:avLst/>
            <a:gdLst/>
            <a:ahLst/>
            <a:cxnLst/>
            <a:rect l="l" t="t" r="r" b="b"/>
            <a:pathLst>
              <a:path w="5629275" h="1781175">
                <a:moveTo>
                  <a:pt x="152397" y="0"/>
                </a:moveTo>
                <a:lnTo>
                  <a:pt x="5476878" y="0"/>
                </a:lnTo>
                <a:cubicBezTo>
                  <a:pt x="5561044" y="0"/>
                  <a:pt x="5629275" y="68231"/>
                  <a:pt x="5629275" y="152397"/>
                </a:cubicBezTo>
                <a:lnTo>
                  <a:pt x="5629275" y="1628778"/>
                </a:lnTo>
                <a:cubicBezTo>
                  <a:pt x="5629275" y="1712944"/>
                  <a:pt x="5561044" y="1781175"/>
                  <a:pt x="5476878" y="1781175"/>
                </a:cubicBezTo>
                <a:lnTo>
                  <a:pt x="152397" y="1781175"/>
                </a:lnTo>
                <a:cubicBezTo>
                  <a:pt x="68231" y="1781175"/>
                  <a:pt x="0" y="1712944"/>
                  <a:pt x="0" y="16287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1025" y="3400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2950" y="35909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2" name="Text 30"/>
          <p:cNvSpPr/>
          <p:nvPr/>
        </p:nvSpPr>
        <p:spPr>
          <a:xfrm>
            <a:off x="1343025" y="3457575"/>
            <a:ext cx="131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企业级功能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43025" y="376237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Enterprise Features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1025" y="4162425"/>
            <a:ext cx="53149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支持我们进行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批量分析、构建策略组合、模拟推演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1025" y="452437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581025" y="452437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批量分析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419225" y="452437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1419225" y="452437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组合构建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257425" y="452437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2257425" y="452437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模拟交易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6963" y="3205163"/>
            <a:ext cx="5629275" cy="1781175"/>
          </a:xfrm>
          <a:custGeom>
            <a:avLst/>
            <a:gdLst/>
            <a:ahLst/>
            <a:cxnLst/>
            <a:rect l="l" t="t" r="r" b="b"/>
            <a:pathLst>
              <a:path w="5629275" h="1781175">
                <a:moveTo>
                  <a:pt x="152397" y="0"/>
                </a:moveTo>
                <a:lnTo>
                  <a:pt x="5476878" y="0"/>
                </a:lnTo>
                <a:cubicBezTo>
                  <a:pt x="5561044" y="0"/>
                  <a:pt x="5629275" y="68231"/>
                  <a:pt x="5629275" y="152397"/>
                </a:cubicBezTo>
                <a:lnTo>
                  <a:pt x="5629275" y="1628778"/>
                </a:lnTo>
                <a:cubicBezTo>
                  <a:pt x="5629275" y="1712944"/>
                  <a:pt x="5561044" y="1781175"/>
                  <a:pt x="5476878" y="1781175"/>
                </a:cubicBezTo>
                <a:lnTo>
                  <a:pt x="152397" y="1781175"/>
                </a:lnTo>
                <a:cubicBezTo>
                  <a:pt x="68231" y="1781175"/>
                  <a:pt x="0" y="1712944"/>
                  <a:pt x="0" y="16287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72225" y="3400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77013" y="35909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4" name="Text 42"/>
          <p:cNvSpPr/>
          <p:nvPr/>
        </p:nvSpPr>
        <p:spPr>
          <a:xfrm>
            <a:off x="7134225" y="3457575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开放生态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34225" y="3762375"/>
            <a:ext cx="109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 Ecosystem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72225" y="4162425"/>
            <a:ext cx="53149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集成多源数据（Tushare、新闻等），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确保信息全面及时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2225" y="452437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372225" y="4524375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多数据源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210425" y="4524375"/>
            <a:ext cx="695325" cy="266700"/>
          </a:xfrm>
          <a:custGeom>
            <a:avLst/>
            <a:gdLst/>
            <a:ahLst/>
            <a:cxnLst/>
            <a:rect l="l" t="t" r="r" b="b"/>
            <a:pathLst>
              <a:path w="695325" h="266700">
                <a:moveTo>
                  <a:pt x="133350" y="0"/>
                </a:moveTo>
                <a:lnTo>
                  <a:pt x="561975" y="0"/>
                </a:lnTo>
                <a:cubicBezTo>
                  <a:pt x="635573" y="0"/>
                  <a:pt x="695325" y="59752"/>
                  <a:pt x="695325" y="133350"/>
                </a:cubicBezTo>
                <a:lnTo>
                  <a:pt x="695325" y="133350"/>
                </a:lnTo>
                <a:cubicBezTo>
                  <a:pt x="695325" y="206948"/>
                  <a:pt x="635573" y="266700"/>
                  <a:pt x="561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7210425" y="4524375"/>
            <a:ext cx="7620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API开放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983736" y="4524375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7983736" y="4524375"/>
            <a:ext cx="9620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多LLM支持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90525" y="5153025"/>
            <a:ext cx="11410950" cy="933450"/>
          </a:xfrm>
          <a:custGeom>
            <a:avLst/>
            <a:gdLst/>
            <a:ahLst/>
            <a:cxnLst/>
            <a:rect l="l" t="t" r="r" b="b"/>
            <a:pathLst>
              <a:path w="11410950" h="933450">
                <a:moveTo>
                  <a:pt x="152404" y="0"/>
                </a:moveTo>
                <a:lnTo>
                  <a:pt x="11258546" y="0"/>
                </a:lnTo>
                <a:cubicBezTo>
                  <a:pt x="11342716" y="0"/>
                  <a:pt x="11410950" y="68234"/>
                  <a:pt x="11410950" y="152404"/>
                </a:cubicBezTo>
                <a:lnTo>
                  <a:pt x="11410950" y="781046"/>
                </a:lnTo>
                <a:cubicBezTo>
                  <a:pt x="11410950" y="865216"/>
                  <a:pt x="11342716" y="933450"/>
                  <a:pt x="11258546" y="933450"/>
                </a:cubicBezTo>
                <a:lnTo>
                  <a:pt x="152404" y="933450"/>
                </a:lnTo>
                <a:cubicBezTo>
                  <a:pt x="68234" y="933450"/>
                  <a:pt x="0" y="865216"/>
                  <a:pt x="0" y="78104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C8A97E">
                  <a:alpha val="30000"/>
                </a:srgbClr>
              </a:gs>
            </a:gsLst>
            <a:lin ang="0" scaled="1"/>
          </a:gradFill>
          <a:ln w="25400">
            <a:solidFill>
              <a:srgbClr val="C8A97E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0791" y="54768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125" y="53578"/>
                </a:moveTo>
                <a:cubicBezTo>
                  <a:pt x="224861" y="53578"/>
                  <a:pt x="215875" y="56090"/>
                  <a:pt x="208006" y="60666"/>
                </a:cubicBezTo>
                <a:cubicBezTo>
                  <a:pt x="199188" y="51736"/>
                  <a:pt x="188919" y="44258"/>
                  <a:pt x="177589" y="38621"/>
                </a:cubicBezTo>
                <a:cubicBezTo>
                  <a:pt x="193328" y="25226"/>
                  <a:pt x="213364" y="17859"/>
                  <a:pt x="234125" y="17859"/>
                </a:cubicBezTo>
                <a:cubicBezTo>
                  <a:pt x="282346" y="17859"/>
                  <a:pt x="321469" y="56927"/>
                  <a:pt x="321469" y="105203"/>
                </a:cubicBezTo>
                <a:cubicBezTo>
                  <a:pt x="321469" y="128364"/>
                  <a:pt x="312260" y="150577"/>
                  <a:pt x="295908" y="166929"/>
                </a:cubicBezTo>
                <a:lnTo>
                  <a:pt x="256226" y="206611"/>
                </a:lnTo>
                <a:cubicBezTo>
                  <a:pt x="239874" y="222963"/>
                  <a:pt x="217661" y="232172"/>
                  <a:pt x="194500" y="232172"/>
                </a:cubicBezTo>
                <a:cubicBezTo>
                  <a:pt x="146279" y="232172"/>
                  <a:pt x="107156" y="193104"/>
                  <a:pt x="107156" y="144828"/>
                </a:cubicBezTo>
                <a:cubicBezTo>
                  <a:pt x="107156" y="143991"/>
                  <a:pt x="107156" y="143154"/>
                  <a:pt x="107212" y="142317"/>
                </a:cubicBezTo>
                <a:cubicBezTo>
                  <a:pt x="107491" y="132438"/>
                  <a:pt x="115695" y="124681"/>
                  <a:pt x="125574" y="124960"/>
                </a:cubicBezTo>
                <a:cubicBezTo>
                  <a:pt x="135452" y="125239"/>
                  <a:pt x="143210" y="133443"/>
                  <a:pt x="142931" y="143321"/>
                </a:cubicBezTo>
                <a:cubicBezTo>
                  <a:pt x="142931" y="143824"/>
                  <a:pt x="142931" y="144326"/>
                  <a:pt x="142931" y="144773"/>
                </a:cubicBezTo>
                <a:cubicBezTo>
                  <a:pt x="142931" y="173292"/>
                  <a:pt x="166036" y="196397"/>
                  <a:pt x="194556" y="196397"/>
                </a:cubicBezTo>
                <a:cubicBezTo>
                  <a:pt x="208229" y="196397"/>
                  <a:pt x="221345" y="190984"/>
                  <a:pt x="231056" y="181273"/>
                </a:cubicBezTo>
                <a:lnTo>
                  <a:pt x="270737" y="141591"/>
                </a:lnTo>
                <a:cubicBezTo>
                  <a:pt x="280392" y="131936"/>
                  <a:pt x="285862" y="118765"/>
                  <a:pt x="285862" y="105091"/>
                </a:cubicBezTo>
                <a:cubicBezTo>
                  <a:pt x="285862" y="76572"/>
                  <a:pt x="262756" y="53467"/>
                  <a:pt x="234237" y="53467"/>
                </a:cubicBezTo>
                <a:close/>
                <a:moveTo>
                  <a:pt x="153591" y="96720"/>
                </a:moveTo>
                <a:cubicBezTo>
                  <a:pt x="152530" y="96273"/>
                  <a:pt x="151470" y="95659"/>
                  <a:pt x="150521" y="94990"/>
                </a:cubicBezTo>
                <a:cubicBezTo>
                  <a:pt x="143489" y="91362"/>
                  <a:pt x="135452" y="89297"/>
                  <a:pt x="127025" y="89297"/>
                </a:cubicBezTo>
                <a:cubicBezTo>
                  <a:pt x="113351" y="89297"/>
                  <a:pt x="100236" y="94710"/>
                  <a:pt x="90525" y="104422"/>
                </a:cubicBezTo>
                <a:lnTo>
                  <a:pt x="50843" y="144103"/>
                </a:lnTo>
                <a:cubicBezTo>
                  <a:pt x="41188" y="153758"/>
                  <a:pt x="35719" y="166929"/>
                  <a:pt x="35719" y="180603"/>
                </a:cubicBezTo>
                <a:cubicBezTo>
                  <a:pt x="35719" y="209122"/>
                  <a:pt x="58824" y="232228"/>
                  <a:pt x="87344" y="232228"/>
                </a:cubicBezTo>
                <a:cubicBezTo>
                  <a:pt x="96552" y="232228"/>
                  <a:pt x="105538" y="229772"/>
                  <a:pt x="113407" y="225196"/>
                </a:cubicBezTo>
                <a:cubicBezTo>
                  <a:pt x="122225" y="234125"/>
                  <a:pt x="132494" y="241604"/>
                  <a:pt x="143880" y="247241"/>
                </a:cubicBezTo>
                <a:cubicBezTo>
                  <a:pt x="128141" y="260579"/>
                  <a:pt x="108161" y="268002"/>
                  <a:pt x="87344" y="268002"/>
                </a:cubicBezTo>
                <a:cubicBezTo>
                  <a:pt x="39123" y="268002"/>
                  <a:pt x="0" y="228935"/>
                  <a:pt x="0" y="180659"/>
                </a:cubicBezTo>
                <a:cubicBezTo>
                  <a:pt x="0" y="157497"/>
                  <a:pt x="9209" y="135285"/>
                  <a:pt x="25561" y="118932"/>
                </a:cubicBezTo>
                <a:lnTo>
                  <a:pt x="65243" y="79251"/>
                </a:lnTo>
                <a:cubicBezTo>
                  <a:pt x="81595" y="62898"/>
                  <a:pt x="103808" y="53690"/>
                  <a:pt x="126969" y="53690"/>
                </a:cubicBezTo>
                <a:cubicBezTo>
                  <a:pt x="175301" y="53690"/>
                  <a:pt x="214313" y="93092"/>
                  <a:pt x="214313" y="141256"/>
                </a:cubicBezTo>
                <a:cubicBezTo>
                  <a:pt x="214313" y="141982"/>
                  <a:pt x="214313" y="142708"/>
                  <a:pt x="214313" y="143433"/>
                </a:cubicBezTo>
                <a:cubicBezTo>
                  <a:pt x="214089" y="153312"/>
                  <a:pt x="205885" y="161069"/>
                  <a:pt x="196007" y="160846"/>
                </a:cubicBezTo>
                <a:cubicBezTo>
                  <a:pt x="186128" y="160623"/>
                  <a:pt x="178371" y="152419"/>
                  <a:pt x="178594" y="142540"/>
                </a:cubicBezTo>
                <a:cubicBezTo>
                  <a:pt x="178594" y="142094"/>
                  <a:pt x="178594" y="141703"/>
                  <a:pt x="178594" y="141256"/>
                </a:cubicBezTo>
                <a:cubicBezTo>
                  <a:pt x="178594" y="122448"/>
                  <a:pt x="168548" y="105928"/>
                  <a:pt x="153591" y="96831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55" name="Text 53"/>
          <p:cNvSpPr/>
          <p:nvPr/>
        </p:nvSpPr>
        <p:spPr>
          <a:xfrm>
            <a:off x="1100138" y="5353050"/>
            <a:ext cx="3200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能力与战绩的映射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0138" y="565785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四大核心能力 → 实战验证 → 58万商业化收入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10562" y="5353050"/>
            <a:ext cx="676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48663" y="569595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17257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60" name="Text 58"/>
          <p:cNvSpPr/>
          <p:nvPr/>
        </p:nvSpPr>
        <p:spPr>
          <a:xfrm>
            <a:off x="9586913" y="5353050"/>
            <a:ext cx="676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8+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625013" y="569595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成功案例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44892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63" name="Text 61"/>
          <p:cNvSpPr/>
          <p:nvPr/>
        </p:nvSpPr>
        <p:spPr>
          <a:xfrm>
            <a:off x="10863263" y="5353050"/>
            <a:ext cx="809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58万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901363" y="5695950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商业化验证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52482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多维度扫描，锁定"谷歌链"级机会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结合案例解释系统如何工作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00163"/>
            <a:ext cx="3676650" cy="2009775"/>
          </a:xfrm>
          <a:custGeom>
            <a:avLst/>
            <a:gdLst/>
            <a:ahLst/>
            <a:cxnLst/>
            <a:rect l="l" t="t" r="r" b="b"/>
            <a:pathLst>
              <a:path w="3676650" h="2009775">
                <a:moveTo>
                  <a:pt x="152401" y="0"/>
                </a:moveTo>
                <a:lnTo>
                  <a:pt x="3524249" y="0"/>
                </a:lnTo>
                <a:cubicBezTo>
                  <a:pt x="3608418" y="0"/>
                  <a:pt x="3676650" y="68232"/>
                  <a:pt x="3676650" y="152401"/>
                </a:cubicBezTo>
                <a:lnTo>
                  <a:pt x="3676650" y="1857374"/>
                </a:lnTo>
                <a:cubicBezTo>
                  <a:pt x="3676650" y="1941543"/>
                  <a:pt x="3608418" y="2009775"/>
                  <a:pt x="3524249" y="2009775"/>
                </a:cubicBezTo>
                <a:lnTo>
                  <a:pt x="152401" y="2009775"/>
                </a:lnTo>
                <a:cubicBezTo>
                  <a:pt x="68232" y="2009775"/>
                  <a:pt x="0" y="1941543"/>
                  <a:pt x="0" y="185737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143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44648"/>
                </a:lnTo>
                <a:cubicBezTo>
                  <a:pt x="0" y="39700"/>
                  <a:pt x="3981" y="35719"/>
                  <a:pt x="8930" y="35719"/>
                </a:cubicBezTo>
                <a:cubicBezTo>
                  <a:pt x="13878" y="35719"/>
                  <a:pt x="17859" y="39700"/>
                  <a:pt x="17859" y="44648"/>
                </a:cubicBezTo>
                <a:lnTo>
                  <a:pt x="17859" y="151805"/>
                </a:lnTo>
                <a:cubicBezTo>
                  <a:pt x="17859" y="156753"/>
                  <a:pt x="21841" y="160734"/>
                  <a:pt x="26789" y="160734"/>
                </a:cubicBezTo>
                <a:cubicBezTo>
                  <a:pt x="31738" y="160734"/>
                  <a:pt x="35719" y="156753"/>
                  <a:pt x="35719" y="151805"/>
                </a:cubicBezTo>
                <a:lnTo>
                  <a:pt x="35719" y="35719"/>
                </a:lnTo>
                <a:cubicBezTo>
                  <a:pt x="35719" y="22585"/>
                  <a:pt x="46397" y="11906"/>
                  <a:pt x="59531" y="11906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59531" y="47625"/>
                </a:moveTo>
                <a:lnTo>
                  <a:pt x="59531" y="71438"/>
                </a:lnTo>
                <a:cubicBezTo>
                  <a:pt x="59531" y="78023"/>
                  <a:pt x="64852" y="83344"/>
                  <a:pt x="71438" y="83344"/>
                </a:cubicBezTo>
                <a:lnTo>
                  <a:pt x="95250" y="83344"/>
                </a:lnTo>
                <a:cubicBezTo>
                  <a:pt x="101836" y="83344"/>
                  <a:pt x="107156" y="78023"/>
                  <a:pt x="107156" y="71438"/>
                </a:cubicBezTo>
                <a:lnTo>
                  <a:pt x="107156" y="47625"/>
                </a:lnTo>
                <a:cubicBezTo>
                  <a:pt x="107156" y="41039"/>
                  <a:pt x="101836" y="35719"/>
                  <a:pt x="95250" y="35719"/>
                </a:cubicBezTo>
                <a:lnTo>
                  <a:pt x="71438" y="35719"/>
                </a:lnTo>
                <a:cubicBezTo>
                  <a:pt x="64852" y="35719"/>
                  <a:pt x="59531" y="41039"/>
                  <a:pt x="59531" y="47625"/>
                </a:cubicBezTo>
                <a:close/>
                <a:moveTo>
                  <a:pt x="68461" y="136922"/>
                </a:moveTo>
                <a:cubicBezTo>
                  <a:pt x="63512" y="136922"/>
                  <a:pt x="59531" y="140903"/>
                  <a:pt x="59531" y="145852"/>
                </a:cubicBezTo>
                <a:cubicBezTo>
                  <a:pt x="59531" y="150800"/>
                  <a:pt x="63512" y="154781"/>
                  <a:pt x="68461" y="154781"/>
                </a:cubicBezTo>
                <a:lnTo>
                  <a:pt x="157758" y="154781"/>
                </a:lnTo>
                <a:cubicBezTo>
                  <a:pt x="162706" y="154781"/>
                  <a:pt x="166688" y="150800"/>
                  <a:pt x="166688" y="145852"/>
                </a:cubicBezTo>
                <a:cubicBezTo>
                  <a:pt x="166688" y="140903"/>
                  <a:pt x="162706" y="136922"/>
                  <a:pt x="157758" y="136922"/>
                </a:cubicBezTo>
                <a:lnTo>
                  <a:pt x="68461" y="136922"/>
                </a:lnTo>
                <a:close/>
                <a:moveTo>
                  <a:pt x="59531" y="110133"/>
                </a:moveTo>
                <a:cubicBezTo>
                  <a:pt x="59531" y="115081"/>
                  <a:pt x="63512" y="119063"/>
                  <a:pt x="68461" y="119063"/>
                </a:cubicBezTo>
                <a:lnTo>
                  <a:pt x="157758" y="119063"/>
                </a:lnTo>
                <a:cubicBezTo>
                  <a:pt x="162706" y="119063"/>
                  <a:pt x="166688" y="115081"/>
                  <a:pt x="166688" y="110133"/>
                </a:cubicBezTo>
                <a:cubicBezTo>
                  <a:pt x="166688" y="105184"/>
                  <a:pt x="162706" y="101203"/>
                  <a:pt x="157758" y="101203"/>
                </a:cubicBezTo>
                <a:lnTo>
                  <a:pt x="68461" y="101203"/>
                </a:lnTo>
                <a:cubicBezTo>
                  <a:pt x="63512" y="101203"/>
                  <a:pt x="59531" y="105184"/>
                  <a:pt x="59531" y="110133"/>
                </a:cubicBezTo>
                <a:close/>
                <a:moveTo>
                  <a:pt x="133945" y="65484"/>
                </a:moveTo>
                <a:cubicBezTo>
                  <a:pt x="128997" y="65484"/>
                  <a:pt x="125016" y="69466"/>
                  <a:pt x="125016" y="74414"/>
                </a:cubicBezTo>
                <a:cubicBezTo>
                  <a:pt x="125016" y="79363"/>
                  <a:pt x="128997" y="83344"/>
                  <a:pt x="133945" y="83344"/>
                </a:cubicBezTo>
                <a:lnTo>
                  <a:pt x="157758" y="83344"/>
                </a:lnTo>
                <a:cubicBezTo>
                  <a:pt x="162706" y="83344"/>
                  <a:pt x="166688" y="79363"/>
                  <a:pt x="166688" y="74414"/>
                </a:cubicBezTo>
                <a:cubicBezTo>
                  <a:pt x="166688" y="69466"/>
                  <a:pt x="162706" y="65484"/>
                  <a:pt x="157758" y="65484"/>
                </a:cubicBezTo>
                <a:lnTo>
                  <a:pt x="133945" y="65484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8" name="Text 6"/>
          <p:cNvSpPr/>
          <p:nvPr/>
        </p:nvSpPr>
        <p:spPr>
          <a:xfrm>
            <a:off x="1152525" y="1590675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消息面分析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实时监控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Gemini发布、巴菲特持仓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等重大新闻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242887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76199" y="0"/>
                </a:moveTo>
                <a:lnTo>
                  <a:pt x="3209926" y="0"/>
                </a:lnTo>
                <a:cubicBezTo>
                  <a:pt x="3252009" y="0"/>
                  <a:pt x="3286125" y="34116"/>
                  <a:pt x="3286125" y="76199"/>
                </a:cubicBezTo>
                <a:lnTo>
                  <a:pt x="3286125" y="609601"/>
                </a:lnTo>
                <a:cubicBezTo>
                  <a:pt x="3286125" y="651684"/>
                  <a:pt x="3252009" y="685800"/>
                  <a:pt x="32099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95325" y="2543175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实战应用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325" y="2771775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谷歌链建仓逻辑来源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471863"/>
            <a:ext cx="3676650" cy="2257425"/>
          </a:xfrm>
          <a:custGeom>
            <a:avLst/>
            <a:gdLst/>
            <a:ahLst/>
            <a:cxnLst/>
            <a:rect l="l" t="t" r="r" b="b"/>
            <a:pathLst>
              <a:path w="3676650" h="2257425">
                <a:moveTo>
                  <a:pt x="152399" y="0"/>
                </a:moveTo>
                <a:lnTo>
                  <a:pt x="3524251" y="0"/>
                </a:lnTo>
                <a:cubicBezTo>
                  <a:pt x="3608419" y="0"/>
                  <a:pt x="3676650" y="68231"/>
                  <a:pt x="3676650" y="152399"/>
                </a:cubicBezTo>
                <a:lnTo>
                  <a:pt x="3676650" y="2105026"/>
                </a:lnTo>
                <a:cubicBezTo>
                  <a:pt x="3676650" y="2189194"/>
                  <a:pt x="3608419" y="2257425"/>
                  <a:pt x="3524251" y="2257425"/>
                </a:cubicBezTo>
                <a:lnTo>
                  <a:pt x="152399" y="2257425"/>
                </a:lnTo>
                <a:cubicBezTo>
                  <a:pt x="68231" y="2257425"/>
                  <a:pt x="0" y="2189194"/>
                  <a:pt x="0" y="21050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025" y="3667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14375" y="3800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6" name="Text 14"/>
          <p:cNvSpPr/>
          <p:nvPr/>
        </p:nvSpPr>
        <p:spPr>
          <a:xfrm>
            <a:off x="1152525" y="3762375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基本面/产业链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1025" y="4238625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系统知识库快速定位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OCS光交换机产业链核心公司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（光库、腾景）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484822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76199" y="0"/>
                </a:moveTo>
                <a:lnTo>
                  <a:pt x="3209926" y="0"/>
                </a:lnTo>
                <a:cubicBezTo>
                  <a:pt x="3252009" y="0"/>
                  <a:pt x="3286125" y="34116"/>
                  <a:pt x="3286125" y="76199"/>
                </a:cubicBezTo>
                <a:lnTo>
                  <a:pt x="3286125" y="609601"/>
                </a:lnTo>
                <a:cubicBezTo>
                  <a:pt x="3286125" y="651684"/>
                  <a:pt x="3252009" y="685800"/>
                  <a:pt x="32099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95325" y="4962525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实战应用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325" y="5191125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锁定谷歌链三杰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9238" y="1300163"/>
            <a:ext cx="3676650" cy="2009775"/>
          </a:xfrm>
          <a:custGeom>
            <a:avLst/>
            <a:gdLst/>
            <a:ahLst/>
            <a:cxnLst/>
            <a:rect l="l" t="t" r="r" b="b"/>
            <a:pathLst>
              <a:path w="3676650" h="2009775">
                <a:moveTo>
                  <a:pt x="152401" y="0"/>
                </a:moveTo>
                <a:lnTo>
                  <a:pt x="3524249" y="0"/>
                </a:lnTo>
                <a:cubicBezTo>
                  <a:pt x="3608418" y="0"/>
                  <a:pt x="3676650" y="68232"/>
                  <a:pt x="3676650" y="152401"/>
                </a:cubicBezTo>
                <a:lnTo>
                  <a:pt x="3676650" y="1857374"/>
                </a:lnTo>
                <a:cubicBezTo>
                  <a:pt x="3676650" y="1941543"/>
                  <a:pt x="3608418" y="2009775"/>
                  <a:pt x="3524249" y="2009775"/>
                </a:cubicBezTo>
                <a:lnTo>
                  <a:pt x="152401" y="2009775"/>
                </a:lnTo>
                <a:cubicBezTo>
                  <a:pt x="68232" y="2009775"/>
                  <a:pt x="0" y="1941543"/>
                  <a:pt x="0" y="185737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4500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4587850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4" name="Text 22"/>
          <p:cNvSpPr/>
          <p:nvPr/>
        </p:nvSpPr>
        <p:spPr>
          <a:xfrm>
            <a:off x="5026000" y="1590675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技术面分析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54500" y="206692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识别标的启动初期的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量价关系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技术形态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54500" y="242887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76199" y="0"/>
                </a:moveTo>
                <a:lnTo>
                  <a:pt x="3209926" y="0"/>
                </a:lnTo>
                <a:cubicBezTo>
                  <a:pt x="3252009" y="0"/>
                  <a:pt x="3286125" y="34116"/>
                  <a:pt x="3286125" y="76199"/>
                </a:cubicBezTo>
                <a:lnTo>
                  <a:pt x="3286125" y="609601"/>
                </a:lnTo>
                <a:cubicBezTo>
                  <a:pt x="3286125" y="651684"/>
                  <a:pt x="3252009" y="685800"/>
                  <a:pt x="32099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4568800" y="2543175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实战应用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8800" y="2771775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沃尔德建仓时机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59238" y="3471863"/>
            <a:ext cx="3676650" cy="2009775"/>
          </a:xfrm>
          <a:custGeom>
            <a:avLst/>
            <a:gdLst/>
            <a:ahLst/>
            <a:cxnLst/>
            <a:rect l="l" t="t" r="r" b="b"/>
            <a:pathLst>
              <a:path w="3676650" h="2009775">
                <a:moveTo>
                  <a:pt x="152401" y="0"/>
                </a:moveTo>
                <a:lnTo>
                  <a:pt x="3524249" y="0"/>
                </a:lnTo>
                <a:cubicBezTo>
                  <a:pt x="3608418" y="0"/>
                  <a:pt x="3676650" y="68232"/>
                  <a:pt x="3676650" y="152401"/>
                </a:cubicBezTo>
                <a:lnTo>
                  <a:pt x="3676650" y="1857374"/>
                </a:lnTo>
                <a:cubicBezTo>
                  <a:pt x="3676650" y="1941543"/>
                  <a:pt x="3608418" y="2009775"/>
                  <a:pt x="3524249" y="2009775"/>
                </a:cubicBezTo>
                <a:lnTo>
                  <a:pt x="152401" y="2009775"/>
                </a:lnTo>
                <a:cubicBezTo>
                  <a:pt x="68232" y="2009775"/>
                  <a:pt x="0" y="1941543"/>
                  <a:pt x="0" y="185737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54500" y="3667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587850" y="3800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2" name="Text 30"/>
          <p:cNvSpPr/>
          <p:nvPr/>
        </p:nvSpPr>
        <p:spPr>
          <a:xfrm>
            <a:off x="5026000" y="3762375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情绪面分析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54500" y="423862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追踪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市场情绪、投资者情绪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，识别情绪拐点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54500" y="460057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76199" y="0"/>
                </a:moveTo>
                <a:lnTo>
                  <a:pt x="3209926" y="0"/>
                </a:lnTo>
                <a:cubicBezTo>
                  <a:pt x="3252009" y="0"/>
                  <a:pt x="3286125" y="34116"/>
                  <a:pt x="3286125" y="76199"/>
                </a:cubicBezTo>
                <a:lnTo>
                  <a:pt x="3286125" y="609601"/>
                </a:lnTo>
                <a:cubicBezTo>
                  <a:pt x="3286125" y="651684"/>
                  <a:pt x="3252009" y="685800"/>
                  <a:pt x="32099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4568800" y="4714875"/>
            <a:ext cx="3124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实战应用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68800" y="4943475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把握最佳买卖点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32713" y="1300163"/>
            <a:ext cx="3676650" cy="4429125"/>
          </a:xfrm>
          <a:custGeom>
            <a:avLst/>
            <a:gdLst/>
            <a:ahLst/>
            <a:cxnLst/>
            <a:rect l="l" t="t" r="r" b="b"/>
            <a:pathLst>
              <a:path w="3676650" h="4429125">
                <a:moveTo>
                  <a:pt x="152397" y="0"/>
                </a:moveTo>
                <a:lnTo>
                  <a:pt x="3524253" y="0"/>
                </a:lnTo>
                <a:cubicBezTo>
                  <a:pt x="3608363" y="0"/>
                  <a:pt x="3676650" y="68287"/>
                  <a:pt x="3676650" y="152397"/>
                </a:cubicBezTo>
                <a:lnTo>
                  <a:pt x="3676650" y="4276728"/>
                </a:lnTo>
                <a:cubicBezTo>
                  <a:pt x="3676650" y="4360838"/>
                  <a:pt x="3608363" y="4429125"/>
                  <a:pt x="3524253" y="4429125"/>
                </a:cubicBezTo>
                <a:lnTo>
                  <a:pt x="152397" y="4429125"/>
                </a:lnTo>
                <a:cubicBezTo>
                  <a:pt x="68287" y="4429125"/>
                  <a:pt x="0" y="4360838"/>
                  <a:pt x="0" y="42767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C8A97E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0825" y="1495425"/>
            <a:ext cx="3400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四维分析模型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27975" y="4733925"/>
            <a:ext cx="3286125" cy="800100"/>
          </a:xfrm>
          <a:custGeom>
            <a:avLst/>
            <a:gdLst/>
            <a:ahLst/>
            <a:cxnLst/>
            <a:rect l="l" t="t" r="r" b="b"/>
            <a:pathLst>
              <a:path w="3286125" h="800100">
                <a:moveTo>
                  <a:pt x="114302" y="0"/>
                </a:moveTo>
                <a:lnTo>
                  <a:pt x="3171823" y="0"/>
                </a:lnTo>
                <a:cubicBezTo>
                  <a:pt x="3234908" y="0"/>
                  <a:pt x="3286125" y="51217"/>
                  <a:pt x="3286125" y="114302"/>
                </a:cubicBezTo>
                <a:lnTo>
                  <a:pt x="3286125" y="685798"/>
                </a:lnTo>
                <a:cubicBezTo>
                  <a:pt x="3286125" y="748883"/>
                  <a:pt x="3234908" y="800100"/>
                  <a:pt x="3171823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8404175" y="4848225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实战案例：谷歌链三杰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70727" y="5153025"/>
            <a:ext cx="1257300" cy="266700"/>
          </a:xfrm>
          <a:custGeom>
            <a:avLst/>
            <a:gdLst/>
            <a:ahLst/>
            <a:cxnLst/>
            <a:rect l="l" t="t" r="r" b="b"/>
            <a:pathLst>
              <a:path w="1257300" h="266700">
                <a:moveTo>
                  <a:pt x="133350" y="0"/>
                </a:moveTo>
                <a:lnTo>
                  <a:pt x="1123950" y="0"/>
                </a:lnTo>
                <a:cubicBezTo>
                  <a:pt x="1197548" y="0"/>
                  <a:pt x="1257300" y="59752"/>
                  <a:pt x="1257300" y="133350"/>
                </a:cubicBezTo>
                <a:lnTo>
                  <a:pt x="1257300" y="133350"/>
                </a:lnTo>
                <a:cubicBezTo>
                  <a:pt x="1257300" y="206948"/>
                  <a:pt x="1197548" y="266700"/>
                  <a:pt x="11239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8670727" y="5153025"/>
            <a:ext cx="13239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光库科技 +76.6%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01548" y="5153025"/>
            <a:ext cx="1266825" cy="266700"/>
          </a:xfrm>
          <a:custGeom>
            <a:avLst/>
            <a:gdLst/>
            <a:ahLst/>
            <a:cxnLst/>
            <a:rect l="l" t="t" r="r" b="b"/>
            <a:pathLst>
              <a:path w="1266825" h="266700">
                <a:moveTo>
                  <a:pt x="133350" y="0"/>
                </a:moveTo>
                <a:lnTo>
                  <a:pt x="1133475" y="0"/>
                </a:lnTo>
                <a:cubicBezTo>
                  <a:pt x="1207073" y="0"/>
                  <a:pt x="1266825" y="59752"/>
                  <a:pt x="1266825" y="133350"/>
                </a:cubicBezTo>
                <a:lnTo>
                  <a:pt x="1266825" y="133350"/>
                </a:lnTo>
                <a:cubicBezTo>
                  <a:pt x="1266825" y="206948"/>
                  <a:pt x="1207073" y="266700"/>
                  <a:pt x="11334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0001548" y="5153025"/>
            <a:ext cx="13335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腾景科技 +68.4%</a:t>
            </a:r>
            <a:endParaRPr lang="en-US" sz="16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000" r="25000"/>
          <a:stretch>
            <a:fillRect/>
          </a:stretch>
        </p:blipFill>
        <p:spPr>
          <a:xfrm>
            <a:off x="8750201" y="2047875"/>
            <a:ext cx="2438400" cy="2438400"/>
          </a:xfrm>
          <a:prstGeom prst="roundRect">
            <a:avLst>
              <a:gd name="adj" fmla="val 0"/>
            </a:avLst>
          </a:prstGeom>
        </p:spPr>
      </p:pic>
      <p:sp>
        <p:nvSpPr>
          <p:cNvPr id="46" name="Shape 43"/>
          <p:cNvSpPr/>
          <p:nvPr/>
        </p:nvSpPr>
        <p:spPr>
          <a:xfrm>
            <a:off x="9588401" y="20478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9855101" y="2314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85738"/>
                </a:moveTo>
                <a:lnTo>
                  <a:pt x="0" y="53578"/>
                </a:lnTo>
                <a:cubicBezTo>
                  <a:pt x="0" y="47640"/>
                  <a:pt x="4777" y="42863"/>
                  <a:pt x="10716" y="42863"/>
                </a:cubicBezTo>
                <a:cubicBezTo>
                  <a:pt x="16654" y="42863"/>
                  <a:pt x="21431" y="47640"/>
                  <a:pt x="21431" y="53578"/>
                </a:cubicBezTo>
                <a:lnTo>
                  <a:pt x="21431" y="182166"/>
                </a:lnTo>
                <a:cubicBezTo>
                  <a:pt x="21431" y="188104"/>
                  <a:pt x="26209" y="192881"/>
                  <a:pt x="32147" y="192881"/>
                </a:cubicBezTo>
                <a:cubicBezTo>
                  <a:pt x="38085" y="192881"/>
                  <a:pt x="42863" y="188104"/>
                  <a:pt x="42863" y="182166"/>
                </a:cubicBezTo>
                <a:lnTo>
                  <a:pt x="42863" y="42863"/>
                </a:lnTo>
                <a:cubicBezTo>
                  <a:pt x="42863" y="27102"/>
                  <a:pt x="55677" y="14288"/>
                  <a:pt x="71438" y="14288"/>
                </a:cubicBezTo>
                <a:lnTo>
                  <a:pt x="200025" y="14288"/>
                </a:lnTo>
                <a:cubicBezTo>
                  <a:pt x="215786" y="14288"/>
                  <a:pt x="228600" y="27102"/>
                  <a:pt x="228600" y="42863"/>
                </a:cubicBezTo>
                <a:lnTo>
                  <a:pt x="228600" y="185738"/>
                </a:lnTo>
                <a:cubicBezTo>
                  <a:pt x="228600" y="201498"/>
                  <a:pt x="215786" y="214313"/>
                  <a:pt x="200025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close/>
                <a:moveTo>
                  <a:pt x="71438" y="57150"/>
                </a:moveTo>
                <a:lnTo>
                  <a:pt x="71438" y="85725"/>
                </a:lnTo>
                <a:cubicBezTo>
                  <a:pt x="71438" y="93628"/>
                  <a:pt x="77822" y="100013"/>
                  <a:pt x="85725" y="100013"/>
                </a:cubicBezTo>
                <a:lnTo>
                  <a:pt x="114300" y="100013"/>
                </a:lnTo>
                <a:cubicBezTo>
                  <a:pt x="122203" y="100013"/>
                  <a:pt x="128588" y="93628"/>
                  <a:pt x="128588" y="85725"/>
                </a:cubicBezTo>
                <a:lnTo>
                  <a:pt x="128588" y="57150"/>
                </a:lnTo>
                <a:cubicBezTo>
                  <a:pt x="128588" y="49247"/>
                  <a:pt x="122203" y="42863"/>
                  <a:pt x="114300" y="42863"/>
                </a:cubicBezTo>
                <a:lnTo>
                  <a:pt x="85725" y="42863"/>
                </a:lnTo>
                <a:cubicBezTo>
                  <a:pt x="77822" y="42863"/>
                  <a:pt x="71438" y="49247"/>
                  <a:pt x="71438" y="57150"/>
                </a:cubicBezTo>
                <a:close/>
                <a:moveTo>
                  <a:pt x="82153" y="164306"/>
                </a:moveTo>
                <a:cubicBezTo>
                  <a:pt x="76215" y="164306"/>
                  <a:pt x="71438" y="169084"/>
                  <a:pt x="71438" y="175022"/>
                </a:cubicBezTo>
                <a:cubicBezTo>
                  <a:pt x="71438" y="180960"/>
                  <a:pt x="76215" y="185738"/>
                  <a:pt x="82153" y="185738"/>
                </a:cubicBezTo>
                <a:lnTo>
                  <a:pt x="189309" y="185738"/>
                </a:lnTo>
                <a:cubicBezTo>
                  <a:pt x="195248" y="185738"/>
                  <a:pt x="200025" y="180960"/>
                  <a:pt x="200025" y="175022"/>
                </a:cubicBezTo>
                <a:cubicBezTo>
                  <a:pt x="200025" y="169084"/>
                  <a:pt x="195248" y="164306"/>
                  <a:pt x="189309" y="164306"/>
                </a:cubicBezTo>
                <a:lnTo>
                  <a:pt x="82153" y="164306"/>
                </a:lnTo>
                <a:close/>
                <a:moveTo>
                  <a:pt x="71438" y="132159"/>
                </a:moveTo>
                <a:cubicBezTo>
                  <a:pt x="71438" y="138098"/>
                  <a:pt x="76215" y="142875"/>
                  <a:pt x="82153" y="142875"/>
                </a:cubicBezTo>
                <a:lnTo>
                  <a:pt x="189309" y="142875"/>
                </a:lnTo>
                <a:cubicBezTo>
                  <a:pt x="195248" y="142875"/>
                  <a:pt x="200025" y="138098"/>
                  <a:pt x="200025" y="132159"/>
                </a:cubicBezTo>
                <a:cubicBezTo>
                  <a:pt x="200025" y="126221"/>
                  <a:pt x="195248" y="121444"/>
                  <a:pt x="189309" y="121444"/>
                </a:cubicBezTo>
                <a:lnTo>
                  <a:pt x="82153" y="121444"/>
                </a:lnTo>
                <a:cubicBezTo>
                  <a:pt x="76215" y="121444"/>
                  <a:pt x="71438" y="126221"/>
                  <a:pt x="71438" y="132159"/>
                </a:cubicBezTo>
                <a:close/>
                <a:moveTo>
                  <a:pt x="160734" y="78581"/>
                </a:moveTo>
                <a:cubicBezTo>
                  <a:pt x="154796" y="78581"/>
                  <a:pt x="150019" y="83359"/>
                  <a:pt x="150019" y="89297"/>
                </a:cubicBezTo>
                <a:cubicBezTo>
                  <a:pt x="150019" y="95235"/>
                  <a:pt x="154796" y="100013"/>
                  <a:pt x="160734" y="100013"/>
                </a:cubicBezTo>
                <a:lnTo>
                  <a:pt x="189309" y="100013"/>
                </a:lnTo>
                <a:cubicBezTo>
                  <a:pt x="195248" y="100013"/>
                  <a:pt x="200025" y="95235"/>
                  <a:pt x="200025" y="89297"/>
                </a:cubicBezTo>
                <a:cubicBezTo>
                  <a:pt x="200025" y="83359"/>
                  <a:pt x="195248" y="78581"/>
                  <a:pt x="189309" y="78581"/>
                </a:cubicBezTo>
                <a:lnTo>
                  <a:pt x="160734" y="78581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48" name="Shape 45"/>
          <p:cNvSpPr/>
          <p:nvPr/>
        </p:nvSpPr>
        <p:spPr>
          <a:xfrm>
            <a:off x="9588401" y="37242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/>
              </a:gs>
              <a:gs pos="100000">
                <a:srgbClr val="7D90A1"/>
              </a:gs>
            </a:gsLst>
            <a:lin ang="2700000" scaled="1"/>
          </a:gra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9855101" y="3990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50" name="Shape 47"/>
          <p:cNvSpPr/>
          <p:nvPr/>
        </p:nvSpPr>
        <p:spPr>
          <a:xfrm>
            <a:off x="8750201" y="28860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/>
              </a:gs>
              <a:gs pos="100000">
                <a:srgbClr val="7D90A1"/>
              </a:gs>
            </a:gsLst>
            <a:lin ang="2700000" scaled="1"/>
          </a:gra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9016901" y="3152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52" name="Shape 49"/>
          <p:cNvSpPr/>
          <p:nvPr/>
        </p:nvSpPr>
        <p:spPr>
          <a:xfrm>
            <a:off x="10426601" y="28860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/>
              </a:gs>
              <a:gs pos="100000">
                <a:srgbClr val="7D90A1"/>
              </a:gs>
            </a:gsLst>
            <a:lin ang="2700000" scaled="1"/>
          </a:gra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10693301" y="3152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54" name="Shape 51"/>
          <p:cNvSpPr/>
          <p:nvPr/>
        </p:nvSpPr>
        <p:spPr>
          <a:xfrm>
            <a:off x="9436001" y="2733675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533400" y="0"/>
                </a:moveTo>
                <a:lnTo>
                  <a:pt x="533400" y="0"/>
                </a:lnTo>
                <a:cubicBezTo>
                  <a:pt x="827791" y="0"/>
                  <a:pt x="1066800" y="239009"/>
                  <a:pt x="1066800" y="533400"/>
                </a:cubicBezTo>
                <a:lnTo>
                  <a:pt x="1066800" y="533400"/>
                </a:lnTo>
                <a:cubicBezTo>
                  <a:pt x="1066800" y="827791"/>
                  <a:pt x="827791" y="1066800"/>
                  <a:pt x="5334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9828907" y="30099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56" name="Text 53"/>
          <p:cNvSpPr/>
          <p:nvPr/>
        </p:nvSpPr>
        <p:spPr>
          <a:xfrm>
            <a:off x="9757470" y="3333750"/>
            <a:ext cx="42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机会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53054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模拟真实投研团队，减少决策偏差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多智能体协作机制详解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2733675" cy="3095625"/>
          </a:xfrm>
          <a:custGeom>
            <a:avLst/>
            <a:gdLst/>
            <a:ahLst/>
            <a:cxnLst/>
            <a:rect l="l" t="t" r="r" b="b"/>
            <a:pathLst>
              <a:path w="2733675" h="3095625">
                <a:moveTo>
                  <a:pt x="152402" y="0"/>
                </a:moveTo>
                <a:lnTo>
                  <a:pt x="2581273" y="0"/>
                </a:lnTo>
                <a:cubicBezTo>
                  <a:pt x="2665442" y="0"/>
                  <a:pt x="2733675" y="68233"/>
                  <a:pt x="2733675" y="152402"/>
                </a:cubicBezTo>
                <a:lnTo>
                  <a:pt x="2733675" y="2943223"/>
                </a:lnTo>
                <a:cubicBezTo>
                  <a:pt x="2733675" y="3027392"/>
                  <a:pt x="2665442" y="3095625"/>
                  <a:pt x="2581273" y="3095625"/>
                </a:cubicBezTo>
                <a:lnTo>
                  <a:pt x="152402" y="3095625"/>
                </a:lnTo>
                <a:cubicBezTo>
                  <a:pt x="68233" y="3095625"/>
                  <a:pt x="0" y="3027392"/>
                  <a:pt x="0" y="2943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7800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9725" y="1647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533400" y="2181225"/>
            <a:ext cx="2438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分析师团队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688" y="2486025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Analyst Team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790825"/>
            <a:ext cx="24193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并行收集处理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沃尔德、谷歌链各股的海量信息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3400425"/>
            <a:ext cx="2343150" cy="762000"/>
          </a:xfrm>
          <a:custGeom>
            <a:avLst/>
            <a:gdLst/>
            <a:ahLst/>
            <a:cxnLst/>
            <a:rect l="l" t="t" r="r" b="b"/>
            <a:pathLst>
              <a:path w="2343150" h="762000">
                <a:moveTo>
                  <a:pt x="76200" y="0"/>
                </a:moveTo>
                <a:lnTo>
                  <a:pt x="2266950" y="0"/>
                </a:lnTo>
                <a:cubicBezTo>
                  <a:pt x="2309006" y="0"/>
                  <a:pt x="2343150" y="34144"/>
                  <a:pt x="2343150" y="76200"/>
                </a:cubicBezTo>
                <a:lnTo>
                  <a:pt x="2343150" y="685800"/>
                </a:lnTo>
                <a:cubicBezTo>
                  <a:pt x="2343150" y="727856"/>
                  <a:pt x="2309006" y="762000"/>
                  <a:pt x="22669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95325" y="3514725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325" y="3743325"/>
            <a:ext cx="2228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81363" y="1262063"/>
            <a:ext cx="2733675" cy="3095625"/>
          </a:xfrm>
          <a:custGeom>
            <a:avLst/>
            <a:gdLst/>
            <a:ahLst/>
            <a:cxnLst/>
            <a:rect l="l" t="t" r="r" b="b"/>
            <a:pathLst>
              <a:path w="2733675" h="3095625">
                <a:moveTo>
                  <a:pt x="152402" y="0"/>
                </a:moveTo>
                <a:lnTo>
                  <a:pt x="2581273" y="0"/>
                </a:lnTo>
                <a:cubicBezTo>
                  <a:pt x="2665442" y="0"/>
                  <a:pt x="2733675" y="68233"/>
                  <a:pt x="2733675" y="152402"/>
                </a:cubicBezTo>
                <a:lnTo>
                  <a:pt x="2733675" y="2943223"/>
                </a:lnTo>
                <a:cubicBezTo>
                  <a:pt x="2733675" y="3027392"/>
                  <a:pt x="2665442" y="3095625"/>
                  <a:pt x="2581273" y="3095625"/>
                </a:cubicBezTo>
                <a:lnTo>
                  <a:pt x="152402" y="3095625"/>
                </a:lnTo>
                <a:cubicBezTo>
                  <a:pt x="68233" y="3095625"/>
                  <a:pt x="0" y="3027392"/>
                  <a:pt x="0" y="2943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5325" y="1647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7" name="Text 15"/>
          <p:cNvSpPr/>
          <p:nvPr/>
        </p:nvSpPr>
        <p:spPr>
          <a:xfrm>
            <a:off x="3429000" y="2181225"/>
            <a:ext cx="2438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研究员辩论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43288" y="2486025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Research Debate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6625" y="2790825"/>
            <a:ext cx="24193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看涨/看跌研究员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针对光库科技的上涨持续性进行观点交锋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6625" y="3400425"/>
            <a:ext cx="2343150" cy="762000"/>
          </a:xfrm>
          <a:custGeom>
            <a:avLst/>
            <a:gdLst/>
            <a:ahLst/>
            <a:cxnLst/>
            <a:rect l="l" t="t" r="r" b="b"/>
            <a:pathLst>
              <a:path w="2343150" h="762000">
                <a:moveTo>
                  <a:pt x="76200" y="0"/>
                </a:moveTo>
                <a:lnTo>
                  <a:pt x="2266950" y="0"/>
                </a:lnTo>
                <a:cubicBezTo>
                  <a:pt x="2309006" y="0"/>
                  <a:pt x="2343150" y="34144"/>
                  <a:pt x="2343150" y="76200"/>
                </a:cubicBezTo>
                <a:lnTo>
                  <a:pt x="2343150" y="685800"/>
                </a:lnTo>
                <a:cubicBezTo>
                  <a:pt x="2343150" y="727856"/>
                  <a:pt x="2309006" y="762000"/>
                  <a:pt x="22669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3590925" y="3514725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偏差减少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90925" y="3743325"/>
            <a:ext cx="2228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963" y="1262063"/>
            <a:ext cx="2733675" cy="3095625"/>
          </a:xfrm>
          <a:custGeom>
            <a:avLst/>
            <a:gdLst/>
            <a:ahLst/>
            <a:cxnLst/>
            <a:rect l="l" t="t" r="r" b="b"/>
            <a:pathLst>
              <a:path w="2733675" h="3095625">
                <a:moveTo>
                  <a:pt x="152402" y="0"/>
                </a:moveTo>
                <a:lnTo>
                  <a:pt x="2581273" y="0"/>
                </a:lnTo>
                <a:cubicBezTo>
                  <a:pt x="2665442" y="0"/>
                  <a:pt x="2733675" y="68233"/>
                  <a:pt x="2733675" y="152402"/>
                </a:cubicBezTo>
                <a:lnTo>
                  <a:pt x="2733675" y="2943223"/>
                </a:lnTo>
                <a:cubicBezTo>
                  <a:pt x="2733675" y="3027392"/>
                  <a:pt x="2665442" y="3095625"/>
                  <a:pt x="2581273" y="3095625"/>
                </a:cubicBezTo>
                <a:lnTo>
                  <a:pt x="152402" y="3095625"/>
                </a:lnTo>
                <a:cubicBezTo>
                  <a:pt x="68233" y="3095625"/>
                  <a:pt x="0" y="3027392"/>
                  <a:pt x="0" y="2943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39000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29500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6" name="Text 24"/>
          <p:cNvSpPr/>
          <p:nvPr/>
        </p:nvSpPr>
        <p:spPr>
          <a:xfrm>
            <a:off x="6324600" y="2181225"/>
            <a:ext cx="2438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风险管理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8888" y="2486025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2225" y="2790825"/>
            <a:ext cx="241935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对澜起科技进行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三重风险评估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，制定稳健的仓位策略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2225" y="3514725"/>
            <a:ext cx="2343150" cy="647700"/>
          </a:xfrm>
          <a:custGeom>
            <a:avLst/>
            <a:gdLst/>
            <a:ahLst/>
            <a:cxnLst/>
            <a:rect l="l" t="t" r="r" b="b"/>
            <a:pathLst>
              <a:path w="2343150" h="647700">
                <a:moveTo>
                  <a:pt x="76202" y="0"/>
                </a:moveTo>
                <a:lnTo>
                  <a:pt x="2266948" y="0"/>
                </a:lnTo>
                <a:cubicBezTo>
                  <a:pt x="2309033" y="0"/>
                  <a:pt x="2343150" y="34117"/>
                  <a:pt x="2343150" y="76202"/>
                </a:cubicBezTo>
                <a:lnTo>
                  <a:pt x="2343150" y="571498"/>
                </a:lnTo>
                <a:cubicBezTo>
                  <a:pt x="2343150" y="613583"/>
                  <a:pt x="2309033" y="647700"/>
                  <a:pt x="22669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486525" y="3629025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风险类型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6525" y="385762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152400"/>
                </a:lnTo>
                <a:cubicBezTo>
                  <a:pt x="381000" y="173428"/>
                  <a:pt x="363928" y="190500"/>
                  <a:pt x="342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486525" y="3857625"/>
            <a:ext cx="4381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05625" y="385762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152400"/>
                </a:lnTo>
                <a:cubicBezTo>
                  <a:pt x="381000" y="173428"/>
                  <a:pt x="363928" y="190500"/>
                  <a:pt x="342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905625" y="3857625"/>
            <a:ext cx="4381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保守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24725" y="385762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152400"/>
                </a:lnTo>
                <a:cubicBezTo>
                  <a:pt x="381000" y="173428"/>
                  <a:pt x="363928" y="190500"/>
                  <a:pt x="342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7324725" y="3857625"/>
            <a:ext cx="4381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72563" y="1262063"/>
            <a:ext cx="2733675" cy="3095625"/>
          </a:xfrm>
          <a:custGeom>
            <a:avLst/>
            <a:gdLst/>
            <a:ahLst/>
            <a:cxnLst/>
            <a:rect l="l" t="t" r="r" b="b"/>
            <a:pathLst>
              <a:path w="2733675" h="3095625">
                <a:moveTo>
                  <a:pt x="152402" y="0"/>
                </a:moveTo>
                <a:lnTo>
                  <a:pt x="2581273" y="0"/>
                </a:lnTo>
                <a:cubicBezTo>
                  <a:pt x="2665442" y="0"/>
                  <a:pt x="2733675" y="68233"/>
                  <a:pt x="2733675" y="152402"/>
                </a:cubicBezTo>
                <a:lnTo>
                  <a:pt x="2733675" y="2943223"/>
                </a:lnTo>
                <a:cubicBezTo>
                  <a:pt x="2733675" y="3027392"/>
                  <a:pt x="2665442" y="3095625"/>
                  <a:pt x="2581273" y="3095625"/>
                </a:cubicBezTo>
                <a:lnTo>
                  <a:pt x="152402" y="3095625"/>
                </a:lnTo>
                <a:cubicBezTo>
                  <a:pt x="68233" y="3095625"/>
                  <a:pt x="0" y="3027392"/>
                  <a:pt x="0" y="2943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34600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353675" y="16478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40" name="Text 38"/>
          <p:cNvSpPr/>
          <p:nvPr/>
        </p:nvSpPr>
        <p:spPr>
          <a:xfrm>
            <a:off x="9220200" y="2181225"/>
            <a:ext cx="2438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决策层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34488" y="2486025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Decision Layer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67825" y="2790825"/>
            <a:ext cx="2419350" cy="64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最终生成包含</a:t>
            </a:r>
            <a:r>
              <a:rPr lang="en-US" sz="120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买入区间、目标价、风险提示</a:t>
            </a: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的综合报告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267825" y="3552825"/>
            <a:ext cx="2343150" cy="609600"/>
          </a:xfrm>
          <a:custGeom>
            <a:avLst/>
            <a:gdLst/>
            <a:ahLst/>
            <a:cxnLst/>
            <a:rect l="l" t="t" r="r" b="b"/>
            <a:pathLst>
              <a:path w="2343150" h="609600">
                <a:moveTo>
                  <a:pt x="76200" y="0"/>
                </a:moveTo>
                <a:lnTo>
                  <a:pt x="2266950" y="0"/>
                </a:lnTo>
                <a:cubicBezTo>
                  <a:pt x="2309006" y="0"/>
                  <a:pt x="2343150" y="34144"/>
                  <a:pt x="2343150" y="76200"/>
                </a:cubicBezTo>
                <a:lnTo>
                  <a:pt x="2343150" y="533400"/>
                </a:lnTo>
                <a:cubicBezTo>
                  <a:pt x="2343150" y="575456"/>
                  <a:pt x="2309006" y="609600"/>
                  <a:pt x="22669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9382125" y="3667125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输出成果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82125" y="3895725"/>
            <a:ext cx="2171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专业投研报告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5763" y="4519613"/>
            <a:ext cx="11420475" cy="1895475"/>
          </a:xfrm>
          <a:custGeom>
            <a:avLst/>
            <a:gdLst/>
            <a:ahLst/>
            <a:cxnLst/>
            <a:rect l="l" t="t" r="r" b="b"/>
            <a:pathLst>
              <a:path w="11420475" h="1895475">
                <a:moveTo>
                  <a:pt x="152396" y="0"/>
                </a:moveTo>
                <a:lnTo>
                  <a:pt x="11268079" y="0"/>
                </a:lnTo>
                <a:cubicBezTo>
                  <a:pt x="11352245" y="0"/>
                  <a:pt x="11420475" y="68230"/>
                  <a:pt x="11420475" y="152396"/>
                </a:cubicBezTo>
                <a:lnTo>
                  <a:pt x="11420475" y="1743079"/>
                </a:lnTo>
                <a:cubicBezTo>
                  <a:pt x="11420475" y="1827245"/>
                  <a:pt x="11352245" y="1895475"/>
                  <a:pt x="11268079" y="1895475"/>
                </a:cubicBezTo>
                <a:lnTo>
                  <a:pt x="152396" y="1895475"/>
                </a:lnTo>
                <a:cubicBezTo>
                  <a:pt x="68230" y="1895475"/>
                  <a:pt x="0" y="1827245"/>
                  <a:pt x="0" y="174307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838" y="4752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48" name="Text 46"/>
          <p:cNvSpPr/>
          <p:nvPr/>
        </p:nvSpPr>
        <p:spPr>
          <a:xfrm>
            <a:off x="819150" y="4714875"/>
            <a:ext cx="1088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智能体协作流程图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85788" y="5138738"/>
            <a:ext cx="2400300" cy="695325"/>
          </a:xfrm>
          <a:custGeom>
            <a:avLst/>
            <a:gdLst/>
            <a:ahLst/>
            <a:cxnLst/>
            <a:rect l="l" t="t" r="r" b="b"/>
            <a:pathLst>
              <a:path w="2400300" h="695325">
                <a:moveTo>
                  <a:pt x="114298" y="0"/>
                </a:moveTo>
                <a:lnTo>
                  <a:pt x="2286002" y="0"/>
                </a:lnTo>
                <a:cubicBezTo>
                  <a:pt x="2349127" y="0"/>
                  <a:pt x="2400300" y="51173"/>
                  <a:pt x="2400300" y="114298"/>
                </a:cubicBezTo>
                <a:lnTo>
                  <a:pt x="2400300" y="581027"/>
                </a:lnTo>
                <a:cubicBezTo>
                  <a:pt x="2400300" y="644152"/>
                  <a:pt x="2349127" y="695325"/>
                  <a:pt x="2286002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1513" y="5257800"/>
            <a:ext cx="2228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阶段1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6750" y="548640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分析师并行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126581" y="539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53" name="Shape 51"/>
          <p:cNvSpPr/>
          <p:nvPr/>
        </p:nvSpPr>
        <p:spPr>
          <a:xfrm>
            <a:off x="3459956" y="5138738"/>
            <a:ext cx="2400300" cy="695325"/>
          </a:xfrm>
          <a:custGeom>
            <a:avLst/>
            <a:gdLst/>
            <a:ahLst/>
            <a:cxnLst/>
            <a:rect l="l" t="t" r="r" b="b"/>
            <a:pathLst>
              <a:path w="2400300" h="695325">
                <a:moveTo>
                  <a:pt x="114298" y="0"/>
                </a:moveTo>
                <a:lnTo>
                  <a:pt x="2286002" y="0"/>
                </a:lnTo>
                <a:cubicBezTo>
                  <a:pt x="2349127" y="0"/>
                  <a:pt x="2400300" y="51173"/>
                  <a:pt x="2400300" y="114298"/>
                </a:cubicBezTo>
                <a:lnTo>
                  <a:pt x="2400300" y="581027"/>
                </a:lnTo>
                <a:cubicBezTo>
                  <a:pt x="2400300" y="644152"/>
                  <a:pt x="2349127" y="695325"/>
                  <a:pt x="2286002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45681" y="5257800"/>
            <a:ext cx="2228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阶段2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540919" y="548640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研究员辩论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000750" y="539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57" name="Shape 55"/>
          <p:cNvSpPr/>
          <p:nvPr/>
        </p:nvSpPr>
        <p:spPr>
          <a:xfrm>
            <a:off x="6334125" y="5138738"/>
            <a:ext cx="2400300" cy="695325"/>
          </a:xfrm>
          <a:custGeom>
            <a:avLst/>
            <a:gdLst/>
            <a:ahLst/>
            <a:cxnLst/>
            <a:rect l="l" t="t" r="r" b="b"/>
            <a:pathLst>
              <a:path w="2400300" h="695325">
                <a:moveTo>
                  <a:pt x="114298" y="0"/>
                </a:moveTo>
                <a:lnTo>
                  <a:pt x="2286002" y="0"/>
                </a:lnTo>
                <a:cubicBezTo>
                  <a:pt x="2349127" y="0"/>
                  <a:pt x="2400300" y="51173"/>
                  <a:pt x="2400300" y="114298"/>
                </a:cubicBezTo>
                <a:lnTo>
                  <a:pt x="2400300" y="581027"/>
                </a:lnTo>
                <a:cubicBezTo>
                  <a:pt x="2400300" y="644152"/>
                  <a:pt x="2349127" y="695325"/>
                  <a:pt x="2286002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9850" y="5257800"/>
            <a:ext cx="2228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阶段3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15088" y="548640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风险评估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874919" y="539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61" name="Shape 59"/>
          <p:cNvSpPr/>
          <p:nvPr/>
        </p:nvSpPr>
        <p:spPr>
          <a:xfrm>
            <a:off x="9208294" y="5138738"/>
            <a:ext cx="2400300" cy="695325"/>
          </a:xfrm>
          <a:custGeom>
            <a:avLst/>
            <a:gdLst/>
            <a:ahLst/>
            <a:cxnLst/>
            <a:rect l="l" t="t" r="r" b="b"/>
            <a:pathLst>
              <a:path w="2400300" h="695325">
                <a:moveTo>
                  <a:pt x="114298" y="0"/>
                </a:moveTo>
                <a:lnTo>
                  <a:pt x="2286002" y="0"/>
                </a:lnTo>
                <a:cubicBezTo>
                  <a:pt x="2349127" y="0"/>
                  <a:pt x="2400300" y="51173"/>
                  <a:pt x="2400300" y="114298"/>
                </a:cubicBezTo>
                <a:lnTo>
                  <a:pt x="2400300" y="581027"/>
                </a:lnTo>
                <a:cubicBezTo>
                  <a:pt x="2400300" y="644152"/>
                  <a:pt x="2349127" y="695325"/>
                  <a:pt x="2286002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C8A97E">
              <a:alpha val="30196"/>
            </a:srgbClr>
          </a:soli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94019" y="5257800"/>
            <a:ext cx="2228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阶段4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289256" y="548640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决策输出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2895600" y="602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65" name="Text 63"/>
          <p:cNvSpPr/>
          <p:nvPr/>
        </p:nvSpPr>
        <p:spPr>
          <a:xfrm>
            <a:off x="3143250" y="5991225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与实战决策过程形成类比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143500" y="602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67" name="Text 65"/>
          <p:cNvSpPr/>
          <p:nvPr/>
        </p:nvSpPr>
        <p:spPr>
          <a:xfrm>
            <a:off x="5391150" y="5991225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模拟真实投研团队工作流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91400" y="602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69" name="Text 67"/>
          <p:cNvSpPr/>
          <p:nvPr/>
        </p:nvSpPr>
        <p:spPr>
          <a:xfrm>
            <a:off x="7639050" y="5991225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多角度验证减少决策偏差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2108180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216535"/>
            <a:ext cx="11597005" cy="64249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" name="Text 1"/>
          <p:cNvSpPr/>
          <p:nvPr/>
        </p:nvSpPr>
        <p:spPr>
          <a:xfrm>
            <a:off x="571500" y="381000"/>
            <a:ext cx="5667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从0到58万：MVP商业模型成功跑通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流量获取与商业化验证数据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10225" cy="3019425"/>
          </a:xfrm>
          <a:custGeom>
            <a:avLst/>
            <a:gdLst/>
            <a:ahLst/>
            <a:cxnLst/>
            <a:rect l="l" t="t" r="r" b="b"/>
            <a:pathLst>
              <a:path w="5610225" h="3019425">
                <a:moveTo>
                  <a:pt x="152390" y="0"/>
                </a:moveTo>
                <a:lnTo>
                  <a:pt x="5457835" y="0"/>
                </a:lnTo>
                <a:cubicBezTo>
                  <a:pt x="5541998" y="0"/>
                  <a:pt x="5610225" y="68227"/>
                  <a:pt x="5610225" y="152390"/>
                </a:cubicBezTo>
                <a:lnTo>
                  <a:pt x="5610225" y="2867035"/>
                </a:lnTo>
                <a:cubicBezTo>
                  <a:pt x="5610225" y="2951198"/>
                  <a:pt x="5541998" y="3019425"/>
                  <a:pt x="5457835" y="3019425"/>
                </a:cubicBezTo>
                <a:lnTo>
                  <a:pt x="152390" y="3019425"/>
                </a:lnTo>
                <a:cubicBezTo>
                  <a:pt x="68227" y="3019425"/>
                  <a:pt x="0" y="2951198"/>
                  <a:pt x="0" y="2867035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7238" y="1647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lnTo>
                  <a:pt x="122158" y="227082"/>
                </a:lnTo>
                <a:cubicBezTo>
                  <a:pt x="125819" y="228913"/>
                  <a:pt x="130150" y="229136"/>
                  <a:pt x="134035" y="227528"/>
                </a:cubicBezTo>
                <a:cubicBezTo>
                  <a:pt x="138098" y="225832"/>
                  <a:pt x="141089" y="222394"/>
                  <a:pt x="142295" y="218331"/>
                </a:cubicBezTo>
                <a:cubicBezTo>
                  <a:pt x="154082" y="233288"/>
                  <a:pt x="172343" y="242932"/>
                  <a:pt x="192881" y="242932"/>
                </a:cubicBezTo>
                <a:cubicBezTo>
                  <a:pt x="228377" y="242932"/>
                  <a:pt x="257175" y="214134"/>
                  <a:pt x="257175" y="178638"/>
                </a:cubicBezTo>
                <a:cubicBezTo>
                  <a:pt x="257175" y="143143"/>
                  <a:pt x="228377" y="114300"/>
                  <a:pt x="192881" y="114300"/>
                </a:cubicBezTo>
                <a:cubicBezTo>
                  <a:pt x="172700" y="114300"/>
                  <a:pt x="154662" y="123632"/>
                  <a:pt x="142875" y="138187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  <a:moveTo>
                  <a:pt x="185738" y="142875"/>
                </a:moveTo>
                <a:cubicBezTo>
                  <a:pt x="185738" y="138946"/>
                  <a:pt x="188952" y="135731"/>
                  <a:pt x="192881" y="135731"/>
                </a:cubicBezTo>
                <a:cubicBezTo>
                  <a:pt x="196810" y="135731"/>
                  <a:pt x="200025" y="138946"/>
                  <a:pt x="200025" y="142875"/>
                </a:cubicBezTo>
                <a:lnTo>
                  <a:pt x="200025" y="146447"/>
                </a:lnTo>
                <a:lnTo>
                  <a:pt x="207169" y="146447"/>
                </a:lnTo>
                <a:cubicBezTo>
                  <a:pt x="211098" y="146447"/>
                  <a:pt x="214313" y="149662"/>
                  <a:pt x="214313" y="153591"/>
                </a:cubicBezTo>
                <a:cubicBezTo>
                  <a:pt x="214313" y="157520"/>
                  <a:pt x="211098" y="160734"/>
                  <a:pt x="207169" y="160734"/>
                </a:cubicBezTo>
                <a:lnTo>
                  <a:pt x="186720" y="160734"/>
                </a:lnTo>
                <a:cubicBezTo>
                  <a:pt x="184219" y="160734"/>
                  <a:pt x="182166" y="162788"/>
                  <a:pt x="182166" y="165289"/>
                </a:cubicBezTo>
                <a:cubicBezTo>
                  <a:pt x="182166" y="167476"/>
                  <a:pt x="183728" y="169352"/>
                  <a:pt x="185871" y="169753"/>
                </a:cubicBezTo>
                <a:lnTo>
                  <a:pt x="205963" y="173415"/>
                </a:lnTo>
                <a:cubicBezTo>
                  <a:pt x="214893" y="175022"/>
                  <a:pt x="221412" y="182835"/>
                  <a:pt x="221412" y="191944"/>
                </a:cubicBezTo>
                <a:cubicBezTo>
                  <a:pt x="221412" y="202347"/>
                  <a:pt x="212973" y="210785"/>
                  <a:pt x="202570" y="210785"/>
                </a:cubicBezTo>
                <a:lnTo>
                  <a:pt x="199980" y="210785"/>
                </a:lnTo>
                <a:lnTo>
                  <a:pt x="199980" y="214357"/>
                </a:lnTo>
                <a:cubicBezTo>
                  <a:pt x="199980" y="218286"/>
                  <a:pt x="196766" y="221501"/>
                  <a:pt x="192837" y="221501"/>
                </a:cubicBezTo>
                <a:cubicBezTo>
                  <a:pt x="188908" y="221501"/>
                  <a:pt x="185693" y="218286"/>
                  <a:pt x="185693" y="214357"/>
                </a:cubicBezTo>
                <a:lnTo>
                  <a:pt x="185693" y="210785"/>
                </a:lnTo>
                <a:lnTo>
                  <a:pt x="178549" y="210785"/>
                </a:lnTo>
                <a:cubicBezTo>
                  <a:pt x="174620" y="210785"/>
                  <a:pt x="171405" y="207571"/>
                  <a:pt x="171405" y="203642"/>
                </a:cubicBezTo>
                <a:cubicBezTo>
                  <a:pt x="171405" y="199712"/>
                  <a:pt x="174620" y="196498"/>
                  <a:pt x="178549" y="196498"/>
                </a:cubicBezTo>
                <a:lnTo>
                  <a:pt x="202570" y="196498"/>
                </a:lnTo>
                <a:cubicBezTo>
                  <a:pt x="205070" y="196498"/>
                  <a:pt x="207124" y="194444"/>
                  <a:pt x="207124" y="191944"/>
                </a:cubicBezTo>
                <a:cubicBezTo>
                  <a:pt x="207124" y="189756"/>
                  <a:pt x="205561" y="187881"/>
                  <a:pt x="203418" y="187479"/>
                </a:cubicBezTo>
                <a:lnTo>
                  <a:pt x="183326" y="183818"/>
                </a:lnTo>
                <a:cubicBezTo>
                  <a:pt x="174397" y="182210"/>
                  <a:pt x="167878" y="174397"/>
                  <a:pt x="167878" y="165289"/>
                </a:cubicBezTo>
                <a:cubicBezTo>
                  <a:pt x="167878" y="155198"/>
                  <a:pt x="175781" y="146983"/>
                  <a:pt x="185738" y="146492"/>
                </a:cubicBezTo>
                <a:lnTo>
                  <a:pt x="185738" y="142875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343025" y="14954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流量端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3025" y="180022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内容价值验证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21932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086354" y="0"/>
                </a:lnTo>
                <a:cubicBezTo>
                  <a:pt x="5149478" y="0"/>
                  <a:pt x="5200650" y="51172"/>
                  <a:pt x="5200650" y="114296"/>
                </a:cubicBezTo>
                <a:lnTo>
                  <a:pt x="5200650" y="762004"/>
                </a:lnTo>
                <a:cubicBezTo>
                  <a:pt x="5200650" y="825128"/>
                  <a:pt x="5149478" y="876300"/>
                  <a:pt x="5086354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00075" y="22193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12" name="Shape 10"/>
          <p:cNvSpPr/>
          <p:nvPr/>
        </p:nvSpPr>
        <p:spPr>
          <a:xfrm>
            <a:off x="795338" y="2428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13" y="44983"/>
                </a:moveTo>
                <a:lnTo>
                  <a:pt x="98599" y="39142"/>
                </a:lnTo>
                <a:cubicBezTo>
                  <a:pt x="100682" y="35496"/>
                  <a:pt x="105333" y="34268"/>
                  <a:pt x="108979" y="36351"/>
                </a:cubicBezTo>
                <a:cubicBezTo>
                  <a:pt x="112626" y="38435"/>
                  <a:pt x="113854" y="43086"/>
                  <a:pt x="111770" y="46732"/>
                </a:cubicBezTo>
                <a:lnTo>
                  <a:pt x="79214" y="103101"/>
                </a:lnTo>
                <a:lnTo>
                  <a:pt x="102766" y="103101"/>
                </a:lnTo>
                <a:cubicBezTo>
                  <a:pt x="110393" y="103101"/>
                  <a:pt x="114672" y="112068"/>
                  <a:pt x="111361" y="118281"/>
                </a:cubicBezTo>
                <a:lnTo>
                  <a:pt x="42342" y="118281"/>
                </a:lnTo>
                <a:cubicBezTo>
                  <a:pt x="38137" y="118281"/>
                  <a:pt x="34751" y="114895"/>
                  <a:pt x="34751" y="110691"/>
                </a:cubicBezTo>
                <a:cubicBezTo>
                  <a:pt x="34751" y="106487"/>
                  <a:pt x="38137" y="103101"/>
                  <a:pt x="42342" y="103101"/>
                </a:cubicBezTo>
                <a:lnTo>
                  <a:pt x="61689" y="103101"/>
                </a:lnTo>
                <a:lnTo>
                  <a:pt x="86469" y="60164"/>
                </a:lnTo>
                <a:lnTo>
                  <a:pt x="78730" y="46732"/>
                </a:lnTo>
                <a:cubicBezTo>
                  <a:pt x="76646" y="43086"/>
                  <a:pt x="77874" y="38472"/>
                  <a:pt x="81521" y="36351"/>
                </a:cubicBezTo>
                <a:cubicBezTo>
                  <a:pt x="85167" y="34268"/>
                  <a:pt x="89781" y="35496"/>
                  <a:pt x="91901" y="39142"/>
                </a:cubicBezTo>
                <a:lnTo>
                  <a:pt x="95213" y="44983"/>
                </a:lnTo>
                <a:close/>
                <a:moveTo>
                  <a:pt x="65931" y="126095"/>
                </a:moveTo>
                <a:lnTo>
                  <a:pt x="58638" y="138745"/>
                </a:lnTo>
                <a:cubicBezTo>
                  <a:pt x="56555" y="142391"/>
                  <a:pt x="51904" y="143619"/>
                  <a:pt x="48258" y="141536"/>
                </a:cubicBezTo>
                <a:cubicBezTo>
                  <a:pt x="44611" y="139452"/>
                  <a:pt x="43383" y="134801"/>
                  <a:pt x="45467" y="131155"/>
                </a:cubicBezTo>
                <a:lnTo>
                  <a:pt x="50899" y="121779"/>
                </a:lnTo>
                <a:cubicBezTo>
                  <a:pt x="57001" y="119881"/>
                  <a:pt x="61987" y="121332"/>
                  <a:pt x="65931" y="126095"/>
                </a:cubicBezTo>
                <a:close/>
                <a:moveTo>
                  <a:pt x="128774" y="103138"/>
                </a:moveTo>
                <a:lnTo>
                  <a:pt x="148530" y="103138"/>
                </a:lnTo>
                <a:cubicBezTo>
                  <a:pt x="152735" y="103138"/>
                  <a:pt x="156121" y="106524"/>
                  <a:pt x="156121" y="110728"/>
                </a:cubicBezTo>
                <a:cubicBezTo>
                  <a:pt x="156121" y="114933"/>
                  <a:pt x="152735" y="118318"/>
                  <a:pt x="148530" y="118318"/>
                </a:cubicBezTo>
                <a:lnTo>
                  <a:pt x="137554" y="118318"/>
                </a:lnTo>
                <a:lnTo>
                  <a:pt x="144959" y="131155"/>
                </a:lnTo>
                <a:cubicBezTo>
                  <a:pt x="147042" y="134801"/>
                  <a:pt x="145814" y="139415"/>
                  <a:pt x="142168" y="141536"/>
                </a:cubicBezTo>
                <a:cubicBezTo>
                  <a:pt x="138522" y="143619"/>
                  <a:pt x="133908" y="142391"/>
                  <a:pt x="131787" y="138745"/>
                </a:cubicBezTo>
                <a:cubicBezTo>
                  <a:pt x="119323" y="117128"/>
                  <a:pt x="109947" y="100943"/>
                  <a:pt x="103733" y="90153"/>
                </a:cubicBezTo>
                <a:cubicBezTo>
                  <a:pt x="97371" y="79177"/>
                  <a:pt x="101910" y="68163"/>
                  <a:pt x="106412" y="64443"/>
                </a:cubicBezTo>
                <a:cubicBezTo>
                  <a:pt x="111398" y="73000"/>
                  <a:pt x="118839" y="85911"/>
                  <a:pt x="128774" y="103138"/>
                </a:cubicBezTo>
                <a:close/>
                <a:moveTo>
                  <a:pt x="95250" y="2977"/>
                </a:moveTo>
                <a:cubicBezTo>
                  <a:pt x="44323" y="2977"/>
                  <a:pt x="2977" y="44323"/>
                  <a:pt x="2977" y="95250"/>
                </a:cubicBezTo>
                <a:cubicBezTo>
                  <a:pt x="2977" y="146177"/>
                  <a:pt x="44323" y="187523"/>
                  <a:pt x="95250" y="187523"/>
                </a:cubicBezTo>
                <a:cubicBezTo>
                  <a:pt x="146177" y="187523"/>
                  <a:pt x="187523" y="146177"/>
                  <a:pt x="187523" y="95250"/>
                </a:cubicBezTo>
                <a:cubicBezTo>
                  <a:pt x="187523" y="44323"/>
                  <a:pt x="146177" y="2977"/>
                  <a:pt x="95250" y="2977"/>
                </a:cubicBezTo>
                <a:close/>
                <a:moveTo>
                  <a:pt x="14883" y="95250"/>
                </a:moveTo>
                <a:cubicBezTo>
                  <a:pt x="14883" y="50894"/>
                  <a:pt x="50894" y="14883"/>
                  <a:pt x="95250" y="14883"/>
                </a:cubicBezTo>
                <a:cubicBezTo>
                  <a:pt x="139606" y="14883"/>
                  <a:pt x="175617" y="50894"/>
                  <a:pt x="175617" y="95250"/>
                </a:cubicBezTo>
                <a:cubicBezTo>
                  <a:pt x="175617" y="139606"/>
                  <a:pt x="139606" y="175617"/>
                  <a:pt x="95250" y="175617"/>
                </a:cubicBezTo>
                <a:cubicBezTo>
                  <a:pt x="50894" y="175617"/>
                  <a:pt x="14883" y="139606"/>
                  <a:pt x="14883" y="95250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13" name="Text 11"/>
          <p:cNvSpPr/>
          <p:nvPr/>
        </p:nvSpPr>
        <p:spPr>
          <a:xfrm>
            <a:off x="1123950" y="2390775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小红书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4021" y="2371725"/>
            <a:ext cx="619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1.5万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1525" y="2752725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15天从0到1.3万粉，打赏收入验证内容质量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320992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086354" y="0"/>
                </a:lnTo>
                <a:cubicBezTo>
                  <a:pt x="5149478" y="0"/>
                  <a:pt x="5200650" y="51172"/>
                  <a:pt x="5200650" y="114296"/>
                </a:cubicBezTo>
                <a:lnTo>
                  <a:pt x="5200650" y="762004"/>
                </a:lnTo>
                <a:cubicBezTo>
                  <a:pt x="5200650" y="825128"/>
                  <a:pt x="5149478" y="876300"/>
                  <a:pt x="5086354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600075" y="32099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8" name="Shape 16"/>
          <p:cNvSpPr/>
          <p:nvPr/>
        </p:nvSpPr>
        <p:spPr>
          <a:xfrm>
            <a:off x="771525" y="34194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9" name="Text 17"/>
          <p:cNvSpPr/>
          <p:nvPr/>
        </p:nvSpPr>
        <p:spPr>
          <a:xfrm>
            <a:off x="1123950" y="33813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知识星球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95441" y="3362325"/>
            <a:ext cx="571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1525" y="3743325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300+核心粉丝迁移，付费验证社群价值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262063"/>
            <a:ext cx="5610225" cy="3019425"/>
          </a:xfrm>
          <a:custGeom>
            <a:avLst/>
            <a:gdLst/>
            <a:ahLst/>
            <a:cxnLst/>
            <a:rect l="l" t="t" r="r" b="b"/>
            <a:pathLst>
              <a:path w="5610225" h="3019425">
                <a:moveTo>
                  <a:pt x="152390" y="0"/>
                </a:moveTo>
                <a:lnTo>
                  <a:pt x="5457835" y="0"/>
                </a:lnTo>
                <a:cubicBezTo>
                  <a:pt x="5541998" y="0"/>
                  <a:pt x="5610225" y="68227"/>
                  <a:pt x="5610225" y="152390"/>
                </a:cubicBezTo>
                <a:lnTo>
                  <a:pt x="5610225" y="2867035"/>
                </a:lnTo>
                <a:cubicBezTo>
                  <a:pt x="5610225" y="2951198"/>
                  <a:pt x="5541998" y="3019425"/>
                  <a:pt x="5457835" y="3019425"/>
                </a:cubicBezTo>
                <a:lnTo>
                  <a:pt x="152390" y="3019425"/>
                </a:lnTo>
                <a:cubicBezTo>
                  <a:pt x="68227" y="3019425"/>
                  <a:pt x="0" y="2951198"/>
                  <a:pt x="0" y="2867035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1275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7488" y="1647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22649" y="-7144"/>
                  <a:pt x="117872" y="-2366"/>
                  <a:pt x="117872" y="3572"/>
                </a:cubicBezTo>
                <a:lnTo>
                  <a:pt x="117872" y="8930"/>
                </a:lnTo>
                <a:lnTo>
                  <a:pt x="117068" y="8930"/>
                </a:lnTo>
                <a:cubicBezTo>
                  <a:pt x="100727" y="8930"/>
                  <a:pt x="87511" y="22190"/>
                  <a:pt x="87511" y="38487"/>
                </a:cubicBezTo>
                <a:cubicBezTo>
                  <a:pt x="87511" y="53400"/>
                  <a:pt x="98628" y="65990"/>
                  <a:pt x="113407" y="67821"/>
                </a:cubicBezTo>
                <a:lnTo>
                  <a:pt x="140643" y="71214"/>
                </a:lnTo>
                <a:cubicBezTo>
                  <a:pt x="142920" y="71482"/>
                  <a:pt x="144661" y="73447"/>
                  <a:pt x="144661" y="75768"/>
                </a:cubicBezTo>
                <a:cubicBezTo>
                  <a:pt x="144661" y="78313"/>
                  <a:pt x="142607" y="80323"/>
                  <a:pt x="140107" y="80323"/>
                </a:cubicBezTo>
                <a:lnTo>
                  <a:pt x="107156" y="80367"/>
                </a:lnTo>
                <a:cubicBezTo>
                  <a:pt x="100236" y="80367"/>
                  <a:pt x="94655" y="85948"/>
                  <a:pt x="94655" y="92869"/>
                </a:cubicBezTo>
                <a:cubicBezTo>
                  <a:pt x="94655" y="99789"/>
                  <a:pt x="100236" y="105370"/>
                  <a:pt x="107156" y="105370"/>
                </a:cubicBezTo>
                <a:lnTo>
                  <a:pt x="117872" y="105370"/>
                </a:lnTo>
                <a:lnTo>
                  <a:pt x="117872" y="110728"/>
                </a:lnTo>
                <a:cubicBezTo>
                  <a:pt x="117872" y="116666"/>
                  <a:pt x="122649" y="121444"/>
                  <a:pt x="128588" y="121444"/>
                </a:cubicBezTo>
                <a:cubicBezTo>
                  <a:pt x="134526" y="121444"/>
                  <a:pt x="139303" y="116666"/>
                  <a:pt x="139303" y="110728"/>
                </a:cubicBezTo>
                <a:lnTo>
                  <a:pt x="139303" y="105370"/>
                </a:lnTo>
                <a:lnTo>
                  <a:pt x="140107" y="105370"/>
                </a:lnTo>
                <a:cubicBezTo>
                  <a:pt x="156448" y="105370"/>
                  <a:pt x="169664" y="92110"/>
                  <a:pt x="169664" y="75813"/>
                </a:cubicBezTo>
                <a:cubicBezTo>
                  <a:pt x="169664" y="60900"/>
                  <a:pt x="158547" y="48310"/>
                  <a:pt x="143768" y="46479"/>
                </a:cubicBezTo>
                <a:lnTo>
                  <a:pt x="116532" y="43086"/>
                </a:lnTo>
                <a:cubicBezTo>
                  <a:pt x="114255" y="42818"/>
                  <a:pt x="112514" y="40853"/>
                  <a:pt x="112514" y="38532"/>
                </a:cubicBezTo>
                <a:cubicBezTo>
                  <a:pt x="112514" y="35987"/>
                  <a:pt x="114568" y="33977"/>
                  <a:pt x="117068" y="33977"/>
                </a:cubicBezTo>
                <a:lnTo>
                  <a:pt x="146447" y="33933"/>
                </a:lnTo>
                <a:cubicBezTo>
                  <a:pt x="153367" y="33933"/>
                  <a:pt x="158948" y="28352"/>
                  <a:pt x="158948" y="21431"/>
                </a:cubicBezTo>
                <a:cubicBezTo>
                  <a:pt x="158948" y="14511"/>
                  <a:pt x="153367" y="8930"/>
                  <a:pt x="146447" y="8930"/>
                </a:cubicBezTo>
                <a:lnTo>
                  <a:pt x="139303" y="8930"/>
                </a:lnTo>
                <a:lnTo>
                  <a:pt x="139303" y="3572"/>
                </a:lnTo>
                <a:cubicBezTo>
                  <a:pt x="139303" y="-2366"/>
                  <a:pt x="134526" y="-7144"/>
                  <a:pt x="128588" y="-7144"/>
                </a:cubicBez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5" name="Text 23"/>
          <p:cNvSpPr/>
          <p:nvPr/>
        </p:nvSpPr>
        <p:spPr>
          <a:xfrm>
            <a:off x="7153275" y="14954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变现端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53275" y="180022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服务价值验证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0325" y="221932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086354" y="0"/>
                </a:lnTo>
                <a:cubicBezTo>
                  <a:pt x="5149478" y="0"/>
                  <a:pt x="5200650" y="51172"/>
                  <a:pt x="5200650" y="114296"/>
                </a:cubicBezTo>
                <a:lnTo>
                  <a:pt x="5200650" y="762004"/>
                </a:lnTo>
                <a:cubicBezTo>
                  <a:pt x="5200650" y="825128"/>
                  <a:pt x="5149478" y="876300"/>
                  <a:pt x="5086354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410325" y="22193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29" name="Shape 27"/>
          <p:cNvSpPr/>
          <p:nvPr/>
        </p:nvSpPr>
        <p:spPr>
          <a:xfrm>
            <a:off x="6581775" y="24288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8930" y="-5953"/>
                </a:moveTo>
                <a:cubicBezTo>
                  <a:pt x="3981" y="-5953"/>
                  <a:pt x="0" y="-1972"/>
                  <a:pt x="0" y="2977"/>
                </a:cubicBezTo>
                <a:cubicBezTo>
                  <a:pt x="0" y="7925"/>
                  <a:pt x="3981" y="11906"/>
                  <a:pt x="8930" y="11906"/>
                </a:cubicBezTo>
                <a:lnTo>
                  <a:pt x="25784" y="11906"/>
                </a:lnTo>
                <a:cubicBezTo>
                  <a:pt x="27236" y="11906"/>
                  <a:pt x="28463" y="12948"/>
                  <a:pt x="28724" y="14362"/>
                </a:cubicBezTo>
                <a:lnTo>
                  <a:pt x="48109" y="120886"/>
                </a:lnTo>
                <a:cubicBezTo>
                  <a:pt x="50416" y="133610"/>
                  <a:pt x="61503" y="142875"/>
                  <a:pt x="74451" y="142875"/>
                </a:cubicBezTo>
                <a:lnTo>
                  <a:pt x="169664" y="142875"/>
                </a:lnTo>
                <a:cubicBezTo>
                  <a:pt x="174613" y="142875"/>
                  <a:pt x="178594" y="138894"/>
                  <a:pt x="178594" y="133945"/>
                </a:cubicBezTo>
                <a:cubicBezTo>
                  <a:pt x="178594" y="128997"/>
                  <a:pt x="174613" y="125016"/>
                  <a:pt x="169664" y="125016"/>
                </a:cubicBezTo>
                <a:lnTo>
                  <a:pt x="74451" y="125016"/>
                </a:lnTo>
                <a:cubicBezTo>
                  <a:pt x="70135" y="125016"/>
                  <a:pt x="66452" y="121927"/>
                  <a:pt x="65670" y="117686"/>
                </a:cubicBezTo>
                <a:lnTo>
                  <a:pt x="63773" y="107156"/>
                </a:lnTo>
                <a:lnTo>
                  <a:pt x="176733" y="107156"/>
                </a:lnTo>
                <a:cubicBezTo>
                  <a:pt x="188193" y="107156"/>
                  <a:pt x="198016" y="99008"/>
                  <a:pt x="200137" y="87734"/>
                </a:cubicBezTo>
                <a:lnTo>
                  <a:pt x="211671" y="26008"/>
                </a:lnTo>
                <a:cubicBezTo>
                  <a:pt x="213047" y="18678"/>
                  <a:pt x="207429" y="11906"/>
                  <a:pt x="199951" y="11906"/>
                </a:cubicBezTo>
                <a:lnTo>
                  <a:pt x="46397" y="11906"/>
                </a:lnTo>
                <a:lnTo>
                  <a:pt x="46248" y="11162"/>
                </a:lnTo>
                <a:cubicBezTo>
                  <a:pt x="44462" y="1265"/>
                  <a:pt x="35830" y="-5953"/>
                  <a:pt x="25747" y="-5953"/>
                </a:cubicBezTo>
                <a:lnTo>
                  <a:pt x="8930" y="-5953"/>
                </a:lnTo>
                <a:close/>
                <a:moveTo>
                  <a:pt x="77391" y="190500"/>
                </a:moveTo>
                <a:cubicBezTo>
                  <a:pt x="87247" y="190500"/>
                  <a:pt x="95250" y="182497"/>
                  <a:pt x="95250" y="172641"/>
                </a:cubicBezTo>
                <a:cubicBezTo>
                  <a:pt x="95250" y="162784"/>
                  <a:pt x="87247" y="154781"/>
                  <a:pt x="77391" y="154781"/>
                </a:cubicBezTo>
                <a:cubicBezTo>
                  <a:pt x="67534" y="154781"/>
                  <a:pt x="59531" y="162784"/>
                  <a:pt x="59531" y="172641"/>
                </a:cubicBezTo>
                <a:cubicBezTo>
                  <a:pt x="59531" y="182497"/>
                  <a:pt x="67534" y="190500"/>
                  <a:pt x="77391" y="190500"/>
                </a:cubicBezTo>
                <a:close/>
                <a:moveTo>
                  <a:pt x="160734" y="190500"/>
                </a:moveTo>
                <a:cubicBezTo>
                  <a:pt x="170591" y="190500"/>
                  <a:pt x="178594" y="182497"/>
                  <a:pt x="178594" y="172641"/>
                </a:cubicBezTo>
                <a:cubicBezTo>
                  <a:pt x="178594" y="162784"/>
                  <a:pt x="170591" y="154781"/>
                  <a:pt x="160734" y="154781"/>
                </a:cubicBezTo>
                <a:cubicBezTo>
                  <a:pt x="150878" y="154781"/>
                  <a:pt x="142875" y="162784"/>
                  <a:pt x="142875" y="172641"/>
                </a:cubicBezTo>
                <a:cubicBezTo>
                  <a:pt x="142875" y="182497"/>
                  <a:pt x="150878" y="190500"/>
                  <a:pt x="160734" y="190500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30" name="Text 28"/>
          <p:cNvSpPr/>
          <p:nvPr/>
        </p:nvSpPr>
        <p:spPr>
          <a:xfrm>
            <a:off x="6934200" y="23907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咸鱼链接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60447" y="2371725"/>
            <a:ext cx="60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26万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1775" y="2752725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低门槛产品验证，快速变现能力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0325" y="320992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086354" y="0"/>
                </a:lnTo>
                <a:cubicBezTo>
                  <a:pt x="5149478" y="0"/>
                  <a:pt x="5200650" y="51172"/>
                  <a:pt x="5200650" y="114296"/>
                </a:cubicBezTo>
                <a:lnTo>
                  <a:pt x="5200650" y="762004"/>
                </a:lnTo>
                <a:cubicBezTo>
                  <a:pt x="5200650" y="825128"/>
                  <a:pt x="5149478" y="876300"/>
                  <a:pt x="5086354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410325" y="32099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</p:spPr>
      </p:sp>
      <p:sp>
        <p:nvSpPr>
          <p:cNvPr id="35" name="Shape 33"/>
          <p:cNvSpPr/>
          <p:nvPr/>
        </p:nvSpPr>
        <p:spPr>
          <a:xfrm>
            <a:off x="6593681" y="3419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6458" y="32445"/>
                </a:moveTo>
                <a:cubicBezTo>
                  <a:pt x="119881" y="29728"/>
                  <a:pt x="122039" y="25524"/>
                  <a:pt x="122039" y="20836"/>
                </a:cubicBezTo>
                <a:cubicBezTo>
                  <a:pt x="122039" y="12613"/>
                  <a:pt x="115379" y="5953"/>
                  <a:pt x="107156" y="5953"/>
                </a:cubicBezTo>
                <a:cubicBezTo>
                  <a:pt x="98933" y="5953"/>
                  <a:pt x="92273" y="12613"/>
                  <a:pt x="92273" y="20836"/>
                </a:cubicBezTo>
                <a:cubicBezTo>
                  <a:pt x="92273" y="25524"/>
                  <a:pt x="94469" y="29728"/>
                  <a:pt x="97854" y="32445"/>
                </a:cubicBezTo>
                <a:lnTo>
                  <a:pt x="72405" y="72479"/>
                </a:lnTo>
                <a:cubicBezTo>
                  <a:pt x="68684" y="78321"/>
                  <a:pt x="60759" y="79772"/>
                  <a:pt x="55215" y="75605"/>
                </a:cubicBezTo>
                <a:lnTo>
                  <a:pt x="33077" y="59048"/>
                </a:lnTo>
                <a:cubicBezTo>
                  <a:pt x="34751" y="56666"/>
                  <a:pt x="35719" y="53727"/>
                  <a:pt x="35719" y="50602"/>
                </a:cubicBezTo>
                <a:cubicBezTo>
                  <a:pt x="35719" y="42379"/>
                  <a:pt x="29059" y="35719"/>
                  <a:pt x="20836" y="35719"/>
                </a:cubicBezTo>
                <a:cubicBezTo>
                  <a:pt x="12613" y="35719"/>
                  <a:pt x="5953" y="42379"/>
                  <a:pt x="5953" y="50602"/>
                </a:cubicBezTo>
                <a:cubicBezTo>
                  <a:pt x="5953" y="58713"/>
                  <a:pt x="12464" y="65336"/>
                  <a:pt x="20538" y="65484"/>
                </a:cubicBezTo>
                <a:lnTo>
                  <a:pt x="32668" y="146410"/>
                </a:lnTo>
                <a:cubicBezTo>
                  <a:pt x="34417" y="158055"/>
                  <a:pt x="44425" y="166688"/>
                  <a:pt x="56220" y="166688"/>
                </a:cubicBezTo>
                <a:lnTo>
                  <a:pt x="158093" y="166688"/>
                </a:lnTo>
                <a:cubicBezTo>
                  <a:pt x="169887" y="166688"/>
                  <a:pt x="179896" y="158055"/>
                  <a:pt x="181645" y="146410"/>
                </a:cubicBezTo>
                <a:lnTo>
                  <a:pt x="193774" y="65484"/>
                </a:lnTo>
                <a:cubicBezTo>
                  <a:pt x="201848" y="65336"/>
                  <a:pt x="208359" y="58713"/>
                  <a:pt x="208359" y="50602"/>
                </a:cubicBezTo>
                <a:cubicBezTo>
                  <a:pt x="208359" y="42379"/>
                  <a:pt x="201699" y="35719"/>
                  <a:pt x="193477" y="35719"/>
                </a:cubicBezTo>
                <a:cubicBezTo>
                  <a:pt x="185254" y="35719"/>
                  <a:pt x="178594" y="42379"/>
                  <a:pt x="178594" y="50602"/>
                </a:cubicBezTo>
                <a:cubicBezTo>
                  <a:pt x="178594" y="53727"/>
                  <a:pt x="179561" y="56666"/>
                  <a:pt x="181235" y="59048"/>
                </a:cubicBezTo>
                <a:lnTo>
                  <a:pt x="159134" y="75642"/>
                </a:lnTo>
                <a:cubicBezTo>
                  <a:pt x="153591" y="79809"/>
                  <a:pt x="145666" y="78358"/>
                  <a:pt x="141945" y="72517"/>
                </a:cubicBezTo>
                <a:lnTo>
                  <a:pt x="116458" y="32445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36" name="Text 34"/>
          <p:cNvSpPr/>
          <p:nvPr/>
        </p:nvSpPr>
        <p:spPr>
          <a:xfrm>
            <a:off x="6934200" y="3381375"/>
            <a:ext cx="1066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VIP 1v1服务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51294" y="3362325"/>
            <a:ext cx="619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20万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81775" y="3743325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高价值服务验证，深度用户认可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90525" y="4448175"/>
            <a:ext cx="11410950" cy="1162050"/>
          </a:xfrm>
          <a:custGeom>
            <a:avLst/>
            <a:gdLst/>
            <a:ahLst/>
            <a:cxnLst/>
            <a:rect l="l" t="t" r="r" b="b"/>
            <a:pathLst>
              <a:path w="11410950" h="1162050">
                <a:moveTo>
                  <a:pt x="152403" y="0"/>
                </a:moveTo>
                <a:lnTo>
                  <a:pt x="11258547" y="0"/>
                </a:lnTo>
                <a:cubicBezTo>
                  <a:pt x="11342661" y="0"/>
                  <a:pt x="11410950" y="68289"/>
                  <a:pt x="11410950" y="152403"/>
                </a:cubicBezTo>
                <a:lnTo>
                  <a:pt x="11410950" y="1009647"/>
                </a:lnTo>
                <a:cubicBezTo>
                  <a:pt x="11410950" y="1093761"/>
                  <a:pt x="11342661" y="1162050"/>
                  <a:pt x="11258547" y="1162050"/>
                </a:cubicBezTo>
                <a:lnTo>
                  <a:pt x="152403" y="1162050"/>
                </a:lnTo>
                <a:cubicBezTo>
                  <a:pt x="68289" y="1162050"/>
                  <a:pt x="0" y="1093761"/>
                  <a:pt x="0" y="100964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C8A97E">
                  <a:alpha val="30000"/>
                </a:srgbClr>
              </a:gs>
            </a:gsLst>
            <a:lin ang="0" scaled="1"/>
          </a:gradFill>
          <a:ln w="25400">
            <a:solidFill>
              <a:srgbClr val="C8A97E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0550" y="4648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1056" y="4886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2" name="Text 40"/>
          <p:cNvSpPr/>
          <p:nvPr/>
        </p:nvSpPr>
        <p:spPr>
          <a:xfrm>
            <a:off x="1581150" y="4686300"/>
            <a:ext cx="24955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商业化成果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81150" y="5105400"/>
            <a:ext cx="2438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3个月内实现MVP商业模式验证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36979" y="4667250"/>
            <a:ext cx="10572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58</a:t>
            </a:r>
            <a:r>
              <a:rPr lang="en-US" sz="225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万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13179" y="5162550"/>
            <a:ext cx="904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累计收入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85945" y="472440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5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9185970" y="4667250"/>
            <a:ext cx="106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r>
              <a:rPr lang="en-US" sz="225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个月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62170" y="516255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验证周期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446321" y="472440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5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0646346" y="4667250"/>
            <a:ext cx="106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r>
              <a:rPr lang="en-US" sz="2250" b="1" dirty="0">
                <a:solidFill>
                  <a:srgbClr val="C8A9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渠道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722546" y="516255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变现路径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00642015e75ddfbcede17458c656d2205fb80a6.jpg"/>
          <p:cNvPicPr>
            <a:picLocks noChangeAspect="1"/>
          </p:cNvPicPr>
          <p:nvPr/>
        </p:nvPicPr>
        <p:blipFill>
          <a:blip r:embed="rId1">
            <a:alphaModFix amt="20000"/>
          </a:blip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C">
                  <a:alpha val="5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</p:sp>
      <p:sp>
        <p:nvSpPr>
          <p:cNvPr id="5" name="Text 2"/>
          <p:cNvSpPr/>
          <p:nvPr/>
        </p:nvSpPr>
        <p:spPr>
          <a:xfrm>
            <a:off x="571500" y="381000"/>
            <a:ext cx="4905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3年发展目标 - 从MVP到规模化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清晰强劲的增长曲线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6080" y="1699260"/>
            <a:ext cx="3695700" cy="4773295"/>
          </a:xfrm>
          <a:custGeom>
            <a:avLst/>
            <a:gdLst/>
            <a:ahLst/>
            <a:cxnLst/>
            <a:rect l="l" t="t" r="r" b="b"/>
            <a:pathLst>
              <a:path w="3695700" h="1838325">
                <a:moveTo>
                  <a:pt x="152397" y="0"/>
                </a:moveTo>
                <a:lnTo>
                  <a:pt x="3543303" y="0"/>
                </a:lnTo>
                <a:cubicBezTo>
                  <a:pt x="3627413" y="0"/>
                  <a:pt x="3695700" y="68287"/>
                  <a:pt x="3695700" y="152397"/>
                </a:cubicBezTo>
                <a:lnTo>
                  <a:pt x="3695700" y="1685928"/>
                </a:lnTo>
                <a:cubicBezTo>
                  <a:pt x="3695700" y="1770038"/>
                  <a:pt x="3627413" y="1838325"/>
                  <a:pt x="35433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2925" y="25044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674489" y="2599690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4425" y="2504440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第1年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4425" y="2771140"/>
            <a:ext cx="1304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产品深化 &amp; 用户积累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925" y="31140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付费用户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91210" y="3075940"/>
            <a:ext cx="523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1,000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2925" y="34569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收入目标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38376" y="3418840"/>
            <a:ext cx="571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500万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46245" y="1719580"/>
            <a:ext cx="3695700" cy="4752975"/>
          </a:xfrm>
          <a:custGeom>
            <a:avLst/>
            <a:gdLst/>
            <a:ahLst/>
            <a:cxnLst/>
            <a:rect l="l" t="t" r="r" b="b"/>
            <a:pathLst>
              <a:path w="3695700" h="1838325">
                <a:moveTo>
                  <a:pt x="152397" y="0"/>
                </a:moveTo>
                <a:lnTo>
                  <a:pt x="3543303" y="0"/>
                </a:lnTo>
                <a:cubicBezTo>
                  <a:pt x="3627413" y="0"/>
                  <a:pt x="3695700" y="68287"/>
                  <a:pt x="3695700" y="152397"/>
                </a:cubicBezTo>
                <a:lnTo>
                  <a:pt x="3695700" y="1685928"/>
                </a:lnTo>
                <a:cubicBezTo>
                  <a:pt x="3695700" y="1770038"/>
                  <a:pt x="3627413" y="1838325"/>
                  <a:pt x="35433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03675" y="25044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518050" y="2599690"/>
            <a:ext cx="32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75175" y="2504440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第2年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975175" y="2771140"/>
            <a:ext cx="1257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市场扩张 &amp; B端突破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03675" y="31140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付费用户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21897" y="307594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5,000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403675" y="34569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收入目标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48215" y="3418840"/>
            <a:ext cx="723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4,000万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07045" y="1719580"/>
            <a:ext cx="3695700" cy="4752975"/>
          </a:xfrm>
          <a:custGeom>
            <a:avLst/>
            <a:gdLst/>
            <a:ahLst/>
            <a:cxnLst/>
            <a:rect l="l" t="t" r="r" b="b"/>
            <a:pathLst>
              <a:path w="3695700" h="1838325">
                <a:moveTo>
                  <a:pt x="152397" y="0"/>
                </a:moveTo>
                <a:lnTo>
                  <a:pt x="3543303" y="0"/>
                </a:lnTo>
                <a:cubicBezTo>
                  <a:pt x="3627413" y="0"/>
                  <a:pt x="3695700" y="68287"/>
                  <a:pt x="3695700" y="152397"/>
                </a:cubicBezTo>
                <a:lnTo>
                  <a:pt x="3695700" y="1685928"/>
                </a:lnTo>
                <a:cubicBezTo>
                  <a:pt x="3695700" y="1770038"/>
                  <a:pt x="3627413" y="1838325"/>
                  <a:pt x="35433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>
                  <a:alpha val="3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C8A97E">
                <a:alpha val="5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64500" y="25044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97E"/>
              </a:gs>
              <a:gs pos="100000">
                <a:srgbClr val="4A6C8C"/>
              </a:gs>
            </a:gsLst>
            <a:lin ang="2700000" scaled="1"/>
          </a:gradFill>
        </p:spPr>
      </p:sp>
      <p:sp>
        <p:nvSpPr>
          <p:cNvPr id="27" name="Text 24"/>
          <p:cNvSpPr/>
          <p:nvPr/>
        </p:nvSpPr>
        <p:spPr>
          <a:xfrm>
            <a:off x="8377982" y="2599690"/>
            <a:ext cx="32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836000" y="2504440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第3年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36000" y="2771140"/>
            <a:ext cx="143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规模化增长 &amp; 生态建设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264500" y="31140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付费用户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072440" y="3075940"/>
            <a:ext cx="666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20,000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64500" y="34569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收入目标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377985" y="3418840"/>
            <a:ext cx="352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2亿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64500" y="3799840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D90A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利润率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301189" y="3761740"/>
            <a:ext cx="438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60%</a:t>
            </a:r>
            <a:endParaRPr lang="en-US" sz="1600" dirty="0"/>
          </a:p>
        </p:txBody>
      </p:sp>
      <p:sp>
        <p:nvSpPr>
          <p:cNvPr id="54" name="Text 2"/>
          <p:cNvSpPr/>
          <p:nvPr/>
        </p:nvSpPr>
        <p:spPr>
          <a:xfrm>
            <a:off x="786130" y="148971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2732</Words>
  <Application>WPS 演示</Application>
  <PresentationFormat>On-screen Show (16:9)</PresentationFormat>
  <Paragraphs>659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Liter</vt:lpstr>
      <vt:lpstr>Liter</vt:lpstr>
      <vt:lpstr>Liter</vt:lpstr>
      <vt:lpstr>MiSans</vt:lpstr>
      <vt:lpstr>MiSans</vt:lpstr>
      <vt:lpstr>Alimama ShuHeiTi</vt:lpstr>
      <vt:lpstr>Alimama ShuHeiTi</vt:lpstr>
      <vt:lpstr>Noto Sans SC</vt:lpstr>
      <vt:lpstr>Noto Sans SC</vt:lpstr>
      <vt:lpstr>Calibri</vt:lpstr>
      <vt:lpstr>微软雅黑</vt:lpstr>
      <vt:lpstr>Arial Unicode MS</vt:lpstr>
      <vt:lpstr>等线</vt:lpstr>
      <vt:lpstr>微软雅黑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投顾服务及投研系统简介</dc:title>
  <dc:creator>Kimi</dc:creator>
  <dc:subject>投顾服务及投研系统简介</dc:subject>
  <cp:lastModifiedBy>杨琦</cp:lastModifiedBy>
  <cp:revision>4</cp:revision>
  <dcterms:created xsi:type="dcterms:W3CDTF">2026-02-14T03:17:00Z</dcterms:created>
  <dcterms:modified xsi:type="dcterms:W3CDTF">2026-02-14T05:34:07Z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投顾服务及投研系统简介","ContentProducer":"001191110108MACG2KBH8F10000","ProduceID":"19c5a0e8-3992-828a-8000-0000431250ff","ReservedCode1":"","ContentPropagator":"001191110108MACG2KBH8F20000","PropagateID":"19c5a0e8-3992-828a-8000-0000431250ff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CDC3C4E3C78A464C8BFCE61B5707374E_12</vt:lpwstr>
  </property>
</Properties>
</file>
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8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1A1D24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966788"/>
            <a:ext cx="3400425" cy="428625"/>
          </a:xfrm>
          <a:custGeom>
            <a:avLst/>
            <a:gdLst/>
            <a:ahLst/>
            <a:cxnLst/>
            <a:rect l="l" t="t" r="r" b="b"/>
            <a:pathLst>
              <a:path w="3400425" h="428625">
                <a:moveTo>
                  <a:pt x="76201" y="0"/>
                </a:moveTo>
                <a:lnTo>
                  <a:pt x="3324224" y="0"/>
                </a:lnTo>
                <a:cubicBezTo>
                  <a:pt x="3366309" y="0"/>
                  <a:pt x="3400425" y="34116"/>
                  <a:pt x="3400425" y="76201"/>
                </a:cubicBezTo>
                <a:lnTo>
                  <a:pt x="3400425" y="352424"/>
                </a:lnTo>
                <a:cubicBezTo>
                  <a:pt x="3400425" y="394509"/>
                  <a:pt x="3366309" y="428625"/>
                  <a:pt x="33242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066800"/>
            <a:ext cx="31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INTELLIGENT FINANCIAL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57375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智能研报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719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D4A37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71487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基于多智能体AI的智能金融分析平台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21017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让AI成为您的专业投资顾问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4813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8"/>
          <p:cNvSpPr/>
          <p:nvPr/>
        </p:nvSpPr>
        <p:spPr>
          <a:xfrm>
            <a:off x="695325" y="61531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38337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2228850" y="61531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AI驱动分析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03463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2"/>
          <p:cNvSpPr/>
          <p:nvPr/>
        </p:nvSpPr>
        <p:spPr>
          <a:xfrm>
            <a:off x="3593976" y="61531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专业级决策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201400" y="60579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210925" y="62865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商业演示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项目定位与核心价值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Positioning &amp; Core Value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753225" cy="1476375"/>
          </a:xfrm>
          <a:custGeom>
            <a:avLst/>
            <a:gdLst/>
            <a:ahLst/>
            <a:cxnLst/>
            <a:rect l="l" t="t" r="r" b="b"/>
            <a:pathLst>
              <a:path w="6753225" h="1476375">
                <a:moveTo>
                  <a:pt x="114301" y="0"/>
                </a:moveTo>
                <a:lnTo>
                  <a:pt x="6638924" y="0"/>
                </a:lnTo>
                <a:cubicBezTo>
                  <a:pt x="6702051" y="0"/>
                  <a:pt x="6753225" y="51174"/>
                  <a:pt x="6753225" y="114301"/>
                </a:cubicBezTo>
                <a:lnTo>
                  <a:pt x="6753225" y="1362074"/>
                </a:lnTo>
                <a:cubicBezTo>
                  <a:pt x="6753225" y="1425201"/>
                  <a:pt x="6702051" y="1476375"/>
                  <a:pt x="663892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62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1381125"/>
            <a:ext cx="596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724025"/>
            <a:ext cx="5943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Ares 智能研报是一个基于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多智能体大语言模型(LLM)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的智能金融分析决策平台,通过模拟真实投资机构的专业团队协作模式,为投资者提供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全面、客观、专业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的股票投资分析服务。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824163"/>
            <a:ext cx="3314700" cy="3648075"/>
          </a:xfrm>
          <a:custGeom>
            <a:avLst/>
            <a:gdLst/>
            <a:ahLst/>
            <a:cxnLst/>
            <a:rect l="l" t="t" r="r" b="b"/>
            <a:pathLst>
              <a:path w="3314700" h="3648075">
                <a:moveTo>
                  <a:pt x="114291" y="0"/>
                </a:moveTo>
                <a:lnTo>
                  <a:pt x="3200409" y="0"/>
                </a:lnTo>
                <a:cubicBezTo>
                  <a:pt x="3263488" y="0"/>
                  <a:pt x="3314700" y="51212"/>
                  <a:pt x="3314700" y="114291"/>
                </a:cubicBezTo>
                <a:lnTo>
                  <a:pt x="3314700" y="3533784"/>
                </a:lnTo>
                <a:cubicBezTo>
                  <a:pt x="3314700" y="3596905"/>
                  <a:pt x="3263530" y="3648075"/>
                  <a:pt x="3200409" y="3648075"/>
                </a:cubicBezTo>
                <a:lnTo>
                  <a:pt x="114291" y="3648075"/>
                </a:lnTo>
                <a:cubicBezTo>
                  <a:pt x="51170" y="3648075"/>
                  <a:pt x="0" y="3596905"/>
                  <a:pt x="0" y="35337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925" y="2981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0797" y="3086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" y="303847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对个人投资者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3514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476625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专业级分析能力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无需金融专业背景,即可获得机构级投资分析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430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809625" y="4270400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多维度决策支持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基本面、技术面、消息面、情绪面全方位分析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510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809625" y="5064100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降低投资门槛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AI驱动的智能分析,让普通投资者也能做出专业决策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5895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625" y="5857875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风险控制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多层次风险评估,帮助投资者规避重大风险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26148" y="2824163"/>
            <a:ext cx="3314700" cy="3648075"/>
          </a:xfrm>
          <a:custGeom>
            <a:avLst/>
            <a:gdLst/>
            <a:ahLst/>
            <a:cxnLst/>
            <a:rect l="l" t="t" r="r" b="b"/>
            <a:pathLst>
              <a:path w="3314700" h="3648075">
                <a:moveTo>
                  <a:pt x="114291" y="0"/>
                </a:moveTo>
                <a:lnTo>
                  <a:pt x="3200409" y="0"/>
                </a:lnTo>
                <a:cubicBezTo>
                  <a:pt x="3263488" y="0"/>
                  <a:pt x="3314700" y="51212"/>
                  <a:pt x="3314700" y="114291"/>
                </a:cubicBezTo>
                <a:lnTo>
                  <a:pt x="3314700" y="3533784"/>
                </a:lnTo>
                <a:cubicBezTo>
                  <a:pt x="3314700" y="3596905"/>
                  <a:pt x="3263530" y="3648075"/>
                  <a:pt x="3200409" y="3648075"/>
                </a:cubicBezTo>
                <a:lnTo>
                  <a:pt x="114291" y="3648075"/>
                </a:lnTo>
                <a:cubicBezTo>
                  <a:pt x="51170" y="3648075"/>
                  <a:pt x="0" y="3596905"/>
                  <a:pt x="0" y="35337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83310" y="2981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11898" y="30861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4478610" y="30384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对机构客户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2360" y="3514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Text 25"/>
          <p:cNvSpPr/>
          <p:nvPr/>
        </p:nvSpPr>
        <p:spPr>
          <a:xfrm>
            <a:off x="4250010" y="3476625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提升研究效率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自动化分析流程,释放研究员时间用于深度研究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2360" y="430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4250010" y="4270400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标准化分析流程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统一的分析框架,确保分析质量和一致性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2360" y="510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4250010" y="5064100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多市场覆盖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支持A股、港股、美股,满足全球化投资需求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2360" y="5895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/>
          <p:cNvSpPr/>
          <p:nvPr/>
        </p:nvSpPr>
        <p:spPr>
          <a:xfrm>
            <a:off x="4250010" y="5857875"/>
            <a:ext cx="2809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可扩展架构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支持定制化开发和私有化部署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04708" y="1223963"/>
            <a:ext cx="4505325" cy="3857625"/>
          </a:xfrm>
          <a:custGeom>
            <a:avLst/>
            <a:gdLst/>
            <a:ahLst/>
            <a:cxnLst/>
            <a:rect l="l" t="t" r="r" b="b"/>
            <a:pathLst>
              <a:path w="4505325" h="3857625">
                <a:moveTo>
                  <a:pt x="114301" y="0"/>
                </a:moveTo>
                <a:lnTo>
                  <a:pt x="4391024" y="0"/>
                </a:lnTo>
                <a:cubicBezTo>
                  <a:pt x="4454151" y="0"/>
                  <a:pt x="4505325" y="51174"/>
                  <a:pt x="4505325" y="114301"/>
                </a:cubicBezTo>
                <a:lnTo>
                  <a:pt x="4505325" y="3743324"/>
                </a:lnTo>
                <a:cubicBezTo>
                  <a:pt x="4505325" y="3806451"/>
                  <a:pt x="4454151" y="3857625"/>
                  <a:pt x="4391024" y="3857625"/>
                </a:cubicBezTo>
                <a:lnTo>
                  <a:pt x="114301" y="3857625"/>
                </a:lnTo>
                <a:cubicBezTo>
                  <a:pt x="51174" y="3857625"/>
                  <a:pt x="0" y="3806451"/>
                  <a:pt x="0" y="3743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3776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多市场覆盖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61870" y="192085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76170" y="203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48290" y="213040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47670" y="20542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A股市场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47670" y="228280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沪深主板、创业板、科创板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61870" y="300037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6170" y="3114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743602" y="32099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47670" y="3133725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港股市场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47670" y="33623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主板、创业板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61870" y="40798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6170" y="4194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693149" y="4289375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47670" y="4213175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美股市场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47670" y="444177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NYSE、NASDAQ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04708" y="5205413"/>
            <a:ext cx="4505325" cy="1266825"/>
          </a:xfrm>
          <a:custGeom>
            <a:avLst/>
            <a:gdLst/>
            <a:ahLst/>
            <a:cxnLst/>
            <a:rect l="l" t="t" r="r" b="b"/>
            <a:pathLst>
              <a:path w="4505325" h="1266825">
                <a:moveTo>
                  <a:pt x="114306" y="0"/>
                </a:moveTo>
                <a:lnTo>
                  <a:pt x="4391019" y="0"/>
                </a:lnTo>
                <a:cubicBezTo>
                  <a:pt x="4454149" y="0"/>
                  <a:pt x="4505325" y="51176"/>
                  <a:pt x="4505325" y="114306"/>
                </a:cubicBezTo>
                <a:lnTo>
                  <a:pt x="4505325" y="1152519"/>
                </a:lnTo>
                <a:cubicBezTo>
                  <a:pt x="4505325" y="1215649"/>
                  <a:pt x="4454149" y="1266825"/>
                  <a:pt x="43910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47570" y="5362575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23770" y="5857875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分析维度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28533" y="6124575"/>
            <a:ext cx="425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基本面 | 技术面 | 消息面 | 情绪面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市场定位矩阵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Positioning Matrix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886575" cy="5248275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381125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金融科技市场定位</a:t>
            </a:r>
            <a:endParaRPr lang="en-US" sz="1600" dirty="0"/>
          </a:p>
        </p:txBody>
      </p:sp>
      <p:pic>
        <p:nvPicPr>
          <p:cNvPr id="7" name="Image 0" descr="https://kimi-img.moonshot.cn/pub/slides/26-02-13-20:30:18-d67himjfoslt2chbaom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1762125"/>
            <a:ext cx="6572250" cy="455295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434263" y="1223963"/>
            <a:ext cx="4371975" cy="3743325"/>
          </a:xfrm>
          <a:custGeom>
            <a:avLst/>
            <a:gdLst/>
            <a:ahLst/>
            <a:cxnLst/>
            <a:rect l="l" t="t" r="r" b="b"/>
            <a:pathLst>
              <a:path w="4371975" h="3743325">
                <a:moveTo>
                  <a:pt x="114284" y="0"/>
                </a:moveTo>
                <a:lnTo>
                  <a:pt x="4257691" y="0"/>
                </a:lnTo>
                <a:cubicBezTo>
                  <a:pt x="4320808" y="0"/>
                  <a:pt x="4371975" y="51167"/>
                  <a:pt x="4371975" y="114284"/>
                </a:cubicBezTo>
                <a:lnTo>
                  <a:pt x="4371975" y="3629041"/>
                </a:lnTo>
                <a:cubicBezTo>
                  <a:pt x="4371975" y="3692158"/>
                  <a:pt x="4320808" y="3743325"/>
                  <a:pt x="42576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33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7829550" y="1381125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Ares核心优势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91425" y="1800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679531" y="1885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8010525" y="176212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AI驱动的智能分析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10525" y="199072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基于大语言模型的深度分析能力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1425" y="2676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662863" y="27622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4"/>
          <p:cNvSpPr/>
          <p:nvPr/>
        </p:nvSpPr>
        <p:spPr>
          <a:xfrm>
            <a:off x="8010525" y="263842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10525" y="2867025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模拟真实投资团队的专业协作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91425" y="3552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71197" y="36385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8"/>
          <p:cNvSpPr/>
          <p:nvPr/>
        </p:nvSpPr>
        <p:spPr>
          <a:xfrm>
            <a:off x="8010525" y="351472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自然语言理解能力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10525" y="374332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理解新闻、公告等非结构化数据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91425" y="4429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96200" y="45148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2"/>
          <p:cNvSpPr/>
          <p:nvPr/>
        </p:nvSpPr>
        <p:spPr>
          <a:xfrm>
            <a:off x="8010525" y="439102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可解释的决策过程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10525" y="461962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提供详细的分析报告和决策依据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34263" y="5091113"/>
            <a:ext cx="4371975" cy="1381125"/>
          </a:xfrm>
          <a:custGeom>
            <a:avLst/>
            <a:gdLst/>
            <a:ahLst/>
            <a:cxnLst/>
            <a:rect l="l" t="t" r="r" b="b"/>
            <a:pathLst>
              <a:path w="4371975" h="1381125">
                <a:moveTo>
                  <a:pt x="114302" y="0"/>
                </a:moveTo>
                <a:lnTo>
                  <a:pt x="4257673" y="0"/>
                </a:lnTo>
                <a:cubicBezTo>
                  <a:pt x="4320800" y="0"/>
                  <a:pt x="4371975" y="51175"/>
                  <a:pt x="4371975" y="114302"/>
                </a:cubicBezTo>
                <a:lnTo>
                  <a:pt x="4371975" y="1266823"/>
                </a:lnTo>
                <a:cubicBezTo>
                  <a:pt x="4371975" y="1329950"/>
                  <a:pt x="4320800" y="1381125"/>
                  <a:pt x="42576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8563" y="5248275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市场空白填补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10475" y="5619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7"/>
          <p:cNvSpPr/>
          <p:nvPr/>
        </p:nvSpPr>
        <p:spPr>
          <a:xfrm>
            <a:off x="7834313" y="5591175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传统量化的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610475" y="5886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29"/>
          <p:cNvSpPr/>
          <p:nvPr/>
        </p:nvSpPr>
        <p:spPr>
          <a:xfrm>
            <a:off x="7834313" y="5857875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人工投研的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10475" y="6153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1"/>
          <p:cNvSpPr/>
          <p:nvPr/>
        </p:nvSpPr>
        <p:spPr>
          <a:xfrm>
            <a:off x="7834313" y="612457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AI技术的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77249"/>
            <a:ext cx="34295" cy="274363"/>
          </a:xfrm>
          <a:custGeom>
            <a:avLst/>
            <a:gdLst/>
            <a:ahLst/>
            <a:cxnLst/>
            <a:rect l="l" t="t" r="r" b="b"/>
            <a:pathLst>
              <a:path w="34295" h="274363">
                <a:moveTo>
                  <a:pt x="0" y="0"/>
                </a:moveTo>
                <a:lnTo>
                  <a:pt x="34295" y="0"/>
                </a:lnTo>
                <a:lnTo>
                  <a:pt x="34295" y="274363"/>
                </a:lnTo>
                <a:lnTo>
                  <a:pt x="0" y="27436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480135" y="342954"/>
            <a:ext cx="2623595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四大核心业务能力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135" y="754498"/>
            <a:ext cx="1143750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 Core Business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241" y="1101738"/>
            <a:ext cx="5675882" cy="2632169"/>
          </a:xfrm>
          <a:custGeom>
            <a:avLst/>
            <a:gdLst/>
            <a:ahLst/>
            <a:cxnLst/>
            <a:rect l="l" t="t" r="r" b="b"/>
            <a:pathLst>
              <a:path w="5675882" h="2632169">
                <a:moveTo>
                  <a:pt x="102891" y="0"/>
                </a:moveTo>
                <a:lnTo>
                  <a:pt x="5572990" y="0"/>
                </a:lnTo>
                <a:cubicBezTo>
                  <a:pt x="5629816" y="0"/>
                  <a:pt x="5675882" y="46066"/>
                  <a:pt x="5675882" y="102891"/>
                </a:cubicBezTo>
                <a:lnTo>
                  <a:pt x="5675882" y="2529277"/>
                </a:lnTo>
                <a:cubicBezTo>
                  <a:pt x="5675882" y="2586103"/>
                  <a:pt x="5629816" y="2632169"/>
                  <a:pt x="5572990" y="2632169"/>
                </a:cubicBezTo>
                <a:lnTo>
                  <a:pt x="102891" y="2632169"/>
                </a:lnTo>
                <a:cubicBezTo>
                  <a:pt x="46066" y="2632169"/>
                  <a:pt x="0" y="2586103"/>
                  <a:pt x="0" y="2529277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8709" y="124320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1595" y="1346093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2861" y="12861"/>
                </a:moveTo>
                <a:cubicBezTo>
                  <a:pt x="19974" y="12861"/>
                  <a:pt x="25722" y="18608"/>
                  <a:pt x="25722" y="25722"/>
                </a:cubicBezTo>
                <a:lnTo>
                  <a:pt x="25722" y="160759"/>
                </a:lnTo>
                <a:cubicBezTo>
                  <a:pt x="25722" y="164296"/>
                  <a:pt x="28615" y="167190"/>
                  <a:pt x="32152" y="167190"/>
                </a:cubicBezTo>
                <a:lnTo>
                  <a:pt x="192911" y="167190"/>
                </a:lnTo>
                <a:cubicBezTo>
                  <a:pt x="200025" y="167190"/>
                  <a:pt x="205772" y="172937"/>
                  <a:pt x="205772" y="180051"/>
                </a:cubicBezTo>
                <a:cubicBezTo>
                  <a:pt x="205772" y="187164"/>
                  <a:pt x="200025" y="192911"/>
                  <a:pt x="192911" y="192911"/>
                </a:cubicBezTo>
                <a:lnTo>
                  <a:pt x="32152" y="192911"/>
                </a:lnTo>
                <a:cubicBezTo>
                  <a:pt x="14388" y="192911"/>
                  <a:pt x="0" y="178523"/>
                  <a:pt x="0" y="160759"/>
                </a:cubicBezTo>
                <a:lnTo>
                  <a:pt x="0" y="25722"/>
                </a:lnTo>
                <a:cubicBezTo>
                  <a:pt x="0" y="18608"/>
                  <a:pt x="5747" y="12861"/>
                  <a:pt x="12861" y="12861"/>
                </a:cubicBezTo>
                <a:close/>
                <a:moveTo>
                  <a:pt x="51443" y="38582"/>
                </a:moveTo>
                <a:cubicBezTo>
                  <a:pt x="51443" y="31469"/>
                  <a:pt x="57190" y="25722"/>
                  <a:pt x="64304" y="25722"/>
                </a:cubicBezTo>
                <a:lnTo>
                  <a:pt x="141468" y="25722"/>
                </a:lnTo>
                <a:cubicBezTo>
                  <a:pt x="148582" y="25722"/>
                  <a:pt x="154329" y="31469"/>
                  <a:pt x="154329" y="38582"/>
                </a:cubicBezTo>
                <a:cubicBezTo>
                  <a:pt x="154329" y="45696"/>
                  <a:pt x="148582" y="51443"/>
                  <a:pt x="141468" y="51443"/>
                </a:cubicBezTo>
                <a:lnTo>
                  <a:pt x="64304" y="51443"/>
                </a:lnTo>
                <a:cubicBezTo>
                  <a:pt x="57190" y="51443"/>
                  <a:pt x="51443" y="45696"/>
                  <a:pt x="51443" y="38582"/>
                </a:cubicBezTo>
                <a:close/>
                <a:moveTo>
                  <a:pt x="64304" y="70734"/>
                </a:moveTo>
                <a:lnTo>
                  <a:pt x="115747" y="70734"/>
                </a:lnTo>
                <a:cubicBezTo>
                  <a:pt x="122860" y="70734"/>
                  <a:pt x="128608" y="76481"/>
                  <a:pt x="128608" y="83595"/>
                </a:cubicBezTo>
                <a:cubicBezTo>
                  <a:pt x="128608" y="90709"/>
                  <a:pt x="122860" y="96456"/>
                  <a:pt x="115747" y="96456"/>
                </a:cubicBezTo>
                <a:lnTo>
                  <a:pt x="64304" y="96456"/>
                </a:lnTo>
                <a:cubicBezTo>
                  <a:pt x="57190" y="96456"/>
                  <a:pt x="51443" y="90709"/>
                  <a:pt x="51443" y="83595"/>
                </a:cubicBezTo>
                <a:cubicBezTo>
                  <a:pt x="51443" y="76481"/>
                  <a:pt x="57190" y="70734"/>
                  <a:pt x="64304" y="70734"/>
                </a:cubicBezTo>
                <a:close/>
                <a:moveTo>
                  <a:pt x="64304" y="115747"/>
                </a:moveTo>
                <a:lnTo>
                  <a:pt x="167190" y="115747"/>
                </a:lnTo>
                <a:cubicBezTo>
                  <a:pt x="174303" y="115747"/>
                  <a:pt x="180051" y="121494"/>
                  <a:pt x="180051" y="128608"/>
                </a:cubicBezTo>
                <a:cubicBezTo>
                  <a:pt x="180051" y="135721"/>
                  <a:pt x="174303" y="141468"/>
                  <a:pt x="167190" y="141468"/>
                </a:cubicBezTo>
                <a:lnTo>
                  <a:pt x="64304" y="141468"/>
                </a:lnTo>
                <a:cubicBezTo>
                  <a:pt x="57190" y="141468"/>
                  <a:pt x="51443" y="135721"/>
                  <a:pt x="51443" y="128608"/>
                </a:cubicBezTo>
                <a:cubicBezTo>
                  <a:pt x="51443" y="121494"/>
                  <a:pt x="57190" y="115747"/>
                  <a:pt x="64304" y="11574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003139" y="1328945"/>
            <a:ext cx="111459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智能分析能力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709" y="1757637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5890" y="1894819"/>
            <a:ext cx="102886" cy="137181"/>
          </a:xfrm>
          <a:custGeom>
            <a:avLst/>
            <a:gdLst/>
            <a:ahLst/>
            <a:cxnLst/>
            <a:rect l="l" t="t" r="r" b="b"/>
            <a:pathLst>
              <a:path w="102886" h="137181">
                <a:moveTo>
                  <a:pt x="17148" y="0"/>
                </a:moveTo>
                <a:cubicBezTo>
                  <a:pt x="7690" y="0"/>
                  <a:pt x="0" y="7690"/>
                  <a:pt x="0" y="17148"/>
                </a:cubicBezTo>
                <a:lnTo>
                  <a:pt x="0" y="120034"/>
                </a:lnTo>
                <a:cubicBezTo>
                  <a:pt x="0" y="129492"/>
                  <a:pt x="7690" y="137181"/>
                  <a:pt x="17148" y="137181"/>
                </a:cubicBezTo>
                <a:lnTo>
                  <a:pt x="85738" y="137181"/>
                </a:lnTo>
                <a:cubicBezTo>
                  <a:pt x="95196" y="137181"/>
                  <a:pt x="102886" y="129492"/>
                  <a:pt x="102886" y="120034"/>
                </a:cubicBezTo>
                <a:lnTo>
                  <a:pt x="102886" y="17148"/>
                </a:lnTo>
                <a:cubicBezTo>
                  <a:pt x="102886" y="7690"/>
                  <a:pt x="95196" y="0"/>
                  <a:pt x="85738" y="0"/>
                </a:cubicBezTo>
                <a:lnTo>
                  <a:pt x="17148" y="0"/>
                </a:lnTo>
                <a:close/>
                <a:moveTo>
                  <a:pt x="47156" y="94312"/>
                </a:moveTo>
                <a:lnTo>
                  <a:pt x="55730" y="94312"/>
                </a:lnTo>
                <a:cubicBezTo>
                  <a:pt x="60472" y="94312"/>
                  <a:pt x="64304" y="98144"/>
                  <a:pt x="64304" y="102886"/>
                </a:cubicBezTo>
                <a:lnTo>
                  <a:pt x="64304" y="124321"/>
                </a:lnTo>
                <a:lnTo>
                  <a:pt x="38582" y="124321"/>
                </a:lnTo>
                <a:lnTo>
                  <a:pt x="38582" y="102886"/>
                </a:lnTo>
                <a:cubicBezTo>
                  <a:pt x="38582" y="98144"/>
                  <a:pt x="42414" y="94312"/>
                  <a:pt x="47156" y="94312"/>
                </a:cubicBezTo>
                <a:close/>
                <a:moveTo>
                  <a:pt x="25722" y="30008"/>
                </a:moveTo>
                <a:cubicBezTo>
                  <a:pt x="25722" y="27651"/>
                  <a:pt x="27651" y="25722"/>
                  <a:pt x="30008" y="25722"/>
                </a:cubicBezTo>
                <a:lnTo>
                  <a:pt x="38582" y="25722"/>
                </a:lnTo>
                <a:cubicBezTo>
                  <a:pt x="40940" y="25722"/>
                  <a:pt x="42869" y="27651"/>
                  <a:pt x="42869" y="30008"/>
                </a:cubicBezTo>
                <a:lnTo>
                  <a:pt x="42869" y="38582"/>
                </a:lnTo>
                <a:cubicBezTo>
                  <a:pt x="42869" y="40940"/>
                  <a:pt x="40940" y="42869"/>
                  <a:pt x="38582" y="42869"/>
                </a:cubicBezTo>
                <a:lnTo>
                  <a:pt x="30008" y="42869"/>
                </a:lnTo>
                <a:cubicBezTo>
                  <a:pt x="27651" y="42869"/>
                  <a:pt x="25722" y="40940"/>
                  <a:pt x="25722" y="38582"/>
                </a:cubicBezTo>
                <a:lnTo>
                  <a:pt x="25722" y="30008"/>
                </a:lnTo>
                <a:close/>
                <a:moveTo>
                  <a:pt x="64304" y="25722"/>
                </a:moveTo>
                <a:lnTo>
                  <a:pt x="72878" y="25722"/>
                </a:lnTo>
                <a:cubicBezTo>
                  <a:pt x="75235" y="25722"/>
                  <a:pt x="77165" y="27651"/>
                  <a:pt x="77165" y="30008"/>
                </a:cubicBezTo>
                <a:lnTo>
                  <a:pt x="77165" y="38582"/>
                </a:lnTo>
                <a:cubicBezTo>
                  <a:pt x="77165" y="40940"/>
                  <a:pt x="75235" y="42869"/>
                  <a:pt x="72878" y="42869"/>
                </a:cubicBezTo>
                <a:lnTo>
                  <a:pt x="64304" y="42869"/>
                </a:lnTo>
                <a:cubicBezTo>
                  <a:pt x="61946" y="42869"/>
                  <a:pt x="60017" y="40940"/>
                  <a:pt x="60017" y="38582"/>
                </a:cubicBezTo>
                <a:lnTo>
                  <a:pt x="60017" y="30008"/>
                </a:lnTo>
                <a:cubicBezTo>
                  <a:pt x="60017" y="27651"/>
                  <a:pt x="61946" y="25722"/>
                  <a:pt x="64304" y="25722"/>
                </a:cubicBezTo>
                <a:close/>
                <a:moveTo>
                  <a:pt x="25722" y="64304"/>
                </a:moveTo>
                <a:cubicBezTo>
                  <a:pt x="25722" y="61946"/>
                  <a:pt x="27651" y="60017"/>
                  <a:pt x="30008" y="60017"/>
                </a:cubicBezTo>
                <a:lnTo>
                  <a:pt x="38582" y="60017"/>
                </a:lnTo>
                <a:cubicBezTo>
                  <a:pt x="40940" y="60017"/>
                  <a:pt x="42869" y="61946"/>
                  <a:pt x="42869" y="64304"/>
                </a:cubicBezTo>
                <a:lnTo>
                  <a:pt x="42869" y="72878"/>
                </a:lnTo>
                <a:cubicBezTo>
                  <a:pt x="42869" y="75235"/>
                  <a:pt x="40940" y="77165"/>
                  <a:pt x="38582" y="77165"/>
                </a:cubicBezTo>
                <a:lnTo>
                  <a:pt x="30008" y="77165"/>
                </a:lnTo>
                <a:cubicBezTo>
                  <a:pt x="27651" y="77165"/>
                  <a:pt x="25722" y="75235"/>
                  <a:pt x="25722" y="72878"/>
                </a:cubicBezTo>
                <a:lnTo>
                  <a:pt x="25722" y="64304"/>
                </a:lnTo>
                <a:close/>
                <a:moveTo>
                  <a:pt x="64304" y="60017"/>
                </a:moveTo>
                <a:lnTo>
                  <a:pt x="72878" y="60017"/>
                </a:lnTo>
                <a:cubicBezTo>
                  <a:pt x="75235" y="60017"/>
                  <a:pt x="77165" y="61946"/>
                  <a:pt x="77165" y="64304"/>
                </a:cubicBezTo>
                <a:lnTo>
                  <a:pt x="77165" y="72878"/>
                </a:lnTo>
                <a:cubicBezTo>
                  <a:pt x="77165" y="75235"/>
                  <a:pt x="75235" y="77165"/>
                  <a:pt x="72878" y="77165"/>
                </a:cubicBezTo>
                <a:lnTo>
                  <a:pt x="64304" y="77165"/>
                </a:lnTo>
                <a:cubicBezTo>
                  <a:pt x="61946" y="77165"/>
                  <a:pt x="60017" y="75235"/>
                  <a:pt x="60017" y="72878"/>
                </a:cubicBezTo>
                <a:lnTo>
                  <a:pt x="60017" y="64304"/>
                </a:lnTo>
                <a:cubicBezTo>
                  <a:pt x="60017" y="61946"/>
                  <a:pt x="61946" y="60017"/>
                  <a:pt x="64304" y="6001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831662" y="1860523"/>
            <a:ext cx="480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595" y="2134886"/>
            <a:ext cx="2520709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财务数据深度分析、估值模型、盈利能力评估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1595" y="2398532"/>
            <a:ext cx="251213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识别价值投资机会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9946" y="1757637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39979" y="1894819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17148" y="17148"/>
                </a:moveTo>
                <a:cubicBezTo>
                  <a:pt x="17148" y="12405"/>
                  <a:pt x="13316" y="8574"/>
                  <a:pt x="8574" y="8574"/>
                </a:cubicBezTo>
                <a:cubicBezTo>
                  <a:pt x="3831" y="8574"/>
                  <a:pt x="0" y="12405"/>
                  <a:pt x="0" y="17148"/>
                </a:cubicBezTo>
                <a:lnTo>
                  <a:pt x="0" y="107173"/>
                </a:lnTo>
                <a:cubicBezTo>
                  <a:pt x="0" y="119016"/>
                  <a:pt x="9592" y="128608"/>
                  <a:pt x="21435" y="128608"/>
                </a:cubicBezTo>
                <a:lnTo>
                  <a:pt x="128608" y="128608"/>
                </a:lnTo>
                <a:cubicBezTo>
                  <a:pt x="133350" y="128608"/>
                  <a:pt x="137181" y="124776"/>
                  <a:pt x="137181" y="120034"/>
                </a:cubicBezTo>
                <a:cubicBezTo>
                  <a:pt x="137181" y="115291"/>
                  <a:pt x="133350" y="111460"/>
                  <a:pt x="128608" y="111460"/>
                </a:cubicBezTo>
                <a:lnTo>
                  <a:pt x="21435" y="111460"/>
                </a:lnTo>
                <a:cubicBezTo>
                  <a:pt x="19077" y="111460"/>
                  <a:pt x="17148" y="109531"/>
                  <a:pt x="17148" y="107173"/>
                </a:cubicBezTo>
                <a:lnTo>
                  <a:pt x="17148" y="17148"/>
                </a:lnTo>
                <a:close/>
                <a:moveTo>
                  <a:pt x="126089" y="40351"/>
                </a:moveTo>
                <a:cubicBezTo>
                  <a:pt x="129438" y="37001"/>
                  <a:pt x="129438" y="31562"/>
                  <a:pt x="126089" y="28213"/>
                </a:cubicBezTo>
                <a:cubicBezTo>
                  <a:pt x="122740" y="24864"/>
                  <a:pt x="117301" y="24864"/>
                  <a:pt x="113952" y="28213"/>
                </a:cubicBezTo>
                <a:lnTo>
                  <a:pt x="85738" y="56453"/>
                </a:lnTo>
                <a:lnTo>
                  <a:pt x="70359" y="41101"/>
                </a:lnTo>
                <a:cubicBezTo>
                  <a:pt x="67010" y="37752"/>
                  <a:pt x="61571" y="37752"/>
                  <a:pt x="58222" y="41101"/>
                </a:cubicBezTo>
                <a:lnTo>
                  <a:pt x="32500" y="66822"/>
                </a:lnTo>
                <a:cubicBezTo>
                  <a:pt x="29151" y="70172"/>
                  <a:pt x="29151" y="75611"/>
                  <a:pt x="32500" y="78960"/>
                </a:cubicBezTo>
                <a:cubicBezTo>
                  <a:pt x="35849" y="82309"/>
                  <a:pt x="41288" y="82309"/>
                  <a:pt x="44638" y="78960"/>
                </a:cubicBezTo>
                <a:lnTo>
                  <a:pt x="64304" y="59293"/>
                </a:lnTo>
                <a:lnTo>
                  <a:pt x="79683" y="74673"/>
                </a:lnTo>
                <a:cubicBezTo>
                  <a:pt x="83032" y="78022"/>
                  <a:pt x="88471" y="78022"/>
                  <a:pt x="91820" y="74673"/>
                </a:cubicBezTo>
                <a:lnTo>
                  <a:pt x="126116" y="40377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4"/>
          <p:cNvSpPr/>
          <p:nvPr/>
        </p:nvSpPr>
        <p:spPr>
          <a:xfrm>
            <a:off x="3562899" y="1860523"/>
            <a:ext cx="480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2832" y="2134886"/>
            <a:ext cx="2520709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技术指标计算、趋势识别、交易信号生成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22832" y="2398532"/>
            <a:ext cx="251213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把握买卖时机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709" y="2707190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8743" y="284437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0" y="111460"/>
                </a:moveTo>
                <a:lnTo>
                  <a:pt x="0" y="32152"/>
                </a:lnTo>
                <a:cubicBezTo>
                  <a:pt x="0" y="28588"/>
                  <a:pt x="2867" y="25722"/>
                  <a:pt x="6430" y="25722"/>
                </a:cubicBezTo>
                <a:cubicBezTo>
                  <a:pt x="9994" y="25722"/>
                  <a:pt x="12861" y="28588"/>
                  <a:pt x="12861" y="32152"/>
                </a:cubicBezTo>
                <a:lnTo>
                  <a:pt x="12861" y="109316"/>
                </a:lnTo>
                <a:cubicBezTo>
                  <a:pt x="12861" y="112880"/>
                  <a:pt x="15728" y="115747"/>
                  <a:pt x="19291" y="115747"/>
                </a:cubicBezTo>
                <a:cubicBezTo>
                  <a:pt x="22855" y="115747"/>
                  <a:pt x="25722" y="112880"/>
                  <a:pt x="25722" y="109316"/>
                </a:cubicBezTo>
                <a:lnTo>
                  <a:pt x="25722" y="25722"/>
                </a:lnTo>
                <a:cubicBezTo>
                  <a:pt x="25722" y="16264"/>
                  <a:pt x="33411" y="8574"/>
                  <a:pt x="42869" y="8574"/>
                </a:cubicBezTo>
                <a:lnTo>
                  <a:pt x="120034" y="8574"/>
                </a:lnTo>
                <a:cubicBezTo>
                  <a:pt x="129492" y="8574"/>
                  <a:pt x="137181" y="16264"/>
                  <a:pt x="137181" y="25722"/>
                </a:cubicBezTo>
                <a:lnTo>
                  <a:pt x="137181" y="111460"/>
                </a:lnTo>
                <a:cubicBezTo>
                  <a:pt x="137181" y="120918"/>
                  <a:pt x="129492" y="128608"/>
                  <a:pt x="120034" y="128608"/>
                </a:cubicBezTo>
                <a:lnTo>
                  <a:pt x="17148" y="128608"/>
                </a:lnTo>
                <a:cubicBezTo>
                  <a:pt x="7690" y="128608"/>
                  <a:pt x="0" y="120918"/>
                  <a:pt x="0" y="111460"/>
                </a:cubicBezTo>
                <a:close/>
                <a:moveTo>
                  <a:pt x="42869" y="34295"/>
                </a:moveTo>
                <a:lnTo>
                  <a:pt x="42869" y="51443"/>
                </a:lnTo>
                <a:cubicBezTo>
                  <a:pt x="42869" y="56185"/>
                  <a:pt x="46701" y="60017"/>
                  <a:pt x="51443" y="60017"/>
                </a:cubicBezTo>
                <a:lnTo>
                  <a:pt x="68591" y="60017"/>
                </a:lnTo>
                <a:cubicBezTo>
                  <a:pt x="73333" y="60017"/>
                  <a:pt x="77165" y="56185"/>
                  <a:pt x="77165" y="51443"/>
                </a:cubicBezTo>
                <a:lnTo>
                  <a:pt x="77165" y="34295"/>
                </a:lnTo>
                <a:cubicBezTo>
                  <a:pt x="77165" y="29553"/>
                  <a:pt x="73333" y="25722"/>
                  <a:pt x="68591" y="25722"/>
                </a:cubicBezTo>
                <a:lnTo>
                  <a:pt x="51443" y="25722"/>
                </a:lnTo>
                <a:cubicBezTo>
                  <a:pt x="46701" y="25722"/>
                  <a:pt x="42869" y="29553"/>
                  <a:pt x="42869" y="34295"/>
                </a:cubicBezTo>
                <a:close/>
                <a:moveTo>
                  <a:pt x="49300" y="98599"/>
                </a:moveTo>
                <a:cubicBezTo>
                  <a:pt x="45736" y="98599"/>
                  <a:pt x="42869" y="101466"/>
                  <a:pt x="42869" y="105030"/>
                </a:cubicBezTo>
                <a:cubicBezTo>
                  <a:pt x="42869" y="108593"/>
                  <a:pt x="45736" y="111460"/>
                  <a:pt x="49300" y="111460"/>
                </a:cubicBezTo>
                <a:lnTo>
                  <a:pt x="113603" y="111460"/>
                </a:lnTo>
                <a:cubicBezTo>
                  <a:pt x="117167" y="111460"/>
                  <a:pt x="120034" y="108593"/>
                  <a:pt x="120034" y="105030"/>
                </a:cubicBezTo>
                <a:cubicBezTo>
                  <a:pt x="120034" y="101466"/>
                  <a:pt x="117167" y="98599"/>
                  <a:pt x="113603" y="98599"/>
                </a:cubicBezTo>
                <a:lnTo>
                  <a:pt x="49300" y="98599"/>
                </a:lnTo>
                <a:close/>
                <a:moveTo>
                  <a:pt x="42869" y="79308"/>
                </a:moveTo>
                <a:cubicBezTo>
                  <a:pt x="42869" y="82872"/>
                  <a:pt x="45736" y="85738"/>
                  <a:pt x="49300" y="85738"/>
                </a:cubicBezTo>
                <a:lnTo>
                  <a:pt x="113603" y="85738"/>
                </a:lnTo>
                <a:cubicBezTo>
                  <a:pt x="117167" y="85738"/>
                  <a:pt x="120034" y="82872"/>
                  <a:pt x="120034" y="79308"/>
                </a:cubicBezTo>
                <a:cubicBezTo>
                  <a:pt x="120034" y="75745"/>
                  <a:pt x="117167" y="72878"/>
                  <a:pt x="113603" y="72878"/>
                </a:cubicBezTo>
                <a:lnTo>
                  <a:pt x="49300" y="72878"/>
                </a:lnTo>
                <a:cubicBezTo>
                  <a:pt x="45736" y="72878"/>
                  <a:pt x="42869" y="75745"/>
                  <a:pt x="42869" y="79308"/>
                </a:cubicBezTo>
                <a:close/>
                <a:moveTo>
                  <a:pt x="96456" y="47156"/>
                </a:moveTo>
                <a:cubicBezTo>
                  <a:pt x="92892" y="47156"/>
                  <a:pt x="90025" y="50023"/>
                  <a:pt x="90025" y="53586"/>
                </a:cubicBezTo>
                <a:cubicBezTo>
                  <a:pt x="90025" y="57150"/>
                  <a:pt x="92892" y="60017"/>
                  <a:pt x="96456" y="60017"/>
                </a:cubicBezTo>
                <a:lnTo>
                  <a:pt x="113603" y="60017"/>
                </a:lnTo>
                <a:cubicBezTo>
                  <a:pt x="117167" y="60017"/>
                  <a:pt x="120034" y="57150"/>
                  <a:pt x="120034" y="53586"/>
                </a:cubicBezTo>
                <a:cubicBezTo>
                  <a:pt x="120034" y="50023"/>
                  <a:pt x="117167" y="47156"/>
                  <a:pt x="113603" y="47156"/>
                </a:cubicBezTo>
                <a:lnTo>
                  <a:pt x="96456" y="47156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831662" y="2810076"/>
            <a:ext cx="480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1595" y="3084439"/>
            <a:ext cx="2520709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新闻事件监控、情绪分析、影响评估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1595" y="3348084"/>
            <a:ext cx="251213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捕捉市场热点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19946" y="2707190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339979" y="284437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44316" y="86247"/>
                </a:moveTo>
                <a:cubicBezTo>
                  <a:pt x="49782" y="93750"/>
                  <a:pt x="58624" y="98599"/>
                  <a:pt x="68591" y="98599"/>
                </a:cubicBezTo>
                <a:cubicBezTo>
                  <a:pt x="78558" y="98599"/>
                  <a:pt x="87400" y="93750"/>
                  <a:pt x="92865" y="86247"/>
                </a:cubicBezTo>
                <a:cubicBezTo>
                  <a:pt x="94955" y="83381"/>
                  <a:pt x="98974" y="82738"/>
                  <a:pt x="101841" y="84827"/>
                </a:cubicBezTo>
                <a:cubicBezTo>
                  <a:pt x="104708" y="86917"/>
                  <a:pt x="105351" y="90936"/>
                  <a:pt x="103261" y="93803"/>
                </a:cubicBezTo>
                <a:cubicBezTo>
                  <a:pt x="95464" y="104494"/>
                  <a:pt x="82845" y="111460"/>
                  <a:pt x="68591" y="111460"/>
                </a:cubicBezTo>
                <a:cubicBezTo>
                  <a:pt x="54337" y="111460"/>
                  <a:pt x="41717" y="104494"/>
                  <a:pt x="33920" y="93803"/>
                </a:cubicBezTo>
                <a:cubicBezTo>
                  <a:pt x="31830" y="90936"/>
                  <a:pt x="32473" y="86917"/>
                  <a:pt x="35340" y="84827"/>
                </a:cubicBezTo>
                <a:cubicBezTo>
                  <a:pt x="38207" y="82738"/>
                  <a:pt x="42226" y="83381"/>
                  <a:pt x="44316" y="86247"/>
                </a:cubicBezTo>
                <a:close/>
                <a:moveTo>
                  <a:pt x="38582" y="55730"/>
                </a:moveTo>
                <a:cubicBezTo>
                  <a:pt x="38582" y="50998"/>
                  <a:pt x="42424" y="47156"/>
                  <a:pt x="47156" y="47156"/>
                </a:cubicBezTo>
                <a:cubicBezTo>
                  <a:pt x="51888" y="47156"/>
                  <a:pt x="55730" y="50998"/>
                  <a:pt x="55730" y="55730"/>
                </a:cubicBezTo>
                <a:cubicBezTo>
                  <a:pt x="55730" y="60462"/>
                  <a:pt x="51888" y="64304"/>
                  <a:pt x="47156" y="64304"/>
                </a:cubicBezTo>
                <a:cubicBezTo>
                  <a:pt x="42424" y="64304"/>
                  <a:pt x="38582" y="60462"/>
                  <a:pt x="38582" y="55730"/>
                </a:cubicBezTo>
                <a:close/>
                <a:moveTo>
                  <a:pt x="90025" y="47156"/>
                </a:moveTo>
                <a:cubicBezTo>
                  <a:pt x="94757" y="47156"/>
                  <a:pt x="98599" y="50998"/>
                  <a:pt x="98599" y="55730"/>
                </a:cubicBezTo>
                <a:cubicBezTo>
                  <a:pt x="98599" y="60462"/>
                  <a:pt x="94757" y="64304"/>
                  <a:pt x="90025" y="64304"/>
                </a:cubicBezTo>
                <a:cubicBezTo>
                  <a:pt x="85293" y="64304"/>
                  <a:pt x="81451" y="60462"/>
                  <a:pt x="81451" y="55730"/>
                </a:cubicBezTo>
                <a:cubicBezTo>
                  <a:pt x="81451" y="50998"/>
                  <a:pt x="85293" y="47156"/>
                  <a:pt x="90025" y="4715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3562899" y="2810076"/>
            <a:ext cx="480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22832" y="3084439"/>
            <a:ext cx="2520709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社交媒体情绪、投资者情绪指数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22832" y="3348084"/>
            <a:ext cx="251213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理解市场情绪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9815" y="1101738"/>
            <a:ext cx="5675882" cy="2632169"/>
          </a:xfrm>
          <a:custGeom>
            <a:avLst/>
            <a:gdLst/>
            <a:ahLst/>
            <a:cxnLst/>
            <a:rect l="l" t="t" r="r" b="b"/>
            <a:pathLst>
              <a:path w="5675882" h="2632169">
                <a:moveTo>
                  <a:pt x="102891" y="0"/>
                </a:moveTo>
                <a:lnTo>
                  <a:pt x="5572990" y="0"/>
                </a:lnTo>
                <a:cubicBezTo>
                  <a:pt x="5629816" y="0"/>
                  <a:pt x="5675882" y="46066"/>
                  <a:pt x="5675882" y="102891"/>
                </a:cubicBezTo>
                <a:lnTo>
                  <a:pt x="5675882" y="2529277"/>
                </a:lnTo>
                <a:cubicBezTo>
                  <a:pt x="5675882" y="2586103"/>
                  <a:pt x="5629816" y="2632169"/>
                  <a:pt x="5572990" y="2632169"/>
                </a:cubicBezTo>
                <a:lnTo>
                  <a:pt x="102891" y="2632169"/>
                </a:lnTo>
                <a:cubicBezTo>
                  <a:pt x="46066" y="2632169"/>
                  <a:pt x="0" y="2586103"/>
                  <a:pt x="0" y="2529277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1284" y="124320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88448" y="1346093"/>
            <a:ext cx="257215" cy="205772"/>
          </a:xfrm>
          <a:custGeom>
            <a:avLst/>
            <a:gdLst/>
            <a:ahLst/>
            <a:cxnLst/>
            <a:rect l="l" t="t" r="r" b="b"/>
            <a:pathLst>
              <a:path w="257215" h="205772">
                <a:moveTo>
                  <a:pt x="128608" y="90025"/>
                </a:moveTo>
                <a:cubicBezTo>
                  <a:pt x="151676" y="90025"/>
                  <a:pt x="170405" y="71296"/>
                  <a:pt x="170405" y="48228"/>
                </a:cubicBezTo>
                <a:cubicBezTo>
                  <a:pt x="170405" y="25159"/>
                  <a:pt x="151676" y="6430"/>
                  <a:pt x="128608" y="6430"/>
                </a:cubicBezTo>
                <a:cubicBezTo>
                  <a:pt x="105539" y="6430"/>
                  <a:pt x="86810" y="25159"/>
                  <a:pt x="86810" y="48228"/>
                </a:cubicBezTo>
                <a:cubicBezTo>
                  <a:pt x="86810" y="71296"/>
                  <a:pt x="105539" y="90025"/>
                  <a:pt x="128608" y="90025"/>
                </a:cubicBezTo>
                <a:close/>
                <a:moveTo>
                  <a:pt x="38582" y="93241"/>
                </a:moveTo>
                <a:cubicBezTo>
                  <a:pt x="54553" y="93241"/>
                  <a:pt x="67519" y="80274"/>
                  <a:pt x="67519" y="64304"/>
                </a:cubicBezTo>
                <a:cubicBezTo>
                  <a:pt x="67519" y="48333"/>
                  <a:pt x="54553" y="35367"/>
                  <a:pt x="38582" y="35367"/>
                </a:cubicBezTo>
                <a:cubicBezTo>
                  <a:pt x="22612" y="35367"/>
                  <a:pt x="9646" y="48333"/>
                  <a:pt x="9646" y="64304"/>
                </a:cubicBezTo>
                <a:cubicBezTo>
                  <a:pt x="9646" y="80274"/>
                  <a:pt x="22612" y="93241"/>
                  <a:pt x="38582" y="93241"/>
                </a:cubicBezTo>
                <a:close/>
                <a:moveTo>
                  <a:pt x="0" y="167190"/>
                </a:moveTo>
                <a:lnTo>
                  <a:pt x="0" y="180051"/>
                </a:lnTo>
                <a:cubicBezTo>
                  <a:pt x="0" y="187164"/>
                  <a:pt x="5747" y="192911"/>
                  <a:pt x="12861" y="192911"/>
                </a:cubicBezTo>
                <a:lnTo>
                  <a:pt x="47705" y="192911"/>
                </a:lnTo>
                <a:cubicBezTo>
                  <a:pt x="45977" y="188973"/>
                  <a:pt x="45013" y="184632"/>
                  <a:pt x="45013" y="180051"/>
                </a:cubicBezTo>
                <a:lnTo>
                  <a:pt x="45013" y="173620"/>
                </a:lnTo>
                <a:cubicBezTo>
                  <a:pt x="45013" y="152239"/>
                  <a:pt x="53051" y="132707"/>
                  <a:pt x="66273" y="117917"/>
                </a:cubicBezTo>
                <a:cubicBezTo>
                  <a:pt x="61571" y="116510"/>
                  <a:pt x="56587" y="115747"/>
                  <a:pt x="51443" y="115747"/>
                </a:cubicBezTo>
                <a:cubicBezTo>
                  <a:pt x="23029" y="115747"/>
                  <a:pt x="0" y="138776"/>
                  <a:pt x="0" y="167190"/>
                </a:cubicBezTo>
                <a:close/>
                <a:moveTo>
                  <a:pt x="247570" y="64304"/>
                </a:moveTo>
                <a:cubicBezTo>
                  <a:pt x="247570" y="48333"/>
                  <a:pt x="234604" y="35367"/>
                  <a:pt x="218633" y="35367"/>
                </a:cubicBezTo>
                <a:cubicBezTo>
                  <a:pt x="202662" y="35367"/>
                  <a:pt x="189696" y="48333"/>
                  <a:pt x="189696" y="64304"/>
                </a:cubicBezTo>
                <a:cubicBezTo>
                  <a:pt x="189696" y="80274"/>
                  <a:pt x="202662" y="93241"/>
                  <a:pt x="218633" y="93241"/>
                </a:cubicBezTo>
                <a:cubicBezTo>
                  <a:pt x="234604" y="93241"/>
                  <a:pt x="247570" y="80274"/>
                  <a:pt x="247570" y="64304"/>
                </a:cubicBezTo>
                <a:close/>
                <a:moveTo>
                  <a:pt x="64304" y="173620"/>
                </a:moveTo>
                <a:lnTo>
                  <a:pt x="64304" y="180051"/>
                </a:lnTo>
                <a:cubicBezTo>
                  <a:pt x="64304" y="187164"/>
                  <a:pt x="70051" y="192911"/>
                  <a:pt x="77165" y="192911"/>
                </a:cubicBezTo>
                <a:lnTo>
                  <a:pt x="140182" y="192911"/>
                </a:lnTo>
                <a:cubicBezTo>
                  <a:pt x="137329" y="184230"/>
                  <a:pt x="137650" y="175067"/>
                  <a:pt x="144483" y="167190"/>
                </a:cubicBezTo>
                <a:cubicBezTo>
                  <a:pt x="138856" y="160679"/>
                  <a:pt x="136244" y="151234"/>
                  <a:pt x="139901" y="141750"/>
                </a:cubicBezTo>
                <a:cubicBezTo>
                  <a:pt x="142553" y="134877"/>
                  <a:pt x="146291" y="128447"/>
                  <a:pt x="150913" y="122740"/>
                </a:cubicBezTo>
                <a:cubicBezTo>
                  <a:pt x="153083" y="120087"/>
                  <a:pt x="155575" y="118038"/>
                  <a:pt x="158268" y="116551"/>
                </a:cubicBezTo>
                <a:cubicBezTo>
                  <a:pt x="149386" y="111929"/>
                  <a:pt x="139298" y="109316"/>
                  <a:pt x="128608" y="109316"/>
                </a:cubicBezTo>
                <a:cubicBezTo>
                  <a:pt x="93080" y="109316"/>
                  <a:pt x="64304" y="138092"/>
                  <a:pt x="64304" y="173620"/>
                </a:cubicBezTo>
                <a:close/>
                <a:moveTo>
                  <a:pt x="251026" y="155897"/>
                </a:moveTo>
                <a:cubicBezTo>
                  <a:pt x="253558" y="154450"/>
                  <a:pt x="254844" y="151435"/>
                  <a:pt x="253759" y="148662"/>
                </a:cubicBezTo>
                <a:cubicBezTo>
                  <a:pt x="251830" y="143679"/>
                  <a:pt x="249137" y="138977"/>
                  <a:pt x="245761" y="134837"/>
                </a:cubicBezTo>
                <a:cubicBezTo>
                  <a:pt x="243912" y="132546"/>
                  <a:pt x="240657" y="132144"/>
                  <a:pt x="238125" y="133631"/>
                </a:cubicBezTo>
                <a:cubicBezTo>
                  <a:pt x="229364" y="138695"/>
                  <a:pt x="218593" y="132506"/>
                  <a:pt x="218593" y="122338"/>
                </a:cubicBezTo>
                <a:cubicBezTo>
                  <a:pt x="218593" y="119404"/>
                  <a:pt x="216623" y="116792"/>
                  <a:pt x="213730" y="116350"/>
                </a:cubicBezTo>
                <a:cubicBezTo>
                  <a:pt x="208545" y="115546"/>
                  <a:pt x="202959" y="115546"/>
                  <a:pt x="197774" y="116350"/>
                </a:cubicBezTo>
                <a:cubicBezTo>
                  <a:pt x="194881" y="116792"/>
                  <a:pt x="192911" y="119404"/>
                  <a:pt x="192911" y="122338"/>
                </a:cubicBezTo>
                <a:cubicBezTo>
                  <a:pt x="192911" y="132466"/>
                  <a:pt x="182141" y="138695"/>
                  <a:pt x="173379" y="133631"/>
                </a:cubicBezTo>
                <a:cubicBezTo>
                  <a:pt x="170847" y="132184"/>
                  <a:pt x="167592" y="132586"/>
                  <a:pt x="165743" y="134837"/>
                </a:cubicBezTo>
                <a:cubicBezTo>
                  <a:pt x="162367" y="138977"/>
                  <a:pt x="159674" y="143679"/>
                  <a:pt x="157745" y="148662"/>
                </a:cubicBezTo>
                <a:cubicBezTo>
                  <a:pt x="156700" y="151395"/>
                  <a:pt x="157946" y="154409"/>
                  <a:pt x="160478" y="155856"/>
                </a:cubicBezTo>
                <a:cubicBezTo>
                  <a:pt x="169280" y="160920"/>
                  <a:pt x="169280" y="173339"/>
                  <a:pt x="160478" y="178443"/>
                </a:cubicBezTo>
                <a:cubicBezTo>
                  <a:pt x="157946" y="179890"/>
                  <a:pt x="156660" y="182904"/>
                  <a:pt x="157745" y="185637"/>
                </a:cubicBezTo>
                <a:cubicBezTo>
                  <a:pt x="159674" y="190621"/>
                  <a:pt x="162367" y="195323"/>
                  <a:pt x="165743" y="199462"/>
                </a:cubicBezTo>
                <a:cubicBezTo>
                  <a:pt x="167592" y="201753"/>
                  <a:pt x="170847" y="202155"/>
                  <a:pt x="173379" y="200668"/>
                </a:cubicBezTo>
                <a:cubicBezTo>
                  <a:pt x="182141" y="195604"/>
                  <a:pt x="192911" y="201834"/>
                  <a:pt x="192911" y="211961"/>
                </a:cubicBezTo>
                <a:cubicBezTo>
                  <a:pt x="192911" y="214895"/>
                  <a:pt x="194881" y="217508"/>
                  <a:pt x="197774" y="217950"/>
                </a:cubicBezTo>
                <a:cubicBezTo>
                  <a:pt x="202959" y="218753"/>
                  <a:pt x="208545" y="218753"/>
                  <a:pt x="213730" y="217950"/>
                </a:cubicBezTo>
                <a:cubicBezTo>
                  <a:pt x="216623" y="217508"/>
                  <a:pt x="218593" y="214895"/>
                  <a:pt x="218593" y="211961"/>
                </a:cubicBezTo>
                <a:cubicBezTo>
                  <a:pt x="218593" y="201834"/>
                  <a:pt x="229364" y="195604"/>
                  <a:pt x="238125" y="200668"/>
                </a:cubicBezTo>
                <a:cubicBezTo>
                  <a:pt x="240657" y="202115"/>
                  <a:pt x="243912" y="201713"/>
                  <a:pt x="245761" y="199462"/>
                </a:cubicBezTo>
                <a:cubicBezTo>
                  <a:pt x="249137" y="195323"/>
                  <a:pt x="251830" y="190621"/>
                  <a:pt x="253759" y="185637"/>
                </a:cubicBezTo>
                <a:cubicBezTo>
                  <a:pt x="254804" y="182904"/>
                  <a:pt x="253558" y="179890"/>
                  <a:pt x="251026" y="178443"/>
                </a:cubicBezTo>
                <a:cubicBezTo>
                  <a:pt x="242224" y="173379"/>
                  <a:pt x="242224" y="160960"/>
                  <a:pt x="251026" y="155856"/>
                </a:cubicBezTo>
                <a:close/>
                <a:moveTo>
                  <a:pt x="189696" y="167190"/>
                </a:moveTo>
                <a:cubicBezTo>
                  <a:pt x="189696" y="158317"/>
                  <a:pt x="196900" y="151114"/>
                  <a:pt x="205772" y="151114"/>
                </a:cubicBezTo>
                <a:cubicBezTo>
                  <a:pt x="214645" y="151114"/>
                  <a:pt x="221848" y="158317"/>
                  <a:pt x="221848" y="167190"/>
                </a:cubicBezTo>
                <a:cubicBezTo>
                  <a:pt x="221848" y="176062"/>
                  <a:pt x="214645" y="183266"/>
                  <a:pt x="205772" y="183266"/>
                </a:cubicBezTo>
                <a:cubicBezTo>
                  <a:pt x="196900" y="183266"/>
                  <a:pt x="189696" y="176062"/>
                  <a:pt x="189696" y="16719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6825714" y="1328945"/>
            <a:ext cx="111459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1284" y="1757637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87243" y="1809080"/>
            <a:ext cx="18005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88533" y="1757637"/>
            <a:ext cx="23320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分析师团队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88533" y="1963409"/>
            <a:ext cx="23235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4个专业分析师并行工作,提高分析效率</a:t>
            </a:r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10倍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1284" y="2242059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77061" y="2293502"/>
            <a:ext cx="20577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88533" y="2242059"/>
            <a:ext cx="207486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研究员辩论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88533" y="2447831"/>
            <a:ext cx="206629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看涨/看跌观点交锋,减少决策偏差</a:t>
            </a:r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1284" y="2726481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75521" y="2777924"/>
            <a:ext cx="20577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88533" y="2726481"/>
            <a:ext cx="210916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风险管理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88533" y="2932253"/>
            <a:ext cx="210059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激进/保守/中性三重评估,降低投资风险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1284" y="3210903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375655" y="3262346"/>
            <a:ext cx="20577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88533" y="3210903"/>
            <a:ext cx="166332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88533" y="3416675"/>
            <a:ext cx="165475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多维度信息融合,提升决策质量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7241" y="3875376"/>
            <a:ext cx="5675882" cy="2786498"/>
          </a:xfrm>
          <a:custGeom>
            <a:avLst/>
            <a:gdLst/>
            <a:ahLst/>
            <a:cxnLst/>
            <a:rect l="l" t="t" r="r" b="b"/>
            <a:pathLst>
              <a:path w="5675882" h="2786498">
                <a:moveTo>
                  <a:pt x="102878" y="0"/>
                </a:moveTo>
                <a:lnTo>
                  <a:pt x="5573004" y="0"/>
                </a:lnTo>
                <a:cubicBezTo>
                  <a:pt x="5629822" y="0"/>
                  <a:pt x="5675882" y="46060"/>
                  <a:pt x="5675882" y="102878"/>
                </a:cubicBezTo>
                <a:lnTo>
                  <a:pt x="5675882" y="2683620"/>
                </a:lnTo>
                <a:cubicBezTo>
                  <a:pt x="5675882" y="2740438"/>
                  <a:pt x="5629822" y="2786498"/>
                  <a:pt x="5573004" y="2786498"/>
                </a:cubicBezTo>
                <a:lnTo>
                  <a:pt x="102878" y="2786498"/>
                </a:lnTo>
                <a:cubicBezTo>
                  <a:pt x="46060" y="2786498"/>
                  <a:pt x="0" y="2740438"/>
                  <a:pt x="0" y="2683620"/>
                </a:cubicBezTo>
                <a:lnTo>
                  <a:pt x="0" y="102878"/>
                </a:lnTo>
                <a:cubicBezTo>
                  <a:pt x="0" y="46098"/>
                  <a:pt x="46098" y="0"/>
                  <a:pt x="10287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8709" y="401684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91595" y="4119730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80380" y="19291"/>
                </a:moveTo>
                <a:lnTo>
                  <a:pt x="125392" y="19291"/>
                </a:lnTo>
                <a:cubicBezTo>
                  <a:pt x="127161" y="19291"/>
                  <a:pt x="128608" y="20738"/>
                  <a:pt x="128608" y="22506"/>
                </a:cubicBezTo>
                <a:lnTo>
                  <a:pt x="128608" y="38582"/>
                </a:lnTo>
                <a:lnTo>
                  <a:pt x="77165" y="38582"/>
                </a:lnTo>
                <a:lnTo>
                  <a:pt x="77165" y="22506"/>
                </a:lnTo>
                <a:cubicBezTo>
                  <a:pt x="77165" y="20738"/>
                  <a:pt x="78611" y="19291"/>
                  <a:pt x="80380" y="19291"/>
                </a:cubicBezTo>
                <a:close/>
                <a:moveTo>
                  <a:pt x="57873" y="22506"/>
                </a:moveTo>
                <a:lnTo>
                  <a:pt x="57873" y="38582"/>
                </a:lnTo>
                <a:lnTo>
                  <a:pt x="25722" y="38582"/>
                </a:lnTo>
                <a:cubicBezTo>
                  <a:pt x="11534" y="38582"/>
                  <a:pt x="0" y="50117"/>
                  <a:pt x="0" y="64304"/>
                </a:cubicBezTo>
                <a:lnTo>
                  <a:pt x="0" y="102886"/>
                </a:lnTo>
                <a:lnTo>
                  <a:pt x="205772" y="102886"/>
                </a:lnTo>
                <a:lnTo>
                  <a:pt x="205772" y="64304"/>
                </a:lnTo>
                <a:cubicBezTo>
                  <a:pt x="205772" y="50117"/>
                  <a:pt x="194238" y="38582"/>
                  <a:pt x="180051" y="38582"/>
                </a:cubicBezTo>
                <a:lnTo>
                  <a:pt x="147899" y="38582"/>
                </a:lnTo>
                <a:lnTo>
                  <a:pt x="147899" y="22506"/>
                </a:lnTo>
                <a:cubicBezTo>
                  <a:pt x="147899" y="10088"/>
                  <a:pt x="137811" y="0"/>
                  <a:pt x="125392" y="0"/>
                </a:cubicBezTo>
                <a:lnTo>
                  <a:pt x="80380" y="0"/>
                </a:lnTo>
                <a:cubicBezTo>
                  <a:pt x="67961" y="0"/>
                  <a:pt x="57873" y="10088"/>
                  <a:pt x="57873" y="22506"/>
                </a:cubicBezTo>
                <a:close/>
                <a:moveTo>
                  <a:pt x="205772" y="122177"/>
                </a:moveTo>
                <a:lnTo>
                  <a:pt x="128608" y="122177"/>
                </a:lnTo>
                <a:lnTo>
                  <a:pt x="128608" y="128608"/>
                </a:lnTo>
                <a:cubicBezTo>
                  <a:pt x="128608" y="135721"/>
                  <a:pt x="122860" y="141468"/>
                  <a:pt x="115747" y="141468"/>
                </a:cubicBezTo>
                <a:lnTo>
                  <a:pt x="90025" y="141468"/>
                </a:lnTo>
                <a:cubicBezTo>
                  <a:pt x="82912" y="141468"/>
                  <a:pt x="77165" y="135721"/>
                  <a:pt x="77165" y="128608"/>
                </a:cubicBezTo>
                <a:lnTo>
                  <a:pt x="77165" y="122177"/>
                </a:lnTo>
                <a:lnTo>
                  <a:pt x="0" y="122177"/>
                </a:lnTo>
                <a:lnTo>
                  <a:pt x="0" y="167190"/>
                </a:lnTo>
                <a:cubicBezTo>
                  <a:pt x="0" y="181377"/>
                  <a:pt x="11534" y="192911"/>
                  <a:pt x="25722" y="192911"/>
                </a:cubicBezTo>
                <a:lnTo>
                  <a:pt x="180051" y="192911"/>
                </a:lnTo>
                <a:cubicBezTo>
                  <a:pt x="194238" y="192911"/>
                  <a:pt x="205772" y="181377"/>
                  <a:pt x="205772" y="167190"/>
                </a:cubicBezTo>
                <a:lnTo>
                  <a:pt x="205772" y="122177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2" name="Text 50"/>
          <p:cNvSpPr/>
          <p:nvPr/>
        </p:nvSpPr>
        <p:spPr>
          <a:xfrm>
            <a:off x="1003139" y="4102582"/>
            <a:ext cx="94312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企业级功能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8709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79043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77868" y="1742"/>
                </a:moveTo>
                <a:cubicBezTo>
                  <a:pt x="82858" y="-569"/>
                  <a:pt x="88619" y="-569"/>
                  <a:pt x="93609" y="1742"/>
                </a:cubicBezTo>
                <a:lnTo>
                  <a:pt x="166821" y="35568"/>
                </a:lnTo>
                <a:cubicBezTo>
                  <a:pt x="169668" y="36874"/>
                  <a:pt x="171477" y="39721"/>
                  <a:pt x="171477" y="42869"/>
                </a:cubicBezTo>
                <a:cubicBezTo>
                  <a:pt x="171477" y="46017"/>
                  <a:pt x="169668" y="48864"/>
                  <a:pt x="166821" y="50170"/>
                </a:cubicBezTo>
                <a:lnTo>
                  <a:pt x="93609" y="83997"/>
                </a:lnTo>
                <a:cubicBezTo>
                  <a:pt x="88619" y="86308"/>
                  <a:pt x="82858" y="86308"/>
                  <a:pt x="77868" y="83997"/>
                </a:cubicBezTo>
                <a:lnTo>
                  <a:pt x="4655" y="50170"/>
                </a:lnTo>
                <a:cubicBezTo>
                  <a:pt x="1809" y="48831"/>
                  <a:pt x="0" y="45984"/>
                  <a:pt x="0" y="42869"/>
                </a:cubicBezTo>
                <a:cubicBezTo>
                  <a:pt x="0" y="39754"/>
                  <a:pt x="1809" y="36874"/>
                  <a:pt x="4655" y="35568"/>
                </a:cubicBezTo>
                <a:lnTo>
                  <a:pt x="77868" y="1742"/>
                </a:lnTo>
                <a:close/>
                <a:moveTo>
                  <a:pt x="16109" y="73146"/>
                </a:moveTo>
                <a:lnTo>
                  <a:pt x="71136" y="98566"/>
                </a:lnTo>
                <a:cubicBezTo>
                  <a:pt x="80413" y="102853"/>
                  <a:pt x="91097" y="102853"/>
                  <a:pt x="100374" y="98566"/>
                </a:cubicBezTo>
                <a:lnTo>
                  <a:pt x="155401" y="73146"/>
                </a:lnTo>
                <a:lnTo>
                  <a:pt x="166821" y="78437"/>
                </a:lnTo>
                <a:cubicBezTo>
                  <a:pt x="169668" y="79743"/>
                  <a:pt x="171477" y="82590"/>
                  <a:pt x="171477" y="85738"/>
                </a:cubicBezTo>
                <a:cubicBezTo>
                  <a:pt x="171477" y="88887"/>
                  <a:pt x="169668" y="91733"/>
                  <a:pt x="166821" y="93040"/>
                </a:cubicBezTo>
                <a:lnTo>
                  <a:pt x="93609" y="126866"/>
                </a:lnTo>
                <a:cubicBezTo>
                  <a:pt x="88619" y="129177"/>
                  <a:pt x="82858" y="129177"/>
                  <a:pt x="77868" y="126866"/>
                </a:cubicBezTo>
                <a:lnTo>
                  <a:pt x="4655" y="93040"/>
                </a:lnTo>
                <a:cubicBezTo>
                  <a:pt x="1809" y="91700"/>
                  <a:pt x="0" y="88853"/>
                  <a:pt x="0" y="85738"/>
                </a:cubicBezTo>
                <a:cubicBezTo>
                  <a:pt x="0" y="82624"/>
                  <a:pt x="1809" y="79743"/>
                  <a:pt x="4655" y="78437"/>
                </a:cubicBezTo>
                <a:lnTo>
                  <a:pt x="16076" y="73146"/>
                </a:lnTo>
                <a:close/>
                <a:moveTo>
                  <a:pt x="4655" y="121306"/>
                </a:moveTo>
                <a:lnTo>
                  <a:pt x="16076" y="116015"/>
                </a:lnTo>
                <a:lnTo>
                  <a:pt x="71103" y="141435"/>
                </a:lnTo>
                <a:cubicBezTo>
                  <a:pt x="80380" y="145722"/>
                  <a:pt x="91064" y="145722"/>
                  <a:pt x="100341" y="141435"/>
                </a:cubicBezTo>
                <a:lnTo>
                  <a:pt x="155367" y="116015"/>
                </a:lnTo>
                <a:lnTo>
                  <a:pt x="166788" y="121306"/>
                </a:lnTo>
                <a:cubicBezTo>
                  <a:pt x="169635" y="122613"/>
                  <a:pt x="171443" y="125459"/>
                  <a:pt x="171443" y="128608"/>
                </a:cubicBezTo>
                <a:cubicBezTo>
                  <a:pt x="171443" y="131756"/>
                  <a:pt x="169635" y="134603"/>
                  <a:pt x="166788" y="135909"/>
                </a:cubicBezTo>
                <a:lnTo>
                  <a:pt x="93575" y="169735"/>
                </a:lnTo>
                <a:cubicBezTo>
                  <a:pt x="88585" y="172046"/>
                  <a:pt x="82825" y="172046"/>
                  <a:pt x="77834" y="169735"/>
                </a:cubicBezTo>
                <a:lnTo>
                  <a:pt x="4655" y="135909"/>
                </a:lnTo>
                <a:cubicBezTo>
                  <a:pt x="1809" y="134569"/>
                  <a:pt x="0" y="131722"/>
                  <a:pt x="0" y="128608"/>
                </a:cubicBezTo>
                <a:cubicBezTo>
                  <a:pt x="0" y="125493"/>
                  <a:pt x="1809" y="122613"/>
                  <a:pt x="4655" y="12130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5" name="Text 53"/>
          <p:cNvSpPr/>
          <p:nvPr/>
        </p:nvSpPr>
        <p:spPr>
          <a:xfrm>
            <a:off x="527291" y="4809924"/>
            <a:ext cx="167189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批量分析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578" y="4981401"/>
            <a:ext cx="166332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多股票并发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309511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099845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10717" y="21435"/>
                </a:moveTo>
                <a:cubicBezTo>
                  <a:pt x="6397" y="21435"/>
                  <a:pt x="2478" y="24047"/>
                  <a:pt x="804" y="28066"/>
                </a:cubicBezTo>
                <a:cubicBezTo>
                  <a:pt x="-871" y="32085"/>
                  <a:pt x="67" y="36673"/>
                  <a:pt x="3148" y="39721"/>
                </a:cubicBezTo>
                <a:lnTo>
                  <a:pt x="64304" y="100910"/>
                </a:lnTo>
                <a:lnTo>
                  <a:pt x="64304" y="139325"/>
                </a:lnTo>
                <a:cubicBezTo>
                  <a:pt x="64304" y="142172"/>
                  <a:pt x="65443" y="144884"/>
                  <a:pt x="67452" y="146894"/>
                </a:cubicBezTo>
                <a:lnTo>
                  <a:pt x="88887" y="168329"/>
                </a:lnTo>
                <a:cubicBezTo>
                  <a:pt x="91968" y="171410"/>
                  <a:pt x="96556" y="172314"/>
                  <a:pt x="100575" y="170640"/>
                </a:cubicBezTo>
                <a:cubicBezTo>
                  <a:pt x="104594" y="168965"/>
                  <a:pt x="107173" y="165080"/>
                  <a:pt x="107173" y="160759"/>
                </a:cubicBezTo>
                <a:lnTo>
                  <a:pt x="107173" y="100910"/>
                </a:lnTo>
                <a:lnTo>
                  <a:pt x="168329" y="39754"/>
                </a:lnTo>
                <a:cubicBezTo>
                  <a:pt x="171410" y="36673"/>
                  <a:pt x="172314" y="32085"/>
                  <a:pt x="170640" y="28066"/>
                </a:cubicBezTo>
                <a:cubicBezTo>
                  <a:pt x="168965" y="24047"/>
                  <a:pt x="165080" y="21435"/>
                  <a:pt x="160759" y="21435"/>
                </a:cubicBezTo>
                <a:lnTo>
                  <a:pt x="10717" y="21435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9" name="Text 57"/>
          <p:cNvSpPr/>
          <p:nvPr/>
        </p:nvSpPr>
        <p:spPr>
          <a:xfrm>
            <a:off x="2348093" y="4809924"/>
            <a:ext cx="167189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股票筛选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2352380" y="4981401"/>
            <a:ext cx="166332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多维度指标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130313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920714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0715" y="29171"/>
                </a:moveTo>
                <a:lnTo>
                  <a:pt x="85738" y="36104"/>
                </a:lnTo>
                <a:lnTo>
                  <a:pt x="90762" y="29171"/>
                </a:lnTo>
                <a:cubicBezTo>
                  <a:pt x="99135" y="17583"/>
                  <a:pt x="112599" y="10717"/>
                  <a:pt x="126900" y="10717"/>
                </a:cubicBezTo>
                <a:cubicBezTo>
                  <a:pt x="151516" y="10717"/>
                  <a:pt x="171477" y="30678"/>
                  <a:pt x="171477" y="55295"/>
                </a:cubicBezTo>
                <a:lnTo>
                  <a:pt x="171477" y="56165"/>
                </a:lnTo>
                <a:cubicBezTo>
                  <a:pt x="171477" y="93743"/>
                  <a:pt x="124622" y="137382"/>
                  <a:pt x="100173" y="156037"/>
                </a:cubicBezTo>
                <a:cubicBezTo>
                  <a:pt x="96020" y="159185"/>
                  <a:pt x="90930" y="160759"/>
                  <a:pt x="85738" y="160759"/>
                </a:cubicBezTo>
                <a:cubicBezTo>
                  <a:pt x="80547" y="160759"/>
                  <a:pt x="75423" y="159219"/>
                  <a:pt x="71304" y="156037"/>
                </a:cubicBezTo>
                <a:cubicBezTo>
                  <a:pt x="46855" y="137382"/>
                  <a:pt x="0" y="93743"/>
                  <a:pt x="0" y="56165"/>
                </a:cubicBezTo>
                <a:lnTo>
                  <a:pt x="0" y="55295"/>
                </a:lnTo>
                <a:cubicBezTo>
                  <a:pt x="0" y="30678"/>
                  <a:pt x="19961" y="10717"/>
                  <a:pt x="44577" y="10717"/>
                </a:cubicBezTo>
                <a:cubicBezTo>
                  <a:pt x="58878" y="10717"/>
                  <a:pt x="72342" y="17583"/>
                  <a:pt x="80715" y="2917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3" name="Text 61"/>
          <p:cNvSpPr/>
          <p:nvPr/>
        </p:nvSpPr>
        <p:spPr>
          <a:xfrm>
            <a:off x="4168896" y="4809924"/>
            <a:ext cx="167189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自选股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173182" y="4981401"/>
            <a:ext cx="166332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分组管理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88709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257608" y="5628726"/>
            <a:ext cx="214346" cy="171477"/>
          </a:xfrm>
          <a:custGeom>
            <a:avLst/>
            <a:gdLst/>
            <a:ahLst/>
            <a:cxnLst/>
            <a:rect l="l" t="t" r="r" b="b"/>
            <a:pathLst>
              <a:path w="214346" h="171477">
                <a:moveTo>
                  <a:pt x="150042" y="21435"/>
                </a:moveTo>
                <a:cubicBezTo>
                  <a:pt x="185543" y="21435"/>
                  <a:pt x="214346" y="50237"/>
                  <a:pt x="214346" y="85738"/>
                </a:cubicBezTo>
                <a:cubicBezTo>
                  <a:pt x="214346" y="121239"/>
                  <a:pt x="185543" y="150042"/>
                  <a:pt x="150042" y="150042"/>
                </a:cubicBezTo>
                <a:lnTo>
                  <a:pt x="64304" y="150042"/>
                </a:lnTo>
                <a:cubicBezTo>
                  <a:pt x="28803" y="150042"/>
                  <a:pt x="0" y="121239"/>
                  <a:pt x="0" y="85738"/>
                </a:cubicBezTo>
                <a:cubicBezTo>
                  <a:pt x="0" y="50237"/>
                  <a:pt x="28803" y="21435"/>
                  <a:pt x="64304" y="21435"/>
                </a:cubicBezTo>
                <a:lnTo>
                  <a:pt x="150042" y="21435"/>
                </a:lnTo>
                <a:close/>
                <a:moveTo>
                  <a:pt x="64304" y="58945"/>
                </a:moveTo>
                <a:cubicBezTo>
                  <a:pt x="59849" y="58945"/>
                  <a:pt x="56266" y="62529"/>
                  <a:pt x="56266" y="66983"/>
                </a:cubicBezTo>
                <a:lnTo>
                  <a:pt x="56266" y="77700"/>
                </a:lnTo>
                <a:lnTo>
                  <a:pt x="45549" y="77700"/>
                </a:lnTo>
                <a:cubicBezTo>
                  <a:pt x="41094" y="77700"/>
                  <a:pt x="37511" y="81284"/>
                  <a:pt x="37511" y="85738"/>
                </a:cubicBezTo>
                <a:cubicBezTo>
                  <a:pt x="37511" y="90193"/>
                  <a:pt x="41094" y="93776"/>
                  <a:pt x="45549" y="93776"/>
                </a:cubicBezTo>
                <a:lnTo>
                  <a:pt x="56266" y="93776"/>
                </a:lnTo>
                <a:lnTo>
                  <a:pt x="56266" y="104494"/>
                </a:lnTo>
                <a:cubicBezTo>
                  <a:pt x="56266" y="108948"/>
                  <a:pt x="59849" y="112532"/>
                  <a:pt x="64304" y="112532"/>
                </a:cubicBezTo>
                <a:cubicBezTo>
                  <a:pt x="68758" y="112532"/>
                  <a:pt x="72342" y="108948"/>
                  <a:pt x="72342" y="104494"/>
                </a:cubicBezTo>
                <a:lnTo>
                  <a:pt x="72342" y="93776"/>
                </a:lnTo>
                <a:lnTo>
                  <a:pt x="83059" y="93776"/>
                </a:lnTo>
                <a:cubicBezTo>
                  <a:pt x="87513" y="93776"/>
                  <a:pt x="91097" y="90193"/>
                  <a:pt x="91097" y="85738"/>
                </a:cubicBezTo>
                <a:cubicBezTo>
                  <a:pt x="91097" y="81284"/>
                  <a:pt x="87513" y="77700"/>
                  <a:pt x="83059" y="77700"/>
                </a:cubicBezTo>
                <a:lnTo>
                  <a:pt x="72342" y="77700"/>
                </a:lnTo>
                <a:lnTo>
                  <a:pt x="72342" y="66983"/>
                </a:lnTo>
                <a:cubicBezTo>
                  <a:pt x="72342" y="62529"/>
                  <a:pt x="68758" y="58945"/>
                  <a:pt x="64304" y="58945"/>
                </a:cubicBezTo>
                <a:close/>
                <a:moveTo>
                  <a:pt x="144684" y="91097"/>
                </a:moveTo>
                <a:cubicBezTo>
                  <a:pt x="138769" y="91097"/>
                  <a:pt x="133966" y="95899"/>
                  <a:pt x="133966" y="101814"/>
                </a:cubicBezTo>
                <a:cubicBezTo>
                  <a:pt x="133966" y="107729"/>
                  <a:pt x="138769" y="112532"/>
                  <a:pt x="144684" y="112532"/>
                </a:cubicBezTo>
                <a:cubicBezTo>
                  <a:pt x="150599" y="112532"/>
                  <a:pt x="155401" y="107729"/>
                  <a:pt x="155401" y="101814"/>
                </a:cubicBezTo>
                <a:cubicBezTo>
                  <a:pt x="155401" y="95899"/>
                  <a:pt x="150599" y="91097"/>
                  <a:pt x="144684" y="91097"/>
                </a:cubicBezTo>
                <a:close/>
                <a:moveTo>
                  <a:pt x="166118" y="58945"/>
                </a:moveTo>
                <a:cubicBezTo>
                  <a:pt x="160203" y="58945"/>
                  <a:pt x="155401" y="63747"/>
                  <a:pt x="155401" y="69662"/>
                </a:cubicBezTo>
                <a:cubicBezTo>
                  <a:pt x="155401" y="75577"/>
                  <a:pt x="160203" y="80380"/>
                  <a:pt x="166118" y="80380"/>
                </a:cubicBezTo>
                <a:cubicBezTo>
                  <a:pt x="172033" y="80380"/>
                  <a:pt x="176835" y="75577"/>
                  <a:pt x="176835" y="69662"/>
                </a:cubicBezTo>
                <a:cubicBezTo>
                  <a:pt x="176835" y="63747"/>
                  <a:pt x="172033" y="58945"/>
                  <a:pt x="166118" y="5894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7" name="Text 65"/>
          <p:cNvSpPr/>
          <p:nvPr/>
        </p:nvSpPr>
        <p:spPr>
          <a:xfrm>
            <a:off x="527291" y="5838785"/>
            <a:ext cx="167189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模拟交易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31578" y="6010262"/>
            <a:ext cx="166332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虚拟环境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2309511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089128" y="5628726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32319" y="0"/>
                </a:moveTo>
                <a:cubicBezTo>
                  <a:pt x="20497" y="0"/>
                  <a:pt x="10885" y="9612"/>
                  <a:pt x="10885" y="21435"/>
                </a:cubicBezTo>
                <a:lnTo>
                  <a:pt x="10885" y="150042"/>
                </a:lnTo>
                <a:cubicBezTo>
                  <a:pt x="10885" y="161865"/>
                  <a:pt x="20497" y="171477"/>
                  <a:pt x="32319" y="171477"/>
                </a:cubicBezTo>
                <a:lnTo>
                  <a:pt x="118058" y="171477"/>
                </a:lnTo>
                <a:cubicBezTo>
                  <a:pt x="129880" y="171477"/>
                  <a:pt x="139492" y="161865"/>
                  <a:pt x="139492" y="150042"/>
                </a:cubicBezTo>
                <a:lnTo>
                  <a:pt x="139492" y="117890"/>
                </a:lnTo>
                <a:lnTo>
                  <a:pt x="165649" y="117890"/>
                </a:lnTo>
                <a:lnTo>
                  <a:pt x="155267" y="128273"/>
                </a:lnTo>
                <a:cubicBezTo>
                  <a:pt x="152119" y="131421"/>
                  <a:pt x="152119" y="136512"/>
                  <a:pt x="155267" y="139626"/>
                </a:cubicBezTo>
                <a:cubicBezTo>
                  <a:pt x="158415" y="142741"/>
                  <a:pt x="163506" y="142775"/>
                  <a:pt x="166621" y="139626"/>
                </a:cubicBezTo>
                <a:lnTo>
                  <a:pt x="190734" y="115512"/>
                </a:lnTo>
                <a:cubicBezTo>
                  <a:pt x="193883" y="112364"/>
                  <a:pt x="193883" y="107273"/>
                  <a:pt x="190734" y="104159"/>
                </a:cubicBezTo>
                <a:lnTo>
                  <a:pt x="166621" y="80045"/>
                </a:lnTo>
                <a:cubicBezTo>
                  <a:pt x="163472" y="76897"/>
                  <a:pt x="158382" y="76897"/>
                  <a:pt x="155267" y="80045"/>
                </a:cubicBezTo>
                <a:cubicBezTo>
                  <a:pt x="152152" y="83193"/>
                  <a:pt x="152119" y="88284"/>
                  <a:pt x="155267" y="91398"/>
                </a:cubicBezTo>
                <a:lnTo>
                  <a:pt x="165649" y="101781"/>
                </a:lnTo>
                <a:lnTo>
                  <a:pt x="139492" y="101781"/>
                </a:lnTo>
                <a:lnTo>
                  <a:pt x="139492" y="57070"/>
                </a:lnTo>
                <a:cubicBezTo>
                  <a:pt x="139492" y="51376"/>
                  <a:pt x="137248" y="45917"/>
                  <a:pt x="133229" y="41898"/>
                </a:cubicBezTo>
                <a:lnTo>
                  <a:pt x="97527" y="6263"/>
                </a:lnTo>
                <a:cubicBezTo>
                  <a:pt x="93508" y="2244"/>
                  <a:pt x="88083" y="0"/>
                  <a:pt x="82389" y="0"/>
                </a:cubicBezTo>
                <a:lnTo>
                  <a:pt x="32319" y="0"/>
                </a:lnTo>
                <a:close/>
                <a:moveTo>
                  <a:pt x="119900" y="58945"/>
                </a:moveTo>
                <a:lnTo>
                  <a:pt x="88585" y="58945"/>
                </a:lnTo>
                <a:cubicBezTo>
                  <a:pt x="84131" y="58945"/>
                  <a:pt x="80547" y="55362"/>
                  <a:pt x="80547" y="50907"/>
                </a:cubicBezTo>
                <a:lnTo>
                  <a:pt x="80547" y="19593"/>
                </a:lnTo>
                <a:lnTo>
                  <a:pt x="119900" y="58945"/>
                </a:lnTo>
                <a:close/>
                <a:moveTo>
                  <a:pt x="75189" y="109852"/>
                </a:moveTo>
                <a:cubicBezTo>
                  <a:pt x="75189" y="105398"/>
                  <a:pt x="78772" y="101814"/>
                  <a:pt x="83227" y="101814"/>
                </a:cubicBezTo>
                <a:lnTo>
                  <a:pt x="118058" y="101814"/>
                </a:lnTo>
                <a:lnTo>
                  <a:pt x="118058" y="117890"/>
                </a:lnTo>
                <a:lnTo>
                  <a:pt x="83227" y="117890"/>
                </a:lnTo>
                <a:cubicBezTo>
                  <a:pt x="78772" y="117890"/>
                  <a:pt x="75189" y="114307"/>
                  <a:pt x="75189" y="10985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1" name="Text 69"/>
          <p:cNvSpPr/>
          <p:nvPr/>
        </p:nvSpPr>
        <p:spPr>
          <a:xfrm>
            <a:off x="2348093" y="5838785"/>
            <a:ext cx="167189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报告导出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2352380" y="6010262"/>
            <a:ext cx="166332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多格式支持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130313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931431" y="5628726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75021" y="0"/>
                </a:moveTo>
                <a:cubicBezTo>
                  <a:pt x="69093" y="0"/>
                  <a:pt x="64304" y="4789"/>
                  <a:pt x="64304" y="10717"/>
                </a:cubicBezTo>
                <a:lnTo>
                  <a:pt x="64304" y="11789"/>
                </a:lnTo>
                <a:cubicBezTo>
                  <a:pt x="39855" y="16746"/>
                  <a:pt x="21435" y="38381"/>
                  <a:pt x="21435" y="64304"/>
                </a:cubicBezTo>
                <a:lnTo>
                  <a:pt x="21435" y="71571"/>
                </a:lnTo>
                <a:cubicBezTo>
                  <a:pt x="21435" y="87681"/>
                  <a:pt x="15942" y="103321"/>
                  <a:pt x="5895" y="115914"/>
                </a:cubicBezTo>
                <a:lnTo>
                  <a:pt x="2612" y="120000"/>
                </a:lnTo>
                <a:cubicBezTo>
                  <a:pt x="904" y="122110"/>
                  <a:pt x="0" y="124723"/>
                  <a:pt x="0" y="127435"/>
                </a:cubicBezTo>
                <a:cubicBezTo>
                  <a:pt x="0" y="134000"/>
                  <a:pt x="5325" y="139325"/>
                  <a:pt x="11890" y="139325"/>
                </a:cubicBezTo>
                <a:lnTo>
                  <a:pt x="138119" y="139325"/>
                </a:lnTo>
                <a:cubicBezTo>
                  <a:pt x="144684" y="139325"/>
                  <a:pt x="150009" y="134000"/>
                  <a:pt x="150009" y="127435"/>
                </a:cubicBezTo>
                <a:cubicBezTo>
                  <a:pt x="150009" y="124723"/>
                  <a:pt x="149104" y="122110"/>
                  <a:pt x="147396" y="120000"/>
                </a:cubicBezTo>
                <a:lnTo>
                  <a:pt x="144114" y="115914"/>
                </a:lnTo>
                <a:cubicBezTo>
                  <a:pt x="134100" y="103321"/>
                  <a:pt x="128608" y="87681"/>
                  <a:pt x="128608" y="71571"/>
                </a:cubicBezTo>
                <a:lnTo>
                  <a:pt x="128608" y="64304"/>
                </a:lnTo>
                <a:cubicBezTo>
                  <a:pt x="128608" y="38381"/>
                  <a:pt x="110187" y="16746"/>
                  <a:pt x="85738" y="11789"/>
                </a:cubicBezTo>
                <a:lnTo>
                  <a:pt x="85738" y="10717"/>
                </a:lnTo>
                <a:cubicBezTo>
                  <a:pt x="85738" y="4789"/>
                  <a:pt x="80949" y="0"/>
                  <a:pt x="75021" y="0"/>
                </a:cubicBezTo>
                <a:close/>
                <a:moveTo>
                  <a:pt x="54256" y="155401"/>
                </a:moveTo>
                <a:cubicBezTo>
                  <a:pt x="56634" y="164645"/>
                  <a:pt x="65041" y="171477"/>
                  <a:pt x="75021" y="171477"/>
                </a:cubicBezTo>
                <a:cubicBezTo>
                  <a:pt x="85002" y="171477"/>
                  <a:pt x="93408" y="164645"/>
                  <a:pt x="95786" y="155401"/>
                </a:cubicBezTo>
                <a:lnTo>
                  <a:pt x="54256" y="155401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5" name="Text 73"/>
          <p:cNvSpPr/>
          <p:nvPr/>
        </p:nvSpPr>
        <p:spPr>
          <a:xfrm>
            <a:off x="4168896" y="5838785"/>
            <a:ext cx="167189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173182" y="6010262"/>
            <a:ext cx="1663325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推送通知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69815" y="3875376"/>
            <a:ext cx="5675882" cy="2786498"/>
          </a:xfrm>
          <a:custGeom>
            <a:avLst/>
            <a:gdLst/>
            <a:ahLst/>
            <a:cxnLst/>
            <a:rect l="l" t="t" r="r" b="b"/>
            <a:pathLst>
              <a:path w="5675882" h="2786498">
                <a:moveTo>
                  <a:pt x="102878" y="0"/>
                </a:moveTo>
                <a:lnTo>
                  <a:pt x="5573004" y="0"/>
                </a:lnTo>
                <a:cubicBezTo>
                  <a:pt x="5629822" y="0"/>
                  <a:pt x="5675882" y="46060"/>
                  <a:pt x="5675882" y="102878"/>
                </a:cubicBezTo>
                <a:lnTo>
                  <a:pt x="5675882" y="2683620"/>
                </a:lnTo>
                <a:cubicBezTo>
                  <a:pt x="5675882" y="2740438"/>
                  <a:pt x="5629822" y="2786498"/>
                  <a:pt x="5573004" y="2786498"/>
                </a:cubicBezTo>
                <a:lnTo>
                  <a:pt x="102878" y="2786498"/>
                </a:lnTo>
                <a:cubicBezTo>
                  <a:pt x="46060" y="2786498"/>
                  <a:pt x="0" y="2740438"/>
                  <a:pt x="0" y="2683620"/>
                </a:cubicBezTo>
                <a:lnTo>
                  <a:pt x="0" y="102878"/>
                </a:lnTo>
                <a:cubicBezTo>
                  <a:pt x="0" y="46098"/>
                  <a:pt x="46098" y="0"/>
                  <a:pt x="10287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11284" y="401684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427031" y="4119730"/>
            <a:ext cx="180051" cy="205772"/>
          </a:xfrm>
          <a:custGeom>
            <a:avLst/>
            <a:gdLst/>
            <a:ahLst/>
            <a:cxnLst/>
            <a:rect l="l" t="t" r="r" b="b"/>
            <a:pathLst>
              <a:path w="180051" h="205772">
                <a:moveTo>
                  <a:pt x="51443" y="-12861"/>
                </a:moveTo>
                <a:cubicBezTo>
                  <a:pt x="58557" y="-12861"/>
                  <a:pt x="64304" y="-7114"/>
                  <a:pt x="64304" y="0"/>
                </a:cubicBezTo>
                <a:lnTo>
                  <a:pt x="64304" y="38582"/>
                </a:lnTo>
                <a:lnTo>
                  <a:pt x="115747" y="38582"/>
                </a:lnTo>
                <a:lnTo>
                  <a:pt x="115747" y="0"/>
                </a:lnTo>
                <a:cubicBezTo>
                  <a:pt x="115747" y="-7114"/>
                  <a:pt x="121494" y="-12861"/>
                  <a:pt x="128608" y="-12861"/>
                </a:cubicBezTo>
                <a:cubicBezTo>
                  <a:pt x="135721" y="-12861"/>
                  <a:pt x="141468" y="-7114"/>
                  <a:pt x="141468" y="0"/>
                </a:cubicBezTo>
                <a:lnTo>
                  <a:pt x="141468" y="38582"/>
                </a:lnTo>
                <a:lnTo>
                  <a:pt x="167190" y="38582"/>
                </a:lnTo>
                <a:cubicBezTo>
                  <a:pt x="174303" y="38582"/>
                  <a:pt x="180051" y="44329"/>
                  <a:pt x="180051" y="51443"/>
                </a:cubicBezTo>
                <a:cubicBezTo>
                  <a:pt x="180051" y="58557"/>
                  <a:pt x="174303" y="64304"/>
                  <a:pt x="167190" y="64304"/>
                </a:cubicBezTo>
                <a:lnTo>
                  <a:pt x="167190" y="90025"/>
                </a:lnTo>
                <a:cubicBezTo>
                  <a:pt x="167190" y="128246"/>
                  <a:pt x="139378" y="159996"/>
                  <a:pt x="102886" y="166105"/>
                </a:cubicBezTo>
                <a:lnTo>
                  <a:pt x="102886" y="192911"/>
                </a:lnTo>
                <a:cubicBezTo>
                  <a:pt x="102886" y="200025"/>
                  <a:pt x="97139" y="205772"/>
                  <a:pt x="90025" y="205772"/>
                </a:cubicBezTo>
                <a:cubicBezTo>
                  <a:pt x="82912" y="205772"/>
                  <a:pt x="77165" y="200025"/>
                  <a:pt x="77165" y="192911"/>
                </a:cubicBezTo>
                <a:lnTo>
                  <a:pt x="77165" y="166105"/>
                </a:lnTo>
                <a:cubicBezTo>
                  <a:pt x="40672" y="159996"/>
                  <a:pt x="12861" y="128246"/>
                  <a:pt x="12861" y="90025"/>
                </a:cubicBezTo>
                <a:lnTo>
                  <a:pt x="12861" y="64304"/>
                </a:lnTo>
                <a:cubicBezTo>
                  <a:pt x="5747" y="64304"/>
                  <a:pt x="0" y="58557"/>
                  <a:pt x="0" y="51443"/>
                </a:cubicBezTo>
                <a:cubicBezTo>
                  <a:pt x="0" y="44329"/>
                  <a:pt x="5747" y="38582"/>
                  <a:pt x="12861" y="38582"/>
                </a:cubicBezTo>
                <a:lnTo>
                  <a:pt x="38582" y="38582"/>
                </a:lnTo>
                <a:lnTo>
                  <a:pt x="38582" y="0"/>
                </a:lnTo>
                <a:cubicBezTo>
                  <a:pt x="38582" y="-7114"/>
                  <a:pt x="44329" y="-12861"/>
                  <a:pt x="51443" y="-1286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0" name="Text 78"/>
          <p:cNvSpPr/>
          <p:nvPr/>
        </p:nvSpPr>
        <p:spPr>
          <a:xfrm>
            <a:off x="6825714" y="4102582"/>
            <a:ext cx="77164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开放生态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1284" y="4531274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422744" y="4668456"/>
            <a:ext cx="154329" cy="137181"/>
          </a:xfrm>
          <a:custGeom>
            <a:avLst/>
            <a:gdLst/>
            <a:ahLst/>
            <a:cxnLst/>
            <a:rect l="l" t="t" r="r" b="b"/>
            <a:pathLst>
              <a:path w="154329" h="137181">
                <a:moveTo>
                  <a:pt x="96670" y="322"/>
                </a:moveTo>
                <a:cubicBezTo>
                  <a:pt x="92115" y="-991"/>
                  <a:pt x="87373" y="1661"/>
                  <a:pt x="86060" y="6216"/>
                </a:cubicBezTo>
                <a:lnTo>
                  <a:pt x="51765" y="126250"/>
                </a:lnTo>
                <a:cubicBezTo>
                  <a:pt x="50452" y="130805"/>
                  <a:pt x="53104" y="135547"/>
                  <a:pt x="57659" y="136860"/>
                </a:cubicBezTo>
                <a:cubicBezTo>
                  <a:pt x="62214" y="138173"/>
                  <a:pt x="66956" y="135520"/>
                  <a:pt x="68269" y="130965"/>
                </a:cubicBezTo>
                <a:lnTo>
                  <a:pt x="102565" y="10932"/>
                </a:lnTo>
                <a:cubicBezTo>
                  <a:pt x="103877" y="6377"/>
                  <a:pt x="101225" y="1634"/>
                  <a:pt x="96670" y="322"/>
                </a:cubicBezTo>
                <a:close/>
                <a:moveTo>
                  <a:pt x="113978" y="36787"/>
                </a:moveTo>
                <a:cubicBezTo>
                  <a:pt x="110629" y="40136"/>
                  <a:pt x="110629" y="45575"/>
                  <a:pt x="113978" y="48924"/>
                </a:cubicBezTo>
                <a:lnTo>
                  <a:pt x="133645" y="68591"/>
                </a:lnTo>
                <a:lnTo>
                  <a:pt x="113978" y="88257"/>
                </a:lnTo>
                <a:cubicBezTo>
                  <a:pt x="110629" y="91606"/>
                  <a:pt x="110629" y="97045"/>
                  <a:pt x="113978" y="100394"/>
                </a:cubicBezTo>
                <a:cubicBezTo>
                  <a:pt x="117328" y="103743"/>
                  <a:pt x="122767" y="103743"/>
                  <a:pt x="126116" y="100394"/>
                </a:cubicBezTo>
                <a:lnTo>
                  <a:pt x="151837" y="74673"/>
                </a:lnTo>
                <a:cubicBezTo>
                  <a:pt x="155186" y="71324"/>
                  <a:pt x="155186" y="65885"/>
                  <a:pt x="151837" y="62535"/>
                </a:cubicBezTo>
                <a:lnTo>
                  <a:pt x="126116" y="36814"/>
                </a:lnTo>
                <a:cubicBezTo>
                  <a:pt x="122767" y="33465"/>
                  <a:pt x="117328" y="33465"/>
                  <a:pt x="113978" y="36814"/>
                </a:cubicBezTo>
                <a:close/>
                <a:moveTo>
                  <a:pt x="40377" y="36787"/>
                </a:moveTo>
                <a:cubicBezTo>
                  <a:pt x="37028" y="33438"/>
                  <a:pt x="31589" y="33438"/>
                  <a:pt x="28240" y="36787"/>
                </a:cubicBezTo>
                <a:lnTo>
                  <a:pt x="2519" y="62509"/>
                </a:lnTo>
                <a:cubicBezTo>
                  <a:pt x="-831" y="65858"/>
                  <a:pt x="-831" y="71297"/>
                  <a:pt x="2519" y="74646"/>
                </a:cubicBezTo>
                <a:lnTo>
                  <a:pt x="28240" y="100368"/>
                </a:lnTo>
                <a:cubicBezTo>
                  <a:pt x="31589" y="103717"/>
                  <a:pt x="37028" y="103717"/>
                  <a:pt x="40377" y="100368"/>
                </a:cubicBezTo>
                <a:cubicBezTo>
                  <a:pt x="43727" y="97018"/>
                  <a:pt x="43727" y="91579"/>
                  <a:pt x="40377" y="88230"/>
                </a:cubicBezTo>
                <a:lnTo>
                  <a:pt x="20711" y="68591"/>
                </a:lnTo>
                <a:lnTo>
                  <a:pt x="40351" y="48924"/>
                </a:lnTo>
                <a:cubicBezTo>
                  <a:pt x="43700" y="45575"/>
                  <a:pt x="43700" y="40136"/>
                  <a:pt x="40351" y="3678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3" name="Text 81"/>
          <p:cNvSpPr/>
          <p:nvPr/>
        </p:nvSpPr>
        <p:spPr>
          <a:xfrm>
            <a:off x="6654237" y="4634160"/>
            <a:ext cx="54872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API开放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414170" y="4874228"/>
            <a:ext cx="524719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RESTful API,支持第三方集成和定制开发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11284" y="5217181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414170" y="5354363"/>
            <a:ext cx="171477" cy="137181"/>
          </a:xfrm>
          <a:custGeom>
            <a:avLst/>
            <a:gdLst/>
            <a:ahLst/>
            <a:cxnLst/>
            <a:rect l="l" t="t" r="r" b="b"/>
            <a:pathLst>
              <a:path w="171477" h="137181">
                <a:moveTo>
                  <a:pt x="94312" y="0"/>
                </a:moveTo>
                <a:cubicBezTo>
                  <a:pt x="94312" y="-4742"/>
                  <a:pt x="90481" y="-8574"/>
                  <a:pt x="85738" y="-8574"/>
                </a:cubicBezTo>
                <a:cubicBezTo>
                  <a:pt x="80996" y="-8574"/>
                  <a:pt x="77165" y="-4742"/>
                  <a:pt x="77165" y="0"/>
                </a:cubicBezTo>
                <a:lnTo>
                  <a:pt x="77165" y="17148"/>
                </a:lnTo>
                <a:lnTo>
                  <a:pt x="51443" y="17148"/>
                </a:lnTo>
                <a:cubicBezTo>
                  <a:pt x="37243" y="17148"/>
                  <a:pt x="25722" y="28669"/>
                  <a:pt x="25722" y="42869"/>
                </a:cubicBezTo>
                <a:lnTo>
                  <a:pt x="25722" y="102886"/>
                </a:lnTo>
                <a:cubicBezTo>
                  <a:pt x="25722" y="117086"/>
                  <a:pt x="37243" y="128608"/>
                  <a:pt x="51443" y="128608"/>
                </a:cubicBezTo>
                <a:lnTo>
                  <a:pt x="120034" y="128608"/>
                </a:lnTo>
                <a:cubicBezTo>
                  <a:pt x="134234" y="128608"/>
                  <a:pt x="145755" y="117086"/>
                  <a:pt x="145755" y="102886"/>
                </a:cubicBezTo>
                <a:lnTo>
                  <a:pt x="145755" y="42869"/>
                </a:lnTo>
                <a:cubicBezTo>
                  <a:pt x="145755" y="28669"/>
                  <a:pt x="134234" y="17148"/>
                  <a:pt x="120034" y="17148"/>
                </a:cubicBezTo>
                <a:lnTo>
                  <a:pt x="94312" y="17148"/>
                </a:lnTo>
                <a:lnTo>
                  <a:pt x="94312" y="0"/>
                </a:lnTo>
                <a:close/>
                <a:moveTo>
                  <a:pt x="42869" y="98599"/>
                </a:moveTo>
                <a:cubicBezTo>
                  <a:pt x="42869" y="95036"/>
                  <a:pt x="45736" y="92169"/>
                  <a:pt x="49300" y="92169"/>
                </a:cubicBezTo>
                <a:lnTo>
                  <a:pt x="57873" y="92169"/>
                </a:lnTo>
                <a:cubicBezTo>
                  <a:pt x="61437" y="92169"/>
                  <a:pt x="64304" y="95036"/>
                  <a:pt x="64304" y="98599"/>
                </a:cubicBezTo>
                <a:cubicBezTo>
                  <a:pt x="64304" y="102163"/>
                  <a:pt x="61437" y="105030"/>
                  <a:pt x="57873" y="105030"/>
                </a:cubicBezTo>
                <a:lnTo>
                  <a:pt x="49300" y="105030"/>
                </a:lnTo>
                <a:cubicBezTo>
                  <a:pt x="45736" y="105030"/>
                  <a:pt x="42869" y="102163"/>
                  <a:pt x="42869" y="98599"/>
                </a:cubicBezTo>
                <a:close/>
                <a:moveTo>
                  <a:pt x="75021" y="98599"/>
                </a:moveTo>
                <a:cubicBezTo>
                  <a:pt x="75021" y="95036"/>
                  <a:pt x="77888" y="92169"/>
                  <a:pt x="81451" y="92169"/>
                </a:cubicBezTo>
                <a:lnTo>
                  <a:pt x="90025" y="92169"/>
                </a:lnTo>
                <a:cubicBezTo>
                  <a:pt x="93589" y="92169"/>
                  <a:pt x="96456" y="95036"/>
                  <a:pt x="96456" y="98599"/>
                </a:cubicBezTo>
                <a:cubicBezTo>
                  <a:pt x="96456" y="102163"/>
                  <a:pt x="93589" y="105030"/>
                  <a:pt x="90025" y="105030"/>
                </a:cubicBezTo>
                <a:lnTo>
                  <a:pt x="81451" y="105030"/>
                </a:lnTo>
                <a:cubicBezTo>
                  <a:pt x="77888" y="105030"/>
                  <a:pt x="75021" y="102163"/>
                  <a:pt x="75021" y="98599"/>
                </a:cubicBezTo>
                <a:close/>
                <a:moveTo>
                  <a:pt x="107173" y="98599"/>
                </a:moveTo>
                <a:cubicBezTo>
                  <a:pt x="107173" y="95036"/>
                  <a:pt x="110040" y="92169"/>
                  <a:pt x="113603" y="92169"/>
                </a:cubicBezTo>
                <a:lnTo>
                  <a:pt x="122177" y="92169"/>
                </a:lnTo>
                <a:cubicBezTo>
                  <a:pt x="125741" y="92169"/>
                  <a:pt x="128608" y="95036"/>
                  <a:pt x="128608" y="98599"/>
                </a:cubicBezTo>
                <a:cubicBezTo>
                  <a:pt x="128608" y="102163"/>
                  <a:pt x="125741" y="105030"/>
                  <a:pt x="122177" y="105030"/>
                </a:cubicBezTo>
                <a:lnTo>
                  <a:pt x="113603" y="105030"/>
                </a:lnTo>
                <a:cubicBezTo>
                  <a:pt x="110040" y="105030"/>
                  <a:pt x="107173" y="102163"/>
                  <a:pt x="107173" y="98599"/>
                </a:cubicBezTo>
                <a:close/>
                <a:moveTo>
                  <a:pt x="60017" y="47156"/>
                </a:moveTo>
                <a:cubicBezTo>
                  <a:pt x="67115" y="47156"/>
                  <a:pt x="72878" y="52919"/>
                  <a:pt x="72878" y="60017"/>
                </a:cubicBezTo>
                <a:cubicBezTo>
                  <a:pt x="72878" y="67115"/>
                  <a:pt x="67115" y="72878"/>
                  <a:pt x="60017" y="72878"/>
                </a:cubicBezTo>
                <a:cubicBezTo>
                  <a:pt x="52919" y="72878"/>
                  <a:pt x="47156" y="67115"/>
                  <a:pt x="47156" y="60017"/>
                </a:cubicBezTo>
                <a:cubicBezTo>
                  <a:pt x="47156" y="52919"/>
                  <a:pt x="52919" y="47156"/>
                  <a:pt x="60017" y="47156"/>
                </a:cubicBezTo>
                <a:close/>
                <a:moveTo>
                  <a:pt x="98599" y="60017"/>
                </a:moveTo>
                <a:cubicBezTo>
                  <a:pt x="98599" y="52919"/>
                  <a:pt x="104362" y="47156"/>
                  <a:pt x="111460" y="47156"/>
                </a:cubicBezTo>
                <a:cubicBezTo>
                  <a:pt x="118558" y="47156"/>
                  <a:pt x="124321" y="52919"/>
                  <a:pt x="124321" y="60017"/>
                </a:cubicBezTo>
                <a:cubicBezTo>
                  <a:pt x="124321" y="67115"/>
                  <a:pt x="118558" y="72878"/>
                  <a:pt x="111460" y="72878"/>
                </a:cubicBezTo>
                <a:cubicBezTo>
                  <a:pt x="104362" y="72878"/>
                  <a:pt x="98599" y="67115"/>
                  <a:pt x="98599" y="60017"/>
                </a:cubicBezTo>
                <a:close/>
                <a:moveTo>
                  <a:pt x="17148" y="60017"/>
                </a:moveTo>
                <a:cubicBezTo>
                  <a:pt x="17148" y="55274"/>
                  <a:pt x="13316" y="51443"/>
                  <a:pt x="8574" y="51443"/>
                </a:cubicBezTo>
                <a:cubicBezTo>
                  <a:pt x="3831" y="51443"/>
                  <a:pt x="0" y="55274"/>
                  <a:pt x="0" y="60017"/>
                </a:cubicBezTo>
                <a:lnTo>
                  <a:pt x="0" y="85738"/>
                </a:lnTo>
                <a:cubicBezTo>
                  <a:pt x="0" y="90481"/>
                  <a:pt x="3831" y="94312"/>
                  <a:pt x="8574" y="94312"/>
                </a:cubicBezTo>
                <a:cubicBezTo>
                  <a:pt x="13316" y="94312"/>
                  <a:pt x="17148" y="90481"/>
                  <a:pt x="17148" y="85738"/>
                </a:cubicBezTo>
                <a:lnTo>
                  <a:pt x="17148" y="60017"/>
                </a:lnTo>
                <a:close/>
                <a:moveTo>
                  <a:pt x="162903" y="51443"/>
                </a:moveTo>
                <a:cubicBezTo>
                  <a:pt x="158161" y="51443"/>
                  <a:pt x="154329" y="55274"/>
                  <a:pt x="154329" y="60017"/>
                </a:cubicBezTo>
                <a:lnTo>
                  <a:pt x="154329" y="85738"/>
                </a:lnTo>
                <a:cubicBezTo>
                  <a:pt x="154329" y="90481"/>
                  <a:pt x="158161" y="94312"/>
                  <a:pt x="162903" y="94312"/>
                </a:cubicBezTo>
                <a:cubicBezTo>
                  <a:pt x="167645" y="94312"/>
                  <a:pt x="171477" y="90481"/>
                  <a:pt x="171477" y="85738"/>
                </a:cubicBezTo>
                <a:lnTo>
                  <a:pt x="171477" y="60017"/>
                </a:lnTo>
                <a:cubicBezTo>
                  <a:pt x="171477" y="55274"/>
                  <a:pt x="167645" y="51443"/>
                  <a:pt x="162903" y="5144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7" name="Text 85"/>
          <p:cNvSpPr/>
          <p:nvPr/>
        </p:nvSpPr>
        <p:spPr>
          <a:xfrm>
            <a:off x="6654237" y="5320068"/>
            <a:ext cx="75449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多LLM支持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414170" y="5560135"/>
            <a:ext cx="524719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OpenAI、Google AI、阿里百炼、DeepSeek等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311284" y="5903089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6439891" y="6040270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20034" y="55141"/>
                </a:moveTo>
                <a:cubicBezTo>
                  <a:pt x="116068" y="57766"/>
                  <a:pt x="111514" y="59883"/>
                  <a:pt x="106771" y="61571"/>
                </a:cubicBezTo>
                <a:cubicBezTo>
                  <a:pt x="94178" y="66072"/>
                  <a:pt x="77647" y="68591"/>
                  <a:pt x="60017" y="68591"/>
                </a:cubicBezTo>
                <a:cubicBezTo>
                  <a:pt x="42387" y="68591"/>
                  <a:pt x="25829" y="66045"/>
                  <a:pt x="13263" y="61571"/>
                </a:cubicBezTo>
                <a:cubicBezTo>
                  <a:pt x="8547" y="59883"/>
                  <a:pt x="3965" y="57766"/>
                  <a:pt x="0" y="55141"/>
                </a:cubicBezTo>
                <a:lnTo>
                  <a:pt x="0" y="77165"/>
                </a:lnTo>
                <a:cubicBezTo>
                  <a:pt x="0" y="89007"/>
                  <a:pt x="26874" y="98599"/>
                  <a:pt x="60017" y="98599"/>
                </a:cubicBezTo>
                <a:cubicBezTo>
                  <a:pt x="93160" y="98599"/>
                  <a:pt x="120034" y="89007"/>
                  <a:pt x="120034" y="77165"/>
                </a:cubicBezTo>
                <a:lnTo>
                  <a:pt x="120034" y="55141"/>
                </a:lnTo>
                <a:close/>
                <a:moveTo>
                  <a:pt x="120034" y="34295"/>
                </a:moveTo>
                <a:lnTo>
                  <a:pt x="120034" y="21435"/>
                </a:lnTo>
                <a:cubicBezTo>
                  <a:pt x="120034" y="9592"/>
                  <a:pt x="93160" y="0"/>
                  <a:pt x="60017" y="0"/>
                </a:cubicBezTo>
                <a:cubicBezTo>
                  <a:pt x="26874" y="0"/>
                  <a:pt x="0" y="9592"/>
                  <a:pt x="0" y="21435"/>
                </a:cubicBezTo>
                <a:lnTo>
                  <a:pt x="0" y="34295"/>
                </a:lnTo>
                <a:cubicBezTo>
                  <a:pt x="0" y="46138"/>
                  <a:pt x="26874" y="55730"/>
                  <a:pt x="60017" y="55730"/>
                </a:cubicBezTo>
                <a:cubicBezTo>
                  <a:pt x="93160" y="55730"/>
                  <a:pt x="120034" y="46138"/>
                  <a:pt x="120034" y="34295"/>
                </a:cubicBezTo>
                <a:close/>
                <a:moveTo>
                  <a:pt x="106771" y="104440"/>
                </a:moveTo>
                <a:cubicBezTo>
                  <a:pt x="94205" y="108915"/>
                  <a:pt x="77674" y="111460"/>
                  <a:pt x="60017" y="111460"/>
                </a:cubicBezTo>
                <a:cubicBezTo>
                  <a:pt x="42360" y="111460"/>
                  <a:pt x="25829" y="108915"/>
                  <a:pt x="13263" y="104440"/>
                </a:cubicBezTo>
                <a:cubicBezTo>
                  <a:pt x="8547" y="102752"/>
                  <a:pt x="3965" y="100635"/>
                  <a:pt x="0" y="98010"/>
                </a:cubicBezTo>
                <a:lnTo>
                  <a:pt x="0" y="115747"/>
                </a:lnTo>
                <a:cubicBezTo>
                  <a:pt x="0" y="127589"/>
                  <a:pt x="26874" y="137181"/>
                  <a:pt x="60017" y="137181"/>
                </a:cubicBezTo>
                <a:cubicBezTo>
                  <a:pt x="93160" y="137181"/>
                  <a:pt x="120034" y="127589"/>
                  <a:pt x="120034" y="115747"/>
                </a:cubicBezTo>
                <a:lnTo>
                  <a:pt x="120034" y="98010"/>
                </a:lnTo>
                <a:cubicBezTo>
                  <a:pt x="116068" y="100635"/>
                  <a:pt x="111514" y="102752"/>
                  <a:pt x="106771" y="10444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1" name="Text 89"/>
          <p:cNvSpPr/>
          <p:nvPr/>
        </p:nvSpPr>
        <p:spPr>
          <a:xfrm>
            <a:off x="6654237" y="6005975"/>
            <a:ext cx="6173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多数据源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414170" y="6246042"/>
            <a:ext cx="524719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Tushare、AKShare、BaoStock、FinnHub等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2428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Multi-Agent Collaboration Mechanism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19969"/>
            <a:ext cx="6961188" cy="6310313"/>
          </a:xfrm>
          <a:custGeom>
            <a:avLst/>
            <a:gdLst/>
            <a:ahLst/>
            <a:cxnLst/>
            <a:rect l="l" t="t" r="r" b="b"/>
            <a:pathLst>
              <a:path w="6961188" h="6310313">
                <a:moveTo>
                  <a:pt x="95223" y="0"/>
                </a:moveTo>
                <a:lnTo>
                  <a:pt x="6865965" y="0"/>
                </a:lnTo>
                <a:cubicBezTo>
                  <a:pt x="6918555" y="0"/>
                  <a:pt x="6961188" y="42633"/>
                  <a:pt x="6961188" y="95223"/>
                </a:cubicBezTo>
                <a:lnTo>
                  <a:pt x="6961188" y="6215090"/>
                </a:lnTo>
                <a:cubicBezTo>
                  <a:pt x="6961188" y="6267680"/>
                  <a:pt x="6918555" y="6310313"/>
                  <a:pt x="6865965" y="6310313"/>
                </a:cubicBezTo>
                <a:lnTo>
                  <a:pt x="95223" y="6310313"/>
                </a:lnTo>
                <a:cubicBezTo>
                  <a:pt x="42633" y="6310313"/>
                  <a:pt x="0" y="6267680"/>
                  <a:pt x="0" y="6215090"/>
                </a:cubicBezTo>
                <a:lnTo>
                  <a:pt x="0" y="95223"/>
                </a:lnTo>
                <a:cubicBezTo>
                  <a:pt x="0" y="42668"/>
                  <a:pt x="42668" y="0"/>
                  <a:pt x="9522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2750" y="1150938"/>
            <a:ext cx="677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智能体工作流程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6406" y="1472406"/>
            <a:ext cx="6357938" cy="1658938"/>
          </a:xfrm>
          <a:custGeom>
            <a:avLst/>
            <a:gdLst/>
            <a:ahLst/>
            <a:cxnLst/>
            <a:rect l="l" t="t" r="r" b="b"/>
            <a:pathLst>
              <a:path w="6357938" h="1658938">
                <a:moveTo>
                  <a:pt x="63504" y="0"/>
                </a:moveTo>
                <a:lnTo>
                  <a:pt x="6294433" y="0"/>
                </a:lnTo>
                <a:cubicBezTo>
                  <a:pt x="6329506" y="0"/>
                  <a:pt x="6357938" y="28432"/>
                  <a:pt x="6357938" y="63504"/>
                </a:cubicBezTo>
                <a:lnTo>
                  <a:pt x="6357938" y="1595433"/>
                </a:lnTo>
                <a:cubicBezTo>
                  <a:pt x="6357938" y="1630506"/>
                  <a:pt x="6329506" y="1658938"/>
                  <a:pt x="6294433" y="1658938"/>
                </a:cubicBezTo>
                <a:lnTo>
                  <a:pt x="63504" y="1658938"/>
                </a:lnTo>
                <a:cubicBezTo>
                  <a:pt x="28432" y="1658938"/>
                  <a:pt x="0" y="1630506"/>
                  <a:pt x="0" y="15954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5625" y="1571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527844" y="15716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3125" y="1587500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分析师阶段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625" y="188912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1344" y="1952625"/>
            <a:ext cx="297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基本面分析师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5313" y="2111375"/>
            <a:ext cx="296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财务数据分析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65513" y="188912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01231" y="1952625"/>
            <a:ext cx="297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市场分析师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5200" y="2111375"/>
            <a:ext cx="296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技术指标分析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5625" y="236537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1344" y="2428875"/>
            <a:ext cx="297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新闻分析师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5313" y="2587625"/>
            <a:ext cx="296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新闻获取分析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65513" y="236537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01231" y="2428875"/>
            <a:ext cx="297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情绪分析师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05200" y="2587625"/>
            <a:ext cx="296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情绪分析工具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041737" y="2853531"/>
            <a:ext cx="1184114" cy="190500"/>
          </a:xfrm>
          <a:custGeom>
            <a:avLst/>
            <a:gdLst/>
            <a:ahLst/>
            <a:cxnLst/>
            <a:rect l="l" t="t" r="r" b="b"/>
            <a:pathLst>
              <a:path w="1184114" h="190500">
                <a:moveTo>
                  <a:pt x="31751" y="0"/>
                </a:moveTo>
                <a:lnTo>
                  <a:pt x="1152363" y="0"/>
                </a:lnTo>
                <a:cubicBezTo>
                  <a:pt x="1169899" y="0"/>
                  <a:pt x="1184114" y="14215"/>
                  <a:pt x="1184114" y="31751"/>
                </a:cubicBezTo>
                <a:lnTo>
                  <a:pt x="1184114" y="158749"/>
                </a:lnTo>
                <a:cubicBezTo>
                  <a:pt x="1184114" y="176285"/>
                  <a:pt x="1169899" y="190500"/>
                  <a:pt x="1152363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017924" y="2853531"/>
            <a:ext cx="1231739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并行执行 · 效率提升10倍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34212" y="220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6406" y="3202781"/>
            <a:ext cx="6357938" cy="1476375"/>
          </a:xfrm>
          <a:custGeom>
            <a:avLst/>
            <a:gdLst/>
            <a:ahLst/>
            <a:cxnLst/>
            <a:rect l="l" t="t" r="r" b="b"/>
            <a:pathLst>
              <a:path w="6357938" h="1476375">
                <a:moveTo>
                  <a:pt x="63499" y="0"/>
                </a:moveTo>
                <a:lnTo>
                  <a:pt x="6294439" y="0"/>
                </a:lnTo>
                <a:cubicBezTo>
                  <a:pt x="6329508" y="0"/>
                  <a:pt x="6357938" y="28429"/>
                  <a:pt x="6357938" y="63499"/>
                </a:cubicBezTo>
                <a:lnTo>
                  <a:pt x="6357938" y="1412876"/>
                </a:lnTo>
                <a:cubicBezTo>
                  <a:pt x="6357938" y="1447946"/>
                  <a:pt x="6329508" y="1476375"/>
                  <a:pt x="6294439" y="1476375"/>
                </a:cubicBezTo>
                <a:lnTo>
                  <a:pt x="63499" y="1476375"/>
                </a:lnTo>
                <a:cubicBezTo>
                  <a:pt x="28429" y="1476375"/>
                  <a:pt x="0" y="1447946"/>
                  <a:pt x="0" y="1412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5625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527844" y="33020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3125" y="3317875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研究员阶段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530822" y="3619500"/>
            <a:ext cx="912813" cy="706438"/>
          </a:xfrm>
          <a:custGeom>
            <a:avLst/>
            <a:gdLst/>
            <a:ahLst/>
            <a:cxnLst/>
            <a:rect l="l" t="t" r="r" b="b"/>
            <a:pathLst>
              <a:path w="912813" h="706438">
                <a:moveTo>
                  <a:pt x="63502" y="0"/>
                </a:moveTo>
                <a:lnTo>
                  <a:pt x="849311" y="0"/>
                </a:lnTo>
                <a:cubicBezTo>
                  <a:pt x="884382" y="0"/>
                  <a:pt x="912813" y="28431"/>
                  <a:pt x="912813" y="63502"/>
                </a:cubicBezTo>
                <a:lnTo>
                  <a:pt x="912813" y="642936"/>
                </a:lnTo>
                <a:cubicBezTo>
                  <a:pt x="912813" y="678007"/>
                  <a:pt x="884382" y="706437"/>
                  <a:pt x="84931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80940" y="3714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2" name="Text 30"/>
          <p:cNvSpPr/>
          <p:nvPr/>
        </p:nvSpPr>
        <p:spPr>
          <a:xfrm>
            <a:off x="2598291" y="3940969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看涨研究员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02260" y="4099719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基于基本面+市场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72433" y="3859609"/>
            <a:ext cx="29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⚔️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17404" y="3619500"/>
            <a:ext cx="817563" cy="706438"/>
          </a:xfrm>
          <a:custGeom>
            <a:avLst/>
            <a:gdLst/>
            <a:ahLst/>
            <a:cxnLst/>
            <a:rect l="l" t="t" r="r" b="b"/>
            <a:pathLst>
              <a:path w="817563" h="706438">
                <a:moveTo>
                  <a:pt x="63502" y="0"/>
                </a:moveTo>
                <a:lnTo>
                  <a:pt x="754061" y="0"/>
                </a:lnTo>
                <a:cubicBezTo>
                  <a:pt x="789132" y="0"/>
                  <a:pt x="817563" y="28431"/>
                  <a:pt x="817563" y="63502"/>
                </a:cubicBezTo>
                <a:lnTo>
                  <a:pt x="817563" y="642936"/>
                </a:lnTo>
                <a:cubicBezTo>
                  <a:pt x="817563" y="678007"/>
                  <a:pt x="789132" y="706438"/>
                  <a:pt x="75406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19897" y="3714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130969"/>
                </a:moveTo>
                <a:cubicBezTo>
                  <a:pt x="136289" y="130969"/>
                  <a:pt x="130969" y="136289"/>
                  <a:pt x="130969" y="142875"/>
                </a:cubicBezTo>
                <a:cubicBezTo>
                  <a:pt x="130969" y="149461"/>
                  <a:pt x="136289" y="154781"/>
                  <a:pt x="142875" y="154781"/>
                </a:cubicBezTo>
                <a:lnTo>
                  <a:pt x="202406" y="154781"/>
                </a:lnTo>
                <a:cubicBezTo>
                  <a:pt x="208992" y="154781"/>
                  <a:pt x="214313" y="149461"/>
                  <a:pt x="214313" y="142875"/>
                </a:cubicBezTo>
                <a:lnTo>
                  <a:pt x="214313" y="83344"/>
                </a:lnTo>
                <a:cubicBezTo>
                  <a:pt x="214313" y="76758"/>
                  <a:pt x="208992" y="71438"/>
                  <a:pt x="202406" y="71438"/>
                </a:cubicBezTo>
                <a:cubicBezTo>
                  <a:pt x="195821" y="71438"/>
                  <a:pt x="190500" y="76758"/>
                  <a:pt x="190500" y="83344"/>
                </a:cubicBezTo>
                <a:lnTo>
                  <a:pt x="190500" y="114114"/>
                </a:lnTo>
                <a:lnTo>
                  <a:pt x="127471" y="51085"/>
                </a:lnTo>
                <a:cubicBezTo>
                  <a:pt x="122820" y="46434"/>
                  <a:pt x="115267" y="46434"/>
                  <a:pt x="110617" y="51085"/>
                </a:cubicBezTo>
                <a:lnTo>
                  <a:pt x="71438" y="90301"/>
                </a:lnTo>
                <a:lnTo>
                  <a:pt x="20315" y="39216"/>
                </a:lnTo>
                <a:cubicBezTo>
                  <a:pt x="15664" y="34565"/>
                  <a:pt x="8111" y="34565"/>
                  <a:pt x="3460" y="39216"/>
                </a:cubicBezTo>
                <a:cubicBezTo>
                  <a:pt x="-1191" y="43867"/>
                  <a:pt x="-1191" y="51420"/>
                  <a:pt x="3460" y="56071"/>
                </a:cubicBezTo>
                <a:lnTo>
                  <a:pt x="62992" y="115602"/>
                </a:lnTo>
                <a:cubicBezTo>
                  <a:pt x="67642" y="120253"/>
                  <a:pt x="75195" y="120253"/>
                  <a:pt x="79846" y="115602"/>
                </a:cubicBezTo>
                <a:lnTo>
                  <a:pt x="119063" y="76386"/>
                </a:lnTo>
                <a:lnTo>
                  <a:pt x="173645" y="130969"/>
                </a:lnTo>
                <a:lnTo>
                  <a:pt x="142875" y="130969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7" name="Text 35"/>
          <p:cNvSpPr/>
          <p:nvPr/>
        </p:nvSpPr>
        <p:spPr>
          <a:xfrm>
            <a:off x="3984873" y="3940969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看跌研究员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88842" y="4099719"/>
            <a:ext cx="674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基于新闻+情绪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040993" y="4397375"/>
            <a:ext cx="1185540" cy="190500"/>
          </a:xfrm>
          <a:custGeom>
            <a:avLst/>
            <a:gdLst/>
            <a:ahLst/>
            <a:cxnLst/>
            <a:rect l="l" t="t" r="r" b="b"/>
            <a:pathLst>
              <a:path w="1185540" h="190500">
                <a:moveTo>
                  <a:pt x="31751" y="0"/>
                </a:moveTo>
                <a:lnTo>
                  <a:pt x="1153789" y="0"/>
                </a:lnTo>
                <a:cubicBezTo>
                  <a:pt x="1171325" y="0"/>
                  <a:pt x="1185540" y="14215"/>
                  <a:pt x="1185540" y="31751"/>
                </a:cubicBezTo>
                <a:lnTo>
                  <a:pt x="1185540" y="158749"/>
                </a:lnTo>
                <a:cubicBezTo>
                  <a:pt x="1185540" y="176285"/>
                  <a:pt x="1171325" y="190500"/>
                  <a:pt x="115378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017180" y="4397375"/>
            <a:ext cx="123316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观点交锋 · 减少偏差30%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34212" y="38437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Shape 40"/>
          <p:cNvSpPr/>
          <p:nvPr/>
        </p:nvSpPr>
        <p:spPr>
          <a:xfrm>
            <a:off x="456406" y="4746625"/>
            <a:ext cx="6357938" cy="1190625"/>
          </a:xfrm>
          <a:custGeom>
            <a:avLst/>
            <a:gdLst/>
            <a:ahLst/>
            <a:cxnLst/>
            <a:rect l="l" t="t" r="r" b="b"/>
            <a:pathLst>
              <a:path w="6357938" h="1190625">
                <a:moveTo>
                  <a:pt x="63496" y="0"/>
                </a:moveTo>
                <a:lnTo>
                  <a:pt x="6294441" y="0"/>
                </a:lnTo>
                <a:cubicBezTo>
                  <a:pt x="6329509" y="0"/>
                  <a:pt x="6357938" y="28428"/>
                  <a:pt x="6357938" y="63496"/>
                </a:cubicBezTo>
                <a:lnTo>
                  <a:pt x="6357938" y="1127129"/>
                </a:lnTo>
                <a:cubicBezTo>
                  <a:pt x="6357938" y="1162197"/>
                  <a:pt x="6329509" y="1190625"/>
                  <a:pt x="6294441" y="1190625"/>
                </a:cubicBezTo>
                <a:lnTo>
                  <a:pt x="63496" y="1190625"/>
                </a:lnTo>
                <a:cubicBezTo>
                  <a:pt x="28428" y="1190625"/>
                  <a:pt x="0" y="1162197"/>
                  <a:pt x="0" y="11271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5625" y="48458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4" name="Text 42"/>
          <p:cNvSpPr/>
          <p:nvPr/>
        </p:nvSpPr>
        <p:spPr>
          <a:xfrm>
            <a:off x="527844" y="4845844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3125" y="4861719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决策阶段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55625" y="5163344"/>
            <a:ext cx="3032125" cy="674688"/>
          </a:xfrm>
          <a:custGeom>
            <a:avLst/>
            <a:gdLst/>
            <a:ahLst/>
            <a:cxnLst/>
            <a:rect l="l" t="t" r="r" b="b"/>
            <a:pathLst>
              <a:path w="3032125" h="674688">
                <a:moveTo>
                  <a:pt x="63502" y="0"/>
                </a:moveTo>
                <a:lnTo>
                  <a:pt x="2968623" y="0"/>
                </a:lnTo>
                <a:cubicBezTo>
                  <a:pt x="3003694" y="0"/>
                  <a:pt x="3032125" y="28431"/>
                  <a:pt x="3032125" y="63502"/>
                </a:cubicBezTo>
                <a:lnTo>
                  <a:pt x="3032125" y="611186"/>
                </a:lnTo>
                <a:cubicBezTo>
                  <a:pt x="3032125" y="646257"/>
                  <a:pt x="3003694" y="674688"/>
                  <a:pt x="2968623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981584" y="52585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-4961"/>
                </a:moveTo>
                <a:cubicBezTo>
                  <a:pt x="85173" y="-4961"/>
                  <a:pt x="81855" y="-1643"/>
                  <a:pt x="81855" y="2480"/>
                </a:cubicBezTo>
                <a:lnTo>
                  <a:pt x="81855" y="6201"/>
                </a:lnTo>
                <a:lnTo>
                  <a:pt x="81297" y="6201"/>
                </a:lnTo>
                <a:cubicBezTo>
                  <a:pt x="69949" y="6201"/>
                  <a:pt x="60771" y="15410"/>
                  <a:pt x="60771" y="26727"/>
                </a:cubicBezTo>
                <a:cubicBezTo>
                  <a:pt x="60771" y="37083"/>
                  <a:pt x="68492" y="45827"/>
                  <a:pt x="78755" y="47098"/>
                </a:cubicBezTo>
                <a:lnTo>
                  <a:pt x="97668" y="49454"/>
                </a:lnTo>
                <a:cubicBezTo>
                  <a:pt x="99250" y="49640"/>
                  <a:pt x="100459" y="51005"/>
                  <a:pt x="100459" y="52617"/>
                </a:cubicBezTo>
                <a:cubicBezTo>
                  <a:pt x="100459" y="54384"/>
                  <a:pt x="99033" y="55780"/>
                  <a:pt x="97296" y="55780"/>
                </a:cubicBezTo>
                <a:lnTo>
                  <a:pt x="74414" y="55811"/>
                </a:lnTo>
                <a:cubicBezTo>
                  <a:pt x="69608" y="55811"/>
                  <a:pt x="65732" y="59686"/>
                  <a:pt x="65732" y="64492"/>
                </a:cubicBezTo>
                <a:cubicBezTo>
                  <a:pt x="65732" y="69298"/>
                  <a:pt x="69608" y="73174"/>
                  <a:pt x="74414" y="73174"/>
                </a:cubicBezTo>
                <a:lnTo>
                  <a:pt x="81855" y="73174"/>
                </a:lnTo>
                <a:lnTo>
                  <a:pt x="81855" y="76895"/>
                </a:lnTo>
                <a:cubicBezTo>
                  <a:pt x="81855" y="81018"/>
                  <a:pt x="85173" y="84336"/>
                  <a:pt x="89297" y="84336"/>
                </a:cubicBezTo>
                <a:cubicBezTo>
                  <a:pt x="93421" y="84336"/>
                  <a:pt x="96738" y="81018"/>
                  <a:pt x="96738" y="76895"/>
                </a:cubicBezTo>
                <a:lnTo>
                  <a:pt x="96738" y="73174"/>
                </a:lnTo>
                <a:lnTo>
                  <a:pt x="97296" y="73174"/>
                </a:lnTo>
                <a:cubicBezTo>
                  <a:pt x="108645" y="73174"/>
                  <a:pt x="117822" y="63965"/>
                  <a:pt x="117822" y="52648"/>
                </a:cubicBezTo>
                <a:cubicBezTo>
                  <a:pt x="117822" y="42292"/>
                  <a:pt x="110102" y="33548"/>
                  <a:pt x="99839" y="32277"/>
                </a:cubicBezTo>
                <a:lnTo>
                  <a:pt x="80925" y="29921"/>
                </a:lnTo>
                <a:cubicBezTo>
                  <a:pt x="79344" y="29735"/>
                  <a:pt x="78135" y="28370"/>
                  <a:pt x="78135" y="26758"/>
                </a:cubicBezTo>
                <a:cubicBezTo>
                  <a:pt x="78135" y="24991"/>
                  <a:pt x="79561" y="23595"/>
                  <a:pt x="81297" y="23595"/>
                </a:cubicBezTo>
                <a:lnTo>
                  <a:pt x="101699" y="23564"/>
                </a:lnTo>
                <a:cubicBezTo>
                  <a:pt x="106505" y="23564"/>
                  <a:pt x="110381" y="19689"/>
                  <a:pt x="110381" y="14883"/>
                </a:cubicBezTo>
                <a:cubicBezTo>
                  <a:pt x="110381" y="10077"/>
                  <a:pt x="106505" y="6201"/>
                  <a:pt x="101699" y="6201"/>
                </a:cubicBezTo>
                <a:lnTo>
                  <a:pt x="96738" y="6201"/>
                </a:lnTo>
                <a:lnTo>
                  <a:pt x="96738" y="2480"/>
                </a:lnTo>
                <a:cubicBezTo>
                  <a:pt x="96738" y="-1643"/>
                  <a:pt x="93421" y="-4961"/>
                  <a:pt x="89297" y="-4961"/>
                </a:cubicBezTo>
                <a:close/>
                <a:moveTo>
                  <a:pt x="33889" y="105885"/>
                </a:moveTo>
                <a:lnTo>
                  <a:pt x="20681" y="119062"/>
                </a:lnTo>
                <a:lnTo>
                  <a:pt x="9922" y="119062"/>
                </a:lnTo>
                <a:cubicBezTo>
                  <a:pt x="4434" y="119062"/>
                  <a:pt x="0" y="123496"/>
                  <a:pt x="0" y="128984"/>
                </a:cubicBezTo>
                <a:lnTo>
                  <a:pt x="0" y="148828"/>
                </a:lnTo>
                <a:cubicBezTo>
                  <a:pt x="0" y="154316"/>
                  <a:pt x="4434" y="158750"/>
                  <a:pt x="9922" y="158750"/>
                </a:cubicBezTo>
                <a:lnTo>
                  <a:pt x="109296" y="158750"/>
                </a:lnTo>
                <a:cubicBezTo>
                  <a:pt x="118287" y="158750"/>
                  <a:pt x="127062" y="155866"/>
                  <a:pt x="134317" y="150533"/>
                </a:cubicBezTo>
                <a:lnTo>
                  <a:pt x="173571" y="121605"/>
                </a:lnTo>
                <a:cubicBezTo>
                  <a:pt x="179090" y="117543"/>
                  <a:pt x="180268" y="109792"/>
                  <a:pt x="176206" y="104273"/>
                </a:cubicBezTo>
                <a:cubicBezTo>
                  <a:pt x="172145" y="98754"/>
                  <a:pt x="164393" y="97575"/>
                  <a:pt x="158874" y="101637"/>
                </a:cubicBezTo>
                <a:lnTo>
                  <a:pt x="121729" y="128984"/>
                </a:lnTo>
                <a:lnTo>
                  <a:pt x="86816" y="128984"/>
                </a:lnTo>
                <a:cubicBezTo>
                  <a:pt x="82693" y="128984"/>
                  <a:pt x="79375" y="125667"/>
                  <a:pt x="79375" y="121543"/>
                </a:cubicBezTo>
                <a:cubicBezTo>
                  <a:pt x="79375" y="117419"/>
                  <a:pt x="82693" y="114102"/>
                  <a:pt x="86816" y="114102"/>
                </a:cubicBezTo>
                <a:lnTo>
                  <a:pt x="109141" y="114102"/>
                </a:lnTo>
                <a:cubicBezTo>
                  <a:pt x="114629" y="114102"/>
                  <a:pt x="119062" y="109668"/>
                  <a:pt x="119062" y="104180"/>
                </a:cubicBezTo>
                <a:cubicBezTo>
                  <a:pt x="119062" y="98692"/>
                  <a:pt x="114629" y="94258"/>
                  <a:pt x="109141" y="94258"/>
                </a:cubicBezTo>
                <a:lnTo>
                  <a:pt x="61950" y="94258"/>
                </a:lnTo>
                <a:cubicBezTo>
                  <a:pt x="51439" y="94258"/>
                  <a:pt x="41331" y="98444"/>
                  <a:pt x="33889" y="10588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6"/>
          <p:cNvSpPr/>
          <p:nvPr/>
        </p:nvSpPr>
        <p:spPr>
          <a:xfrm>
            <a:off x="623094" y="5453063"/>
            <a:ext cx="289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交易员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7063" y="5611813"/>
            <a:ext cx="288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制定策略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681388" y="5163344"/>
            <a:ext cx="3032125" cy="674688"/>
          </a:xfrm>
          <a:custGeom>
            <a:avLst/>
            <a:gdLst/>
            <a:ahLst/>
            <a:cxnLst/>
            <a:rect l="l" t="t" r="r" b="b"/>
            <a:pathLst>
              <a:path w="3032125" h="674688">
                <a:moveTo>
                  <a:pt x="63502" y="0"/>
                </a:moveTo>
                <a:lnTo>
                  <a:pt x="2968623" y="0"/>
                </a:lnTo>
                <a:cubicBezTo>
                  <a:pt x="3003694" y="0"/>
                  <a:pt x="3032125" y="28431"/>
                  <a:pt x="3032125" y="63502"/>
                </a:cubicBezTo>
                <a:lnTo>
                  <a:pt x="3032125" y="611186"/>
                </a:lnTo>
                <a:cubicBezTo>
                  <a:pt x="3032125" y="646257"/>
                  <a:pt x="3003694" y="674688"/>
                  <a:pt x="2968623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117269" y="525859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Text 50"/>
          <p:cNvSpPr/>
          <p:nvPr/>
        </p:nvSpPr>
        <p:spPr>
          <a:xfrm>
            <a:off x="3748856" y="5453063"/>
            <a:ext cx="289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风险评估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752825" y="5611813"/>
            <a:ext cx="288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三重评估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34212" y="52447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5" name="Shape 53"/>
          <p:cNvSpPr/>
          <p:nvPr/>
        </p:nvSpPr>
        <p:spPr>
          <a:xfrm>
            <a:off x="456406" y="6004719"/>
            <a:ext cx="6691313" cy="1190625"/>
          </a:xfrm>
          <a:custGeom>
            <a:avLst/>
            <a:gdLst/>
            <a:ahLst/>
            <a:cxnLst/>
            <a:rect l="l" t="t" r="r" b="b"/>
            <a:pathLst>
              <a:path w="6691313" h="1190625">
                <a:moveTo>
                  <a:pt x="63496" y="0"/>
                </a:moveTo>
                <a:lnTo>
                  <a:pt x="6627816" y="0"/>
                </a:lnTo>
                <a:cubicBezTo>
                  <a:pt x="6662884" y="0"/>
                  <a:pt x="6691313" y="28428"/>
                  <a:pt x="6691313" y="63496"/>
                </a:cubicBezTo>
                <a:lnTo>
                  <a:pt x="6691313" y="1127129"/>
                </a:lnTo>
                <a:cubicBezTo>
                  <a:pt x="6691313" y="1162197"/>
                  <a:pt x="6662884" y="1190625"/>
                  <a:pt x="6627816" y="1190625"/>
                </a:cubicBezTo>
                <a:lnTo>
                  <a:pt x="63496" y="1190625"/>
                </a:lnTo>
                <a:cubicBezTo>
                  <a:pt x="28428" y="1190625"/>
                  <a:pt x="0" y="1162197"/>
                  <a:pt x="0" y="11271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5625" y="6103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Text 55"/>
          <p:cNvSpPr/>
          <p:nvPr/>
        </p:nvSpPr>
        <p:spPr>
          <a:xfrm>
            <a:off x="527844" y="6103938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3125" y="611981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输出阶段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55625" y="642143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45952" y="65166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37207" y="79375"/>
                </a:moveTo>
                <a:cubicBezTo>
                  <a:pt x="33083" y="79375"/>
                  <a:pt x="29766" y="82693"/>
                  <a:pt x="29766" y="86816"/>
                </a:cubicBezTo>
                <a:cubicBezTo>
                  <a:pt x="29766" y="90940"/>
                  <a:pt x="33083" y="94258"/>
                  <a:pt x="37207" y="94258"/>
                </a:cubicBezTo>
                <a:lnTo>
                  <a:pt x="81855" y="94258"/>
                </a:lnTo>
                <a:cubicBezTo>
                  <a:pt x="85979" y="94258"/>
                  <a:pt x="89297" y="90940"/>
                  <a:pt x="89297" y="86816"/>
                </a:cubicBezTo>
                <a:cubicBezTo>
                  <a:pt x="89297" y="82693"/>
                  <a:pt x="85979" y="79375"/>
                  <a:pt x="81855" y="79375"/>
                </a:cubicBezTo>
                <a:lnTo>
                  <a:pt x="37207" y="79375"/>
                </a:lnTo>
                <a:close/>
                <a:moveTo>
                  <a:pt x="37207" y="109141"/>
                </a:moveTo>
                <a:cubicBezTo>
                  <a:pt x="33083" y="109141"/>
                  <a:pt x="29766" y="112458"/>
                  <a:pt x="29766" y="116582"/>
                </a:cubicBezTo>
                <a:cubicBezTo>
                  <a:pt x="29766" y="120706"/>
                  <a:pt x="33083" y="124023"/>
                  <a:pt x="37207" y="124023"/>
                </a:cubicBezTo>
                <a:lnTo>
                  <a:pt x="81855" y="124023"/>
                </a:lnTo>
                <a:cubicBezTo>
                  <a:pt x="85979" y="124023"/>
                  <a:pt x="89297" y="120706"/>
                  <a:pt x="89297" y="116582"/>
                </a:cubicBezTo>
                <a:cubicBezTo>
                  <a:pt x="89297" y="112458"/>
                  <a:pt x="85979" y="109141"/>
                  <a:pt x="81855" y="109141"/>
                </a:cubicBezTo>
                <a:lnTo>
                  <a:pt x="37207" y="10914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1" name="Text 59"/>
          <p:cNvSpPr/>
          <p:nvPr/>
        </p:nvSpPr>
        <p:spPr>
          <a:xfrm>
            <a:off x="623094" y="6711156"/>
            <a:ext cx="196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风险经理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7063" y="6869906"/>
            <a:ext cx="1960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最终评估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750592" y="642143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721075" y="6516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1309" y="17363"/>
                </a:moveTo>
                <a:cubicBezTo>
                  <a:pt x="151309" y="13240"/>
                  <a:pt x="147991" y="9922"/>
                  <a:pt x="143867" y="9922"/>
                </a:cubicBezTo>
                <a:cubicBezTo>
                  <a:pt x="139743" y="9922"/>
                  <a:pt x="136426" y="13240"/>
                  <a:pt x="136426" y="17363"/>
                </a:cubicBezTo>
                <a:lnTo>
                  <a:pt x="136426" y="141387"/>
                </a:lnTo>
                <a:cubicBezTo>
                  <a:pt x="136426" y="145510"/>
                  <a:pt x="139743" y="148828"/>
                  <a:pt x="143867" y="148828"/>
                </a:cubicBezTo>
                <a:cubicBezTo>
                  <a:pt x="147991" y="148828"/>
                  <a:pt x="151309" y="145510"/>
                  <a:pt x="151309" y="141387"/>
                </a:cubicBezTo>
                <a:lnTo>
                  <a:pt x="151309" y="17363"/>
                </a:lnTo>
                <a:close/>
                <a:moveTo>
                  <a:pt x="111621" y="39688"/>
                </a:moveTo>
                <a:cubicBezTo>
                  <a:pt x="107497" y="39688"/>
                  <a:pt x="104180" y="43005"/>
                  <a:pt x="104180" y="47129"/>
                </a:cubicBezTo>
                <a:lnTo>
                  <a:pt x="104180" y="141387"/>
                </a:lnTo>
                <a:cubicBezTo>
                  <a:pt x="104180" y="145510"/>
                  <a:pt x="107497" y="148828"/>
                  <a:pt x="111621" y="148828"/>
                </a:cubicBezTo>
                <a:cubicBezTo>
                  <a:pt x="115745" y="148828"/>
                  <a:pt x="119062" y="145510"/>
                  <a:pt x="119062" y="141387"/>
                </a:cubicBezTo>
                <a:lnTo>
                  <a:pt x="119062" y="47129"/>
                </a:lnTo>
                <a:cubicBezTo>
                  <a:pt x="119062" y="43005"/>
                  <a:pt x="115745" y="39688"/>
                  <a:pt x="111621" y="39688"/>
                </a:cubicBezTo>
                <a:close/>
                <a:moveTo>
                  <a:pt x="86816" y="76895"/>
                </a:moveTo>
                <a:cubicBezTo>
                  <a:pt x="86816" y="72771"/>
                  <a:pt x="83499" y="69453"/>
                  <a:pt x="79375" y="69453"/>
                </a:cubicBezTo>
                <a:cubicBezTo>
                  <a:pt x="75251" y="69453"/>
                  <a:pt x="71934" y="72771"/>
                  <a:pt x="71934" y="76895"/>
                </a:cubicBezTo>
                <a:lnTo>
                  <a:pt x="71934" y="141387"/>
                </a:lnTo>
                <a:cubicBezTo>
                  <a:pt x="71934" y="145510"/>
                  <a:pt x="75251" y="148828"/>
                  <a:pt x="79375" y="148828"/>
                </a:cubicBezTo>
                <a:cubicBezTo>
                  <a:pt x="83499" y="148828"/>
                  <a:pt x="86816" y="145510"/>
                  <a:pt x="86816" y="141387"/>
                </a:cubicBezTo>
                <a:lnTo>
                  <a:pt x="86816" y="76895"/>
                </a:lnTo>
                <a:close/>
                <a:moveTo>
                  <a:pt x="47129" y="99219"/>
                </a:moveTo>
                <a:cubicBezTo>
                  <a:pt x="43005" y="99219"/>
                  <a:pt x="39688" y="102536"/>
                  <a:pt x="39688" y="106660"/>
                </a:cubicBezTo>
                <a:lnTo>
                  <a:pt x="39688" y="141387"/>
                </a:lnTo>
                <a:cubicBezTo>
                  <a:pt x="39688" y="145510"/>
                  <a:pt x="43005" y="148828"/>
                  <a:pt x="47129" y="148828"/>
                </a:cubicBezTo>
                <a:cubicBezTo>
                  <a:pt x="51253" y="148828"/>
                  <a:pt x="54570" y="145510"/>
                  <a:pt x="54570" y="141387"/>
                </a:cubicBezTo>
                <a:lnTo>
                  <a:pt x="54570" y="106660"/>
                </a:lnTo>
                <a:cubicBezTo>
                  <a:pt x="54570" y="102536"/>
                  <a:pt x="51253" y="99219"/>
                  <a:pt x="47129" y="99219"/>
                </a:cubicBezTo>
                <a:close/>
                <a:moveTo>
                  <a:pt x="14883" y="119062"/>
                </a:moveTo>
                <a:cubicBezTo>
                  <a:pt x="10759" y="119062"/>
                  <a:pt x="7441" y="122380"/>
                  <a:pt x="7441" y="126504"/>
                </a:cubicBezTo>
                <a:lnTo>
                  <a:pt x="7441" y="141387"/>
                </a:lnTo>
                <a:cubicBezTo>
                  <a:pt x="7441" y="145510"/>
                  <a:pt x="10759" y="148828"/>
                  <a:pt x="14883" y="148828"/>
                </a:cubicBezTo>
                <a:cubicBezTo>
                  <a:pt x="19007" y="148828"/>
                  <a:pt x="22324" y="145510"/>
                  <a:pt x="22324" y="141387"/>
                </a:cubicBezTo>
                <a:lnTo>
                  <a:pt x="22324" y="126504"/>
                </a:lnTo>
                <a:cubicBezTo>
                  <a:pt x="22324" y="122380"/>
                  <a:pt x="19007" y="119062"/>
                  <a:pt x="14883" y="11906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5" name="Text 63"/>
          <p:cNvSpPr/>
          <p:nvPr/>
        </p:nvSpPr>
        <p:spPr>
          <a:xfrm>
            <a:off x="2818061" y="6711156"/>
            <a:ext cx="196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信号处理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2822029" y="6869906"/>
            <a:ext cx="1960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交易信号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945621" y="642143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935948" y="65166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52865"/>
                </a:lnTo>
                <a:cubicBezTo>
                  <a:pt x="119062" y="47594"/>
                  <a:pt x="116985" y="42540"/>
                  <a:pt x="113264" y="38819"/>
                </a:cubicBezTo>
                <a:lnTo>
                  <a:pt x="80212" y="5798"/>
                </a:lnTo>
                <a:cubicBezTo>
                  <a:pt x="76491" y="2077"/>
                  <a:pt x="71469" y="0"/>
                  <a:pt x="66198" y="0"/>
                </a:cubicBezTo>
                <a:lnTo>
                  <a:pt x="19844" y="0"/>
                </a:lnTo>
                <a:close/>
                <a:moveTo>
                  <a:pt x="100924" y="54570"/>
                </a:moveTo>
                <a:lnTo>
                  <a:pt x="71934" y="54570"/>
                </a:lnTo>
                <a:cubicBezTo>
                  <a:pt x="67810" y="54570"/>
                  <a:pt x="64492" y="51253"/>
                  <a:pt x="64492" y="47129"/>
                </a:cubicBezTo>
                <a:lnTo>
                  <a:pt x="64492" y="18138"/>
                </a:lnTo>
                <a:lnTo>
                  <a:pt x="100924" y="54570"/>
                </a:lnTo>
                <a:close/>
                <a:moveTo>
                  <a:pt x="19844" y="119062"/>
                </a:moveTo>
                <a:lnTo>
                  <a:pt x="19844" y="99219"/>
                </a:lnTo>
                <a:cubicBezTo>
                  <a:pt x="19844" y="93731"/>
                  <a:pt x="24278" y="89297"/>
                  <a:pt x="29766" y="89297"/>
                </a:cubicBezTo>
                <a:lnTo>
                  <a:pt x="89297" y="89297"/>
                </a:lnTo>
                <a:cubicBezTo>
                  <a:pt x="94785" y="89297"/>
                  <a:pt x="99219" y="93731"/>
                  <a:pt x="99219" y="99219"/>
                </a:cubicBezTo>
                <a:lnTo>
                  <a:pt x="99219" y="119062"/>
                </a:lnTo>
                <a:cubicBezTo>
                  <a:pt x="99219" y="124551"/>
                  <a:pt x="94785" y="128984"/>
                  <a:pt x="89297" y="128984"/>
                </a:cubicBezTo>
                <a:lnTo>
                  <a:pt x="29766" y="128984"/>
                </a:lnTo>
                <a:cubicBezTo>
                  <a:pt x="24278" y="128984"/>
                  <a:pt x="19844" y="124551"/>
                  <a:pt x="19844" y="119062"/>
                </a:cubicBezTo>
                <a:close/>
                <a:moveTo>
                  <a:pt x="27285" y="19844"/>
                </a:moveTo>
                <a:lnTo>
                  <a:pt x="42168" y="19844"/>
                </a:lnTo>
                <a:cubicBezTo>
                  <a:pt x="46292" y="19844"/>
                  <a:pt x="49609" y="23161"/>
                  <a:pt x="49609" y="27285"/>
                </a:cubicBezTo>
                <a:cubicBezTo>
                  <a:pt x="49609" y="31409"/>
                  <a:pt x="46292" y="34727"/>
                  <a:pt x="42168" y="34727"/>
                </a:cubicBezTo>
                <a:lnTo>
                  <a:pt x="27285" y="34727"/>
                </a:lnTo>
                <a:cubicBezTo>
                  <a:pt x="23161" y="34727"/>
                  <a:pt x="19844" y="31409"/>
                  <a:pt x="19844" y="27285"/>
                </a:cubicBezTo>
                <a:cubicBezTo>
                  <a:pt x="19844" y="23161"/>
                  <a:pt x="23161" y="19844"/>
                  <a:pt x="27285" y="19844"/>
                </a:cubicBezTo>
                <a:close/>
                <a:moveTo>
                  <a:pt x="27285" y="49609"/>
                </a:moveTo>
                <a:lnTo>
                  <a:pt x="42168" y="49609"/>
                </a:lnTo>
                <a:cubicBezTo>
                  <a:pt x="46292" y="49609"/>
                  <a:pt x="49609" y="52927"/>
                  <a:pt x="49609" y="57051"/>
                </a:cubicBezTo>
                <a:cubicBezTo>
                  <a:pt x="49609" y="61175"/>
                  <a:pt x="46292" y="64492"/>
                  <a:pt x="42168" y="64492"/>
                </a:cubicBezTo>
                <a:lnTo>
                  <a:pt x="27285" y="64492"/>
                </a:lnTo>
                <a:cubicBezTo>
                  <a:pt x="23161" y="64492"/>
                  <a:pt x="19844" y="61175"/>
                  <a:pt x="19844" y="57051"/>
                </a:cubicBezTo>
                <a:cubicBezTo>
                  <a:pt x="19844" y="52927"/>
                  <a:pt x="23161" y="49609"/>
                  <a:pt x="27285" y="4960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9" name="Text 67"/>
          <p:cNvSpPr/>
          <p:nvPr/>
        </p:nvSpPr>
        <p:spPr>
          <a:xfrm>
            <a:off x="5013089" y="6711156"/>
            <a:ext cx="196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决策报告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017058" y="6869906"/>
            <a:ext cx="1960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完整分析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414431" y="1019969"/>
            <a:ext cx="4452938" cy="4802188"/>
          </a:xfrm>
          <a:custGeom>
            <a:avLst/>
            <a:gdLst/>
            <a:ahLst/>
            <a:cxnLst/>
            <a:rect l="l" t="t" r="r" b="b"/>
            <a:pathLst>
              <a:path w="4452938" h="4802188">
                <a:moveTo>
                  <a:pt x="95248" y="0"/>
                </a:moveTo>
                <a:lnTo>
                  <a:pt x="4357689" y="0"/>
                </a:lnTo>
                <a:cubicBezTo>
                  <a:pt x="4410293" y="0"/>
                  <a:pt x="4452938" y="42644"/>
                  <a:pt x="4452938" y="95248"/>
                </a:cubicBezTo>
                <a:lnTo>
                  <a:pt x="4452938" y="4706939"/>
                </a:lnTo>
                <a:cubicBezTo>
                  <a:pt x="4452938" y="4759543"/>
                  <a:pt x="4410293" y="4802188"/>
                  <a:pt x="4357689" y="4802188"/>
                </a:cubicBezTo>
                <a:lnTo>
                  <a:pt x="95248" y="4802188"/>
                </a:lnTo>
                <a:cubicBezTo>
                  <a:pt x="42644" y="4802188"/>
                  <a:pt x="0" y="4759543"/>
                  <a:pt x="0" y="470693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85087" y="11826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3" name="Text 71"/>
          <p:cNvSpPr/>
          <p:nvPr/>
        </p:nvSpPr>
        <p:spPr>
          <a:xfrm>
            <a:off x="7743837" y="1150938"/>
            <a:ext cx="407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创新亮点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545400" y="1468438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656525" y="1595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6" name="Text 74"/>
          <p:cNvSpPr/>
          <p:nvPr/>
        </p:nvSpPr>
        <p:spPr>
          <a:xfrm>
            <a:off x="7862900" y="156368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行业首创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640650" y="1785938"/>
            <a:ext cx="405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将多智能体系统应用于金融分析领域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545400" y="3292078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7672400" y="341907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0" name="Text 78"/>
          <p:cNvSpPr/>
          <p:nvPr/>
        </p:nvSpPr>
        <p:spPr>
          <a:xfrm>
            <a:off x="7862900" y="338732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技术壁垒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640650" y="3609578"/>
            <a:ext cx="405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深度理解金融业务和AI技术的结合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545400" y="5115719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656525" y="5242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4" name="Text 82"/>
          <p:cNvSpPr/>
          <p:nvPr/>
        </p:nvSpPr>
        <p:spPr>
          <a:xfrm>
            <a:off x="7862900" y="5210969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竞争优势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640650" y="5433219"/>
            <a:ext cx="405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3-5年技术领先优势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7414431" y="5921375"/>
            <a:ext cx="4452938" cy="1404938"/>
          </a:xfrm>
          <a:custGeom>
            <a:avLst/>
            <a:gdLst/>
            <a:ahLst/>
            <a:cxnLst/>
            <a:rect l="l" t="t" r="r" b="b"/>
            <a:pathLst>
              <a:path w="4452938" h="1404938">
                <a:moveTo>
                  <a:pt x="95255" y="0"/>
                </a:moveTo>
                <a:lnTo>
                  <a:pt x="4357683" y="0"/>
                </a:lnTo>
                <a:cubicBezTo>
                  <a:pt x="4410290" y="0"/>
                  <a:pt x="4452938" y="42647"/>
                  <a:pt x="4452938" y="95255"/>
                </a:cubicBezTo>
                <a:lnTo>
                  <a:pt x="4452938" y="1309683"/>
                </a:lnTo>
                <a:cubicBezTo>
                  <a:pt x="4452938" y="1362290"/>
                  <a:pt x="4410290" y="1404938"/>
                  <a:pt x="4357683" y="1404938"/>
                </a:cubicBezTo>
                <a:lnTo>
                  <a:pt x="95255" y="1404938"/>
                </a:lnTo>
                <a:cubicBezTo>
                  <a:pt x="42647" y="1404938"/>
                  <a:pt x="0" y="1362290"/>
                  <a:pt x="0" y="1309683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09681" y="6052344"/>
            <a:ext cx="426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561275" y="6385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9" name="Text 87"/>
          <p:cNvSpPr/>
          <p:nvPr/>
        </p:nvSpPr>
        <p:spPr>
          <a:xfrm>
            <a:off x="7767650" y="6369844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LangGraph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构建智能体工作流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561275" y="6607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1" name="Text 89"/>
          <p:cNvSpPr/>
          <p:nvPr/>
        </p:nvSpPr>
        <p:spPr>
          <a:xfrm>
            <a:off x="7767650" y="6592094"/>
            <a:ext cx="163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LangChain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LLM调用和工具集成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7561275" y="68302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3" name="Text 91"/>
          <p:cNvSpPr/>
          <p:nvPr/>
        </p:nvSpPr>
        <p:spPr>
          <a:xfrm>
            <a:off x="7767650" y="6814344"/>
            <a:ext cx="135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asyncio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多智能体并行分析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7561275" y="7052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5" name="Text 93"/>
          <p:cNvSpPr/>
          <p:nvPr/>
        </p:nvSpPr>
        <p:spPr>
          <a:xfrm>
            <a:off x="7767650" y="7036594"/>
            <a:ext cx="119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记忆管理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独立记忆状态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2428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智能分析能力详解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Intelligent Analysis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19969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4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246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928688" y="1150938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基本面分析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8688" y="1373188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Fundamental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438" y="16271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5625" y="175418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9938" y="1722438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财务数据深度分析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7688" y="197643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多数据源融合、财务指标计算、历史趋势分析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438" y="229393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9438" y="242093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4"/>
          <p:cNvSpPr/>
          <p:nvPr/>
        </p:nvSpPr>
        <p:spPr>
          <a:xfrm>
            <a:off x="769938" y="238918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7688" y="264318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PE/PB/PS估值、DCF现金流折现、相对估值法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438" y="29606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3563" y="3087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23812"/>
                </a:moveTo>
                <a:lnTo>
                  <a:pt x="31750" y="19844"/>
                </a:lnTo>
                <a:cubicBezTo>
                  <a:pt x="31750" y="8880"/>
                  <a:pt x="53082" y="0"/>
                  <a:pt x="79375" y="0"/>
                </a:cubicBezTo>
                <a:cubicBezTo>
                  <a:pt x="105668" y="0"/>
                  <a:pt x="127000" y="8880"/>
                  <a:pt x="127000" y="19844"/>
                </a:cubicBezTo>
                <a:lnTo>
                  <a:pt x="127000" y="23812"/>
                </a:lnTo>
                <a:cubicBezTo>
                  <a:pt x="127000" y="31403"/>
                  <a:pt x="116756" y="38001"/>
                  <a:pt x="101699" y="41349"/>
                </a:cubicBezTo>
                <a:cubicBezTo>
                  <a:pt x="101104" y="40655"/>
                  <a:pt x="100484" y="39985"/>
                  <a:pt x="99864" y="39365"/>
                </a:cubicBezTo>
                <a:cubicBezTo>
                  <a:pt x="96019" y="35570"/>
                  <a:pt x="91058" y="32693"/>
                  <a:pt x="85874" y="30559"/>
                </a:cubicBezTo>
                <a:cubicBezTo>
                  <a:pt x="75481" y="26219"/>
                  <a:pt x="61937" y="23837"/>
                  <a:pt x="47625" y="23837"/>
                </a:cubicBezTo>
                <a:cubicBezTo>
                  <a:pt x="42193" y="23837"/>
                  <a:pt x="36885" y="24185"/>
                  <a:pt x="31800" y="24854"/>
                </a:cubicBezTo>
                <a:cubicBezTo>
                  <a:pt x="31750" y="24532"/>
                  <a:pt x="31750" y="24185"/>
                  <a:pt x="31750" y="23837"/>
                </a:cubicBezTo>
                <a:close/>
                <a:moveTo>
                  <a:pt x="107156" y="87561"/>
                </a:moveTo>
                <a:lnTo>
                  <a:pt x="107156" y="76101"/>
                </a:lnTo>
                <a:cubicBezTo>
                  <a:pt x="110902" y="75133"/>
                  <a:pt x="114424" y="73992"/>
                  <a:pt x="117624" y="72653"/>
                </a:cubicBezTo>
                <a:cubicBezTo>
                  <a:pt x="120898" y="71289"/>
                  <a:pt x="124098" y="69627"/>
                  <a:pt x="127000" y="67618"/>
                </a:cubicBezTo>
                <a:lnTo>
                  <a:pt x="127000" y="71438"/>
                </a:lnTo>
                <a:cubicBezTo>
                  <a:pt x="127000" y="78085"/>
                  <a:pt x="119187" y="83964"/>
                  <a:pt x="107156" y="87561"/>
                </a:cubicBezTo>
                <a:close/>
                <a:moveTo>
                  <a:pt x="107156" y="63748"/>
                </a:moveTo>
                <a:lnTo>
                  <a:pt x="107156" y="55563"/>
                </a:lnTo>
                <a:cubicBezTo>
                  <a:pt x="107156" y="54446"/>
                  <a:pt x="107057" y="53380"/>
                  <a:pt x="106908" y="52338"/>
                </a:cubicBezTo>
                <a:cubicBezTo>
                  <a:pt x="110753" y="51371"/>
                  <a:pt x="114350" y="50205"/>
                  <a:pt x="117624" y="48816"/>
                </a:cubicBezTo>
                <a:cubicBezTo>
                  <a:pt x="120898" y="47427"/>
                  <a:pt x="124098" y="45789"/>
                  <a:pt x="127000" y="43780"/>
                </a:cubicBezTo>
                <a:lnTo>
                  <a:pt x="127000" y="47600"/>
                </a:lnTo>
                <a:cubicBezTo>
                  <a:pt x="127000" y="54248"/>
                  <a:pt x="119187" y="60127"/>
                  <a:pt x="107156" y="63723"/>
                </a:cubicBezTo>
                <a:close/>
                <a:moveTo>
                  <a:pt x="0" y="59531"/>
                </a:moveTo>
                <a:lnTo>
                  <a:pt x="0" y="55563"/>
                </a:lnTo>
                <a:cubicBezTo>
                  <a:pt x="0" y="44599"/>
                  <a:pt x="21332" y="35719"/>
                  <a:pt x="47625" y="35719"/>
                </a:cubicBezTo>
                <a:cubicBezTo>
                  <a:pt x="73918" y="35719"/>
                  <a:pt x="95250" y="44599"/>
                  <a:pt x="95250" y="55563"/>
                </a:cubicBezTo>
                <a:lnTo>
                  <a:pt x="95250" y="59531"/>
                </a:lnTo>
                <a:cubicBezTo>
                  <a:pt x="95250" y="70495"/>
                  <a:pt x="73918" y="79375"/>
                  <a:pt x="47625" y="79375"/>
                </a:cubicBezTo>
                <a:cubicBezTo>
                  <a:pt x="21332" y="79375"/>
                  <a:pt x="0" y="70495"/>
                  <a:pt x="0" y="59531"/>
                </a:cubicBezTo>
                <a:close/>
                <a:moveTo>
                  <a:pt x="95250" y="83344"/>
                </a:moveTo>
                <a:cubicBezTo>
                  <a:pt x="95250" y="94307"/>
                  <a:pt x="73918" y="103188"/>
                  <a:pt x="47625" y="103188"/>
                </a:cubicBezTo>
                <a:cubicBezTo>
                  <a:pt x="21332" y="103188"/>
                  <a:pt x="0" y="94307"/>
                  <a:pt x="0" y="83344"/>
                </a:cubicBezTo>
                <a:lnTo>
                  <a:pt x="0" y="79524"/>
                </a:lnTo>
                <a:cubicBezTo>
                  <a:pt x="2877" y="81533"/>
                  <a:pt x="6077" y="83170"/>
                  <a:pt x="9376" y="84559"/>
                </a:cubicBezTo>
                <a:cubicBezTo>
                  <a:pt x="19769" y="88900"/>
                  <a:pt x="33313" y="91281"/>
                  <a:pt x="47625" y="91281"/>
                </a:cubicBezTo>
                <a:cubicBezTo>
                  <a:pt x="61937" y="91281"/>
                  <a:pt x="75481" y="88875"/>
                  <a:pt x="85874" y="84559"/>
                </a:cubicBezTo>
                <a:cubicBezTo>
                  <a:pt x="89148" y="83195"/>
                  <a:pt x="92348" y="81533"/>
                  <a:pt x="95250" y="79524"/>
                </a:cubicBezTo>
                <a:lnTo>
                  <a:pt x="95250" y="83344"/>
                </a:lnTo>
                <a:close/>
                <a:moveTo>
                  <a:pt x="95250" y="103336"/>
                </a:moveTo>
                <a:lnTo>
                  <a:pt x="95250" y="107156"/>
                </a:lnTo>
                <a:cubicBezTo>
                  <a:pt x="95250" y="118120"/>
                  <a:pt x="73918" y="127000"/>
                  <a:pt x="47625" y="127000"/>
                </a:cubicBezTo>
                <a:cubicBezTo>
                  <a:pt x="21332" y="127000"/>
                  <a:pt x="0" y="118120"/>
                  <a:pt x="0" y="107156"/>
                </a:cubicBezTo>
                <a:lnTo>
                  <a:pt x="0" y="103336"/>
                </a:lnTo>
                <a:cubicBezTo>
                  <a:pt x="2877" y="105346"/>
                  <a:pt x="6077" y="106983"/>
                  <a:pt x="9376" y="108372"/>
                </a:cubicBezTo>
                <a:cubicBezTo>
                  <a:pt x="19769" y="112713"/>
                  <a:pt x="33313" y="115094"/>
                  <a:pt x="47625" y="115094"/>
                </a:cubicBezTo>
                <a:cubicBezTo>
                  <a:pt x="61937" y="115094"/>
                  <a:pt x="75481" y="112688"/>
                  <a:pt x="85874" y="108372"/>
                </a:cubicBezTo>
                <a:cubicBezTo>
                  <a:pt x="89148" y="107007"/>
                  <a:pt x="92348" y="105346"/>
                  <a:pt x="95250" y="1033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769938" y="3055938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盈利能力评估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7688" y="330993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ROE/ROA/毛利率分析、盈利质量评估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438" y="3690937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450951" y="3782219"/>
            <a:ext cx="1448098" cy="14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业务价值: 识别价值投资机会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3469" y="1019969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44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89688" y="1246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Text 25"/>
          <p:cNvSpPr/>
          <p:nvPr/>
        </p:nvSpPr>
        <p:spPr>
          <a:xfrm>
            <a:off x="6770688" y="1150938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技术面分析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0688" y="1373188"/>
            <a:ext cx="98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4438" y="16271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05563" y="17541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23812"/>
                </a:moveTo>
                <a:cubicBezTo>
                  <a:pt x="15875" y="19422"/>
                  <a:pt x="19422" y="15875"/>
                  <a:pt x="23812" y="15875"/>
                </a:cubicBezTo>
                <a:lnTo>
                  <a:pt x="63500" y="15875"/>
                </a:lnTo>
                <a:cubicBezTo>
                  <a:pt x="67890" y="15875"/>
                  <a:pt x="71438" y="19422"/>
                  <a:pt x="71438" y="23812"/>
                </a:cubicBezTo>
                <a:lnTo>
                  <a:pt x="71438" y="95250"/>
                </a:lnTo>
                <a:lnTo>
                  <a:pt x="95250" y="95250"/>
                </a:lnTo>
                <a:lnTo>
                  <a:pt x="95250" y="63500"/>
                </a:lnTo>
                <a:cubicBezTo>
                  <a:pt x="95250" y="59110"/>
                  <a:pt x="98797" y="55563"/>
                  <a:pt x="103188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111125" y="71438"/>
                </a:lnTo>
                <a:lnTo>
                  <a:pt x="111125" y="103188"/>
                </a:lnTo>
                <a:cubicBezTo>
                  <a:pt x="111125" y="107578"/>
                  <a:pt x="107578" y="111125"/>
                  <a:pt x="103188" y="111125"/>
                </a:cubicBezTo>
                <a:lnTo>
                  <a:pt x="63500" y="111125"/>
                </a:lnTo>
                <a:cubicBezTo>
                  <a:pt x="59110" y="111125"/>
                  <a:pt x="55563" y="107578"/>
                  <a:pt x="55563" y="103188"/>
                </a:cubicBezTo>
                <a:lnTo>
                  <a:pt x="55563" y="31750"/>
                </a:lnTo>
                <a:lnTo>
                  <a:pt x="31750" y="31750"/>
                </a:lnTo>
                <a:lnTo>
                  <a:pt x="31750" y="63500"/>
                </a:lnTo>
                <a:cubicBezTo>
                  <a:pt x="31750" y="67890"/>
                  <a:pt x="28203" y="71438"/>
                  <a:pt x="23812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ubicBezTo>
                  <a:pt x="0" y="59110"/>
                  <a:pt x="3547" y="55563"/>
                  <a:pt x="7938" y="55563"/>
                </a:cubicBezTo>
                <a:lnTo>
                  <a:pt x="15875" y="55563"/>
                </a:lnTo>
                <a:lnTo>
                  <a:pt x="15875" y="2381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611938" y="1722438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技术指标计算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9688" y="197643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MA/RSI/MACD/BOLL/KDJ等指标库,全面覆盖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94438" y="229393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397625" y="24209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9688"/>
                </a:moveTo>
                <a:cubicBezTo>
                  <a:pt x="90860" y="39688"/>
                  <a:pt x="87313" y="36140"/>
                  <a:pt x="87313" y="31750"/>
                </a:cubicBezTo>
                <a:cubicBezTo>
                  <a:pt x="87313" y="27360"/>
                  <a:pt x="90860" y="23812"/>
                  <a:pt x="95250" y="23812"/>
                </a:cubicBezTo>
                <a:lnTo>
                  <a:pt x="134938" y="23812"/>
                </a:lnTo>
                <a:cubicBezTo>
                  <a:pt x="139328" y="23812"/>
                  <a:pt x="142875" y="27360"/>
                  <a:pt x="142875" y="31750"/>
                </a:cubicBezTo>
                <a:lnTo>
                  <a:pt x="142875" y="71438"/>
                </a:lnTo>
                <a:cubicBezTo>
                  <a:pt x="142875" y="75828"/>
                  <a:pt x="139328" y="79375"/>
                  <a:pt x="134938" y="79375"/>
                </a:cubicBezTo>
                <a:cubicBezTo>
                  <a:pt x="130547" y="79375"/>
                  <a:pt x="127000" y="75828"/>
                  <a:pt x="127000" y="71438"/>
                </a:cubicBezTo>
                <a:lnTo>
                  <a:pt x="127000" y="50924"/>
                </a:lnTo>
                <a:lnTo>
                  <a:pt x="84981" y="92943"/>
                </a:lnTo>
                <a:cubicBezTo>
                  <a:pt x="81880" y="96044"/>
                  <a:pt x="76845" y="96044"/>
                  <a:pt x="73744" y="92943"/>
                </a:cubicBezTo>
                <a:lnTo>
                  <a:pt x="47625" y="66799"/>
                </a:lnTo>
                <a:lnTo>
                  <a:pt x="13543" y="100856"/>
                </a:lnTo>
                <a:cubicBezTo>
                  <a:pt x="10443" y="103956"/>
                  <a:pt x="5407" y="103956"/>
                  <a:pt x="2307" y="100856"/>
                </a:cubicBezTo>
                <a:cubicBezTo>
                  <a:pt x="-794" y="97755"/>
                  <a:pt x="-794" y="92720"/>
                  <a:pt x="2307" y="89619"/>
                </a:cubicBezTo>
                <a:lnTo>
                  <a:pt x="41994" y="49932"/>
                </a:lnTo>
                <a:cubicBezTo>
                  <a:pt x="45095" y="46831"/>
                  <a:pt x="50130" y="46831"/>
                  <a:pt x="53231" y="49932"/>
                </a:cubicBezTo>
                <a:lnTo>
                  <a:pt x="79375" y="76076"/>
                </a:lnTo>
                <a:lnTo>
                  <a:pt x="115763" y="39688"/>
                </a:lnTo>
                <a:lnTo>
                  <a:pt x="95250" y="39688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938" y="238918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趋势识别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9688" y="264318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支撑阻力位识别、趋势通道分析、形态识别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94438" y="29606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3500" y="30876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0"/>
                </a:moveTo>
                <a:cubicBezTo>
                  <a:pt x="51172" y="0"/>
                  <a:pt x="47625" y="3547"/>
                  <a:pt x="47625" y="7938"/>
                </a:cubicBezTo>
                <a:lnTo>
                  <a:pt x="47625" y="8731"/>
                </a:lnTo>
                <a:cubicBezTo>
                  <a:pt x="29518" y="12402"/>
                  <a:pt x="15875" y="28426"/>
                  <a:pt x="15875" y="47625"/>
                </a:cubicBezTo>
                <a:lnTo>
                  <a:pt x="15875" y="53008"/>
                </a:lnTo>
                <a:cubicBezTo>
                  <a:pt x="15875" y="64939"/>
                  <a:pt x="11807" y="76522"/>
                  <a:pt x="4366" y="85849"/>
                </a:cubicBezTo>
                <a:lnTo>
                  <a:pt x="1935" y="88875"/>
                </a:lnTo>
                <a:cubicBezTo>
                  <a:pt x="670" y="90438"/>
                  <a:pt x="0" y="92373"/>
                  <a:pt x="0" y="94382"/>
                </a:cubicBezTo>
                <a:cubicBezTo>
                  <a:pt x="0" y="99244"/>
                  <a:pt x="3944" y="103188"/>
                  <a:pt x="8806" y="103188"/>
                </a:cubicBezTo>
                <a:lnTo>
                  <a:pt x="102295" y="103188"/>
                </a:lnTo>
                <a:cubicBezTo>
                  <a:pt x="107156" y="103188"/>
                  <a:pt x="111100" y="99244"/>
                  <a:pt x="111100" y="94382"/>
                </a:cubicBezTo>
                <a:cubicBezTo>
                  <a:pt x="111100" y="92373"/>
                  <a:pt x="110430" y="90438"/>
                  <a:pt x="109165" y="88875"/>
                </a:cubicBezTo>
                <a:lnTo>
                  <a:pt x="106735" y="85849"/>
                </a:lnTo>
                <a:cubicBezTo>
                  <a:pt x="99318" y="76522"/>
                  <a:pt x="95250" y="64939"/>
                  <a:pt x="95250" y="53008"/>
                </a:cubicBezTo>
                <a:lnTo>
                  <a:pt x="95250" y="47625"/>
                </a:lnTo>
                <a:cubicBezTo>
                  <a:pt x="95250" y="28426"/>
                  <a:pt x="81607" y="12402"/>
                  <a:pt x="63500" y="8731"/>
                </a:cubicBezTo>
                <a:lnTo>
                  <a:pt x="63500" y="7937"/>
                </a:lnTo>
                <a:cubicBezTo>
                  <a:pt x="63500" y="3547"/>
                  <a:pt x="59953" y="0"/>
                  <a:pt x="55563" y="0"/>
                </a:cubicBezTo>
                <a:close/>
                <a:moveTo>
                  <a:pt x="40184" y="115094"/>
                </a:moveTo>
                <a:cubicBezTo>
                  <a:pt x="41945" y="121940"/>
                  <a:pt x="48171" y="127000"/>
                  <a:pt x="55563" y="127000"/>
                </a:cubicBezTo>
                <a:cubicBezTo>
                  <a:pt x="62954" y="127000"/>
                  <a:pt x="69180" y="121940"/>
                  <a:pt x="70941" y="115094"/>
                </a:cubicBezTo>
                <a:lnTo>
                  <a:pt x="40184" y="115094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938" y="3055938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交易信号生成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9688" y="330993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买入/卖出信号、止损止盈建议、仓位管理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4438" y="3690937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404076" y="3782219"/>
            <a:ext cx="1225848" cy="14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业务价值: 把握买卖时机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1469" y="4274344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2438" y="4405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7688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6" name="Text 44"/>
          <p:cNvSpPr/>
          <p:nvPr/>
        </p:nvSpPr>
        <p:spPr>
          <a:xfrm>
            <a:off x="928688" y="4405313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消息面分析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8688" y="4627563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News Analysis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2438" y="48815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" y="50085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15875"/>
                </a:moveTo>
                <a:cubicBezTo>
                  <a:pt x="0" y="11485"/>
                  <a:pt x="3547" y="7938"/>
                  <a:pt x="7938" y="7938"/>
                </a:cubicBezTo>
                <a:cubicBezTo>
                  <a:pt x="64939" y="7938"/>
                  <a:pt x="111125" y="54124"/>
                  <a:pt x="111125" y="111125"/>
                </a:cubicBezTo>
                <a:cubicBezTo>
                  <a:pt x="111125" y="115515"/>
                  <a:pt x="107578" y="119063"/>
                  <a:pt x="103188" y="119063"/>
                </a:cubicBezTo>
                <a:cubicBezTo>
                  <a:pt x="98797" y="119063"/>
                  <a:pt x="95250" y="115515"/>
                  <a:pt x="95250" y="111125"/>
                </a:cubicBezTo>
                <a:cubicBezTo>
                  <a:pt x="95250" y="62905"/>
                  <a:pt x="56158" y="23812"/>
                  <a:pt x="7938" y="23812"/>
                </a:cubicBezTo>
                <a:cubicBezTo>
                  <a:pt x="3547" y="23812"/>
                  <a:pt x="0" y="20265"/>
                  <a:pt x="0" y="15875"/>
                </a:cubicBezTo>
                <a:close/>
                <a:moveTo>
                  <a:pt x="0" y="103188"/>
                </a:moveTo>
                <a:cubicBezTo>
                  <a:pt x="0" y="94426"/>
                  <a:pt x="7113" y="87313"/>
                  <a:pt x="15875" y="87313"/>
                </a:cubicBezTo>
                <a:cubicBezTo>
                  <a:pt x="24637" y="87313"/>
                  <a:pt x="31750" y="94426"/>
                  <a:pt x="31750" y="103188"/>
                </a:cubicBezTo>
                <a:cubicBezTo>
                  <a:pt x="31750" y="111949"/>
                  <a:pt x="24637" y="119063"/>
                  <a:pt x="15875" y="119063"/>
                </a:cubicBezTo>
                <a:cubicBezTo>
                  <a:pt x="7113" y="119063"/>
                  <a:pt x="0" y="111949"/>
                  <a:pt x="0" y="103188"/>
                </a:cubicBezTo>
                <a:close/>
                <a:moveTo>
                  <a:pt x="7938" y="39688"/>
                </a:moveTo>
                <a:cubicBezTo>
                  <a:pt x="47402" y="39688"/>
                  <a:pt x="79375" y="71661"/>
                  <a:pt x="79375" y="111125"/>
                </a:cubicBezTo>
                <a:cubicBezTo>
                  <a:pt x="79375" y="115515"/>
                  <a:pt x="75828" y="119063"/>
                  <a:pt x="71438" y="119063"/>
                </a:cubicBezTo>
                <a:cubicBezTo>
                  <a:pt x="67047" y="119063"/>
                  <a:pt x="63500" y="115515"/>
                  <a:pt x="63500" y="111125"/>
                </a:cubicBezTo>
                <a:cubicBezTo>
                  <a:pt x="63500" y="80442"/>
                  <a:pt x="38621" y="55563"/>
                  <a:pt x="7938" y="55563"/>
                </a:cubicBezTo>
                <a:cubicBezTo>
                  <a:pt x="3547" y="55563"/>
                  <a:pt x="0" y="52015"/>
                  <a:pt x="0" y="47625"/>
                </a:cubicBezTo>
                <a:cubicBezTo>
                  <a:pt x="0" y="43235"/>
                  <a:pt x="3547" y="39688"/>
                  <a:pt x="7938" y="3968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769938" y="4976813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新闻事件监控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7688" y="523081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实时新闻抓取、公告监控、重大事件提醒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2438" y="554831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63563" y="5675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027" y="79846"/>
                </a:moveTo>
                <a:cubicBezTo>
                  <a:pt x="46087" y="86792"/>
                  <a:pt x="54273" y="91281"/>
                  <a:pt x="63500" y="91281"/>
                </a:cubicBezTo>
                <a:cubicBezTo>
                  <a:pt x="72727" y="91281"/>
                  <a:pt x="80913" y="86792"/>
                  <a:pt x="85973" y="79846"/>
                </a:cubicBezTo>
                <a:cubicBezTo>
                  <a:pt x="87908" y="77192"/>
                  <a:pt x="91629" y="76597"/>
                  <a:pt x="94283" y="78532"/>
                </a:cubicBezTo>
                <a:cubicBezTo>
                  <a:pt x="96937" y="80466"/>
                  <a:pt x="97532" y="84187"/>
                  <a:pt x="95597" y="86841"/>
                </a:cubicBezTo>
                <a:cubicBezTo>
                  <a:pt x="88379" y="96738"/>
                  <a:pt x="76696" y="103188"/>
                  <a:pt x="63500" y="103188"/>
                </a:cubicBezTo>
                <a:cubicBezTo>
                  <a:pt x="50304" y="103188"/>
                  <a:pt x="38621" y="96738"/>
                  <a:pt x="31403" y="86841"/>
                </a:cubicBezTo>
                <a:cubicBezTo>
                  <a:pt x="29468" y="84187"/>
                  <a:pt x="30063" y="80466"/>
                  <a:pt x="32717" y="78532"/>
                </a:cubicBezTo>
                <a:cubicBezTo>
                  <a:pt x="35371" y="76597"/>
                  <a:pt x="39092" y="77192"/>
                  <a:pt x="41027" y="79846"/>
                </a:cubicBezTo>
                <a:close/>
                <a:moveTo>
                  <a:pt x="35719" y="51594"/>
                </a:moveTo>
                <a:cubicBezTo>
                  <a:pt x="35719" y="47213"/>
                  <a:pt x="39275" y="43656"/>
                  <a:pt x="43656" y="43656"/>
                </a:cubicBezTo>
                <a:cubicBezTo>
                  <a:pt x="48037" y="43656"/>
                  <a:pt x="51594" y="47213"/>
                  <a:pt x="51594" y="51594"/>
                </a:cubicBezTo>
                <a:cubicBezTo>
                  <a:pt x="51594" y="55975"/>
                  <a:pt x="48037" y="59531"/>
                  <a:pt x="43656" y="59531"/>
                </a:cubicBezTo>
                <a:cubicBezTo>
                  <a:pt x="39275" y="59531"/>
                  <a:pt x="35719" y="55975"/>
                  <a:pt x="35719" y="51594"/>
                </a:cubicBezTo>
                <a:close/>
                <a:moveTo>
                  <a:pt x="83344" y="43656"/>
                </a:moveTo>
                <a:cubicBezTo>
                  <a:pt x="87725" y="43656"/>
                  <a:pt x="91281" y="47213"/>
                  <a:pt x="91281" y="51594"/>
                </a:cubicBezTo>
                <a:cubicBezTo>
                  <a:pt x="91281" y="55975"/>
                  <a:pt x="87725" y="59531"/>
                  <a:pt x="83344" y="59531"/>
                </a:cubicBezTo>
                <a:cubicBezTo>
                  <a:pt x="78963" y="59531"/>
                  <a:pt x="75406" y="55975"/>
                  <a:pt x="75406" y="51594"/>
                </a:cubicBezTo>
                <a:cubicBezTo>
                  <a:pt x="75406" y="47213"/>
                  <a:pt x="78963" y="43656"/>
                  <a:pt x="83344" y="43656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4" name="Text 52"/>
          <p:cNvSpPr/>
          <p:nvPr/>
        </p:nvSpPr>
        <p:spPr>
          <a:xfrm>
            <a:off x="769938" y="564356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情绪分析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7688" y="589756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NLP情感分析、情绪极性判断、情感强度评估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2438" y="62150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63563" y="6342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8" name="Text 56"/>
          <p:cNvSpPr/>
          <p:nvPr/>
        </p:nvSpPr>
        <p:spPr>
          <a:xfrm>
            <a:off x="769938" y="631031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影响评估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47688" y="656431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事件影响程度评估、股价波动预测、风险提示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2438" y="6945313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562076" y="7036594"/>
            <a:ext cx="1225848" cy="14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业务价值: 捕捉市场热点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3469" y="4274344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4438" y="4405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89688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5" name="Text 63"/>
          <p:cNvSpPr/>
          <p:nvPr/>
        </p:nvSpPr>
        <p:spPr>
          <a:xfrm>
            <a:off x="6770688" y="4405313"/>
            <a:ext cx="104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情绪面分析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70688" y="4627563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94438" y="48815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397625" y="500856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5719"/>
                </a:moveTo>
                <a:cubicBezTo>
                  <a:pt x="95250" y="59829"/>
                  <a:pt x="73918" y="79375"/>
                  <a:pt x="47625" y="79375"/>
                </a:cubicBezTo>
                <a:cubicBezTo>
                  <a:pt x="41002" y="79375"/>
                  <a:pt x="34702" y="78135"/>
                  <a:pt x="28972" y="75902"/>
                </a:cubicBezTo>
                <a:lnTo>
                  <a:pt x="8731" y="86618"/>
                </a:lnTo>
                <a:cubicBezTo>
                  <a:pt x="6424" y="87833"/>
                  <a:pt x="3597" y="87412"/>
                  <a:pt x="1736" y="85576"/>
                </a:cubicBezTo>
                <a:cubicBezTo>
                  <a:pt x="-124" y="83741"/>
                  <a:pt x="-546" y="80888"/>
                  <a:pt x="695" y="78581"/>
                </a:cubicBezTo>
                <a:lnTo>
                  <a:pt x="9525" y="61913"/>
                </a:lnTo>
                <a:cubicBezTo>
                  <a:pt x="3547" y="54620"/>
                  <a:pt x="0" y="45541"/>
                  <a:pt x="0" y="35719"/>
                </a:cubicBezTo>
                <a:cubicBezTo>
                  <a:pt x="0" y="11609"/>
                  <a:pt x="21332" y="-7937"/>
                  <a:pt x="47625" y="-7937"/>
                </a:cubicBezTo>
                <a:cubicBezTo>
                  <a:pt x="73918" y="-7937"/>
                  <a:pt x="95250" y="11609"/>
                  <a:pt x="95250" y="35719"/>
                </a:cubicBezTo>
                <a:close/>
                <a:moveTo>
                  <a:pt x="95250" y="127000"/>
                </a:moveTo>
                <a:cubicBezTo>
                  <a:pt x="71909" y="127000"/>
                  <a:pt x="52487" y="111596"/>
                  <a:pt x="48419" y="91281"/>
                </a:cubicBezTo>
                <a:cubicBezTo>
                  <a:pt x="78184" y="90909"/>
                  <a:pt x="104056" y="69726"/>
                  <a:pt x="106908" y="41002"/>
                </a:cubicBezTo>
                <a:cubicBezTo>
                  <a:pt x="127571" y="45765"/>
                  <a:pt x="142875" y="62905"/>
                  <a:pt x="142875" y="83344"/>
                </a:cubicBezTo>
                <a:cubicBezTo>
                  <a:pt x="142875" y="93166"/>
                  <a:pt x="139328" y="102245"/>
                  <a:pt x="133350" y="109538"/>
                </a:cubicBezTo>
                <a:lnTo>
                  <a:pt x="142180" y="126206"/>
                </a:lnTo>
                <a:cubicBezTo>
                  <a:pt x="143396" y="128513"/>
                  <a:pt x="142974" y="131341"/>
                  <a:pt x="141139" y="133201"/>
                </a:cubicBezTo>
                <a:cubicBezTo>
                  <a:pt x="139303" y="135062"/>
                  <a:pt x="136451" y="135483"/>
                  <a:pt x="134144" y="134243"/>
                </a:cubicBezTo>
                <a:lnTo>
                  <a:pt x="113903" y="123527"/>
                </a:lnTo>
                <a:cubicBezTo>
                  <a:pt x="108173" y="125760"/>
                  <a:pt x="101873" y="127000"/>
                  <a:pt x="95250" y="1270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9" name="Text 67"/>
          <p:cNvSpPr/>
          <p:nvPr/>
        </p:nvSpPr>
        <p:spPr>
          <a:xfrm>
            <a:off x="6611938" y="4976813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社交媒体情绪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89688" y="523081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微博/雪球/东方财富等多平台数据聚合分析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94438" y="554831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6389688" y="5675313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3" name="Text 71"/>
          <p:cNvSpPr/>
          <p:nvPr/>
        </p:nvSpPr>
        <p:spPr>
          <a:xfrm>
            <a:off x="6611938" y="5643563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投资者情绪指数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89688" y="589756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恐慌/贪婪指数、市场情绪指标、情绪周期分析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94438" y="62150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405563" y="6342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7" name="Text 75"/>
          <p:cNvSpPr/>
          <p:nvPr/>
        </p:nvSpPr>
        <p:spPr>
          <a:xfrm>
            <a:off x="6611938" y="6310313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情绪趋势预测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89688" y="656431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情绪拐点识别、情绪与股价相关性分析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294438" y="6945313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8404076" y="7036594"/>
            <a:ext cx="1225848" cy="14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业务价值: 理解市场情绪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巨大的市场机会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Huge Market Opportunity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753225" cy="4162425"/>
          </a:xfrm>
          <a:custGeom>
            <a:avLst/>
            <a:gdLst/>
            <a:ahLst/>
            <a:cxnLst/>
            <a:rect l="l" t="t" r="r" b="b"/>
            <a:pathLst>
              <a:path w="6753225" h="4162425">
                <a:moveTo>
                  <a:pt x="114300" y="0"/>
                </a:moveTo>
                <a:lnTo>
                  <a:pt x="6638925" y="0"/>
                </a:lnTo>
                <a:cubicBezTo>
                  <a:pt x="6702051" y="0"/>
                  <a:pt x="6753225" y="51174"/>
                  <a:pt x="6753225" y="114300"/>
                </a:cubicBezTo>
                <a:lnTo>
                  <a:pt x="6753225" y="4048125"/>
                </a:lnTo>
                <a:cubicBezTo>
                  <a:pt x="6753225" y="4111251"/>
                  <a:pt x="6702051" y="4162425"/>
                  <a:pt x="6638925" y="4162425"/>
                </a:cubicBezTo>
                <a:lnTo>
                  <a:pt x="114300" y="4162425"/>
                </a:lnTo>
                <a:cubicBezTo>
                  <a:pt x="51174" y="4162425"/>
                  <a:pt x="0" y="4111251"/>
                  <a:pt x="0" y="40481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41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381125"/>
            <a:ext cx="629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中国智能投顾市场规模</a:t>
            </a:r>
            <a:endParaRPr lang="en-US" sz="1600" dirty="0"/>
          </a:p>
        </p:txBody>
      </p:sp>
      <p:pic>
        <p:nvPicPr>
          <p:cNvPr id="8" name="Image 0" descr="https://kimi-img.moonshot.cn/pub/slides/26-02-13-20:30:18-d67himlf4391fc71l5f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1762125"/>
            <a:ext cx="6438900" cy="34671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385763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705475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5000亿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9587" y="6124575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2024年市场规模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92078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63515" y="5705475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1.5万亿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15903" y="6124575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2028年预测规模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98393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69830" y="5705475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22218" y="6124575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年复合增长率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04708" y="1223963"/>
            <a:ext cx="4505325" cy="3552825"/>
          </a:xfrm>
          <a:custGeom>
            <a:avLst/>
            <a:gdLst/>
            <a:ahLst/>
            <a:cxnLst/>
            <a:rect l="l" t="t" r="r" b="b"/>
            <a:pathLst>
              <a:path w="4505325" h="3552825">
                <a:moveTo>
                  <a:pt x="114294" y="0"/>
                </a:moveTo>
                <a:lnTo>
                  <a:pt x="4391031" y="0"/>
                </a:lnTo>
                <a:cubicBezTo>
                  <a:pt x="4454154" y="0"/>
                  <a:pt x="4505325" y="51171"/>
                  <a:pt x="4505325" y="114294"/>
                </a:cubicBezTo>
                <a:lnTo>
                  <a:pt x="4505325" y="3438531"/>
                </a:lnTo>
                <a:cubicBezTo>
                  <a:pt x="4505325" y="3501654"/>
                  <a:pt x="4454154" y="3552825"/>
                  <a:pt x="4391031" y="3552825"/>
                </a:cubicBezTo>
                <a:lnTo>
                  <a:pt x="114294" y="3552825"/>
                </a:lnTo>
                <a:cubicBezTo>
                  <a:pt x="51171" y="3552825"/>
                  <a:pt x="0" y="3501654"/>
                  <a:pt x="0" y="34385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1870" y="1419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7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用户规模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61870" y="211455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576170" y="22669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040070" y="222885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2亿+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576170" y="260985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576170" y="2609850"/>
            <a:ext cx="3362325" cy="76200"/>
          </a:xfrm>
          <a:custGeom>
            <a:avLst/>
            <a:gdLst/>
            <a:ahLst/>
            <a:cxnLst/>
            <a:rect l="l" t="t" r="r" b="b"/>
            <a:pathLst>
              <a:path w="3362325" h="762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38100"/>
                </a:lnTo>
                <a:cubicBezTo>
                  <a:pt x="3362325" y="59128"/>
                  <a:pt x="3345253" y="76200"/>
                  <a:pt x="33242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Shape 23"/>
          <p:cNvSpPr/>
          <p:nvPr/>
        </p:nvSpPr>
        <p:spPr>
          <a:xfrm>
            <a:off x="7461870" y="358140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576170" y="3733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机构客户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077575" y="36957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数万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76170" y="407670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576170" y="4076700"/>
            <a:ext cx="2371725" cy="76200"/>
          </a:xfrm>
          <a:custGeom>
            <a:avLst/>
            <a:gdLst/>
            <a:ahLst/>
            <a:cxnLst/>
            <a:rect l="l" t="t" r="r" b="b"/>
            <a:pathLst>
              <a:path w="2371725" h="76200">
                <a:moveTo>
                  <a:pt x="38100" y="0"/>
                </a:moveTo>
                <a:lnTo>
                  <a:pt x="2333625" y="0"/>
                </a:lnTo>
                <a:cubicBezTo>
                  <a:pt x="2354653" y="0"/>
                  <a:pt x="2371725" y="17072"/>
                  <a:pt x="2371725" y="38100"/>
                </a:cubicBezTo>
                <a:lnTo>
                  <a:pt x="2371725" y="38100"/>
                </a:lnTo>
                <a:cubicBezTo>
                  <a:pt x="2371725" y="59128"/>
                  <a:pt x="2354653" y="76200"/>
                  <a:pt x="2333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8"/>
          <p:cNvSpPr/>
          <p:nvPr/>
        </p:nvSpPr>
        <p:spPr>
          <a:xfrm>
            <a:off x="7304708" y="4938713"/>
            <a:ext cx="4505325" cy="1533525"/>
          </a:xfrm>
          <a:custGeom>
            <a:avLst/>
            <a:gdLst/>
            <a:ahLst/>
            <a:cxnLst/>
            <a:rect l="l" t="t" r="r" b="b"/>
            <a:pathLst>
              <a:path w="4505325" h="1533525">
                <a:moveTo>
                  <a:pt x="114294" y="0"/>
                </a:moveTo>
                <a:lnTo>
                  <a:pt x="4391031" y="0"/>
                </a:lnTo>
                <a:cubicBezTo>
                  <a:pt x="4454154" y="0"/>
                  <a:pt x="4505325" y="51171"/>
                  <a:pt x="4505325" y="114294"/>
                </a:cubicBezTo>
                <a:lnTo>
                  <a:pt x="4505325" y="1419231"/>
                </a:lnTo>
                <a:cubicBezTo>
                  <a:pt x="4505325" y="1482354"/>
                  <a:pt x="4454154" y="1533525"/>
                  <a:pt x="439103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85683" y="5143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45" y="5095875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细分市场增长率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61870" y="549592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企业级金融分析工具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247165" y="5476875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30%+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461870" y="580072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AI金融应用市场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247462" y="5781675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40%+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461870" y="610552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量化投资工具市场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51109" y="6086475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目标客户群体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Customer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5629275" cy="4200525"/>
          </a:xfrm>
          <a:custGeom>
            <a:avLst/>
            <a:gdLst/>
            <a:ahLst/>
            <a:cxnLst/>
            <a:rect l="l" t="t" r="r" b="b"/>
            <a:pathLst>
              <a:path w="5629275" h="420052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4086229"/>
                </a:lnTo>
                <a:cubicBezTo>
                  <a:pt x="5629275" y="4149311"/>
                  <a:pt x="5578061" y="4200525"/>
                  <a:pt x="551497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00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2938" y="15144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13811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一级市场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6859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核心客户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1812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7225" y="2333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5097" y="2438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1152525" y="229552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525" y="256222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高净值、专业投资者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075" y="28289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500万+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" y="31337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潜在用户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81350" y="28289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500-5000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9925" y="31337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8576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7225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5813" y="4114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525" y="397192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中小型投资机构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525" y="423862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私募基金、投资公司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0075" y="45053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10,000+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650" y="48101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81350" y="45053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5-50万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09925" y="48101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963" y="1223963"/>
            <a:ext cx="5629275" cy="4200525"/>
          </a:xfrm>
          <a:custGeom>
            <a:avLst/>
            <a:gdLst/>
            <a:ahLst/>
            <a:cxnLst/>
            <a:rect l="l" t="t" r="r" b="b"/>
            <a:pathLst>
              <a:path w="5629275" h="420052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4086229"/>
                </a:lnTo>
                <a:cubicBezTo>
                  <a:pt x="5629275" y="4149311"/>
                  <a:pt x="5578061" y="4200525"/>
                  <a:pt x="551497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4125" y="1400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62713" y="1514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905625" y="13811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二级市场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5625" y="16859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扩展客户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4125" y="21812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48425" y="2333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55581" y="2438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3725" y="229552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大型金融机构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3725" y="256222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银行、券商、基金公司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1275" y="28289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850" y="31337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72550" y="28289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50-500万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01125" y="31337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4125" y="38576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48425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4866" y="4114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6943725" y="397192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教育培训机构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43725" y="423862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金融院校、培训机构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91275" y="45053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9850" y="48101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72550" y="45053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1-10万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01125" y="4810125"/>
            <a:ext cx="256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5763" y="5586413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771527"/>
                </a:lnTo>
                <a:cubicBezTo>
                  <a:pt x="11420475" y="834610"/>
                  <a:pt x="11369260" y="885825"/>
                  <a:pt x="113061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15194" y="5743575"/>
            <a:ext cx="809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2亿+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53294" y="61245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40869" y="58007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366445" y="5743575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1.6万+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04545" y="6124575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机构客户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942362" y="58007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567937" y="5743575"/>
            <a:ext cx="1304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5000亿+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606037" y="612457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市场规模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核心竞争优势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Competitive Advantages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886575" cy="5248275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381125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竞争优势对比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1762125"/>
          <a:ext cx="6572250" cy="2809875"/>
        </p:xfrm>
        <a:graphic>
          <a:graphicData uri="http://schemas.openxmlformats.org/drawingml/2006/table">
            <a:tbl>
              <a:tblPr/>
              <a:tblGrid>
                <a:gridCol w="1331570"/>
                <a:gridCol w="1845176"/>
                <a:gridCol w="1531306"/>
                <a:gridCol w="1864198"/>
              </a:tblGrid>
              <a:tr h="35123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对比维度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传统量化系统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人工投研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Ares智能研报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分析速度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 快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🐌 慢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 快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分析深度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📊 浅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📚 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📚 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覆盖维度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📈 单一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📊 多维度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📊 多维度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可解释性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 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💰 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💰💰💰 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💰 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⚠️ 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⚠️ 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学习能力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 无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34263" y="1223963"/>
            <a:ext cx="4371975" cy="4248150"/>
          </a:xfrm>
          <a:custGeom>
            <a:avLst/>
            <a:gdLst/>
            <a:ahLst/>
            <a:cxnLst/>
            <a:rect l="l" t="t" r="r" b="b"/>
            <a:pathLst>
              <a:path w="4371975" h="4248150">
                <a:moveTo>
                  <a:pt x="114318" y="0"/>
                </a:moveTo>
                <a:lnTo>
                  <a:pt x="4257657" y="0"/>
                </a:lnTo>
                <a:cubicBezTo>
                  <a:pt x="4320793" y="0"/>
                  <a:pt x="4371975" y="51182"/>
                  <a:pt x="4371975" y="114318"/>
                </a:cubicBezTo>
                <a:lnTo>
                  <a:pt x="4371975" y="4133832"/>
                </a:lnTo>
                <a:cubicBezTo>
                  <a:pt x="4371975" y="4196968"/>
                  <a:pt x="4320793" y="4248150"/>
                  <a:pt x="4257657" y="4248150"/>
                </a:cubicBezTo>
                <a:lnTo>
                  <a:pt x="114318" y="4248150"/>
                </a:lnTo>
                <a:cubicBezTo>
                  <a:pt x="51182" y="4248150"/>
                  <a:pt x="0" y="4196968"/>
                  <a:pt x="0" y="4133832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33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7829550" y="1381125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核心差异化优势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91425" y="1762125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05725" y="19145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7972425" y="187642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05725" y="218122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行业首创,3-5年技术领先优势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1425" y="2705919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724775" y="2858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4"/>
          <p:cNvSpPr/>
          <p:nvPr/>
        </p:nvSpPr>
        <p:spPr>
          <a:xfrm>
            <a:off x="7972425" y="2820219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自然语言理解能力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05725" y="3125019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处理非结构化数据,传统量化无法实现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91425" y="3649638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743825" y="38020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8"/>
          <p:cNvSpPr/>
          <p:nvPr/>
        </p:nvSpPr>
        <p:spPr>
          <a:xfrm>
            <a:off x="7972425" y="3763938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可解释的AI决策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05725" y="4068738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详细报告,满足监管要求,提升信任度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91425" y="4593431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734300" y="47458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2"/>
          <p:cNvSpPr/>
          <p:nvPr/>
        </p:nvSpPr>
        <p:spPr>
          <a:xfrm>
            <a:off x="7972425" y="470773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开放生态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05725" y="5012531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API开放,模块化设计,多LLM支持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34263" y="5598319"/>
            <a:ext cx="4371975" cy="876300"/>
          </a:xfrm>
          <a:custGeom>
            <a:avLst/>
            <a:gdLst/>
            <a:ahLst/>
            <a:cxnLst/>
            <a:rect l="l" t="t" r="r" b="b"/>
            <a:pathLst>
              <a:path w="4371975" h="876300">
                <a:moveTo>
                  <a:pt x="114296" y="0"/>
                </a:moveTo>
                <a:lnTo>
                  <a:pt x="4257679" y="0"/>
                </a:lnTo>
                <a:cubicBezTo>
                  <a:pt x="4320803" y="0"/>
                  <a:pt x="4371975" y="51172"/>
                  <a:pt x="4371975" y="114296"/>
                </a:cubicBezTo>
                <a:lnTo>
                  <a:pt x="4371975" y="762004"/>
                </a:lnTo>
                <a:cubicBezTo>
                  <a:pt x="4371975" y="825128"/>
                  <a:pt x="4320803" y="876300"/>
                  <a:pt x="425767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8563" y="5755481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市场定位优势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58088" y="6098381"/>
            <a:ext cx="4124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Ares智能研报 = </a:t>
            </a:r>
            <a:pPr algn="ctr">
              <a:lnSpc>
                <a:spcPct val="14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人工投研的效率</a:t>
            </a:r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pPr algn="ctr">
              <a:lnSpc>
                <a:spcPct val="14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传统量化的速度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商业模式与盈利预测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Model &amp; Revenue Forecast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731" y="13811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343025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SaaS订阅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825" y="168592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个人版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31877" y="168592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500-2000元/年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4825" y="191452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65809" y="19145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5000-2万元/年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4825" y="214312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机构版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28330" y="214312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5-50万元/年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6148" y="122396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9023" y="1381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4"/>
          <p:cNvSpPr/>
          <p:nvPr/>
        </p:nvSpPr>
        <p:spPr>
          <a:xfrm>
            <a:off x="4259535" y="13430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按量付费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45210" y="168592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单次分析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734" y="1685925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10-50元/次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45210" y="191452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8525" y="1914525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100-500元/只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5210" y="2143125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API调用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1487" y="2143125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0.1-1元/次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257651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0544" y="2733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819150" y="2695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私有化部署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825" y="30384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一次性授权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46561" y="303847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50-500万元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825" y="32670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年度维护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15245" y="32670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授权费20%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4825" y="34956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定制开发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49860" y="34956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按需报价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26148" y="257651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80929" y="2733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4259535" y="26955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45210" y="30384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数据订阅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55978" y="3038475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1000-1万元/月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45210" y="3267075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API接口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23620" y="32670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按调用量计费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945210" y="34956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研究报告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67723" y="349567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500-5000元/份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3929063"/>
            <a:ext cx="6753225" cy="2543175"/>
          </a:xfrm>
          <a:custGeom>
            <a:avLst/>
            <a:gdLst/>
            <a:ahLst/>
            <a:cxnLst/>
            <a:rect l="l" t="t" r="r" b="b"/>
            <a:pathLst>
              <a:path w="6753225" h="2543175">
                <a:moveTo>
                  <a:pt x="114290" y="0"/>
                </a:moveTo>
                <a:lnTo>
                  <a:pt x="6638935" y="0"/>
                </a:lnTo>
                <a:cubicBezTo>
                  <a:pt x="6702055" y="0"/>
                  <a:pt x="6753225" y="51170"/>
                  <a:pt x="6753225" y="114290"/>
                </a:cubicBezTo>
                <a:lnTo>
                  <a:pt x="6753225" y="2428885"/>
                </a:lnTo>
                <a:cubicBezTo>
                  <a:pt x="6753225" y="2492005"/>
                  <a:pt x="6702055" y="2543175"/>
                  <a:pt x="663893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738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781050" y="4086225"/>
            <a:ext cx="629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3年盈利预测</a:t>
            </a:r>
            <a:endParaRPr lang="en-US" sz="1600" dirty="0"/>
          </a:p>
        </p:txBody>
      </p:sp>
      <p:pic>
        <p:nvPicPr>
          <p:cNvPr id="44" name="Image 0" descr="https://kimi-img.moonshot.cn/pub/slides/26-02-13-20:30:19-d67himvk67e9ikd66m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4467225"/>
            <a:ext cx="6438900" cy="1847850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7304708" y="1223963"/>
            <a:ext cx="4505325" cy="3438525"/>
          </a:xfrm>
          <a:custGeom>
            <a:avLst/>
            <a:gdLst/>
            <a:ahLst/>
            <a:cxnLst/>
            <a:rect l="l" t="t" r="r" b="b"/>
            <a:pathLst>
              <a:path w="4505325" h="3438525">
                <a:moveTo>
                  <a:pt x="114297" y="0"/>
                </a:moveTo>
                <a:lnTo>
                  <a:pt x="4391028" y="0"/>
                </a:lnTo>
                <a:cubicBezTo>
                  <a:pt x="4454153" y="0"/>
                  <a:pt x="4505325" y="51172"/>
                  <a:pt x="4505325" y="114297"/>
                </a:cubicBezTo>
                <a:lnTo>
                  <a:pt x="4505325" y="3324228"/>
                </a:lnTo>
                <a:cubicBezTo>
                  <a:pt x="4505325" y="3387353"/>
                  <a:pt x="4454153" y="3438525"/>
                  <a:pt x="4391028" y="3438525"/>
                </a:cubicBezTo>
                <a:lnTo>
                  <a:pt x="114297" y="3438525"/>
                </a:lnTo>
                <a:cubicBezTo>
                  <a:pt x="51172" y="3438525"/>
                  <a:pt x="0" y="3387353"/>
                  <a:pt x="0" y="33242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497589" y="1419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4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财务预测表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61870" y="1762125"/>
          <a:ext cx="4191000" cy="2457450"/>
        </p:xfrm>
        <a:graphic>
          <a:graphicData uri="http://schemas.openxmlformats.org/drawingml/2006/table">
            <a:tbl>
              <a:tblPr/>
              <a:tblGrid>
                <a:gridCol w="857250"/>
                <a:gridCol w="1066800"/>
                <a:gridCol w="1076325"/>
                <a:gridCol w="1190625"/>
              </a:tblGrid>
              <a:tr h="35106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第3年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5,000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20,000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ARPU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5,000元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8,000元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10,000元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总收入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500万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4000万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2亿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总成本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2000万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8000万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净利润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2000万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1.2亿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利润率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" name="Shape 45"/>
          <p:cNvSpPr/>
          <p:nvPr/>
        </p:nvSpPr>
        <p:spPr>
          <a:xfrm>
            <a:off x="7304708" y="4786313"/>
            <a:ext cx="4505325" cy="1685925"/>
          </a:xfrm>
          <a:custGeom>
            <a:avLst/>
            <a:gdLst/>
            <a:ahLst/>
            <a:cxnLst/>
            <a:rect l="l" t="t" r="r" b="b"/>
            <a:pathLst>
              <a:path w="4505325" h="1685925">
                <a:moveTo>
                  <a:pt x="114306" y="0"/>
                </a:moveTo>
                <a:lnTo>
                  <a:pt x="4391019" y="0"/>
                </a:lnTo>
                <a:cubicBezTo>
                  <a:pt x="4454149" y="0"/>
                  <a:pt x="4505325" y="51176"/>
                  <a:pt x="4505325" y="114306"/>
                </a:cubicBezTo>
                <a:lnTo>
                  <a:pt x="4505325" y="1571619"/>
                </a:lnTo>
                <a:cubicBezTo>
                  <a:pt x="4505325" y="1634749"/>
                  <a:pt x="4454149" y="1685925"/>
                  <a:pt x="439101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419008" y="4943475"/>
            <a:ext cx="427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成本结构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7461870" y="53244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研发成本</a:t>
            </a:r>
            <a:endParaRPr lang="en-US" sz="1600" dirty="0"/>
          </a:p>
        </p:txBody>
      </p:sp>
      <p:sp>
        <p:nvSpPr>
          <p:cNvPr id="52" name="Shape 48"/>
          <p:cNvSpPr/>
          <p:nvPr/>
        </p:nvSpPr>
        <p:spPr>
          <a:xfrm>
            <a:off x="10387310" y="53816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10387310" y="5381625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61950" h="762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38100"/>
                </a:lnTo>
                <a:cubicBezTo>
                  <a:pt x="361950" y="59128"/>
                  <a:pt x="344878" y="76200"/>
                  <a:pt x="323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Text 50"/>
          <p:cNvSpPr/>
          <p:nvPr/>
        </p:nvSpPr>
        <p:spPr>
          <a:xfrm>
            <a:off x="11377910" y="5324475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</a:t>
            </a:r>
            <a:endParaRPr lang="en-US" sz="1600" dirty="0"/>
          </a:p>
        </p:txBody>
      </p:sp>
      <p:sp>
        <p:nvSpPr>
          <p:cNvPr id="55" name="Text 51"/>
          <p:cNvSpPr/>
          <p:nvPr/>
        </p:nvSpPr>
        <p:spPr>
          <a:xfrm>
            <a:off x="7461870" y="55911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运营成本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10394528" y="56483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10394528" y="564832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8" name="Text 54"/>
          <p:cNvSpPr/>
          <p:nvPr/>
        </p:nvSpPr>
        <p:spPr>
          <a:xfrm>
            <a:off x="11385128" y="5591175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7461870" y="58578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营销成本</a:t>
            </a:r>
            <a:endParaRPr lang="en-US" sz="1600" dirty="0"/>
          </a:p>
        </p:txBody>
      </p:sp>
      <p:sp>
        <p:nvSpPr>
          <p:cNvPr id="60" name="Shape 56"/>
          <p:cNvSpPr/>
          <p:nvPr/>
        </p:nvSpPr>
        <p:spPr>
          <a:xfrm>
            <a:off x="10390510" y="59150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10390510" y="5915025"/>
            <a:ext cx="180975" cy="76200"/>
          </a:xfrm>
          <a:custGeom>
            <a:avLst/>
            <a:gdLst/>
            <a:ahLst/>
            <a:cxnLst/>
            <a:rect l="l" t="t" r="r" b="b"/>
            <a:pathLst>
              <a:path w="180975" h="76200">
                <a:moveTo>
                  <a:pt x="38100" y="0"/>
                </a:moveTo>
                <a:lnTo>
                  <a:pt x="142875" y="0"/>
                </a:lnTo>
                <a:cubicBezTo>
                  <a:pt x="163903" y="0"/>
                  <a:pt x="180975" y="17072"/>
                  <a:pt x="180975" y="38100"/>
                </a:cubicBezTo>
                <a:lnTo>
                  <a:pt x="180975" y="38100"/>
                </a:lnTo>
                <a:cubicBezTo>
                  <a:pt x="180975" y="59128"/>
                  <a:pt x="163903" y="76200"/>
                  <a:pt x="1428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2" name="Text 58"/>
          <p:cNvSpPr/>
          <p:nvPr/>
        </p:nvSpPr>
        <p:spPr>
          <a:xfrm>
            <a:off x="11381110" y="5857875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63" name="Text 59"/>
          <p:cNvSpPr/>
          <p:nvPr/>
        </p:nvSpPr>
        <p:spPr>
          <a:xfrm>
            <a:off x="7461870" y="61245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管理成本</a:t>
            </a:r>
            <a:endParaRPr lang="en-US" sz="1600" dirty="0"/>
          </a:p>
        </p:txBody>
      </p:sp>
      <p:sp>
        <p:nvSpPr>
          <p:cNvPr id="64" name="Shape 60"/>
          <p:cNvSpPr/>
          <p:nvPr/>
        </p:nvSpPr>
        <p:spPr>
          <a:xfrm>
            <a:off x="10413057" y="61817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10413057" y="61817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38100" y="0"/>
                </a:moveTo>
                <a:lnTo>
                  <a:pt x="57150" y="0"/>
                </a:lnTo>
                <a:cubicBezTo>
                  <a:pt x="78178" y="0"/>
                  <a:pt x="95250" y="17072"/>
                  <a:pt x="95250" y="38100"/>
                </a:cubicBezTo>
                <a:lnTo>
                  <a:pt x="95250" y="38100"/>
                </a:lnTo>
                <a:cubicBezTo>
                  <a:pt x="95250" y="59128"/>
                  <a:pt x="78178" y="76200"/>
                  <a:pt x="571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70196"/>
            </a:srgbClr>
          </a:solidFill>
          <a:ln/>
        </p:spPr>
      </p:sp>
      <p:sp>
        <p:nvSpPr>
          <p:cNvPr id="66" name="Text 62"/>
          <p:cNvSpPr/>
          <p:nvPr/>
        </p:nvSpPr>
        <p:spPr>
          <a:xfrm>
            <a:off x="11403657" y="6124575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07635"/>
            <a:ext cx="37058" cy="296462"/>
          </a:xfrm>
          <a:custGeom>
            <a:avLst/>
            <a:gdLst/>
            <a:ahLst/>
            <a:cxnLst/>
            <a:rect l="l" t="t" r="r" b="b"/>
            <a:pathLst>
              <a:path w="37058" h="296462">
                <a:moveTo>
                  <a:pt x="0" y="0"/>
                </a:moveTo>
                <a:lnTo>
                  <a:pt x="37058" y="0"/>
                </a:lnTo>
                <a:lnTo>
                  <a:pt x="37058" y="296462"/>
                </a:lnTo>
                <a:lnTo>
                  <a:pt x="0" y="29646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18809" y="370578"/>
            <a:ext cx="3168438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8809" y="815271"/>
            <a:ext cx="1137672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Architecture &amp; Data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210" y="1190480"/>
            <a:ext cx="6772304" cy="5660571"/>
          </a:xfrm>
          <a:custGeom>
            <a:avLst/>
            <a:gdLst/>
            <a:ahLst/>
            <a:cxnLst/>
            <a:rect l="l" t="t" r="r" b="b"/>
            <a:pathLst>
              <a:path w="6772304" h="5660571">
                <a:moveTo>
                  <a:pt x="111174" y="0"/>
                </a:moveTo>
                <a:lnTo>
                  <a:pt x="6661130" y="0"/>
                </a:lnTo>
                <a:cubicBezTo>
                  <a:pt x="6722530" y="0"/>
                  <a:pt x="6772304" y="49774"/>
                  <a:pt x="6772304" y="111174"/>
                </a:cubicBezTo>
                <a:lnTo>
                  <a:pt x="6772304" y="5549398"/>
                </a:lnTo>
                <a:cubicBezTo>
                  <a:pt x="6772304" y="5610797"/>
                  <a:pt x="6722530" y="5660571"/>
                  <a:pt x="6661130" y="5660571"/>
                </a:cubicBezTo>
                <a:lnTo>
                  <a:pt x="111174" y="5660571"/>
                </a:lnTo>
                <a:cubicBezTo>
                  <a:pt x="49774" y="5660571"/>
                  <a:pt x="0" y="5610797"/>
                  <a:pt x="0" y="5549398"/>
                </a:cubicBezTo>
                <a:lnTo>
                  <a:pt x="0" y="111174"/>
                </a:lnTo>
                <a:cubicBezTo>
                  <a:pt x="0" y="49815"/>
                  <a:pt x="49815" y="0"/>
                  <a:pt x="11117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1751" y="1343343"/>
            <a:ext cx="655922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系统架构分层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2705" y="1718553"/>
            <a:ext cx="6457313" cy="1083939"/>
          </a:xfrm>
          <a:custGeom>
            <a:avLst/>
            <a:gdLst/>
            <a:ahLst/>
            <a:cxnLst/>
            <a:rect l="l" t="t" r="r" b="b"/>
            <a:pathLst>
              <a:path w="6457313" h="1083939">
                <a:moveTo>
                  <a:pt x="74120" y="0"/>
                </a:moveTo>
                <a:lnTo>
                  <a:pt x="6383193" y="0"/>
                </a:lnTo>
                <a:cubicBezTo>
                  <a:pt x="6424129" y="0"/>
                  <a:pt x="6457313" y="33185"/>
                  <a:pt x="6457313" y="74120"/>
                </a:cubicBezTo>
                <a:lnTo>
                  <a:pt x="6457313" y="1009819"/>
                </a:lnTo>
                <a:cubicBezTo>
                  <a:pt x="6457313" y="1050755"/>
                  <a:pt x="6424129" y="1083939"/>
                  <a:pt x="6383193" y="1083939"/>
                </a:cubicBezTo>
                <a:lnTo>
                  <a:pt x="74120" y="1083939"/>
                </a:lnTo>
                <a:cubicBezTo>
                  <a:pt x="33185" y="1083939"/>
                  <a:pt x="0" y="1050755"/>
                  <a:pt x="0" y="1009819"/>
                </a:cubicBezTo>
                <a:lnTo>
                  <a:pt x="0" y="74120"/>
                </a:lnTo>
                <a:cubicBezTo>
                  <a:pt x="0" y="33212"/>
                  <a:pt x="33212" y="0"/>
                  <a:pt x="7412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8511" y="183435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616085" y="1834359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6146" y="1852888"/>
            <a:ext cx="91717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用户接入层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8511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90201" y="2279052"/>
            <a:ext cx="19455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Web前端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833" y="2464340"/>
            <a:ext cx="193626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7630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89320" y="2279052"/>
            <a:ext cx="19455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93952" y="2464340"/>
            <a:ext cx="193626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规划中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748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88438" y="2279052"/>
            <a:ext cx="19455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API接口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3071" y="2464340"/>
            <a:ext cx="193626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RESTful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2705" y="2885872"/>
            <a:ext cx="6457313" cy="787477"/>
          </a:xfrm>
          <a:custGeom>
            <a:avLst/>
            <a:gdLst/>
            <a:ahLst/>
            <a:cxnLst/>
            <a:rect l="l" t="t" r="r" b="b"/>
            <a:pathLst>
              <a:path w="6457313" h="787477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3"/>
                  <a:pt x="6457313" y="74117"/>
                </a:cubicBezTo>
                <a:lnTo>
                  <a:pt x="6457313" y="713360"/>
                </a:lnTo>
                <a:cubicBezTo>
                  <a:pt x="6457313" y="754294"/>
                  <a:pt x="6424130" y="787477"/>
                  <a:pt x="6383196" y="787477"/>
                </a:cubicBezTo>
                <a:lnTo>
                  <a:pt x="74117" y="787477"/>
                </a:lnTo>
                <a:cubicBezTo>
                  <a:pt x="33183" y="787477"/>
                  <a:pt x="0" y="754294"/>
                  <a:pt x="0" y="71336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511" y="3001678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Text 20"/>
          <p:cNvSpPr/>
          <p:nvPr/>
        </p:nvSpPr>
        <p:spPr>
          <a:xfrm>
            <a:off x="616085" y="3001678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6146" y="3020207"/>
            <a:ext cx="91717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应用服务层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6085" y="3372255"/>
            <a:ext cx="62905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FastAPI后端服务 | 认证授权 | 分析服务 | 数据服务 | 队列管理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2705" y="3756729"/>
            <a:ext cx="6457313" cy="787477"/>
          </a:xfrm>
          <a:custGeom>
            <a:avLst/>
            <a:gdLst/>
            <a:ahLst/>
            <a:cxnLst/>
            <a:rect l="l" t="t" r="r" b="b"/>
            <a:pathLst>
              <a:path w="6457313" h="787477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3"/>
                  <a:pt x="6457313" y="74117"/>
                </a:cubicBezTo>
                <a:lnTo>
                  <a:pt x="6457313" y="713360"/>
                </a:lnTo>
                <a:cubicBezTo>
                  <a:pt x="6457313" y="754294"/>
                  <a:pt x="6424130" y="787477"/>
                  <a:pt x="6383196" y="787477"/>
                </a:cubicBezTo>
                <a:lnTo>
                  <a:pt x="74117" y="787477"/>
                </a:lnTo>
                <a:cubicBezTo>
                  <a:pt x="33183" y="787477"/>
                  <a:pt x="0" y="754294"/>
                  <a:pt x="0" y="71336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511" y="387253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616085" y="3872535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6146" y="3891064"/>
            <a:ext cx="108393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核心分析引擎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6085" y="4243112"/>
            <a:ext cx="62905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TradingAgents多智能体框架 | 分析师 | 研究员 | 交易员 | 风险管理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2705" y="4627587"/>
            <a:ext cx="6457313" cy="935708"/>
          </a:xfrm>
          <a:custGeom>
            <a:avLst/>
            <a:gdLst/>
            <a:ahLst/>
            <a:cxnLst/>
            <a:rect l="l" t="t" r="r" b="b"/>
            <a:pathLst>
              <a:path w="6457313" h="935708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4"/>
                  <a:pt x="6457313" y="74117"/>
                </a:cubicBezTo>
                <a:lnTo>
                  <a:pt x="6457313" y="861591"/>
                </a:lnTo>
                <a:cubicBezTo>
                  <a:pt x="6457313" y="902525"/>
                  <a:pt x="6424130" y="935708"/>
                  <a:pt x="6383196" y="935708"/>
                </a:cubicBezTo>
                <a:lnTo>
                  <a:pt x="74117" y="935708"/>
                </a:lnTo>
                <a:cubicBezTo>
                  <a:pt x="33184" y="935708"/>
                  <a:pt x="0" y="902525"/>
                  <a:pt x="0" y="861591"/>
                </a:cubicBezTo>
                <a:lnTo>
                  <a:pt x="0" y="74117"/>
                </a:lnTo>
                <a:cubicBezTo>
                  <a:pt x="0" y="33184"/>
                  <a:pt x="33184" y="0"/>
                  <a:pt x="7411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511" y="474339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616085" y="4743392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1A1D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6146" y="4761921"/>
            <a:ext cx="91717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基础设施层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8511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90201" y="5188085"/>
            <a:ext cx="19455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747630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789320" y="5188085"/>
            <a:ext cx="19455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46748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88438" y="5188085"/>
            <a:ext cx="19455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02548" y="1190480"/>
            <a:ext cx="4511781" cy="3715040"/>
          </a:xfrm>
          <a:custGeom>
            <a:avLst/>
            <a:gdLst/>
            <a:ahLst/>
            <a:cxnLst/>
            <a:rect l="l" t="t" r="r" b="b"/>
            <a:pathLst>
              <a:path w="4511781" h="3715040">
                <a:moveTo>
                  <a:pt x="111191" y="0"/>
                </a:moveTo>
                <a:lnTo>
                  <a:pt x="4400590" y="0"/>
                </a:lnTo>
                <a:cubicBezTo>
                  <a:pt x="4461999" y="0"/>
                  <a:pt x="4511781" y="49782"/>
                  <a:pt x="4511781" y="111191"/>
                </a:cubicBezTo>
                <a:lnTo>
                  <a:pt x="4511781" y="3603848"/>
                </a:lnTo>
                <a:cubicBezTo>
                  <a:pt x="4511781" y="3665258"/>
                  <a:pt x="4461999" y="3715040"/>
                  <a:pt x="4400590" y="3715040"/>
                </a:cubicBezTo>
                <a:lnTo>
                  <a:pt x="111191" y="3715040"/>
                </a:lnTo>
                <a:cubicBezTo>
                  <a:pt x="49782" y="3715040"/>
                  <a:pt x="0" y="3665258"/>
                  <a:pt x="0" y="3603848"/>
                </a:cubicBezTo>
                <a:lnTo>
                  <a:pt x="0" y="111191"/>
                </a:lnTo>
                <a:cubicBezTo>
                  <a:pt x="0" y="49782"/>
                  <a:pt x="49782" y="0"/>
                  <a:pt x="1111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0153" y="1380401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162128" y="74477"/>
                </a:moveTo>
                <a:cubicBezTo>
                  <a:pt x="156772" y="78024"/>
                  <a:pt x="150619" y="80883"/>
                  <a:pt x="144214" y="83163"/>
                </a:cubicBezTo>
                <a:cubicBezTo>
                  <a:pt x="127205" y="89243"/>
                  <a:pt x="104876" y="92644"/>
                  <a:pt x="81064" y="92644"/>
                </a:cubicBezTo>
                <a:cubicBezTo>
                  <a:pt x="57251" y="92644"/>
                  <a:pt x="34886" y="89206"/>
                  <a:pt x="17914" y="83163"/>
                </a:cubicBezTo>
                <a:cubicBezTo>
                  <a:pt x="11544" y="80883"/>
                  <a:pt x="5356" y="78024"/>
                  <a:pt x="0" y="74477"/>
                </a:cubicBezTo>
                <a:lnTo>
                  <a:pt x="0" y="104225"/>
                </a:lnTo>
                <a:cubicBezTo>
                  <a:pt x="0" y="120221"/>
                  <a:pt x="36298" y="133176"/>
                  <a:pt x="81064" y="133176"/>
                </a:cubicBezTo>
                <a:cubicBezTo>
                  <a:pt x="125830" y="133176"/>
                  <a:pt x="162128" y="120221"/>
                  <a:pt x="162128" y="104225"/>
                </a:cubicBezTo>
                <a:lnTo>
                  <a:pt x="162128" y="74477"/>
                </a:lnTo>
                <a:close/>
                <a:moveTo>
                  <a:pt x="162128" y="46322"/>
                </a:moveTo>
                <a:lnTo>
                  <a:pt x="162128" y="28951"/>
                </a:lnTo>
                <a:cubicBezTo>
                  <a:pt x="162128" y="12956"/>
                  <a:pt x="125830" y="0"/>
                  <a:pt x="81064" y="0"/>
                </a:cubicBezTo>
                <a:cubicBezTo>
                  <a:pt x="36298" y="0"/>
                  <a:pt x="0" y="12956"/>
                  <a:pt x="0" y="28951"/>
                </a:cubicBezTo>
                <a:lnTo>
                  <a:pt x="0" y="46322"/>
                </a:lnTo>
                <a:cubicBezTo>
                  <a:pt x="0" y="62318"/>
                  <a:pt x="36298" y="75274"/>
                  <a:pt x="81064" y="75274"/>
                </a:cubicBezTo>
                <a:cubicBezTo>
                  <a:pt x="125830" y="75274"/>
                  <a:pt x="162128" y="62318"/>
                  <a:pt x="162128" y="46322"/>
                </a:cubicBezTo>
                <a:close/>
                <a:moveTo>
                  <a:pt x="144214" y="141066"/>
                </a:moveTo>
                <a:cubicBezTo>
                  <a:pt x="127241" y="147109"/>
                  <a:pt x="104913" y="150547"/>
                  <a:pt x="81064" y="150547"/>
                </a:cubicBezTo>
                <a:cubicBezTo>
                  <a:pt x="57215" y="150547"/>
                  <a:pt x="34886" y="147109"/>
                  <a:pt x="17914" y="141066"/>
                </a:cubicBezTo>
                <a:cubicBezTo>
                  <a:pt x="11544" y="138786"/>
                  <a:pt x="5356" y="135927"/>
                  <a:pt x="0" y="132380"/>
                </a:cubicBezTo>
                <a:lnTo>
                  <a:pt x="0" y="156337"/>
                </a:lnTo>
                <a:cubicBezTo>
                  <a:pt x="0" y="172333"/>
                  <a:pt x="36298" y="185289"/>
                  <a:pt x="81064" y="185289"/>
                </a:cubicBezTo>
                <a:cubicBezTo>
                  <a:pt x="125830" y="185289"/>
                  <a:pt x="162128" y="172333"/>
                  <a:pt x="162128" y="156337"/>
                </a:cubicBezTo>
                <a:lnTo>
                  <a:pt x="162128" y="132380"/>
                </a:lnTo>
                <a:cubicBezTo>
                  <a:pt x="156772" y="135927"/>
                  <a:pt x="150619" y="138786"/>
                  <a:pt x="144214" y="14106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7687022" y="1343343"/>
            <a:ext cx="406708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数据流程设计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55411" y="1713921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585114" y="186215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67312" y="1505"/>
                </a:moveTo>
                <a:cubicBezTo>
                  <a:pt x="71626" y="-492"/>
                  <a:pt x="76605" y="-492"/>
                  <a:pt x="80919" y="1505"/>
                </a:cubicBezTo>
                <a:lnTo>
                  <a:pt x="144207" y="30746"/>
                </a:lnTo>
                <a:cubicBezTo>
                  <a:pt x="146668" y="31875"/>
                  <a:pt x="148231" y="34336"/>
                  <a:pt x="148231" y="37058"/>
                </a:cubicBezTo>
                <a:cubicBezTo>
                  <a:pt x="148231" y="39779"/>
                  <a:pt x="146668" y="42240"/>
                  <a:pt x="144207" y="43369"/>
                </a:cubicBezTo>
                <a:lnTo>
                  <a:pt x="80919" y="72610"/>
                </a:lnTo>
                <a:cubicBezTo>
                  <a:pt x="76605" y="74608"/>
                  <a:pt x="71626" y="74608"/>
                  <a:pt x="67312" y="72610"/>
                </a:cubicBezTo>
                <a:lnTo>
                  <a:pt x="4024" y="43369"/>
                </a:lnTo>
                <a:cubicBezTo>
                  <a:pt x="1563" y="42211"/>
                  <a:pt x="0" y="39750"/>
                  <a:pt x="0" y="37058"/>
                </a:cubicBezTo>
                <a:cubicBezTo>
                  <a:pt x="0" y="34365"/>
                  <a:pt x="1563" y="31875"/>
                  <a:pt x="4024" y="30746"/>
                </a:cubicBezTo>
                <a:lnTo>
                  <a:pt x="67312" y="1505"/>
                </a:lnTo>
                <a:close/>
                <a:moveTo>
                  <a:pt x="13926" y="63230"/>
                </a:moveTo>
                <a:lnTo>
                  <a:pt x="61493" y="85204"/>
                </a:lnTo>
                <a:cubicBezTo>
                  <a:pt x="69512" y="88910"/>
                  <a:pt x="78748" y="88910"/>
                  <a:pt x="86767" y="85204"/>
                </a:cubicBezTo>
                <a:lnTo>
                  <a:pt x="134334" y="63230"/>
                </a:lnTo>
                <a:lnTo>
                  <a:pt x="144207" y="67804"/>
                </a:lnTo>
                <a:cubicBezTo>
                  <a:pt x="146668" y="68933"/>
                  <a:pt x="148231" y="71394"/>
                  <a:pt x="148231" y="74116"/>
                </a:cubicBezTo>
                <a:cubicBezTo>
                  <a:pt x="148231" y="76837"/>
                  <a:pt x="146668" y="79298"/>
                  <a:pt x="144207" y="80427"/>
                </a:cubicBezTo>
                <a:lnTo>
                  <a:pt x="80919" y="109668"/>
                </a:lnTo>
                <a:cubicBezTo>
                  <a:pt x="76605" y="111665"/>
                  <a:pt x="71626" y="111665"/>
                  <a:pt x="67312" y="109668"/>
                </a:cubicBezTo>
                <a:lnTo>
                  <a:pt x="4024" y="80427"/>
                </a:lnTo>
                <a:cubicBezTo>
                  <a:pt x="1563" y="79269"/>
                  <a:pt x="0" y="76808"/>
                  <a:pt x="0" y="74116"/>
                </a:cubicBezTo>
                <a:cubicBezTo>
                  <a:pt x="0" y="71423"/>
                  <a:pt x="1563" y="68933"/>
                  <a:pt x="4024" y="67804"/>
                </a:cubicBezTo>
                <a:lnTo>
                  <a:pt x="13897" y="63230"/>
                </a:lnTo>
                <a:close/>
                <a:moveTo>
                  <a:pt x="4024" y="104862"/>
                </a:moveTo>
                <a:lnTo>
                  <a:pt x="13897" y="100288"/>
                </a:lnTo>
                <a:lnTo>
                  <a:pt x="61464" y="122262"/>
                </a:lnTo>
                <a:cubicBezTo>
                  <a:pt x="69483" y="125967"/>
                  <a:pt x="78719" y="125967"/>
                  <a:pt x="86738" y="122262"/>
                </a:cubicBezTo>
                <a:lnTo>
                  <a:pt x="134305" y="100288"/>
                </a:lnTo>
                <a:lnTo>
                  <a:pt x="144178" y="104862"/>
                </a:lnTo>
                <a:cubicBezTo>
                  <a:pt x="146639" y="105991"/>
                  <a:pt x="148202" y="108452"/>
                  <a:pt x="148202" y="111173"/>
                </a:cubicBezTo>
                <a:cubicBezTo>
                  <a:pt x="148202" y="113895"/>
                  <a:pt x="146639" y="116356"/>
                  <a:pt x="144178" y="117485"/>
                </a:cubicBezTo>
                <a:lnTo>
                  <a:pt x="80890" y="146726"/>
                </a:lnTo>
                <a:cubicBezTo>
                  <a:pt x="76576" y="148723"/>
                  <a:pt x="71597" y="148723"/>
                  <a:pt x="67283" y="146726"/>
                </a:cubicBezTo>
                <a:lnTo>
                  <a:pt x="4024" y="117485"/>
                </a:lnTo>
                <a:cubicBezTo>
                  <a:pt x="1563" y="116327"/>
                  <a:pt x="0" y="113866"/>
                  <a:pt x="0" y="111173"/>
                </a:cubicBezTo>
                <a:cubicBezTo>
                  <a:pt x="0" y="108481"/>
                  <a:pt x="1563" y="105991"/>
                  <a:pt x="4024" y="10486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7825989" y="1825094"/>
            <a:ext cx="9635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多级缓存机制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66585" y="2121556"/>
            <a:ext cx="404855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L1内存→L2 Redis→L3 MongoDB,性能提升10倍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55411" y="2492134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85114" y="264036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38737" y="10509"/>
                </a:moveTo>
                <a:cubicBezTo>
                  <a:pt x="41893" y="12710"/>
                  <a:pt x="42645" y="17052"/>
                  <a:pt x="40445" y="20179"/>
                </a:cubicBezTo>
                <a:lnTo>
                  <a:pt x="24232" y="43340"/>
                </a:lnTo>
                <a:cubicBezTo>
                  <a:pt x="23045" y="45019"/>
                  <a:pt x="21192" y="46091"/>
                  <a:pt x="19137" y="46264"/>
                </a:cubicBezTo>
                <a:cubicBezTo>
                  <a:pt x="17081" y="46438"/>
                  <a:pt x="15055" y="45743"/>
                  <a:pt x="13607" y="44296"/>
                </a:cubicBezTo>
                <a:lnTo>
                  <a:pt x="2027" y="32715"/>
                </a:lnTo>
                <a:cubicBezTo>
                  <a:pt x="-666" y="29994"/>
                  <a:pt x="-666" y="25593"/>
                  <a:pt x="2027" y="22872"/>
                </a:cubicBezTo>
                <a:cubicBezTo>
                  <a:pt x="4719" y="20150"/>
                  <a:pt x="9149" y="20179"/>
                  <a:pt x="11870" y="22872"/>
                </a:cubicBezTo>
                <a:lnTo>
                  <a:pt x="17602" y="28604"/>
                </a:lnTo>
                <a:lnTo>
                  <a:pt x="29067" y="12217"/>
                </a:lnTo>
                <a:cubicBezTo>
                  <a:pt x="31267" y="9062"/>
                  <a:pt x="35610" y="8309"/>
                  <a:pt x="38737" y="10509"/>
                </a:cubicBezTo>
                <a:close/>
                <a:moveTo>
                  <a:pt x="38737" y="56832"/>
                </a:moveTo>
                <a:cubicBezTo>
                  <a:pt x="41893" y="59032"/>
                  <a:pt x="42645" y="63375"/>
                  <a:pt x="40445" y="66501"/>
                </a:cubicBezTo>
                <a:lnTo>
                  <a:pt x="24232" y="89662"/>
                </a:lnTo>
                <a:cubicBezTo>
                  <a:pt x="23045" y="91342"/>
                  <a:pt x="21192" y="92413"/>
                  <a:pt x="19137" y="92586"/>
                </a:cubicBezTo>
                <a:cubicBezTo>
                  <a:pt x="17081" y="92760"/>
                  <a:pt x="15055" y="92065"/>
                  <a:pt x="13607" y="90618"/>
                </a:cubicBezTo>
                <a:lnTo>
                  <a:pt x="2027" y="79037"/>
                </a:lnTo>
                <a:cubicBezTo>
                  <a:pt x="-695" y="76316"/>
                  <a:pt x="-695" y="71915"/>
                  <a:pt x="2027" y="69223"/>
                </a:cubicBezTo>
                <a:cubicBezTo>
                  <a:pt x="4748" y="66530"/>
                  <a:pt x="9149" y="66501"/>
                  <a:pt x="11841" y="69223"/>
                </a:cubicBezTo>
                <a:lnTo>
                  <a:pt x="17573" y="74955"/>
                </a:lnTo>
                <a:lnTo>
                  <a:pt x="29038" y="58569"/>
                </a:lnTo>
                <a:cubicBezTo>
                  <a:pt x="31239" y="55413"/>
                  <a:pt x="35581" y="54660"/>
                  <a:pt x="38708" y="56860"/>
                </a:cubicBezTo>
                <a:close/>
                <a:moveTo>
                  <a:pt x="64851" y="27793"/>
                </a:moveTo>
                <a:cubicBezTo>
                  <a:pt x="64851" y="22669"/>
                  <a:pt x="68991" y="18529"/>
                  <a:pt x="74116" y="18529"/>
                </a:cubicBezTo>
                <a:lnTo>
                  <a:pt x="138967" y="18529"/>
                </a:lnTo>
                <a:cubicBezTo>
                  <a:pt x="144091" y="18529"/>
                  <a:pt x="148231" y="22669"/>
                  <a:pt x="148231" y="27793"/>
                </a:cubicBezTo>
                <a:cubicBezTo>
                  <a:pt x="148231" y="32918"/>
                  <a:pt x="144091" y="37058"/>
                  <a:pt x="138967" y="37058"/>
                </a:cubicBezTo>
                <a:lnTo>
                  <a:pt x="74116" y="37058"/>
                </a:lnTo>
                <a:cubicBezTo>
                  <a:pt x="68991" y="37058"/>
                  <a:pt x="64851" y="32918"/>
                  <a:pt x="64851" y="27793"/>
                </a:cubicBezTo>
                <a:close/>
                <a:moveTo>
                  <a:pt x="64851" y="74116"/>
                </a:moveTo>
                <a:cubicBezTo>
                  <a:pt x="64851" y="68991"/>
                  <a:pt x="68991" y="64851"/>
                  <a:pt x="74116" y="64851"/>
                </a:cubicBezTo>
                <a:lnTo>
                  <a:pt x="138967" y="64851"/>
                </a:lnTo>
                <a:cubicBezTo>
                  <a:pt x="144091" y="64851"/>
                  <a:pt x="148231" y="68991"/>
                  <a:pt x="148231" y="74116"/>
                </a:cubicBezTo>
                <a:cubicBezTo>
                  <a:pt x="148231" y="79240"/>
                  <a:pt x="144091" y="83380"/>
                  <a:pt x="138967" y="83380"/>
                </a:cubicBezTo>
                <a:lnTo>
                  <a:pt x="74116" y="83380"/>
                </a:lnTo>
                <a:cubicBezTo>
                  <a:pt x="68991" y="83380"/>
                  <a:pt x="64851" y="79240"/>
                  <a:pt x="64851" y="74116"/>
                </a:cubicBezTo>
                <a:close/>
                <a:moveTo>
                  <a:pt x="46322" y="120438"/>
                </a:moveTo>
                <a:cubicBezTo>
                  <a:pt x="46322" y="115313"/>
                  <a:pt x="50462" y="111173"/>
                  <a:pt x="55587" y="111173"/>
                </a:cubicBezTo>
                <a:lnTo>
                  <a:pt x="138967" y="111173"/>
                </a:lnTo>
                <a:cubicBezTo>
                  <a:pt x="144091" y="111173"/>
                  <a:pt x="148231" y="115313"/>
                  <a:pt x="148231" y="120438"/>
                </a:cubicBezTo>
                <a:cubicBezTo>
                  <a:pt x="148231" y="125562"/>
                  <a:pt x="144091" y="129702"/>
                  <a:pt x="138967" y="129702"/>
                </a:cubicBezTo>
                <a:lnTo>
                  <a:pt x="55587" y="129702"/>
                </a:lnTo>
                <a:cubicBezTo>
                  <a:pt x="50462" y="129702"/>
                  <a:pt x="46322" y="125562"/>
                  <a:pt x="46322" y="120438"/>
                </a:cubicBezTo>
                <a:close/>
                <a:moveTo>
                  <a:pt x="18529" y="108857"/>
                </a:moveTo>
                <a:cubicBezTo>
                  <a:pt x="24920" y="108857"/>
                  <a:pt x="30109" y="114046"/>
                  <a:pt x="30109" y="120438"/>
                </a:cubicBezTo>
                <a:cubicBezTo>
                  <a:pt x="30109" y="126829"/>
                  <a:pt x="24920" y="132018"/>
                  <a:pt x="18529" y="132018"/>
                </a:cubicBezTo>
                <a:cubicBezTo>
                  <a:pt x="12137" y="132018"/>
                  <a:pt x="6948" y="126829"/>
                  <a:pt x="6948" y="120438"/>
                </a:cubicBezTo>
                <a:cubicBezTo>
                  <a:pt x="6948" y="114046"/>
                  <a:pt x="12137" y="108857"/>
                  <a:pt x="18529" y="10885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7"/>
          <p:cNvSpPr/>
          <p:nvPr/>
        </p:nvSpPr>
        <p:spPr>
          <a:xfrm>
            <a:off x="7825989" y="2603307"/>
            <a:ext cx="9635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任务队列管理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66585" y="2899769"/>
            <a:ext cx="404855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Redis队列+Worker进程,支持高并发处理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55411" y="3270347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85114" y="341857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5447" y="0"/>
                  <a:pt x="76779" y="290"/>
                  <a:pt x="77995" y="840"/>
                </a:cubicBezTo>
                <a:lnTo>
                  <a:pt x="132539" y="23972"/>
                </a:lnTo>
                <a:cubicBezTo>
                  <a:pt x="138909" y="26664"/>
                  <a:pt x="143657" y="32947"/>
                  <a:pt x="143628" y="40532"/>
                </a:cubicBezTo>
                <a:cubicBezTo>
                  <a:pt x="143483" y="69252"/>
                  <a:pt x="131671" y="121798"/>
                  <a:pt x="81788" y="145683"/>
                </a:cubicBezTo>
                <a:cubicBezTo>
                  <a:pt x="76953" y="147999"/>
                  <a:pt x="71336" y="147999"/>
                  <a:pt x="66501" y="145683"/>
                </a:cubicBezTo>
                <a:cubicBezTo>
                  <a:pt x="16589" y="121798"/>
                  <a:pt x="4806" y="69252"/>
                  <a:pt x="4661" y="40532"/>
                </a:cubicBezTo>
                <a:cubicBezTo>
                  <a:pt x="4632" y="32947"/>
                  <a:pt x="9380" y="26664"/>
                  <a:pt x="15750" y="23972"/>
                </a:cubicBezTo>
                <a:lnTo>
                  <a:pt x="70265" y="840"/>
                </a:lnTo>
                <a:cubicBezTo>
                  <a:pt x="71481" y="290"/>
                  <a:pt x="72784" y="0"/>
                  <a:pt x="74116" y="0"/>
                </a:cubicBezTo>
                <a:close/>
                <a:moveTo>
                  <a:pt x="74116" y="19340"/>
                </a:moveTo>
                <a:lnTo>
                  <a:pt x="74116" y="128805"/>
                </a:lnTo>
                <a:cubicBezTo>
                  <a:pt x="114068" y="109465"/>
                  <a:pt x="124809" y="66617"/>
                  <a:pt x="125070" y="40966"/>
                </a:cubicBezTo>
                <a:lnTo>
                  <a:pt x="74116" y="19368"/>
                </a:lnTo>
                <a:lnTo>
                  <a:pt x="74116" y="1936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3" name="Text 51"/>
          <p:cNvSpPr/>
          <p:nvPr/>
        </p:nvSpPr>
        <p:spPr>
          <a:xfrm>
            <a:off x="7825989" y="3381520"/>
            <a:ext cx="9635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数据质量保障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66585" y="3677982"/>
            <a:ext cx="404855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验证→清洗→标准化,降级策略保障可用性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55411" y="4048559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4378" y="4196790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98087" y="-2866"/>
                </a:moveTo>
                <a:cubicBezTo>
                  <a:pt x="101532" y="-376"/>
                  <a:pt x="102806" y="4140"/>
                  <a:pt x="101243" y="8077"/>
                </a:cubicBezTo>
                <a:lnTo>
                  <a:pt x="78545" y="64851"/>
                </a:lnTo>
                <a:lnTo>
                  <a:pt x="120438" y="64851"/>
                </a:lnTo>
                <a:cubicBezTo>
                  <a:pt x="124346" y="64851"/>
                  <a:pt x="127820" y="67283"/>
                  <a:pt x="129152" y="70960"/>
                </a:cubicBezTo>
                <a:cubicBezTo>
                  <a:pt x="130484" y="74637"/>
                  <a:pt x="129355" y="78748"/>
                  <a:pt x="126373" y="81238"/>
                </a:cubicBezTo>
                <a:lnTo>
                  <a:pt x="42993" y="150721"/>
                </a:lnTo>
                <a:cubicBezTo>
                  <a:pt x="39721" y="153442"/>
                  <a:pt x="35060" y="153587"/>
                  <a:pt x="31615" y="151097"/>
                </a:cubicBezTo>
                <a:cubicBezTo>
                  <a:pt x="28170" y="148607"/>
                  <a:pt x="26896" y="144091"/>
                  <a:pt x="28459" y="140154"/>
                </a:cubicBezTo>
                <a:lnTo>
                  <a:pt x="51157" y="83380"/>
                </a:lnTo>
                <a:lnTo>
                  <a:pt x="9264" y="83380"/>
                </a:lnTo>
                <a:cubicBezTo>
                  <a:pt x="5356" y="83380"/>
                  <a:pt x="1882" y="80948"/>
                  <a:pt x="550" y="77271"/>
                </a:cubicBezTo>
                <a:cubicBezTo>
                  <a:pt x="-782" y="73594"/>
                  <a:pt x="347" y="69483"/>
                  <a:pt x="3329" y="66993"/>
                </a:cubicBezTo>
                <a:lnTo>
                  <a:pt x="86709" y="-2490"/>
                </a:lnTo>
                <a:cubicBezTo>
                  <a:pt x="89981" y="-5211"/>
                  <a:pt x="94642" y="-5356"/>
                  <a:pt x="98087" y="-286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Text 55"/>
          <p:cNvSpPr/>
          <p:nvPr/>
        </p:nvSpPr>
        <p:spPr>
          <a:xfrm>
            <a:off x="7825989" y="4159733"/>
            <a:ext cx="9635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实时推送机制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66585" y="4456195"/>
            <a:ext cx="404855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SSE/WebSocket实时推送分析进度和结果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02548" y="5025957"/>
            <a:ext cx="4511781" cy="1825094"/>
          </a:xfrm>
          <a:custGeom>
            <a:avLst/>
            <a:gdLst/>
            <a:ahLst/>
            <a:cxnLst/>
            <a:rect l="l" t="t" r="r" b="b"/>
            <a:pathLst>
              <a:path w="4511781" h="1825094">
                <a:moveTo>
                  <a:pt x="111166" y="0"/>
                </a:moveTo>
                <a:lnTo>
                  <a:pt x="4400615" y="0"/>
                </a:lnTo>
                <a:cubicBezTo>
                  <a:pt x="4462010" y="0"/>
                  <a:pt x="4511781" y="49771"/>
                  <a:pt x="4511781" y="111166"/>
                </a:cubicBezTo>
                <a:lnTo>
                  <a:pt x="4511781" y="1713928"/>
                </a:lnTo>
                <a:cubicBezTo>
                  <a:pt x="4511781" y="1775323"/>
                  <a:pt x="4462010" y="1825094"/>
                  <a:pt x="4400615" y="1825094"/>
                </a:cubicBezTo>
                <a:lnTo>
                  <a:pt x="111166" y="1825094"/>
                </a:lnTo>
                <a:cubicBezTo>
                  <a:pt x="49771" y="1825094"/>
                  <a:pt x="0" y="1775323"/>
                  <a:pt x="0" y="1713928"/>
                </a:cubicBezTo>
                <a:lnTo>
                  <a:pt x="0" y="111166"/>
                </a:lnTo>
                <a:cubicBezTo>
                  <a:pt x="0" y="49771"/>
                  <a:pt x="49771" y="0"/>
                  <a:pt x="11116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13722" y="5178821"/>
            <a:ext cx="428943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422986" y="5549398"/>
            <a:ext cx="213082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27618" y="5734687"/>
            <a:ext cx="212155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前端框架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562203" y="5549398"/>
            <a:ext cx="213082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566835" y="5734687"/>
            <a:ext cx="212155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后端框架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22986" y="5957033"/>
            <a:ext cx="213082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427618" y="6142322"/>
            <a:ext cx="212155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主数据库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562203" y="5957033"/>
            <a:ext cx="213082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566835" y="6142322"/>
            <a:ext cx="212155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缓存队列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422986" y="6364669"/>
            <a:ext cx="213082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427618" y="6549957"/>
            <a:ext cx="212155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智能体框架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562203" y="6364669"/>
            <a:ext cx="213082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566835" y="6549957"/>
            <a:ext cx="212155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LLM集成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55ded1231289ffa189f48a829b77f4bae149769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66" b="7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0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核心价值总结与展望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Value Summary &amp; Future Outlook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22396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9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8175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1038225" y="14382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技术领先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2925" y="1838325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多智能体协作,行业首创,3-5年技术领先优势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26148" y="122396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83310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078560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5" name="Text 12"/>
          <p:cNvSpPr/>
          <p:nvPr/>
        </p:nvSpPr>
        <p:spPr>
          <a:xfrm>
            <a:off x="4478610" y="14382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功能全面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83310" y="1838325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4个分析维度全覆盖,10+专业智能体协作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230981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2925" y="2466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38175" y="2562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Text 17"/>
          <p:cNvSpPr/>
          <p:nvPr/>
        </p:nvSpPr>
        <p:spPr>
          <a:xfrm>
            <a:off x="1038225" y="25241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体验优秀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2925" y="2924175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现代化Web界面,SSE实时推送,响应式设计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26148" y="230981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83310" y="2466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090467" y="2562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2"/>
          <p:cNvSpPr/>
          <p:nvPr/>
        </p:nvSpPr>
        <p:spPr>
          <a:xfrm>
            <a:off x="4478610" y="25241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生态开放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983310" y="2924175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API开放,支持定制,多LLM/数据源支持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3395663"/>
            <a:ext cx="6753225" cy="2733675"/>
          </a:xfrm>
          <a:custGeom>
            <a:avLst/>
            <a:gdLst/>
            <a:ahLst/>
            <a:cxnLst/>
            <a:rect l="l" t="t" r="r" b="b"/>
            <a:pathLst>
              <a:path w="6753225" h="2733675">
                <a:moveTo>
                  <a:pt x="114295" y="0"/>
                </a:moveTo>
                <a:lnTo>
                  <a:pt x="6638930" y="0"/>
                </a:lnTo>
                <a:cubicBezTo>
                  <a:pt x="6702053" y="0"/>
                  <a:pt x="6753225" y="51172"/>
                  <a:pt x="6753225" y="114295"/>
                </a:cubicBezTo>
                <a:lnTo>
                  <a:pt x="6753225" y="2619380"/>
                </a:lnTo>
                <a:cubicBezTo>
                  <a:pt x="6753225" y="2682503"/>
                  <a:pt x="6702053" y="2733675"/>
                  <a:pt x="6638930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738" y="3590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6"/>
          <p:cNvSpPr/>
          <p:nvPr/>
        </p:nvSpPr>
        <p:spPr>
          <a:xfrm>
            <a:off x="781050" y="3552825"/>
            <a:ext cx="629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商业前景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66738" y="4162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8"/>
          <p:cNvSpPr/>
          <p:nvPr/>
        </p:nvSpPr>
        <p:spPr>
          <a:xfrm>
            <a:off x="871538" y="40386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市场规模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71538" y="426720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智能投顾市场5000亿+,年增长25%+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6738" y="4867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1"/>
          <p:cNvSpPr/>
          <p:nvPr/>
        </p:nvSpPr>
        <p:spPr>
          <a:xfrm>
            <a:off x="871538" y="474345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目标客户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71538" y="49720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个人投资者2亿+,机构客户数万家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66738" y="5572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Text 34"/>
          <p:cNvSpPr/>
          <p:nvPr/>
        </p:nvSpPr>
        <p:spPr>
          <a:xfrm>
            <a:off x="871538" y="54483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3年目标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71538" y="56769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2万付费用户,收入2亿元,利润率60%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304708" y="1223963"/>
            <a:ext cx="4505325" cy="3667125"/>
          </a:xfrm>
          <a:custGeom>
            <a:avLst/>
            <a:gdLst/>
            <a:ahLst/>
            <a:cxnLst/>
            <a:rect l="l" t="t" r="r" b="b"/>
            <a:pathLst>
              <a:path w="4505325" h="3667125">
                <a:moveTo>
                  <a:pt x="114304" y="0"/>
                </a:moveTo>
                <a:lnTo>
                  <a:pt x="4391021" y="0"/>
                </a:lnTo>
                <a:cubicBezTo>
                  <a:pt x="4454149" y="0"/>
                  <a:pt x="4505325" y="51176"/>
                  <a:pt x="4505325" y="114304"/>
                </a:cubicBezTo>
                <a:lnTo>
                  <a:pt x="4505325" y="3552821"/>
                </a:lnTo>
                <a:cubicBezTo>
                  <a:pt x="4505325" y="3615949"/>
                  <a:pt x="4454149" y="3667125"/>
                  <a:pt x="4391021" y="3667125"/>
                </a:cubicBezTo>
                <a:lnTo>
                  <a:pt x="114304" y="3667125"/>
                </a:lnTo>
                <a:cubicBezTo>
                  <a:pt x="51176" y="3667125"/>
                  <a:pt x="0" y="3615949"/>
                  <a:pt x="0" y="3552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61870" y="1419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8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461870" y="1762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7585695" y="19145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1"/>
          <p:cNvSpPr/>
          <p:nvPr/>
        </p:nvSpPr>
        <p:spPr>
          <a:xfrm>
            <a:off x="7842870" y="187642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576170" y="2143125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 + Element Plus,现代化单页应用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61870" y="2524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604745" y="2676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5"/>
          <p:cNvSpPr/>
          <p:nvPr/>
        </p:nvSpPr>
        <p:spPr>
          <a:xfrm>
            <a:off x="7842870" y="263842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576170" y="2905125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 + MongoDB + Redis,高性能架构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61870" y="3286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595220" y="3438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Text 49"/>
          <p:cNvSpPr/>
          <p:nvPr/>
        </p:nvSpPr>
        <p:spPr>
          <a:xfrm>
            <a:off x="7842870" y="34004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分析引擎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576170" y="3667125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多智能体协作,LangGraph工作流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461870" y="4048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604745" y="4200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6" name="Text 53"/>
          <p:cNvSpPr/>
          <p:nvPr/>
        </p:nvSpPr>
        <p:spPr>
          <a:xfrm>
            <a:off x="7842870" y="41624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576170" y="4429125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多数据源融合,智能缓存机制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304708" y="5014913"/>
            <a:ext cx="4505325" cy="1114425"/>
          </a:xfrm>
          <a:custGeom>
            <a:avLst/>
            <a:gdLst/>
            <a:ahLst/>
            <a:cxnLst/>
            <a:rect l="l" t="t" r="r" b="b"/>
            <a:pathLst>
              <a:path w="4505325" h="1114425">
                <a:moveTo>
                  <a:pt x="114295" y="0"/>
                </a:moveTo>
                <a:lnTo>
                  <a:pt x="4391030" y="0"/>
                </a:lnTo>
                <a:cubicBezTo>
                  <a:pt x="4454111" y="0"/>
                  <a:pt x="4505325" y="51214"/>
                  <a:pt x="4505325" y="114295"/>
                </a:cubicBezTo>
                <a:lnTo>
                  <a:pt x="4505325" y="1000130"/>
                </a:lnTo>
                <a:cubicBezTo>
                  <a:pt x="4505325" y="1063211"/>
                  <a:pt x="4454111" y="1114425"/>
                  <a:pt x="43910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04720" y="5172075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期待与您合作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963695" y="558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1" name="Text 58"/>
          <p:cNvSpPr/>
          <p:nvPr/>
        </p:nvSpPr>
        <p:spPr>
          <a:xfrm>
            <a:off x="9154195" y="555307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hsliup@163.com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8799537" y="5810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3" name="Text 60"/>
          <p:cNvSpPr/>
          <p:nvPr/>
        </p:nvSpPr>
        <p:spPr>
          <a:xfrm>
            <a:off x="8990037" y="5781675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GitHub: Ares智能研报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842867" y="6253163"/>
            <a:ext cx="2505075" cy="428625"/>
          </a:xfrm>
          <a:custGeom>
            <a:avLst/>
            <a:gdLst/>
            <a:ahLst/>
            <a:cxnLst/>
            <a:rect l="l" t="t" r="r" b="b"/>
            <a:pathLst>
              <a:path w="2505075" h="428625">
                <a:moveTo>
                  <a:pt x="76201" y="0"/>
                </a:moveTo>
                <a:lnTo>
                  <a:pt x="2428874" y="0"/>
                </a:lnTo>
                <a:cubicBezTo>
                  <a:pt x="2470959" y="0"/>
                  <a:pt x="2505075" y="34116"/>
                  <a:pt x="2505075" y="76201"/>
                </a:cubicBezTo>
                <a:lnTo>
                  <a:pt x="2505075" y="352424"/>
                </a:lnTo>
                <a:cubicBezTo>
                  <a:pt x="2505075" y="394509"/>
                  <a:pt x="2470959" y="428625"/>
                  <a:pt x="24288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033367" y="6353175"/>
            <a:ext cx="2125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让AI成为您的专业投资顾问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智能研报 - 商业演示</dc:title>
  <dc:subject>Ares 智能研报 - 商业演示</dc:subject>
  <dc:creator>Kimi</dc:creator>
  <cp:lastModifiedBy>Kimi</cp:lastModifiedBy>
  <cp:revision>1</cp:revision>
  <dcterms:created xsi:type="dcterms:W3CDTF">2026-02-13T12:30:34Z</dcterms:created>
  <dcterms:modified xsi:type="dcterms:W3CDTF">2026-02-13T12:30:34Z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{"Label":"Ares 智能研报 - 商业演示","ContentProducer":"001191110108MACG2KBH8F10000","ProduceID":"19c56f52-7cb2-82c1-8000-000097857bd9","ReservedCode1":"","ContentPropagator":"001191110108MACG2KBH8F20000","PropagateID":"19c56f52-7cb2-82c1-8000-000097857bd9","ReservedCode2":""}</vt:lpwstr>
  </property>
</Properties>
</file>
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4375" y="1239441"/>
            <a:ext cx="4182666" cy="15716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6200"/>
              </a:lnSpc>
              <a:buNone/>
            </a:pPr>
            <a:r>
              <a:rPr lang="en-US" sz="5180" b="1" kern="0" spc="-2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Ares</a:t>
            </a:r>
            <a:r>
              <a:rPr lang="en-US" sz="5180" b="1" kern="0" spc="-2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r>
              <a:rPr lang="en-US" sz="5180" b="1" kern="0" spc="-2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智能研报</a:t>
            </a:r>
            <a:endParaRPr lang="en-US" sz="5180" dirty="0"/>
          </a:p>
        </p:txBody>
      </p:sp>
      <p:sp>
        <p:nvSpPr>
          <p:cNvPr id="4" name="Text 1"/>
          <p:cNvSpPr/>
          <p:nvPr/>
        </p:nvSpPr>
        <p:spPr>
          <a:xfrm>
            <a:off x="714375" y="2982516"/>
            <a:ext cx="4182666" cy="37147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25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基于多智能体 AI 的智能金融分析平台</a:t>
            </a:r>
            <a:endParaRPr lang="en-US" sz="1925" dirty="0"/>
          </a:p>
        </p:txBody>
      </p:sp>
      <p:sp>
        <p:nvSpPr>
          <p:cNvPr id="5" name="Text 2"/>
          <p:cNvSpPr/>
          <p:nvPr/>
        </p:nvSpPr>
        <p:spPr>
          <a:xfrm>
            <a:off x="714375" y="3696891"/>
            <a:ext cx="4182666" cy="207169"/>
          </a:xfrm>
          <a:prstGeom prst="rect">
            <a:avLst/>
          </a:prstGeom>
          <a:noFill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速度 × 深度 × 透明度 — 重新定义投研标准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14375" y="571500"/>
            <a:ext cx="885825" cy="862608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4" name="Shape 1"/>
          <p:cNvSpPr/>
          <p:nvPr/>
        </p:nvSpPr>
        <p:spPr>
          <a:xfrm>
            <a:off x="714375" y="1376958"/>
            <a:ext cx="885825" cy="5715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5" name="Text 2"/>
          <p:cNvSpPr/>
          <p:nvPr/>
        </p:nvSpPr>
        <p:spPr>
          <a:xfrm>
            <a:off x="714375" y="571500"/>
            <a:ext cx="885825" cy="66258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295" b="1" kern="0" spc="-2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目录</a:t>
            </a:r>
            <a:endParaRPr lang="en-US" sz="3295" dirty="0"/>
          </a:p>
        </p:txBody>
      </p:sp>
      <p:sp>
        <p:nvSpPr>
          <p:cNvPr id="6" name="Text 3"/>
          <p:cNvSpPr/>
          <p:nvPr/>
        </p:nvSpPr>
        <p:spPr>
          <a:xfrm>
            <a:off x="714375" y="1719858"/>
            <a:ext cx="857250" cy="41433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5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2435" dirty="0"/>
          </a:p>
        </p:txBody>
      </p:sp>
      <p:sp>
        <p:nvSpPr>
          <p:cNvPr id="7" name="Text 4"/>
          <p:cNvSpPr/>
          <p:nvPr/>
        </p:nvSpPr>
        <p:spPr>
          <a:xfrm>
            <a:off x="1571625" y="1719858"/>
            <a:ext cx="2009180" cy="33039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核心技术架构设计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571625" y="2078831"/>
            <a:ext cx="2009180" cy="18752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TradingAgents 框架 · 多 LLM 兼容</a:t>
            </a:r>
            <a:endParaRPr lang="en-US" sz="940" dirty="0"/>
          </a:p>
        </p:txBody>
      </p:sp>
      <p:sp>
        <p:nvSpPr>
          <p:cNvPr id="9" name="Text 6"/>
          <p:cNvSpPr/>
          <p:nvPr/>
        </p:nvSpPr>
        <p:spPr>
          <a:xfrm>
            <a:off x="4714875" y="1719858"/>
            <a:ext cx="857250" cy="41433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5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2435" dirty="0"/>
          </a:p>
        </p:txBody>
      </p:sp>
      <p:sp>
        <p:nvSpPr>
          <p:cNvPr id="10" name="Text 7"/>
          <p:cNvSpPr/>
          <p:nvPr/>
        </p:nvSpPr>
        <p:spPr>
          <a:xfrm>
            <a:off x="5572125" y="1719858"/>
            <a:ext cx="2286000" cy="33039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数据流程与智能决策链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572125" y="2078831"/>
            <a:ext cx="2286000" cy="18752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多源数据 · NLP 情緒 · 决策融合</a:t>
            </a:r>
            <a:endParaRPr lang="en-US" sz="940" dirty="0"/>
          </a:p>
        </p:txBody>
      </p:sp>
      <p:sp>
        <p:nvSpPr>
          <p:cNvPr id="12" name="Text 9"/>
          <p:cNvSpPr/>
          <p:nvPr/>
        </p:nvSpPr>
        <p:spPr>
          <a:xfrm>
            <a:off x="714375" y="2587823"/>
            <a:ext cx="857250" cy="41433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5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2435" dirty="0"/>
          </a:p>
        </p:txBody>
      </p:sp>
      <p:sp>
        <p:nvSpPr>
          <p:cNvPr id="13" name="Text 10"/>
          <p:cNvSpPr/>
          <p:nvPr/>
        </p:nvSpPr>
        <p:spPr>
          <a:xfrm>
            <a:off x="1571625" y="2587823"/>
            <a:ext cx="2057400" cy="33039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项目定位与核心价值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571625" y="2946797"/>
            <a:ext cx="2057400" cy="18752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原生 · 四维分析 · 机构级平民化</a:t>
            </a:r>
            <a:endParaRPr lang="en-US" sz="940" dirty="0"/>
          </a:p>
        </p:txBody>
      </p:sp>
      <p:sp>
        <p:nvSpPr>
          <p:cNvPr id="15" name="Text 12"/>
          <p:cNvSpPr/>
          <p:nvPr/>
        </p:nvSpPr>
        <p:spPr>
          <a:xfrm>
            <a:off x="4714875" y="2587823"/>
            <a:ext cx="857250" cy="41433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5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2435" dirty="0"/>
          </a:p>
        </p:txBody>
      </p:sp>
      <p:sp>
        <p:nvSpPr>
          <p:cNvPr id="16" name="Text 13"/>
          <p:cNvSpPr/>
          <p:nvPr/>
        </p:nvSpPr>
        <p:spPr>
          <a:xfrm>
            <a:off x="5572125" y="2587823"/>
            <a:ext cx="1828800" cy="33039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市场竞争优势分析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572125" y="2946797"/>
            <a:ext cx="1828800" cy="18752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对比传统量化 · 對比人工投研</a:t>
            </a:r>
            <a:endParaRPr lang="en-US" sz="940" dirty="0"/>
          </a:p>
        </p:txBody>
      </p:sp>
      <p:sp>
        <p:nvSpPr>
          <p:cNvPr id="18" name="Text 15"/>
          <p:cNvSpPr/>
          <p:nvPr/>
        </p:nvSpPr>
        <p:spPr>
          <a:xfrm>
            <a:off x="714375" y="3455789"/>
            <a:ext cx="857250" cy="41433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5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2435" dirty="0"/>
          </a:p>
        </p:txBody>
      </p:sp>
      <p:sp>
        <p:nvSpPr>
          <p:cNvPr id="19" name="Text 16"/>
          <p:cNvSpPr/>
          <p:nvPr/>
        </p:nvSpPr>
        <p:spPr>
          <a:xfrm>
            <a:off x="1571625" y="3455789"/>
            <a:ext cx="2057400" cy="33039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商业模式与盈利路径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571625" y="3814763"/>
            <a:ext cx="2057400" cy="18752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分层定价 · 三年财务预测 · 增长路径</a:t>
            </a:r>
            <a:endParaRPr lang="en-US" sz="9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4375" y="428625"/>
            <a:ext cx="7715250" cy="16430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5" b="1" kern="0" spc="2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核心技术架构设计</a:t>
            </a:r>
            <a:endParaRPr lang="en-US" sz="785" dirty="0"/>
          </a:p>
        </p:txBody>
      </p:sp>
      <p:sp>
        <p:nvSpPr>
          <p:cNvPr id="4" name="Text 1"/>
          <p:cNvSpPr/>
          <p:nvPr/>
        </p:nvSpPr>
        <p:spPr>
          <a:xfrm>
            <a:off x="714375" y="678656"/>
            <a:ext cx="7715250" cy="33430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810" b="1" kern="0" spc="-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核心引擎基于 TradingAgents 框架，实现多智能体协同与全程可追溯</a:t>
            </a:r>
            <a:endParaRPr lang="en-US" sz="1810" dirty="0"/>
          </a:p>
        </p:txBody>
      </p:sp>
      <p:sp>
        <p:nvSpPr>
          <p:cNvPr id="5" name="Shape 2"/>
          <p:cNvSpPr/>
          <p:nvPr/>
        </p:nvSpPr>
        <p:spPr>
          <a:xfrm>
            <a:off x="714375" y="1355861"/>
            <a:ext cx="2381241" cy="2800015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6" name="Shape 3"/>
          <p:cNvSpPr/>
          <p:nvPr/>
        </p:nvSpPr>
        <p:spPr>
          <a:xfrm>
            <a:off x="714375" y="1355861"/>
            <a:ext cx="2381241" cy="42863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7" name="Text 4"/>
          <p:cNvSpPr/>
          <p:nvPr/>
        </p:nvSpPr>
        <p:spPr>
          <a:xfrm>
            <a:off x="885825" y="1584461"/>
            <a:ext cx="2038341" cy="28932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模块化架构</a:t>
            </a:r>
            <a:endParaRPr lang="en-US" sz="1395" dirty="0"/>
          </a:p>
        </p:txBody>
      </p:sp>
      <p:sp>
        <p:nvSpPr>
          <p:cNvPr id="8" name="Text 5"/>
          <p:cNvSpPr/>
          <p:nvPr/>
        </p:nvSpPr>
        <p:spPr>
          <a:xfrm>
            <a:off x="885825" y="2045233"/>
            <a:ext cx="86311" cy="20002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5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</a:t>
            </a:r>
            <a:endParaRPr lang="en-US" sz="985" dirty="0"/>
          </a:p>
        </p:txBody>
      </p:sp>
      <p:sp>
        <p:nvSpPr>
          <p:cNvPr id="9" name="Text 6"/>
          <p:cNvSpPr/>
          <p:nvPr/>
        </p:nvSpPr>
        <p:spPr>
          <a:xfrm>
            <a:off x="1057861" y="2045233"/>
            <a:ext cx="1866305" cy="54859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基于 LangGraph 工作流，图结构定义分析师、研究员、风险官等角色协作规则</a:t>
            </a:r>
            <a:endParaRPr lang="en-US" sz="835" dirty="0"/>
          </a:p>
        </p:txBody>
      </p:sp>
      <p:sp>
        <p:nvSpPr>
          <p:cNvPr id="10" name="Text 7"/>
          <p:cNvSpPr/>
          <p:nvPr/>
        </p:nvSpPr>
        <p:spPr>
          <a:xfrm>
            <a:off x="885825" y="2736698"/>
            <a:ext cx="86311" cy="20002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5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</a:t>
            </a:r>
            <a:endParaRPr lang="en-US" sz="985" dirty="0"/>
          </a:p>
        </p:txBody>
      </p:sp>
      <p:sp>
        <p:nvSpPr>
          <p:cNvPr id="11" name="Text 8"/>
          <p:cNvSpPr/>
          <p:nvPr/>
        </p:nvSpPr>
        <p:spPr>
          <a:xfrm>
            <a:off x="1057861" y="2736698"/>
            <a:ext cx="1866305" cy="36572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支持多智能体分工协作，各模块独立运行并协同处理任务</a:t>
            </a:r>
            <a:endParaRPr lang="en-US" sz="835" dirty="0"/>
          </a:p>
        </p:txBody>
      </p:sp>
      <p:sp>
        <p:nvSpPr>
          <p:cNvPr id="12" name="Text 9"/>
          <p:cNvSpPr/>
          <p:nvPr/>
        </p:nvSpPr>
        <p:spPr>
          <a:xfrm>
            <a:off x="885825" y="3245300"/>
            <a:ext cx="86311" cy="20002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5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</a:t>
            </a:r>
            <a:endParaRPr lang="en-US" sz="985" dirty="0"/>
          </a:p>
        </p:txBody>
      </p:sp>
      <p:sp>
        <p:nvSpPr>
          <p:cNvPr id="13" name="Text 10"/>
          <p:cNvSpPr/>
          <p:nvPr/>
        </p:nvSpPr>
        <p:spPr>
          <a:xfrm>
            <a:off x="1057861" y="3245300"/>
            <a:ext cx="1866305" cy="36572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可扩展设计便于集成新功能组件，适应多样化业务需求</a:t>
            </a:r>
            <a:endParaRPr lang="en-US" sz="835" dirty="0"/>
          </a:p>
        </p:txBody>
      </p:sp>
      <p:sp>
        <p:nvSpPr>
          <p:cNvPr id="14" name="Shape 11"/>
          <p:cNvSpPr/>
          <p:nvPr/>
        </p:nvSpPr>
        <p:spPr>
          <a:xfrm>
            <a:off x="3381366" y="1355861"/>
            <a:ext cx="2381241" cy="2800015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15" name="Shape 12"/>
          <p:cNvSpPr/>
          <p:nvPr/>
        </p:nvSpPr>
        <p:spPr>
          <a:xfrm>
            <a:off x="3381366" y="1355861"/>
            <a:ext cx="2381241" cy="42863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16" name="Text 13"/>
          <p:cNvSpPr/>
          <p:nvPr/>
        </p:nvSpPr>
        <p:spPr>
          <a:xfrm>
            <a:off x="3552816" y="1584461"/>
            <a:ext cx="2038341" cy="28932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动态调度机制</a:t>
            </a:r>
            <a:endParaRPr lang="en-US" sz="1395" dirty="0"/>
          </a:p>
        </p:txBody>
      </p:sp>
      <p:sp>
        <p:nvSpPr>
          <p:cNvPr id="17" name="Text 14"/>
          <p:cNvSpPr/>
          <p:nvPr/>
        </p:nvSpPr>
        <p:spPr>
          <a:xfrm>
            <a:off x="3552816" y="2045233"/>
            <a:ext cx="86311" cy="20002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5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</a:t>
            </a:r>
            <a:endParaRPr lang="en-US" sz="985" dirty="0"/>
          </a:p>
        </p:txBody>
      </p:sp>
      <p:sp>
        <p:nvSpPr>
          <p:cNvPr id="18" name="Text 15"/>
          <p:cNvSpPr/>
          <p:nvPr/>
        </p:nvSpPr>
        <p:spPr>
          <a:xfrm>
            <a:off x="3724852" y="2045233"/>
            <a:ext cx="1866305" cy="36572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根据任务优先级与资源状态实时调整执行顺序</a:t>
            </a:r>
            <a:endParaRPr lang="en-US" sz="835" dirty="0"/>
          </a:p>
        </p:txBody>
      </p:sp>
      <p:sp>
        <p:nvSpPr>
          <p:cNvPr id="19" name="Text 16"/>
          <p:cNvSpPr/>
          <p:nvPr/>
        </p:nvSpPr>
        <p:spPr>
          <a:xfrm>
            <a:off x="3552816" y="2553835"/>
            <a:ext cx="86311" cy="20002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5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</a:t>
            </a:r>
            <a:endParaRPr lang="en-US" sz="985" dirty="0"/>
          </a:p>
        </p:txBody>
      </p:sp>
      <p:sp>
        <p:nvSpPr>
          <p:cNvPr id="20" name="Text 17"/>
          <p:cNvSpPr/>
          <p:nvPr/>
        </p:nvSpPr>
        <p:spPr>
          <a:xfrm>
            <a:off x="3724852" y="2553835"/>
            <a:ext cx="1866305" cy="36572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多个分析任务同时并行执行，显著缩短整体决策周期</a:t>
            </a:r>
            <a:endParaRPr lang="en-US" sz="835" dirty="0"/>
          </a:p>
        </p:txBody>
      </p:sp>
      <p:sp>
        <p:nvSpPr>
          <p:cNvPr id="21" name="Text 18"/>
          <p:cNvSpPr/>
          <p:nvPr/>
        </p:nvSpPr>
        <p:spPr>
          <a:xfrm>
            <a:off x="3552816" y="3062436"/>
            <a:ext cx="86311" cy="20002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5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</a:t>
            </a:r>
            <a:endParaRPr lang="en-US" sz="985" dirty="0"/>
          </a:p>
        </p:txBody>
      </p:sp>
      <p:sp>
        <p:nvSpPr>
          <p:cNvPr id="22" name="Text 19"/>
          <p:cNvSpPr/>
          <p:nvPr/>
        </p:nvSpPr>
        <p:spPr>
          <a:xfrm>
            <a:off x="3724852" y="3062436"/>
            <a:ext cx="1866305" cy="36572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支持异步结果汇聚与冲突检测，保障数据一致性</a:t>
            </a:r>
            <a:endParaRPr lang="en-US" sz="835" dirty="0"/>
          </a:p>
        </p:txBody>
      </p:sp>
      <p:sp>
        <p:nvSpPr>
          <p:cNvPr id="23" name="Shape 20"/>
          <p:cNvSpPr/>
          <p:nvPr/>
        </p:nvSpPr>
        <p:spPr>
          <a:xfrm>
            <a:off x="6048356" y="1355861"/>
            <a:ext cx="2381241" cy="2800015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24" name="Shape 21"/>
          <p:cNvSpPr/>
          <p:nvPr/>
        </p:nvSpPr>
        <p:spPr>
          <a:xfrm>
            <a:off x="6048356" y="1355861"/>
            <a:ext cx="2381241" cy="42863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25" name="Text 22"/>
          <p:cNvSpPr/>
          <p:nvPr/>
        </p:nvSpPr>
        <p:spPr>
          <a:xfrm>
            <a:off x="6219806" y="1584461"/>
            <a:ext cx="2038341" cy="28932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全程可追溯</a:t>
            </a:r>
            <a:endParaRPr lang="en-US" sz="1395" dirty="0"/>
          </a:p>
        </p:txBody>
      </p:sp>
      <p:sp>
        <p:nvSpPr>
          <p:cNvPr id="26" name="Text 23"/>
          <p:cNvSpPr/>
          <p:nvPr/>
        </p:nvSpPr>
        <p:spPr>
          <a:xfrm>
            <a:off x="6219806" y="2045233"/>
            <a:ext cx="86311" cy="20002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5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</a:t>
            </a:r>
            <a:endParaRPr lang="en-US" sz="985" dirty="0"/>
          </a:p>
        </p:txBody>
      </p:sp>
      <p:sp>
        <p:nvSpPr>
          <p:cNvPr id="27" name="Text 24"/>
          <p:cNvSpPr/>
          <p:nvPr/>
        </p:nvSpPr>
        <p:spPr>
          <a:xfrm>
            <a:off x="6391842" y="2045233"/>
            <a:ext cx="1866305" cy="36572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完整记录每一步推理与决策依据，实现全程可追溯</a:t>
            </a:r>
            <a:endParaRPr lang="en-US" sz="835" dirty="0"/>
          </a:p>
        </p:txBody>
      </p:sp>
      <p:sp>
        <p:nvSpPr>
          <p:cNvPr id="28" name="Text 25"/>
          <p:cNvSpPr/>
          <p:nvPr/>
        </p:nvSpPr>
        <p:spPr>
          <a:xfrm>
            <a:off x="6219806" y="2553835"/>
            <a:ext cx="86311" cy="20002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5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</a:t>
            </a:r>
            <a:endParaRPr lang="en-US" sz="985" dirty="0"/>
          </a:p>
        </p:txBody>
      </p:sp>
      <p:sp>
        <p:nvSpPr>
          <p:cNvPr id="29" name="Text 26"/>
          <p:cNvSpPr/>
          <p:nvPr/>
        </p:nvSpPr>
        <p:spPr>
          <a:xfrm>
            <a:off x="6391842" y="2553835"/>
            <a:ext cx="1866305" cy="36572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支持归因分析，快速定位关键影响因素与逻辑节点</a:t>
            </a:r>
            <a:endParaRPr lang="en-US" sz="835" dirty="0"/>
          </a:p>
        </p:txBody>
      </p:sp>
      <p:sp>
        <p:nvSpPr>
          <p:cNvPr id="30" name="Text 27"/>
          <p:cNvSpPr/>
          <p:nvPr/>
        </p:nvSpPr>
        <p:spPr>
          <a:xfrm>
            <a:off x="6219806" y="3062436"/>
            <a:ext cx="86311" cy="20002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5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</a:t>
            </a:r>
            <a:endParaRPr lang="en-US" sz="985" dirty="0"/>
          </a:p>
        </p:txBody>
      </p:sp>
      <p:sp>
        <p:nvSpPr>
          <p:cNvPr id="31" name="Text 28"/>
          <p:cNvSpPr/>
          <p:nvPr/>
        </p:nvSpPr>
        <p:spPr>
          <a:xfrm>
            <a:off x="6391842" y="3062436"/>
            <a:ext cx="1866305" cy="36572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推动结构化辩论与意见融合，增强决策合理性</a:t>
            </a:r>
            <a:endParaRPr lang="en-US" sz="835" dirty="0"/>
          </a:p>
        </p:txBody>
      </p:sp>
      <p:sp>
        <p:nvSpPr>
          <p:cNvPr id="32" name="Shape 29"/>
          <p:cNvSpPr/>
          <p:nvPr/>
        </p:nvSpPr>
        <p:spPr>
          <a:xfrm>
            <a:off x="714375" y="4441627"/>
            <a:ext cx="782241" cy="273248"/>
          </a:xfrm>
          <a:prstGeom prst="rect">
            <a:avLst/>
          </a:prstGeom>
          <a:solidFill>
            <a:srgbClr val="EFF6FF"/>
          </a:solidFill>
          <a:ln w="9144">
            <a:solidFill>
              <a:srgbClr val="BFDBFE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14375" y="4441627"/>
            <a:ext cx="782241" cy="273248"/>
          </a:xfrm>
          <a:prstGeom prst="rect">
            <a:avLst/>
          </a:prstGeom>
          <a:noFill/>
        </p:spPr>
        <p:txBody>
          <a:bodyPr wrap="square" lIns="136017" tIns="68072" rIns="136017" bIns="68072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5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LangGraph</a:t>
            </a:r>
            <a:endParaRPr lang="en-US" sz="685" dirty="0"/>
          </a:p>
        </p:txBody>
      </p:sp>
      <p:sp>
        <p:nvSpPr>
          <p:cNvPr id="34" name="Shape 31"/>
          <p:cNvSpPr/>
          <p:nvPr/>
        </p:nvSpPr>
        <p:spPr>
          <a:xfrm>
            <a:off x="1596628" y="4441627"/>
            <a:ext cx="642938" cy="273248"/>
          </a:xfrm>
          <a:prstGeom prst="rect">
            <a:avLst/>
          </a:prstGeom>
          <a:solidFill>
            <a:srgbClr val="EFF6FF"/>
          </a:solidFill>
          <a:ln w="9144">
            <a:solidFill>
              <a:srgbClr val="BFDBFE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1596628" y="4441627"/>
            <a:ext cx="642938" cy="273248"/>
          </a:xfrm>
          <a:prstGeom prst="rect">
            <a:avLst/>
          </a:prstGeom>
          <a:noFill/>
        </p:spPr>
        <p:txBody>
          <a:bodyPr wrap="square" lIns="136017" tIns="68072" rIns="136017" bIns="68072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5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并行处理</a:t>
            </a:r>
            <a:endParaRPr lang="en-US" sz="685" dirty="0"/>
          </a:p>
        </p:txBody>
      </p:sp>
      <p:sp>
        <p:nvSpPr>
          <p:cNvPr id="36" name="Shape 33"/>
          <p:cNvSpPr/>
          <p:nvPr/>
        </p:nvSpPr>
        <p:spPr>
          <a:xfrm>
            <a:off x="2339578" y="4441627"/>
            <a:ext cx="642938" cy="273248"/>
          </a:xfrm>
          <a:prstGeom prst="rect">
            <a:avLst/>
          </a:prstGeom>
          <a:solidFill>
            <a:srgbClr val="EFF6FF"/>
          </a:solidFill>
          <a:ln w="9144">
            <a:solidFill>
              <a:srgbClr val="BFDBFE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2339578" y="4441627"/>
            <a:ext cx="642938" cy="273248"/>
          </a:xfrm>
          <a:prstGeom prst="rect">
            <a:avLst/>
          </a:prstGeom>
          <a:noFill/>
        </p:spPr>
        <p:txBody>
          <a:bodyPr wrap="square" lIns="136017" tIns="68072" rIns="136017" bIns="68072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5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过程留痕</a:t>
            </a:r>
            <a:endParaRPr lang="en-US" sz="685" dirty="0"/>
          </a:p>
        </p:txBody>
      </p:sp>
      <p:sp>
        <p:nvSpPr>
          <p:cNvPr id="38" name="Shape 35"/>
          <p:cNvSpPr/>
          <p:nvPr/>
        </p:nvSpPr>
        <p:spPr>
          <a:xfrm>
            <a:off x="3082528" y="4441627"/>
            <a:ext cx="642938" cy="273248"/>
          </a:xfrm>
          <a:prstGeom prst="rect">
            <a:avLst/>
          </a:prstGeom>
          <a:solidFill>
            <a:srgbClr val="EFF6FF"/>
          </a:solidFill>
          <a:ln w="9144">
            <a:solidFill>
              <a:srgbClr val="BFDBFE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3082528" y="4441627"/>
            <a:ext cx="642938" cy="273248"/>
          </a:xfrm>
          <a:prstGeom prst="rect">
            <a:avLst/>
          </a:prstGeom>
          <a:noFill/>
        </p:spPr>
        <p:txBody>
          <a:bodyPr wrap="square" lIns="136017" tIns="68072" rIns="136017" bIns="68072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5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角色交互</a:t>
            </a:r>
            <a:endParaRPr lang="en-US" sz="68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4375" y="428625"/>
            <a:ext cx="7715250" cy="16430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5" b="1" kern="0" spc="2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核心技术架构设计</a:t>
            </a:r>
            <a:endParaRPr lang="en-US" sz="785" dirty="0"/>
          </a:p>
        </p:txBody>
      </p:sp>
      <p:sp>
        <p:nvSpPr>
          <p:cNvPr id="4" name="Text 1"/>
          <p:cNvSpPr/>
          <p:nvPr/>
        </p:nvSpPr>
        <p:spPr>
          <a:xfrm>
            <a:off x="714375" y="678656"/>
            <a:ext cx="7143750" cy="66861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810" b="1" kern="0" spc="-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多 LLM 兼容架构支持 OpenAI、DeepSeek、百炼等主流模型灵活切换</a:t>
            </a:r>
            <a:endParaRPr lang="en-US" sz="1810" dirty="0"/>
          </a:p>
        </p:txBody>
      </p:sp>
      <p:sp>
        <p:nvSpPr>
          <p:cNvPr id="5" name="Text 2"/>
          <p:cNvSpPr/>
          <p:nvPr/>
        </p:nvSpPr>
        <p:spPr>
          <a:xfrm>
            <a:off x="985838" y="1857905"/>
            <a:ext cx="4100513" cy="26967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9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标准化接口设计</a:t>
            </a:r>
            <a:endParaRPr lang="en-US" sz="1295" dirty="0"/>
          </a:p>
        </p:txBody>
      </p:sp>
      <p:sp>
        <p:nvSpPr>
          <p:cNvPr id="6" name="Text 3"/>
          <p:cNvSpPr/>
          <p:nvPr/>
        </p:nvSpPr>
        <p:spPr>
          <a:xfrm>
            <a:off x="985838" y="2213307"/>
            <a:ext cx="4100513" cy="38860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9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抽象统一 LLM 交互层，降低耦合度，便于快速接入新模型与私有化部署环境。</a:t>
            </a:r>
            <a:endParaRPr lang="en-US" sz="890" dirty="0"/>
          </a:p>
        </p:txBody>
      </p:sp>
      <p:sp>
        <p:nvSpPr>
          <p:cNvPr id="7" name="Text 4"/>
          <p:cNvSpPr/>
          <p:nvPr/>
        </p:nvSpPr>
        <p:spPr>
          <a:xfrm>
            <a:off x="985838" y="2830516"/>
            <a:ext cx="4100513" cy="26967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9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多模型支持</a:t>
            </a:r>
            <a:endParaRPr lang="en-US" sz="1295" dirty="0"/>
          </a:p>
        </p:txBody>
      </p:sp>
      <p:sp>
        <p:nvSpPr>
          <p:cNvPr id="8" name="Text 5"/>
          <p:cNvSpPr/>
          <p:nvPr/>
        </p:nvSpPr>
        <p:spPr>
          <a:xfrm>
            <a:off x="985838" y="3185917"/>
            <a:ext cx="4100513" cy="38860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9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集成 OpenAI、DeepSeek、阿里百炼等主流大模型，按场景智能调度，兼顾性能与成本。</a:t>
            </a:r>
            <a:endParaRPr lang="en-US" sz="890" dirty="0"/>
          </a:p>
        </p:txBody>
      </p:sp>
      <p:sp>
        <p:nvSpPr>
          <p:cNvPr id="9" name="Text 6"/>
          <p:cNvSpPr/>
          <p:nvPr/>
        </p:nvSpPr>
        <p:spPr>
          <a:xfrm>
            <a:off x="985838" y="3803126"/>
            <a:ext cx="4100513" cy="26967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9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动态切换机制</a:t>
            </a:r>
            <a:endParaRPr lang="en-US" sz="1295" dirty="0"/>
          </a:p>
        </p:txBody>
      </p:sp>
      <p:sp>
        <p:nvSpPr>
          <p:cNvPr id="10" name="Text 7"/>
          <p:cNvSpPr/>
          <p:nvPr/>
        </p:nvSpPr>
        <p:spPr>
          <a:xfrm>
            <a:off x="985838" y="4158528"/>
            <a:ext cx="4100513" cy="38860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9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支持运行时动态切换 LLM，适配不同市场与任务需求，保障分析连续性与稳定性。</a:t>
            </a:r>
            <a:endParaRPr lang="en-US" sz="890" dirty="0"/>
          </a:p>
        </p:txBody>
      </p:sp>
      <p:sp>
        <p:nvSpPr>
          <p:cNvPr id="11" name="Shape 8"/>
          <p:cNvSpPr/>
          <p:nvPr/>
        </p:nvSpPr>
        <p:spPr>
          <a:xfrm>
            <a:off x="5514975" y="2396170"/>
            <a:ext cx="1143000" cy="412552"/>
          </a:xfrm>
          <a:prstGeom prst="rect">
            <a:avLst/>
          </a:prstGeom>
          <a:solidFill>
            <a:srgbClr val="FFFFFF"/>
          </a:solidFill>
          <a:ln w="18288">
            <a:solidFill>
              <a:srgbClr val="2563E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514975" y="2396170"/>
            <a:ext cx="1143000" cy="412552"/>
          </a:xfrm>
          <a:prstGeom prst="rect">
            <a:avLst/>
          </a:prstGeom>
          <a:noFill/>
        </p:spPr>
        <p:txBody>
          <a:bodyPr wrap="square" lIns="170053" tIns="136017" rIns="170053" bIns="136017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OpenAI</a:t>
            </a:r>
            <a:endParaRPr lang="en-US" sz="885" dirty="0"/>
          </a:p>
        </p:txBody>
      </p:sp>
      <p:sp>
        <p:nvSpPr>
          <p:cNvPr id="13" name="Shape 10"/>
          <p:cNvSpPr/>
          <p:nvPr/>
        </p:nvSpPr>
        <p:spPr>
          <a:xfrm>
            <a:off x="5514975" y="2965884"/>
            <a:ext cx="1143000" cy="412552"/>
          </a:xfrm>
          <a:prstGeom prst="rect">
            <a:avLst/>
          </a:prstGeom>
          <a:solidFill>
            <a:srgbClr val="FFFFFF"/>
          </a:solidFill>
          <a:ln w="18288">
            <a:solidFill>
              <a:srgbClr val="0F172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514975" y="2965884"/>
            <a:ext cx="1143000" cy="412552"/>
          </a:xfrm>
          <a:prstGeom prst="rect">
            <a:avLst/>
          </a:prstGeom>
          <a:noFill/>
        </p:spPr>
        <p:txBody>
          <a:bodyPr wrap="square" lIns="170053" tIns="136017" rIns="170053" bIns="136017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DeepSeek</a:t>
            </a:r>
            <a:endParaRPr lang="en-US" sz="885" dirty="0"/>
          </a:p>
        </p:txBody>
      </p:sp>
      <p:sp>
        <p:nvSpPr>
          <p:cNvPr id="15" name="Shape 12"/>
          <p:cNvSpPr/>
          <p:nvPr/>
        </p:nvSpPr>
        <p:spPr>
          <a:xfrm>
            <a:off x="5514975" y="3535598"/>
            <a:ext cx="1143000" cy="444698"/>
          </a:xfrm>
          <a:prstGeom prst="rect">
            <a:avLst/>
          </a:prstGeom>
          <a:solidFill>
            <a:srgbClr val="FFFFFF"/>
          </a:solidFill>
          <a:ln w="18288">
            <a:solidFill>
              <a:srgbClr val="64748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514975" y="3535598"/>
            <a:ext cx="1143000" cy="444698"/>
          </a:xfrm>
          <a:prstGeom prst="rect">
            <a:avLst/>
          </a:prstGeom>
          <a:noFill/>
        </p:spPr>
        <p:txBody>
          <a:bodyPr wrap="square" lIns="170053" tIns="136017" rIns="170053" bIns="136017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阿里百炼</a:t>
            </a:r>
            <a:endParaRPr lang="en-US" sz="885" dirty="0"/>
          </a:p>
        </p:txBody>
      </p:sp>
      <p:sp>
        <p:nvSpPr>
          <p:cNvPr id="17" name="Shape 14"/>
          <p:cNvSpPr/>
          <p:nvPr/>
        </p:nvSpPr>
        <p:spPr>
          <a:xfrm>
            <a:off x="7895630" y="2059521"/>
            <a:ext cx="533995" cy="228600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18" name="Text 15"/>
          <p:cNvSpPr/>
          <p:nvPr/>
        </p:nvSpPr>
        <p:spPr>
          <a:xfrm>
            <a:off x="7895630" y="2059521"/>
            <a:ext cx="533995" cy="2286000"/>
          </a:xfrm>
          <a:prstGeom prst="rect">
            <a:avLst/>
          </a:prstGeom>
          <a:noFill/>
        </p:spPr>
        <p:txBody>
          <a:bodyPr wrap="square" lIns="170053" tIns="340233" rIns="170053" bIns="340233" rtlCol="0" anchor="ctr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5" b="1" kern="0" spc="3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统一 LLM 交互层</a:t>
            </a:r>
            <a:endParaRPr lang="en-US" sz="119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4375" y="428625"/>
            <a:ext cx="7715250" cy="16430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5" b="1" kern="0" spc="2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数据流程与智能决策链</a:t>
            </a:r>
            <a:endParaRPr lang="en-US" sz="785" dirty="0"/>
          </a:p>
        </p:txBody>
      </p:sp>
      <p:sp>
        <p:nvSpPr>
          <p:cNvPr id="4" name="Text 1"/>
          <p:cNvSpPr/>
          <p:nvPr/>
        </p:nvSpPr>
        <p:spPr>
          <a:xfrm>
            <a:off x="714375" y="678656"/>
            <a:ext cx="7143750" cy="29716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00" b="1" kern="0" spc="-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聚合多源数据 + NLP 情绪建模 + 多智能体决策融合，构建完整分析闭环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14375" y="1318720"/>
            <a:ext cx="2190759" cy="3396155"/>
          </a:xfrm>
          <a:prstGeom prst="rect">
            <a:avLst/>
          </a:prstGeom>
          <a:solidFill>
            <a:srgbClr val="F8FAFC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14375" y="1318720"/>
            <a:ext cx="2181216" cy="455414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7" name="Text 4"/>
          <p:cNvSpPr/>
          <p:nvPr/>
        </p:nvSpPr>
        <p:spPr>
          <a:xfrm>
            <a:off x="885825" y="1442842"/>
            <a:ext cx="198239" cy="20716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195" dirty="0"/>
          </a:p>
        </p:txBody>
      </p:sp>
      <p:sp>
        <p:nvSpPr>
          <p:cNvPr id="8" name="Text 5"/>
          <p:cNvSpPr/>
          <p:nvPr/>
        </p:nvSpPr>
        <p:spPr>
          <a:xfrm>
            <a:off x="1169789" y="1433020"/>
            <a:ext cx="785813" cy="22681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数据采集层</a:t>
            </a:r>
            <a:endParaRPr lang="en-US" sz="1090" dirty="0"/>
          </a:p>
        </p:txBody>
      </p:sp>
      <p:sp>
        <p:nvSpPr>
          <p:cNvPr id="9" name="Text 6"/>
          <p:cNvSpPr/>
          <p:nvPr/>
        </p:nvSpPr>
        <p:spPr>
          <a:xfrm>
            <a:off x="885825" y="1945584"/>
            <a:ext cx="1838316" cy="16430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5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多源异构集成</a:t>
            </a:r>
            <a:endParaRPr lang="en-US" sz="785" dirty="0"/>
          </a:p>
        </p:txBody>
      </p:sp>
      <p:sp>
        <p:nvSpPr>
          <p:cNvPr id="10" name="Text 7"/>
          <p:cNvSpPr/>
          <p:nvPr/>
        </p:nvSpPr>
        <p:spPr>
          <a:xfrm>
            <a:off x="885825" y="2167040"/>
            <a:ext cx="1838316" cy="480027"/>
          </a:xfrm>
          <a:prstGeom prst="rect">
            <a:avLst/>
          </a:prstGeom>
          <a:noFill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2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Tushare、AKShare、BaoStock（A股）+ Yahoo Finance、FinnHub（美股/港股）</a:t>
            </a:r>
            <a:endParaRPr lang="en-US" sz="725" dirty="0"/>
          </a:p>
        </p:txBody>
      </p:sp>
      <p:sp>
        <p:nvSpPr>
          <p:cNvPr id="11" name="Text 8"/>
          <p:cNvSpPr/>
          <p:nvPr/>
        </p:nvSpPr>
        <p:spPr>
          <a:xfrm>
            <a:off x="885825" y="2789941"/>
            <a:ext cx="1838316" cy="16430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5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智能缓存架构</a:t>
            </a:r>
            <a:endParaRPr lang="en-US" sz="785" dirty="0"/>
          </a:p>
        </p:txBody>
      </p:sp>
      <p:sp>
        <p:nvSpPr>
          <p:cNvPr id="12" name="Text 9"/>
          <p:cNvSpPr/>
          <p:nvPr/>
        </p:nvSpPr>
        <p:spPr>
          <a:xfrm>
            <a:off x="885825" y="3011398"/>
            <a:ext cx="1838316" cy="320018"/>
          </a:xfrm>
          <a:prstGeom prst="rect">
            <a:avLst/>
          </a:prstGeom>
          <a:noFill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2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Redis → MongoDB → API 三级缓存，保障实时性与高并发稳定响应</a:t>
            </a:r>
            <a:endParaRPr lang="en-US" sz="725" dirty="0"/>
          </a:p>
        </p:txBody>
      </p:sp>
      <p:sp>
        <p:nvSpPr>
          <p:cNvPr id="13" name="Text 10"/>
          <p:cNvSpPr/>
          <p:nvPr/>
        </p:nvSpPr>
        <p:spPr>
          <a:xfrm>
            <a:off x="3067041" y="2878373"/>
            <a:ext cx="228600" cy="2768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3467091" y="1318720"/>
            <a:ext cx="2195503" cy="3396155"/>
          </a:xfrm>
          <a:prstGeom prst="rect">
            <a:avLst/>
          </a:prstGeom>
          <a:solidFill>
            <a:srgbClr val="F8FAFC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471863" y="1318720"/>
            <a:ext cx="2185988" cy="455414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16" name="Text 13"/>
          <p:cNvSpPr/>
          <p:nvPr/>
        </p:nvSpPr>
        <p:spPr>
          <a:xfrm>
            <a:off x="3643313" y="1442842"/>
            <a:ext cx="232172" cy="20716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195" dirty="0"/>
          </a:p>
        </p:txBody>
      </p:sp>
      <p:sp>
        <p:nvSpPr>
          <p:cNvPr id="17" name="Text 14"/>
          <p:cNvSpPr/>
          <p:nvPr/>
        </p:nvSpPr>
        <p:spPr>
          <a:xfrm>
            <a:off x="3961209" y="1433020"/>
            <a:ext cx="785813" cy="22681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智能分析层</a:t>
            </a:r>
            <a:endParaRPr lang="en-US" sz="1090" dirty="0"/>
          </a:p>
        </p:txBody>
      </p:sp>
      <p:sp>
        <p:nvSpPr>
          <p:cNvPr id="18" name="Text 15"/>
          <p:cNvSpPr/>
          <p:nvPr/>
        </p:nvSpPr>
        <p:spPr>
          <a:xfrm>
            <a:off x="3643313" y="1945584"/>
            <a:ext cx="1843088" cy="16430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5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事件智能识别</a:t>
            </a:r>
            <a:endParaRPr lang="en-US" sz="785" dirty="0"/>
          </a:p>
        </p:txBody>
      </p:sp>
      <p:sp>
        <p:nvSpPr>
          <p:cNvPr id="19" name="Text 16"/>
          <p:cNvSpPr/>
          <p:nvPr/>
        </p:nvSpPr>
        <p:spPr>
          <a:xfrm>
            <a:off x="3643313" y="2167040"/>
            <a:ext cx="1843088" cy="480027"/>
          </a:xfrm>
          <a:prstGeom prst="rect">
            <a:avLst/>
          </a:prstGeom>
          <a:noFill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2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NLP 自动抽取并购、政策变动、财报发布等关键事件，构建结构化事件知识库</a:t>
            </a:r>
            <a:endParaRPr lang="en-US" sz="725" dirty="0"/>
          </a:p>
        </p:txBody>
      </p:sp>
      <p:sp>
        <p:nvSpPr>
          <p:cNvPr id="20" name="Text 17"/>
          <p:cNvSpPr/>
          <p:nvPr/>
        </p:nvSpPr>
        <p:spPr>
          <a:xfrm>
            <a:off x="3643313" y="2789941"/>
            <a:ext cx="1843088" cy="16430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5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多源情绪聚合</a:t>
            </a:r>
            <a:endParaRPr lang="en-US" sz="785" dirty="0"/>
          </a:p>
        </p:txBody>
      </p:sp>
      <p:sp>
        <p:nvSpPr>
          <p:cNvPr id="21" name="Text 18"/>
          <p:cNvSpPr/>
          <p:nvPr/>
        </p:nvSpPr>
        <p:spPr>
          <a:xfrm>
            <a:off x="3643313" y="3011398"/>
            <a:ext cx="1843088" cy="320018"/>
          </a:xfrm>
          <a:prstGeom prst="rect">
            <a:avLst/>
          </a:prstGeom>
          <a:noFill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2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整合微博、雪球、股吧等平台，生成实时投资者情绪指数</a:t>
            </a:r>
            <a:endParaRPr lang="en-US" sz="725" dirty="0"/>
          </a:p>
        </p:txBody>
      </p:sp>
      <p:sp>
        <p:nvSpPr>
          <p:cNvPr id="22" name="Text 19"/>
          <p:cNvSpPr/>
          <p:nvPr/>
        </p:nvSpPr>
        <p:spPr>
          <a:xfrm>
            <a:off x="3643313" y="3474290"/>
            <a:ext cx="1843088" cy="16430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5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动态权重融合</a:t>
            </a:r>
            <a:endParaRPr lang="en-US" sz="785" dirty="0"/>
          </a:p>
        </p:txBody>
      </p:sp>
      <p:sp>
        <p:nvSpPr>
          <p:cNvPr id="23" name="Text 20"/>
          <p:cNvSpPr/>
          <p:nvPr/>
        </p:nvSpPr>
        <p:spPr>
          <a:xfrm>
            <a:off x="3643313" y="3695747"/>
            <a:ext cx="1843088" cy="320018"/>
          </a:xfrm>
          <a:prstGeom prst="rect">
            <a:avLst/>
          </a:prstGeom>
          <a:noFill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2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动态加权消息面与情绪面信号，提升對市場拐點和熱點輪動的響應能力</a:t>
            </a:r>
            <a:endParaRPr lang="en-US" sz="725" dirty="0"/>
          </a:p>
        </p:txBody>
      </p:sp>
      <p:sp>
        <p:nvSpPr>
          <p:cNvPr id="24" name="Text 21"/>
          <p:cNvSpPr/>
          <p:nvPr/>
        </p:nvSpPr>
        <p:spPr>
          <a:xfrm>
            <a:off x="5829300" y="2878373"/>
            <a:ext cx="228600" cy="2768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6229350" y="1318720"/>
            <a:ext cx="2200275" cy="3396155"/>
          </a:xfrm>
          <a:prstGeom prst="rect">
            <a:avLst/>
          </a:prstGeom>
          <a:solidFill>
            <a:srgbClr val="F8FAFC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238894" y="1318720"/>
            <a:ext cx="2190759" cy="455414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27" name="Text 24"/>
          <p:cNvSpPr/>
          <p:nvPr/>
        </p:nvSpPr>
        <p:spPr>
          <a:xfrm>
            <a:off x="6410344" y="1442842"/>
            <a:ext cx="235744" cy="20716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195" dirty="0"/>
          </a:p>
        </p:txBody>
      </p:sp>
      <p:sp>
        <p:nvSpPr>
          <p:cNvPr id="28" name="Text 25"/>
          <p:cNvSpPr/>
          <p:nvPr/>
        </p:nvSpPr>
        <p:spPr>
          <a:xfrm>
            <a:off x="6731812" y="1433020"/>
            <a:ext cx="785813" cy="22681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决策输出层</a:t>
            </a:r>
            <a:endParaRPr lang="en-US" sz="1090" dirty="0"/>
          </a:p>
        </p:txBody>
      </p:sp>
      <p:sp>
        <p:nvSpPr>
          <p:cNvPr id="29" name="Text 26"/>
          <p:cNvSpPr/>
          <p:nvPr/>
        </p:nvSpPr>
        <p:spPr>
          <a:xfrm>
            <a:off x="6410344" y="1945584"/>
            <a:ext cx="1847859" cy="16430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5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观点融合</a:t>
            </a:r>
            <a:endParaRPr lang="en-US" sz="785" dirty="0"/>
          </a:p>
        </p:txBody>
      </p:sp>
      <p:sp>
        <p:nvSpPr>
          <p:cNvPr id="30" name="Text 27"/>
          <p:cNvSpPr/>
          <p:nvPr/>
        </p:nvSpPr>
        <p:spPr>
          <a:xfrm>
            <a:off x="6410344" y="2167040"/>
            <a:ext cx="1847859" cy="320018"/>
          </a:xfrm>
          <a:prstGeom prst="rect">
            <a:avLst/>
          </a:prstGeom>
          <a:noFill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2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整合多智能体并行分析结果，加权汇总看涨与看跌观点，形成平衡判断</a:t>
            </a:r>
            <a:endParaRPr lang="en-US" sz="725" dirty="0"/>
          </a:p>
        </p:txBody>
      </p:sp>
      <p:sp>
        <p:nvSpPr>
          <p:cNvPr id="31" name="Text 28"/>
          <p:cNvSpPr/>
          <p:nvPr/>
        </p:nvSpPr>
        <p:spPr>
          <a:xfrm>
            <a:off x="6410344" y="2629932"/>
            <a:ext cx="1847859" cy="16430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5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风险校准</a:t>
            </a:r>
            <a:endParaRPr lang="en-US" sz="785" dirty="0"/>
          </a:p>
        </p:txBody>
      </p:sp>
      <p:sp>
        <p:nvSpPr>
          <p:cNvPr id="32" name="Text 29"/>
          <p:cNvSpPr/>
          <p:nvPr/>
        </p:nvSpPr>
        <p:spPr>
          <a:xfrm>
            <a:off x="6410344" y="2851389"/>
            <a:ext cx="1847859" cy="320018"/>
          </a:xfrm>
          <a:prstGeom prst="rect">
            <a:avLst/>
          </a:prstGeom>
          <a:noFill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2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激进、中性、保守三重风险评估模型，动态调整建议的风险等级</a:t>
            </a:r>
            <a:endParaRPr lang="en-US" sz="725" dirty="0"/>
          </a:p>
        </p:txBody>
      </p:sp>
      <p:sp>
        <p:nvSpPr>
          <p:cNvPr id="33" name="Text 30"/>
          <p:cNvSpPr/>
          <p:nvPr/>
        </p:nvSpPr>
        <p:spPr>
          <a:xfrm>
            <a:off x="6410344" y="3314281"/>
            <a:ext cx="1847859" cy="16430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5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报告生成</a:t>
            </a:r>
            <a:endParaRPr lang="en-US" sz="785" dirty="0"/>
          </a:p>
        </p:txBody>
      </p:sp>
      <p:sp>
        <p:nvSpPr>
          <p:cNvPr id="34" name="Text 31"/>
          <p:cNvSpPr/>
          <p:nvPr/>
        </p:nvSpPr>
        <p:spPr>
          <a:xfrm>
            <a:off x="6410344" y="3535738"/>
            <a:ext cx="1847859" cy="320018"/>
          </a:xfrm>
          <a:prstGeom prst="rect">
            <a:avLst/>
          </a:prstGeom>
          <a:noFill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2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基于自然语言生成技术输出结构化报告，支持决策过程全程追溯与解释</a:t>
            </a:r>
            <a:endParaRPr lang="en-US" sz="7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4375" y="428625"/>
            <a:ext cx="7715250" cy="16430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5" b="1" kern="0" spc="2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项目定位与核心价值</a:t>
            </a:r>
            <a:endParaRPr lang="en-US" sz="785" dirty="0"/>
          </a:p>
        </p:txBody>
      </p:sp>
      <p:sp>
        <p:nvSpPr>
          <p:cNvPr id="4" name="Text 1"/>
          <p:cNvSpPr/>
          <p:nvPr/>
        </p:nvSpPr>
        <p:spPr>
          <a:xfrm>
            <a:off x="714375" y="678656"/>
            <a:ext cx="7715250" cy="33430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810" b="1" kern="0" spc="-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构建覆盖基本面、技术面、消息面与情绪面的四维智能分析引擎</a:t>
            </a:r>
            <a:endParaRPr lang="en-US" sz="1810" dirty="0"/>
          </a:p>
        </p:txBody>
      </p:sp>
      <p:sp>
        <p:nvSpPr>
          <p:cNvPr id="5" name="Shape 2"/>
          <p:cNvSpPr/>
          <p:nvPr/>
        </p:nvSpPr>
        <p:spPr>
          <a:xfrm>
            <a:off x="714375" y="1298711"/>
            <a:ext cx="3814763" cy="1665219"/>
          </a:xfrm>
          <a:prstGeom prst="rect">
            <a:avLst/>
          </a:prstGeom>
          <a:solidFill>
            <a:srgbClr val="FFFFFF"/>
          </a:solidFill>
          <a:ln w="18288">
            <a:solidFill>
              <a:srgbClr val="F1F5F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00100" y="1384436"/>
            <a:ext cx="3643313" cy="24824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基本面分析</a:t>
            </a:r>
            <a:endParaRPr lang="en-US" sz="1195" dirty="0"/>
          </a:p>
        </p:txBody>
      </p:sp>
      <p:sp>
        <p:nvSpPr>
          <p:cNvPr id="7" name="Shape 4"/>
          <p:cNvSpPr/>
          <p:nvPr/>
        </p:nvSpPr>
        <p:spPr>
          <a:xfrm>
            <a:off x="800100" y="1718407"/>
            <a:ext cx="3643313" cy="278606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8" name="Shape 5"/>
          <p:cNvSpPr/>
          <p:nvPr/>
        </p:nvSpPr>
        <p:spPr>
          <a:xfrm>
            <a:off x="800100" y="1718407"/>
            <a:ext cx="28575" cy="278606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9" name="Text 6"/>
          <p:cNvSpPr/>
          <p:nvPr/>
        </p:nvSpPr>
        <p:spPr>
          <a:xfrm>
            <a:off x="800100" y="1718407"/>
            <a:ext cx="3643313" cy="278606"/>
          </a:xfrm>
          <a:prstGeom prst="rect">
            <a:avLst/>
          </a:prstGeom>
          <a:noFill/>
        </p:spPr>
        <p:txBody>
          <a:bodyPr wrap="square" lIns="102108" tIns="68072" rIns="102108" bIns="68072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财务数据解读 (营收、利润、现金流)</a:t>
            </a:r>
            <a:endParaRPr lang="en-US" sz="835" dirty="0"/>
          </a:p>
        </p:txBody>
      </p:sp>
      <p:sp>
        <p:nvSpPr>
          <p:cNvPr id="10" name="Shape 7"/>
          <p:cNvSpPr/>
          <p:nvPr/>
        </p:nvSpPr>
        <p:spPr>
          <a:xfrm>
            <a:off x="800100" y="2054163"/>
            <a:ext cx="3643313" cy="278606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11" name="Shape 8"/>
          <p:cNvSpPr/>
          <p:nvPr/>
        </p:nvSpPr>
        <p:spPr>
          <a:xfrm>
            <a:off x="800100" y="2054163"/>
            <a:ext cx="28575" cy="278606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12" name="Text 9"/>
          <p:cNvSpPr/>
          <p:nvPr/>
        </p:nvSpPr>
        <p:spPr>
          <a:xfrm>
            <a:off x="800100" y="2054163"/>
            <a:ext cx="3643313" cy="278606"/>
          </a:xfrm>
          <a:prstGeom prst="rect">
            <a:avLst/>
          </a:prstGeom>
          <a:noFill/>
        </p:spPr>
        <p:txBody>
          <a:bodyPr wrap="square" lIns="102108" tIns="68072" rIns="102108" bIns="68072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估值模型应用 (PE、DCF、PB)</a:t>
            </a:r>
            <a:endParaRPr lang="en-US" sz="835" dirty="0"/>
          </a:p>
        </p:txBody>
      </p:sp>
      <p:sp>
        <p:nvSpPr>
          <p:cNvPr id="13" name="Shape 10"/>
          <p:cNvSpPr/>
          <p:nvPr/>
        </p:nvSpPr>
        <p:spPr>
          <a:xfrm>
            <a:off x="4614863" y="1298711"/>
            <a:ext cx="3814763" cy="1665219"/>
          </a:xfrm>
          <a:prstGeom prst="rect">
            <a:avLst/>
          </a:prstGeom>
          <a:solidFill>
            <a:srgbClr val="FFFFFF"/>
          </a:solidFill>
          <a:ln w="18288">
            <a:solidFill>
              <a:srgbClr val="F1F5F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700588" y="1384436"/>
            <a:ext cx="3643313" cy="24824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技术面分析</a:t>
            </a:r>
            <a:endParaRPr lang="en-US" sz="1195" dirty="0"/>
          </a:p>
        </p:txBody>
      </p:sp>
      <p:sp>
        <p:nvSpPr>
          <p:cNvPr id="15" name="Shape 12"/>
          <p:cNvSpPr/>
          <p:nvPr/>
        </p:nvSpPr>
        <p:spPr>
          <a:xfrm>
            <a:off x="4700588" y="1718407"/>
            <a:ext cx="3643313" cy="278606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16" name="Shape 13"/>
          <p:cNvSpPr/>
          <p:nvPr/>
        </p:nvSpPr>
        <p:spPr>
          <a:xfrm>
            <a:off x="4700588" y="1718407"/>
            <a:ext cx="28575" cy="278606"/>
          </a:xfrm>
          <a:prstGeom prst="rect">
            <a:avLst/>
          </a:prstGeom>
          <a:solidFill>
            <a:srgbClr val="64748B"/>
          </a:solidFill>
        </p:spPr>
      </p:sp>
      <p:sp>
        <p:nvSpPr>
          <p:cNvPr id="17" name="Text 14"/>
          <p:cNvSpPr/>
          <p:nvPr/>
        </p:nvSpPr>
        <p:spPr>
          <a:xfrm>
            <a:off x="4700588" y="1718407"/>
            <a:ext cx="3643313" cy="278606"/>
          </a:xfrm>
          <a:prstGeom prst="rect">
            <a:avLst/>
          </a:prstGeom>
          <a:noFill/>
        </p:spPr>
        <p:txBody>
          <a:bodyPr wrap="square" lIns="102108" tIns="68072" rIns="102108" bIns="68072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趋势识别 (MA 均线、趋势线分析)</a:t>
            </a:r>
            <a:endParaRPr lang="en-US" sz="835" dirty="0"/>
          </a:p>
        </p:txBody>
      </p:sp>
      <p:sp>
        <p:nvSpPr>
          <p:cNvPr id="18" name="Shape 15"/>
          <p:cNvSpPr/>
          <p:nvPr/>
        </p:nvSpPr>
        <p:spPr>
          <a:xfrm>
            <a:off x="4700588" y="2054163"/>
            <a:ext cx="3643313" cy="278606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19" name="Shape 16"/>
          <p:cNvSpPr/>
          <p:nvPr/>
        </p:nvSpPr>
        <p:spPr>
          <a:xfrm>
            <a:off x="4700588" y="2054163"/>
            <a:ext cx="28575" cy="278606"/>
          </a:xfrm>
          <a:prstGeom prst="rect">
            <a:avLst/>
          </a:prstGeom>
          <a:solidFill>
            <a:srgbClr val="64748B"/>
          </a:solidFill>
        </p:spPr>
      </p:sp>
      <p:sp>
        <p:nvSpPr>
          <p:cNvPr id="20" name="Text 17"/>
          <p:cNvSpPr/>
          <p:nvPr/>
        </p:nvSpPr>
        <p:spPr>
          <a:xfrm>
            <a:off x="4700588" y="2054163"/>
            <a:ext cx="3643313" cy="278606"/>
          </a:xfrm>
          <a:prstGeom prst="rect">
            <a:avLst/>
          </a:prstGeom>
          <a:noFill/>
        </p:spPr>
        <p:txBody>
          <a:bodyPr wrap="square" lIns="102108" tIns="68072" rIns="102108" bIns="68072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动量指标 (RSI、KDJ 超买超卖)</a:t>
            </a:r>
            <a:endParaRPr lang="en-US" sz="835" dirty="0"/>
          </a:p>
        </p:txBody>
      </p:sp>
      <p:sp>
        <p:nvSpPr>
          <p:cNvPr id="21" name="Shape 18"/>
          <p:cNvSpPr/>
          <p:nvPr/>
        </p:nvSpPr>
        <p:spPr>
          <a:xfrm>
            <a:off x="714375" y="3049656"/>
            <a:ext cx="3814763" cy="1665219"/>
          </a:xfrm>
          <a:prstGeom prst="rect">
            <a:avLst/>
          </a:prstGeom>
          <a:solidFill>
            <a:srgbClr val="FFFFFF"/>
          </a:solidFill>
          <a:ln w="18288">
            <a:solidFill>
              <a:srgbClr val="F1F5F9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00100" y="3135381"/>
            <a:ext cx="3643313" cy="24824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消息面监测</a:t>
            </a:r>
            <a:endParaRPr lang="en-US" sz="1195" dirty="0"/>
          </a:p>
        </p:txBody>
      </p:sp>
      <p:sp>
        <p:nvSpPr>
          <p:cNvPr id="23" name="Shape 20"/>
          <p:cNvSpPr/>
          <p:nvPr/>
        </p:nvSpPr>
        <p:spPr>
          <a:xfrm>
            <a:off x="800100" y="3469351"/>
            <a:ext cx="3643313" cy="278606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24" name="Shape 21"/>
          <p:cNvSpPr/>
          <p:nvPr/>
        </p:nvSpPr>
        <p:spPr>
          <a:xfrm>
            <a:off x="800100" y="3469351"/>
            <a:ext cx="28575" cy="278606"/>
          </a:xfrm>
          <a:prstGeom prst="rect">
            <a:avLst/>
          </a:prstGeom>
          <a:solidFill>
            <a:srgbClr val="64748B"/>
          </a:solidFill>
        </p:spPr>
      </p:sp>
      <p:sp>
        <p:nvSpPr>
          <p:cNvPr id="25" name="Text 22"/>
          <p:cNvSpPr/>
          <p:nvPr/>
        </p:nvSpPr>
        <p:spPr>
          <a:xfrm>
            <a:off x="800100" y="3469351"/>
            <a:ext cx="3643313" cy="278606"/>
          </a:xfrm>
          <a:prstGeom prst="rect">
            <a:avLst/>
          </a:prstGeom>
          <a:noFill/>
        </p:spPr>
        <p:txBody>
          <a:bodyPr wrap="square" lIns="102108" tIns="68072" rIns="102108" bIns="68072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新闻动态追踪 (政策、并购、财报)</a:t>
            </a:r>
            <a:endParaRPr lang="en-US" sz="835" dirty="0"/>
          </a:p>
        </p:txBody>
      </p:sp>
      <p:sp>
        <p:nvSpPr>
          <p:cNvPr id="26" name="Shape 23"/>
          <p:cNvSpPr/>
          <p:nvPr/>
        </p:nvSpPr>
        <p:spPr>
          <a:xfrm>
            <a:off x="800100" y="3805107"/>
            <a:ext cx="3643313" cy="278606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27" name="Shape 24"/>
          <p:cNvSpPr/>
          <p:nvPr/>
        </p:nvSpPr>
        <p:spPr>
          <a:xfrm>
            <a:off x="800100" y="3805107"/>
            <a:ext cx="28575" cy="278606"/>
          </a:xfrm>
          <a:prstGeom prst="rect">
            <a:avLst/>
          </a:prstGeom>
          <a:solidFill>
            <a:srgbClr val="64748B"/>
          </a:solidFill>
        </p:spPr>
      </p:sp>
      <p:sp>
        <p:nvSpPr>
          <p:cNvPr id="28" name="Text 25"/>
          <p:cNvSpPr/>
          <p:nvPr/>
        </p:nvSpPr>
        <p:spPr>
          <a:xfrm>
            <a:off x="800100" y="3805107"/>
            <a:ext cx="3643313" cy="278606"/>
          </a:xfrm>
          <a:prstGeom prst="rect">
            <a:avLst/>
          </a:prstGeom>
          <a:noFill/>
        </p:spPr>
        <p:txBody>
          <a:bodyPr wrap="square" lIns="102108" tIns="68072" rIns="102108" bIns="68072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事件影响量化 (历史回測、敏感度)</a:t>
            </a:r>
            <a:endParaRPr lang="en-US" sz="835" dirty="0"/>
          </a:p>
        </p:txBody>
      </p:sp>
      <p:sp>
        <p:nvSpPr>
          <p:cNvPr id="29" name="Shape 26"/>
          <p:cNvSpPr/>
          <p:nvPr/>
        </p:nvSpPr>
        <p:spPr>
          <a:xfrm>
            <a:off x="4614863" y="3049656"/>
            <a:ext cx="3814763" cy="1665219"/>
          </a:xfrm>
          <a:prstGeom prst="rect">
            <a:avLst/>
          </a:prstGeom>
          <a:solidFill>
            <a:srgbClr val="FFFFFF"/>
          </a:solidFill>
          <a:ln w="18288">
            <a:solidFill>
              <a:srgbClr val="F1F5F9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700588" y="3135381"/>
            <a:ext cx="3643313" cy="24824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情绪面分析</a:t>
            </a:r>
            <a:endParaRPr lang="en-US" sz="1195" dirty="0"/>
          </a:p>
        </p:txBody>
      </p:sp>
      <p:sp>
        <p:nvSpPr>
          <p:cNvPr id="31" name="Shape 28"/>
          <p:cNvSpPr/>
          <p:nvPr/>
        </p:nvSpPr>
        <p:spPr>
          <a:xfrm>
            <a:off x="4700588" y="3469351"/>
            <a:ext cx="3643313" cy="278606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32" name="Shape 29"/>
          <p:cNvSpPr/>
          <p:nvPr/>
        </p:nvSpPr>
        <p:spPr>
          <a:xfrm>
            <a:off x="4700588" y="3469351"/>
            <a:ext cx="28575" cy="278606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3" name="Text 30"/>
          <p:cNvSpPr/>
          <p:nvPr/>
        </p:nvSpPr>
        <p:spPr>
          <a:xfrm>
            <a:off x="4700588" y="3469351"/>
            <a:ext cx="3643313" cy="278606"/>
          </a:xfrm>
          <a:prstGeom prst="rect">
            <a:avLst/>
          </a:prstGeom>
          <a:noFill/>
        </p:spPr>
        <p:txBody>
          <a:bodyPr wrap="square" lIns="102108" tIns="68072" rIns="102108" bIns="68072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社交媒体监控 (微博、雪球、股吧)</a:t>
            </a:r>
            <a:endParaRPr lang="en-US" sz="835" dirty="0"/>
          </a:p>
        </p:txBody>
      </p:sp>
      <p:sp>
        <p:nvSpPr>
          <p:cNvPr id="34" name="Shape 31"/>
          <p:cNvSpPr/>
          <p:nvPr/>
        </p:nvSpPr>
        <p:spPr>
          <a:xfrm>
            <a:off x="4700588" y="3805107"/>
            <a:ext cx="3643313" cy="278606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35" name="Shape 32"/>
          <p:cNvSpPr/>
          <p:nvPr/>
        </p:nvSpPr>
        <p:spPr>
          <a:xfrm>
            <a:off x="4700588" y="3805107"/>
            <a:ext cx="28575" cy="278606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6" name="Text 33"/>
          <p:cNvSpPr/>
          <p:nvPr/>
        </p:nvSpPr>
        <p:spPr>
          <a:xfrm>
            <a:off x="4700588" y="3805107"/>
            <a:ext cx="3643313" cy="278606"/>
          </a:xfrm>
          <a:prstGeom prst="rect">
            <a:avLst/>
          </a:prstGeom>
          <a:noFill/>
        </p:spPr>
        <p:txBody>
          <a:bodyPr wrap="square" lIns="102108" tIns="68072" rIns="102108" bIns="68072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群体行为识别 (恐慌/贪婪信号捕捉)</a:t>
            </a:r>
            <a:endParaRPr lang="en-US" sz="835" dirty="0"/>
          </a:p>
        </p:txBody>
      </p:sp>
      <p:sp>
        <p:nvSpPr>
          <p:cNvPr id="37" name="Shape 34"/>
          <p:cNvSpPr/>
          <p:nvPr/>
        </p:nvSpPr>
        <p:spPr>
          <a:xfrm>
            <a:off x="3246120" y="2292418"/>
            <a:ext cx="1428750" cy="142875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8" name="Text 35"/>
          <p:cNvSpPr/>
          <p:nvPr/>
        </p:nvSpPr>
        <p:spPr>
          <a:xfrm>
            <a:off x="3531870" y="2595330"/>
            <a:ext cx="857250" cy="271463"/>
          </a:xfrm>
          <a:prstGeom prst="rect">
            <a:avLst/>
          </a:prstGeom>
          <a:noFill/>
        </p:spPr>
        <p:txBody>
          <a:bodyPr wrap="square" lIns="0" tIns="0" rIns="0" bIns="68072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8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多维研判整合</a:t>
            </a:r>
            <a:endParaRPr lang="en-US" sz="985" dirty="0"/>
          </a:p>
        </p:txBody>
      </p:sp>
      <p:sp>
        <p:nvSpPr>
          <p:cNvPr id="39" name="Text 36"/>
          <p:cNvSpPr/>
          <p:nvPr/>
        </p:nvSpPr>
        <p:spPr>
          <a:xfrm>
            <a:off x="3660458" y="2938230"/>
            <a:ext cx="600075" cy="48002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72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策略协同优化</a:t>
            </a:r>
            <a:r>
              <a:rPr lang="en-US" sz="72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r>
              <a:rPr lang="en-US" sz="72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热点驱动捕捉</a:t>
            </a:r>
            <a:r>
              <a:rPr lang="en-US" sz="72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r>
              <a:rPr lang="en-US" sz="72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风险控制管理</a:t>
            </a:r>
            <a:endParaRPr lang="en-US" sz="7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4375" y="428625"/>
            <a:ext cx="7715250" cy="16430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5" b="1" kern="0" spc="2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项目定位与核心价值</a:t>
            </a:r>
            <a:endParaRPr lang="en-US" sz="785" dirty="0"/>
          </a:p>
        </p:txBody>
      </p:sp>
      <p:sp>
        <p:nvSpPr>
          <p:cNvPr id="4" name="Text 1"/>
          <p:cNvSpPr/>
          <p:nvPr/>
        </p:nvSpPr>
        <p:spPr>
          <a:xfrm>
            <a:off x="714375" y="678656"/>
            <a:ext cx="7715250" cy="32001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b="1" kern="0" spc="-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通过多智能体协作机制模拟专业投资团队，将机构级分析能力平民化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14375" y="1212986"/>
            <a:ext cx="2381241" cy="283752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6" name="Shape 3"/>
          <p:cNvSpPr/>
          <p:nvPr/>
        </p:nvSpPr>
        <p:spPr>
          <a:xfrm>
            <a:off x="714375" y="1212986"/>
            <a:ext cx="2381241" cy="5715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7" name="Text 4"/>
          <p:cNvSpPr/>
          <p:nvPr/>
        </p:nvSpPr>
        <p:spPr>
          <a:xfrm>
            <a:off x="857250" y="1413011"/>
            <a:ext cx="2095491" cy="69115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145" b="1" kern="0" spc="-3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10×</a:t>
            </a:r>
            <a:endParaRPr lang="en-US" sz="4145" dirty="0"/>
          </a:p>
        </p:txBody>
      </p:sp>
      <p:sp>
        <p:nvSpPr>
          <p:cNvPr id="8" name="Text 5"/>
          <p:cNvSpPr/>
          <p:nvPr/>
        </p:nvSpPr>
        <p:spPr>
          <a:xfrm>
            <a:off x="857250" y="2175607"/>
            <a:ext cx="2095491" cy="389334"/>
          </a:xfrm>
          <a:prstGeom prst="rect">
            <a:avLst/>
          </a:prstGeom>
          <a:noFill/>
        </p:spPr>
        <p:txBody>
          <a:bodyPr wrap="square" lIns="0" tIns="0" rIns="0" bIns="102108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效率提升</a:t>
            </a:r>
            <a:endParaRPr lang="en-US" sz="1395" dirty="0"/>
          </a:p>
        </p:txBody>
      </p:sp>
      <p:sp>
        <p:nvSpPr>
          <p:cNvPr id="9" name="Text 6"/>
          <p:cNvSpPr/>
          <p:nvPr/>
        </p:nvSpPr>
        <p:spPr>
          <a:xfrm>
            <a:off x="857250" y="2707816"/>
            <a:ext cx="2095491" cy="82287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3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个专业分析师智能体并行工作，覆盖基本面、技术面、消息面与情绪面，单只股票深度分析仅需数分钟，相较人工投研效率提升 10 倍以上。</a:t>
            </a:r>
            <a:endParaRPr lang="en-US" sz="835" dirty="0"/>
          </a:p>
        </p:txBody>
      </p:sp>
      <p:sp>
        <p:nvSpPr>
          <p:cNvPr id="10" name="Shape 7"/>
          <p:cNvSpPr/>
          <p:nvPr/>
        </p:nvSpPr>
        <p:spPr>
          <a:xfrm>
            <a:off x="3381366" y="1212986"/>
            <a:ext cx="2381241" cy="283752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11" name="Shape 8"/>
          <p:cNvSpPr/>
          <p:nvPr/>
        </p:nvSpPr>
        <p:spPr>
          <a:xfrm>
            <a:off x="3381366" y="1212986"/>
            <a:ext cx="2381241" cy="5715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12" name="Text 9"/>
          <p:cNvSpPr/>
          <p:nvPr/>
        </p:nvSpPr>
        <p:spPr>
          <a:xfrm>
            <a:off x="3524241" y="1413011"/>
            <a:ext cx="2095491" cy="69115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145" b="1" kern="0" spc="-3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30%</a:t>
            </a:r>
            <a:endParaRPr lang="en-US" sz="4145" dirty="0"/>
          </a:p>
        </p:txBody>
      </p:sp>
      <p:sp>
        <p:nvSpPr>
          <p:cNvPr id="13" name="Text 10"/>
          <p:cNvSpPr/>
          <p:nvPr/>
        </p:nvSpPr>
        <p:spPr>
          <a:xfrm>
            <a:off x="3524241" y="2175607"/>
            <a:ext cx="2095491" cy="389334"/>
          </a:xfrm>
          <a:prstGeom prst="rect">
            <a:avLst/>
          </a:prstGeom>
          <a:noFill/>
        </p:spPr>
        <p:txBody>
          <a:bodyPr wrap="square" lIns="0" tIns="0" rIns="0" bIns="102108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决策偏差降低</a:t>
            </a:r>
            <a:endParaRPr lang="en-US" sz="1395" dirty="0"/>
          </a:p>
        </p:txBody>
      </p:sp>
      <p:sp>
        <p:nvSpPr>
          <p:cNvPr id="14" name="Text 11"/>
          <p:cNvSpPr/>
          <p:nvPr/>
        </p:nvSpPr>
        <p:spPr>
          <a:xfrm>
            <a:off x="3524241" y="2707816"/>
            <a:ext cx="2095491" cy="61715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3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看涨与看跌研究员观点交锋，通过多角度结构化辩论與意見融合，減少決策偏差 30%，形成更平衡客觀的判斷。</a:t>
            </a:r>
            <a:endParaRPr lang="en-US" sz="835" dirty="0"/>
          </a:p>
        </p:txBody>
      </p:sp>
      <p:sp>
        <p:nvSpPr>
          <p:cNvPr id="15" name="Shape 12"/>
          <p:cNvSpPr/>
          <p:nvPr/>
        </p:nvSpPr>
        <p:spPr>
          <a:xfrm>
            <a:off x="6048356" y="1212986"/>
            <a:ext cx="2381241" cy="283752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16" name="Shape 13"/>
          <p:cNvSpPr/>
          <p:nvPr/>
        </p:nvSpPr>
        <p:spPr>
          <a:xfrm>
            <a:off x="6048356" y="1212986"/>
            <a:ext cx="2381241" cy="5715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17" name="Text 14"/>
          <p:cNvSpPr/>
          <p:nvPr/>
        </p:nvSpPr>
        <p:spPr>
          <a:xfrm>
            <a:off x="6191231" y="1413011"/>
            <a:ext cx="2095491" cy="69115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145" b="1" kern="0" spc="-3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100%</a:t>
            </a:r>
            <a:endParaRPr lang="en-US" sz="4145" dirty="0"/>
          </a:p>
        </p:txBody>
      </p:sp>
      <p:sp>
        <p:nvSpPr>
          <p:cNvPr id="18" name="Text 15"/>
          <p:cNvSpPr/>
          <p:nvPr/>
        </p:nvSpPr>
        <p:spPr>
          <a:xfrm>
            <a:off x="6191231" y="2175607"/>
            <a:ext cx="2095491" cy="389334"/>
          </a:xfrm>
          <a:prstGeom prst="rect">
            <a:avLst/>
          </a:prstGeom>
          <a:noFill/>
        </p:spPr>
        <p:txBody>
          <a:bodyPr wrap="square" lIns="0" tIns="0" rIns="0" bIns="102108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决策透明</a:t>
            </a:r>
            <a:endParaRPr lang="en-US" sz="1395" dirty="0"/>
          </a:p>
        </p:txBody>
      </p:sp>
      <p:sp>
        <p:nvSpPr>
          <p:cNvPr id="19" name="Text 16"/>
          <p:cNvSpPr/>
          <p:nvPr/>
        </p:nvSpPr>
        <p:spPr>
          <a:xfrm>
            <a:off x="6191231" y="2707816"/>
            <a:ext cx="2095491" cy="61715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3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每份报告均生成自然语言推理链，清晰展示分析逻辑与依据，全程可追溯，确保决策过程透明可信，满足合规需求。</a:t>
            </a:r>
            <a:endParaRPr lang="en-US" sz="835" dirty="0"/>
          </a:p>
        </p:txBody>
      </p:sp>
      <p:sp>
        <p:nvSpPr>
          <p:cNvPr id="20" name="Shape 17"/>
          <p:cNvSpPr/>
          <p:nvPr/>
        </p:nvSpPr>
        <p:spPr>
          <a:xfrm>
            <a:off x="714375" y="4221956"/>
            <a:ext cx="7715250" cy="492919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21" name="Text 18"/>
          <p:cNvSpPr/>
          <p:nvPr/>
        </p:nvSpPr>
        <p:spPr>
          <a:xfrm>
            <a:off x="714375" y="4221956"/>
            <a:ext cx="7715250" cy="492919"/>
          </a:xfrm>
          <a:prstGeom prst="rect">
            <a:avLst/>
          </a:prstGeom>
          <a:noFill/>
        </p:spPr>
        <p:txBody>
          <a:bodyPr wrap="square" lIns="170053" tIns="170053" rIns="170053" bIns="170053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85" b="1" kern="0" spc="2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可解释决策 · 四维全覆盖 · 分钟级响应</a:t>
            </a:r>
            <a:endParaRPr lang="en-US" sz="98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4375" y="428625"/>
            <a:ext cx="7715250" cy="16430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5" b="1" kern="0" spc="2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市场竞争优势分析</a:t>
            </a:r>
            <a:endParaRPr lang="en-US" sz="785" dirty="0"/>
          </a:p>
        </p:txBody>
      </p:sp>
      <p:sp>
        <p:nvSpPr>
          <p:cNvPr id="4" name="Text 1"/>
          <p:cNvSpPr/>
          <p:nvPr/>
        </p:nvSpPr>
        <p:spPr>
          <a:xfrm>
            <a:off x="714375" y="678656"/>
            <a:ext cx="7715250" cy="33430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810" b="1" kern="0" spc="-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构建"速度 × 深度 × 透明度"三位一体优势，确立新一代智能投研标准</a:t>
            </a:r>
            <a:endParaRPr lang="en-US" sz="1810" dirty="0"/>
          </a:p>
        </p:txBody>
      </p:sp>
      <p:sp>
        <p:nvSpPr>
          <p:cNvPr id="5" name="Shape 2"/>
          <p:cNvSpPr/>
          <p:nvPr/>
        </p:nvSpPr>
        <p:spPr>
          <a:xfrm>
            <a:off x="721519" y="1305855"/>
            <a:ext cx="892634" cy="330398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6" name="Shape 3"/>
          <p:cNvSpPr/>
          <p:nvPr/>
        </p:nvSpPr>
        <p:spPr>
          <a:xfrm>
            <a:off x="721519" y="1305855"/>
            <a:ext cx="892634" cy="7144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" name="Shape 4"/>
          <p:cNvSpPr/>
          <p:nvPr/>
        </p:nvSpPr>
        <p:spPr>
          <a:xfrm>
            <a:off x="1607009" y="1305855"/>
            <a:ext cx="7144" cy="33039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8" name="Shape 5"/>
          <p:cNvSpPr/>
          <p:nvPr/>
        </p:nvSpPr>
        <p:spPr>
          <a:xfrm>
            <a:off x="721519" y="1621966"/>
            <a:ext cx="892634" cy="14288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9" name="Shape 6"/>
          <p:cNvSpPr/>
          <p:nvPr/>
        </p:nvSpPr>
        <p:spPr>
          <a:xfrm>
            <a:off x="721519" y="1305855"/>
            <a:ext cx="7144" cy="33039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10" name="Text 7"/>
          <p:cNvSpPr/>
          <p:nvPr/>
        </p:nvSpPr>
        <p:spPr>
          <a:xfrm>
            <a:off x="721519" y="1305855"/>
            <a:ext cx="892634" cy="330398"/>
          </a:xfrm>
          <a:prstGeom prst="rect">
            <a:avLst/>
          </a:prstGeom>
          <a:noFill/>
        </p:spPr>
        <p:txBody>
          <a:bodyPr wrap="square" lIns="136017" tIns="102108" rIns="136017" bIns="102108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对比维度</a:t>
            </a:r>
            <a:endParaRPr lang="en-US" sz="685" dirty="0"/>
          </a:p>
        </p:txBody>
      </p:sp>
      <p:sp>
        <p:nvSpPr>
          <p:cNvPr id="11" name="Shape 8"/>
          <p:cNvSpPr/>
          <p:nvPr/>
        </p:nvSpPr>
        <p:spPr>
          <a:xfrm>
            <a:off x="1614153" y="1305855"/>
            <a:ext cx="1460674" cy="330398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12" name="Shape 9"/>
          <p:cNvSpPr/>
          <p:nvPr/>
        </p:nvSpPr>
        <p:spPr>
          <a:xfrm>
            <a:off x="1614153" y="1305855"/>
            <a:ext cx="1460674" cy="7144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13" name="Shape 10"/>
          <p:cNvSpPr/>
          <p:nvPr/>
        </p:nvSpPr>
        <p:spPr>
          <a:xfrm>
            <a:off x="3067683" y="1305855"/>
            <a:ext cx="7144" cy="33039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14" name="Shape 11"/>
          <p:cNvSpPr/>
          <p:nvPr/>
        </p:nvSpPr>
        <p:spPr>
          <a:xfrm>
            <a:off x="1614153" y="1621966"/>
            <a:ext cx="1460674" cy="14288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15" name="Shape 12"/>
          <p:cNvSpPr/>
          <p:nvPr/>
        </p:nvSpPr>
        <p:spPr>
          <a:xfrm>
            <a:off x="1614153" y="1305855"/>
            <a:ext cx="7144" cy="33039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16" name="Text 13"/>
          <p:cNvSpPr/>
          <p:nvPr/>
        </p:nvSpPr>
        <p:spPr>
          <a:xfrm>
            <a:off x="1614153" y="1305855"/>
            <a:ext cx="1460674" cy="330398"/>
          </a:xfrm>
          <a:prstGeom prst="rect">
            <a:avLst/>
          </a:prstGeom>
          <a:noFill/>
        </p:spPr>
        <p:txBody>
          <a:bodyPr wrap="square" lIns="136017" tIns="102108" rIns="136017" bIns="102108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传统量化系统</a:t>
            </a:r>
            <a:endParaRPr lang="en-US" sz="685" dirty="0"/>
          </a:p>
        </p:txBody>
      </p:sp>
      <p:sp>
        <p:nvSpPr>
          <p:cNvPr id="17" name="Shape 14"/>
          <p:cNvSpPr/>
          <p:nvPr/>
        </p:nvSpPr>
        <p:spPr>
          <a:xfrm>
            <a:off x="3074826" y="1305855"/>
            <a:ext cx="1322236" cy="330398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18" name="Shape 15"/>
          <p:cNvSpPr/>
          <p:nvPr/>
        </p:nvSpPr>
        <p:spPr>
          <a:xfrm>
            <a:off x="3074826" y="1305855"/>
            <a:ext cx="1322236" cy="7144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19" name="Shape 16"/>
          <p:cNvSpPr/>
          <p:nvPr/>
        </p:nvSpPr>
        <p:spPr>
          <a:xfrm>
            <a:off x="4389918" y="1305855"/>
            <a:ext cx="7144" cy="33039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0" name="Shape 17"/>
          <p:cNvSpPr/>
          <p:nvPr/>
        </p:nvSpPr>
        <p:spPr>
          <a:xfrm>
            <a:off x="3074826" y="1621966"/>
            <a:ext cx="1322236" cy="14288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21" name="Shape 18"/>
          <p:cNvSpPr/>
          <p:nvPr/>
        </p:nvSpPr>
        <p:spPr>
          <a:xfrm>
            <a:off x="3074826" y="1305855"/>
            <a:ext cx="7144" cy="33039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2" name="Text 19"/>
          <p:cNvSpPr/>
          <p:nvPr/>
        </p:nvSpPr>
        <p:spPr>
          <a:xfrm>
            <a:off x="3074826" y="1305855"/>
            <a:ext cx="1322236" cy="330398"/>
          </a:xfrm>
          <a:prstGeom prst="rect">
            <a:avLst/>
          </a:prstGeom>
          <a:noFill/>
        </p:spPr>
        <p:txBody>
          <a:bodyPr wrap="square" lIns="136017" tIns="102108" rIns="136017" bIns="102108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人工投研</a:t>
            </a:r>
            <a:endParaRPr lang="en-US" sz="685" dirty="0"/>
          </a:p>
        </p:txBody>
      </p:sp>
      <p:sp>
        <p:nvSpPr>
          <p:cNvPr id="23" name="Shape 20"/>
          <p:cNvSpPr/>
          <p:nvPr/>
        </p:nvSpPr>
        <p:spPr>
          <a:xfrm>
            <a:off x="4397062" y="1305855"/>
            <a:ext cx="1510819" cy="33039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24" name="Shape 21"/>
          <p:cNvSpPr/>
          <p:nvPr/>
        </p:nvSpPr>
        <p:spPr>
          <a:xfrm>
            <a:off x="5893594" y="1305855"/>
            <a:ext cx="14288" cy="33039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25" name="Shape 22"/>
          <p:cNvSpPr/>
          <p:nvPr/>
        </p:nvSpPr>
        <p:spPr>
          <a:xfrm>
            <a:off x="4397062" y="1621966"/>
            <a:ext cx="1510819" cy="14288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26" name="Shape 23"/>
          <p:cNvSpPr/>
          <p:nvPr/>
        </p:nvSpPr>
        <p:spPr>
          <a:xfrm>
            <a:off x="4397062" y="1305855"/>
            <a:ext cx="14288" cy="33039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27" name="Text 24"/>
          <p:cNvSpPr/>
          <p:nvPr/>
        </p:nvSpPr>
        <p:spPr>
          <a:xfrm>
            <a:off x="4397062" y="1305855"/>
            <a:ext cx="1510819" cy="330398"/>
          </a:xfrm>
          <a:prstGeom prst="rect">
            <a:avLst/>
          </a:prstGeom>
          <a:noFill/>
        </p:spPr>
        <p:txBody>
          <a:bodyPr wrap="square" lIns="136017" tIns="102108" rIns="136017" bIns="102108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ARES 智能研报</a:t>
            </a:r>
            <a:endParaRPr lang="en-US" sz="685" dirty="0"/>
          </a:p>
        </p:txBody>
      </p:sp>
      <p:sp>
        <p:nvSpPr>
          <p:cNvPr id="28" name="Text 25"/>
          <p:cNvSpPr/>
          <p:nvPr/>
        </p:nvSpPr>
        <p:spPr>
          <a:xfrm>
            <a:off x="721519" y="1632682"/>
            <a:ext cx="892634" cy="333970"/>
          </a:xfrm>
          <a:prstGeom prst="rect">
            <a:avLst/>
          </a:prstGeom>
          <a:noFill/>
        </p:spPr>
        <p:txBody>
          <a:bodyPr wrap="square" lIns="136017" tIns="102108" rIns="136017" bIns="102108" rtlCol="0" anchor="ctr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8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分析速度</a:t>
            </a:r>
            <a:endParaRPr lang="en-US" sz="780" dirty="0"/>
          </a:p>
        </p:txBody>
      </p:sp>
      <p:sp>
        <p:nvSpPr>
          <p:cNvPr id="29" name="Text 26"/>
          <p:cNvSpPr/>
          <p:nvPr/>
        </p:nvSpPr>
        <p:spPr>
          <a:xfrm>
            <a:off x="1614153" y="1632682"/>
            <a:ext cx="1460674" cy="333970"/>
          </a:xfrm>
          <a:prstGeom prst="rect">
            <a:avLst/>
          </a:prstGeom>
          <a:noFill/>
        </p:spPr>
        <p:txBody>
          <a:bodyPr wrap="square" lIns="136017" tIns="102108" rIns="136017" bIns="102108" rtlCol="0" anchor="ctr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8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快（规则驱动）</a:t>
            </a:r>
            <a:endParaRPr lang="en-US" sz="780" dirty="0"/>
          </a:p>
        </p:txBody>
      </p:sp>
      <p:sp>
        <p:nvSpPr>
          <p:cNvPr id="30" name="Text 27"/>
          <p:cNvSpPr/>
          <p:nvPr/>
        </p:nvSpPr>
        <p:spPr>
          <a:xfrm>
            <a:off x="3074826" y="1632682"/>
            <a:ext cx="1322236" cy="333970"/>
          </a:xfrm>
          <a:prstGeom prst="rect">
            <a:avLst/>
          </a:prstGeom>
          <a:noFill/>
        </p:spPr>
        <p:txBody>
          <a:bodyPr wrap="square" lIns="136017" tIns="102108" rIns="136017" bIns="102108" rtlCol="0" anchor="ctr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8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慢（人工耗时）</a:t>
            </a:r>
            <a:endParaRPr lang="en-US" sz="780" dirty="0"/>
          </a:p>
        </p:txBody>
      </p:sp>
      <p:sp>
        <p:nvSpPr>
          <p:cNvPr id="31" name="Shape 28"/>
          <p:cNvSpPr/>
          <p:nvPr/>
        </p:nvSpPr>
        <p:spPr>
          <a:xfrm>
            <a:off x="4397062" y="1632682"/>
            <a:ext cx="1510819" cy="333970"/>
          </a:xfrm>
          <a:prstGeom prst="rect">
            <a:avLst/>
          </a:prstGeom>
          <a:solidFill>
            <a:srgbClr val="EFF6FF"/>
          </a:solidFill>
        </p:spPr>
      </p:sp>
      <p:sp>
        <p:nvSpPr>
          <p:cNvPr id="32" name="Shape 29"/>
          <p:cNvSpPr/>
          <p:nvPr/>
        </p:nvSpPr>
        <p:spPr>
          <a:xfrm>
            <a:off x="4397062" y="1632682"/>
            <a:ext cx="1510819" cy="7144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3" name="Shape 30"/>
          <p:cNvSpPr/>
          <p:nvPr/>
        </p:nvSpPr>
        <p:spPr>
          <a:xfrm>
            <a:off x="5893594" y="1632682"/>
            <a:ext cx="14288" cy="33397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4" name="Shape 31"/>
          <p:cNvSpPr/>
          <p:nvPr/>
        </p:nvSpPr>
        <p:spPr>
          <a:xfrm>
            <a:off x="4397062" y="1959508"/>
            <a:ext cx="1510819" cy="7144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5" name="Shape 32"/>
          <p:cNvSpPr/>
          <p:nvPr/>
        </p:nvSpPr>
        <p:spPr>
          <a:xfrm>
            <a:off x="4397062" y="1632682"/>
            <a:ext cx="14288" cy="33397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6" name="Text 33"/>
          <p:cNvSpPr/>
          <p:nvPr/>
        </p:nvSpPr>
        <p:spPr>
          <a:xfrm>
            <a:off x="4397062" y="1632682"/>
            <a:ext cx="1510819" cy="333970"/>
          </a:xfrm>
          <a:prstGeom prst="rect">
            <a:avLst/>
          </a:prstGeom>
          <a:noFill/>
        </p:spPr>
        <p:txBody>
          <a:bodyPr wrap="square" lIns="136017" tIns="102108" rIns="136017" bIns="102108" rtlCol="0" anchor="ctr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35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极速（分钟级）</a:t>
            </a:r>
            <a:endParaRPr lang="en-US" sz="735" dirty="0"/>
          </a:p>
        </p:txBody>
      </p:sp>
      <p:sp>
        <p:nvSpPr>
          <p:cNvPr id="37" name="Text 34"/>
          <p:cNvSpPr/>
          <p:nvPr/>
        </p:nvSpPr>
        <p:spPr>
          <a:xfrm>
            <a:off x="721519" y="1966652"/>
            <a:ext cx="892634" cy="333970"/>
          </a:xfrm>
          <a:prstGeom prst="rect">
            <a:avLst/>
          </a:prstGeom>
          <a:noFill/>
        </p:spPr>
        <p:txBody>
          <a:bodyPr wrap="square" lIns="136017" tIns="102108" rIns="136017" bIns="102108" rtlCol="0" anchor="ctr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8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分析深度</a:t>
            </a:r>
            <a:endParaRPr lang="en-US" sz="780" dirty="0"/>
          </a:p>
        </p:txBody>
      </p:sp>
      <p:sp>
        <p:nvSpPr>
          <p:cNvPr id="38" name="Text 35"/>
          <p:cNvSpPr/>
          <p:nvPr/>
        </p:nvSpPr>
        <p:spPr>
          <a:xfrm>
            <a:off x="1614153" y="1966652"/>
            <a:ext cx="1460674" cy="333970"/>
          </a:xfrm>
          <a:prstGeom prst="rect">
            <a:avLst/>
          </a:prstGeom>
          <a:noFill/>
        </p:spPr>
        <p:txBody>
          <a:bodyPr wrap="square" lIns="136017" tIns="102108" rIns="136017" bIns="102108" rtlCol="0" anchor="ctr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8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浅（规则局限）</a:t>
            </a:r>
            <a:endParaRPr lang="en-US" sz="780" dirty="0"/>
          </a:p>
        </p:txBody>
      </p:sp>
      <p:sp>
        <p:nvSpPr>
          <p:cNvPr id="39" name="Text 36"/>
          <p:cNvSpPr/>
          <p:nvPr/>
        </p:nvSpPr>
        <p:spPr>
          <a:xfrm>
            <a:off x="3074826" y="1966652"/>
            <a:ext cx="1322236" cy="333970"/>
          </a:xfrm>
          <a:prstGeom prst="rect">
            <a:avLst/>
          </a:prstGeom>
          <a:noFill/>
        </p:spPr>
        <p:txBody>
          <a:bodyPr wrap="square" lIns="136017" tIns="102108" rIns="136017" bIns="102108" rtlCol="0" anchor="ctr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8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深（经验丰富）</a:t>
            </a:r>
            <a:endParaRPr lang="en-US" sz="780" dirty="0"/>
          </a:p>
        </p:txBody>
      </p:sp>
      <p:sp>
        <p:nvSpPr>
          <p:cNvPr id="40" name="Shape 37"/>
          <p:cNvSpPr/>
          <p:nvPr/>
        </p:nvSpPr>
        <p:spPr>
          <a:xfrm>
            <a:off x="4397062" y="1966652"/>
            <a:ext cx="1510819" cy="333970"/>
          </a:xfrm>
          <a:prstGeom prst="rect">
            <a:avLst/>
          </a:prstGeom>
          <a:solidFill>
            <a:srgbClr val="EFF6FF"/>
          </a:solidFill>
        </p:spPr>
      </p:sp>
      <p:sp>
        <p:nvSpPr>
          <p:cNvPr id="41" name="Shape 38"/>
          <p:cNvSpPr/>
          <p:nvPr/>
        </p:nvSpPr>
        <p:spPr>
          <a:xfrm>
            <a:off x="4397062" y="1966652"/>
            <a:ext cx="1510819" cy="7144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2" name="Shape 39"/>
          <p:cNvSpPr/>
          <p:nvPr/>
        </p:nvSpPr>
        <p:spPr>
          <a:xfrm>
            <a:off x="5893594" y="1966652"/>
            <a:ext cx="14288" cy="33397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43" name="Shape 40"/>
          <p:cNvSpPr/>
          <p:nvPr/>
        </p:nvSpPr>
        <p:spPr>
          <a:xfrm>
            <a:off x="4397062" y="2293479"/>
            <a:ext cx="1510819" cy="7144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4" name="Shape 41"/>
          <p:cNvSpPr/>
          <p:nvPr/>
        </p:nvSpPr>
        <p:spPr>
          <a:xfrm>
            <a:off x="4397062" y="1966652"/>
            <a:ext cx="14288" cy="33397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45" name="Text 42"/>
          <p:cNvSpPr/>
          <p:nvPr/>
        </p:nvSpPr>
        <p:spPr>
          <a:xfrm>
            <a:off x="4397062" y="1966652"/>
            <a:ext cx="1510819" cy="333970"/>
          </a:xfrm>
          <a:prstGeom prst="rect">
            <a:avLst/>
          </a:prstGeom>
          <a:noFill/>
        </p:spPr>
        <p:txBody>
          <a:bodyPr wrap="square" lIns="136017" tIns="102108" rIns="136017" bIns="102108" rtlCol="0" anchor="ctr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35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深（AI 理解）</a:t>
            </a:r>
            <a:endParaRPr lang="en-US" sz="735" dirty="0"/>
          </a:p>
        </p:txBody>
      </p:sp>
      <p:sp>
        <p:nvSpPr>
          <p:cNvPr id="46" name="Text 43"/>
          <p:cNvSpPr/>
          <p:nvPr/>
        </p:nvSpPr>
        <p:spPr>
          <a:xfrm>
            <a:off x="721519" y="2300622"/>
            <a:ext cx="892634" cy="333970"/>
          </a:xfrm>
          <a:prstGeom prst="rect">
            <a:avLst/>
          </a:prstGeom>
          <a:noFill/>
        </p:spPr>
        <p:txBody>
          <a:bodyPr wrap="square" lIns="136017" tIns="102108" rIns="136017" bIns="102108" rtlCol="0" anchor="ctr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8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覆盖维度</a:t>
            </a:r>
            <a:endParaRPr lang="en-US" sz="780" dirty="0"/>
          </a:p>
        </p:txBody>
      </p:sp>
      <p:sp>
        <p:nvSpPr>
          <p:cNvPr id="47" name="Text 44"/>
          <p:cNvSpPr/>
          <p:nvPr/>
        </p:nvSpPr>
        <p:spPr>
          <a:xfrm>
            <a:off x="1614153" y="2300622"/>
            <a:ext cx="1460674" cy="333970"/>
          </a:xfrm>
          <a:prstGeom prst="rect">
            <a:avLst/>
          </a:prstGeom>
          <a:noFill/>
        </p:spPr>
        <p:txBody>
          <a:bodyPr wrap="square" lIns="136017" tIns="102108" rIns="136017" bIns="102108" rtlCol="0" anchor="ctr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8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单一（量化指标）</a:t>
            </a:r>
            <a:endParaRPr lang="en-US" sz="780" dirty="0"/>
          </a:p>
        </p:txBody>
      </p:sp>
      <p:sp>
        <p:nvSpPr>
          <p:cNvPr id="48" name="Text 45"/>
          <p:cNvSpPr/>
          <p:nvPr/>
        </p:nvSpPr>
        <p:spPr>
          <a:xfrm>
            <a:off x="3074826" y="2300622"/>
            <a:ext cx="1322236" cy="333970"/>
          </a:xfrm>
          <a:prstGeom prst="rect">
            <a:avLst/>
          </a:prstGeom>
          <a:noFill/>
        </p:spPr>
        <p:txBody>
          <a:bodyPr wrap="square" lIns="136017" tIns="102108" rIns="136017" bIns="102108" rtlCol="0" anchor="ctr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8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多维度（主观）</a:t>
            </a:r>
            <a:endParaRPr lang="en-US" sz="780" dirty="0"/>
          </a:p>
        </p:txBody>
      </p:sp>
      <p:sp>
        <p:nvSpPr>
          <p:cNvPr id="49" name="Shape 46"/>
          <p:cNvSpPr/>
          <p:nvPr/>
        </p:nvSpPr>
        <p:spPr>
          <a:xfrm>
            <a:off x="4397062" y="2300622"/>
            <a:ext cx="1510819" cy="333970"/>
          </a:xfrm>
          <a:prstGeom prst="rect">
            <a:avLst/>
          </a:prstGeom>
          <a:solidFill>
            <a:srgbClr val="EFF6FF"/>
          </a:solidFill>
        </p:spPr>
      </p:sp>
      <p:sp>
        <p:nvSpPr>
          <p:cNvPr id="50" name="Shape 47"/>
          <p:cNvSpPr/>
          <p:nvPr/>
        </p:nvSpPr>
        <p:spPr>
          <a:xfrm>
            <a:off x="4397062" y="2300622"/>
            <a:ext cx="1510819" cy="7144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1" name="Shape 48"/>
          <p:cNvSpPr/>
          <p:nvPr/>
        </p:nvSpPr>
        <p:spPr>
          <a:xfrm>
            <a:off x="5893594" y="2300622"/>
            <a:ext cx="14288" cy="33397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52" name="Shape 49"/>
          <p:cNvSpPr/>
          <p:nvPr/>
        </p:nvSpPr>
        <p:spPr>
          <a:xfrm>
            <a:off x="4397062" y="2627449"/>
            <a:ext cx="1510819" cy="7144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3" name="Shape 50"/>
          <p:cNvSpPr/>
          <p:nvPr/>
        </p:nvSpPr>
        <p:spPr>
          <a:xfrm>
            <a:off x="4397062" y="2300622"/>
            <a:ext cx="14288" cy="33397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54" name="Text 51"/>
          <p:cNvSpPr/>
          <p:nvPr/>
        </p:nvSpPr>
        <p:spPr>
          <a:xfrm>
            <a:off x="4397062" y="2300622"/>
            <a:ext cx="1510819" cy="333970"/>
          </a:xfrm>
          <a:prstGeom prst="rect">
            <a:avLst/>
          </a:prstGeom>
          <a:noFill/>
        </p:spPr>
        <p:txBody>
          <a:bodyPr wrap="square" lIns="136017" tIns="102108" rIns="136017" bIns="102108" rtlCol="0" anchor="ctr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35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四维全覆盖</a:t>
            </a:r>
            <a:endParaRPr lang="en-US" sz="735" dirty="0"/>
          </a:p>
        </p:txBody>
      </p:sp>
      <p:sp>
        <p:nvSpPr>
          <p:cNvPr id="55" name="Text 52"/>
          <p:cNvSpPr/>
          <p:nvPr/>
        </p:nvSpPr>
        <p:spPr>
          <a:xfrm>
            <a:off x="721519" y="2634593"/>
            <a:ext cx="892634" cy="333970"/>
          </a:xfrm>
          <a:prstGeom prst="rect">
            <a:avLst/>
          </a:prstGeom>
          <a:noFill/>
        </p:spPr>
        <p:txBody>
          <a:bodyPr wrap="square" lIns="136017" tIns="102108" rIns="136017" bIns="102108" rtlCol="0" anchor="ctr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8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可解释性</a:t>
            </a:r>
            <a:endParaRPr lang="en-US" sz="780" dirty="0"/>
          </a:p>
        </p:txBody>
      </p:sp>
      <p:sp>
        <p:nvSpPr>
          <p:cNvPr id="56" name="Text 53"/>
          <p:cNvSpPr/>
          <p:nvPr/>
        </p:nvSpPr>
        <p:spPr>
          <a:xfrm>
            <a:off x="1614153" y="2634593"/>
            <a:ext cx="1460674" cy="333970"/>
          </a:xfrm>
          <a:prstGeom prst="rect">
            <a:avLst/>
          </a:prstGeom>
          <a:noFill/>
        </p:spPr>
        <p:txBody>
          <a:bodyPr wrap="square" lIns="136017" tIns="102108" rIns="136017" bIns="102108" rtlCol="0" anchor="ctr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8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低（黑箱模型）</a:t>
            </a:r>
            <a:endParaRPr lang="en-US" sz="780" dirty="0"/>
          </a:p>
        </p:txBody>
      </p:sp>
      <p:sp>
        <p:nvSpPr>
          <p:cNvPr id="57" name="Text 54"/>
          <p:cNvSpPr/>
          <p:nvPr/>
        </p:nvSpPr>
        <p:spPr>
          <a:xfrm>
            <a:off x="3074826" y="2634593"/>
            <a:ext cx="1322236" cy="333970"/>
          </a:xfrm>
          <a:prstGeom prst="rect">
            <a:avLst/>
          </a:prstGeom>
          <a:noFill/>
        </p:spPr>
        <p:txBody>
          <a:bodyPr wrap="square" lIns="136017" tIns="102108" rIns="136017" bIns="102108" rtlCol="0" anchor="ctr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8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高（人工说明）</a:t>
            </a:r>
            <a:endParaRPr lang="en-US" sz="780" dirty="0"/>
          </a:p>
        </p:txBody>
      </p:sp>
      <p:sp>
        <p:nvSpPr>
          <p:cNvPr id="58" name="Shape 55"/>
          <p:cNvSpPr/>
          <p:nvPr/>
        </p:nvSpPr>
        <p:spPr>
          <a:xfrm>
            <a:off x="4397062" y="2634593"/>
            <a:ext cx="1510819" cy="333970"/>
          </a:xfrm>
          <a:prstGeom prst="rect">
            <a:avLst/>
          </a:prstGeom>
          <a:solidFill>
            <a:srgbClr val="EFF6FF"/>
          </a:solidFill>
        </p:spPr>
      </p:sp>
      <p:sp>
        <p:nvSpPr>
          <p:cNvPr id="59" name="Shape 56"/>
          <p:cNvSpPr/>
          <p:nvPr/>
        </p:nvSpPr>
        <p:spPr>
          <a:xfrm>
            <a:off x="4397062" y="2634593"/>
            <a:ext cx="1510819" cy="7144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0" name="Shape 57"/>
          <p:cNvSpPr/>
          <p:nvPr/>
        </p:nvSpPr>
        <p:spPr>
          <a:xfrm>
            <a:off x="5893594" y="2634593"/>
            <a:ext cx="14288" cy="33397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61" name="Shape 58"/>
          <p:cNvSpPr/>
          <p:nvPr/>
        </p:nvSpPr>
        <p:spPr>
          <a:xfrm>
            <a:off x="4397062" y="2961419"/>
            <a:ext cx="1510819" cy="7144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2" name="Shape 59"/>
          <p:cNvSpPr/>
          <p:nvPr/>
        </p:nvSpPr>
        <p:spPr>
          <a:xfrm>
            <a:off x="4397062" y="2634593"/>
            <a:ext cx="14288" cy="33397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63" name="Text 60"/>
          <p:cNvSpPr/>
          <p:nvPr/>
        </p:nvSpPr>
        <p:spPr>
          <a:xfrm>
            <a:off x="4397062" y="2634593"/>
            <a:ext cx="1510819" cy="333970"/>
          </a:xfrm>
          <a:prstGeom prst="rect">
            <a:avLst/>
          </a:prstGeom>
          <a:noFill/>
        </p:spPr>
        <p:txBody>
          <a:bodyPr wrap="square" lIns="136017" tIns="102108" rIns="136017" bIns="102108" rtlCol="0" anchor="ctr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35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高（自然语言）</a:t>
            </a:r>
            <a:endParaRPr lang="en-US" sz="735" dirty="0"/>
          </a:p>
        </p:txBody>
      </p:sp>
      <p:sp>
        <p:nvSpPr>
          <p:cNvPr id="64" name="Text 61"/>
          <p:cNvSpPr/>
          <p:nvPr/>
        </p:nvSpPr>
        <p:spPr>
          <a:xfrm>
            <a:off x="721519" y="2968563"/>
            <a:ext cx="893443" cy="333970"/>
          </a:xfrm>
          <a:prstGeom prst="rect">
            <a:avLst/>
          </a:prstGeom>
          <a:noFill/>
        </p:spPr>
        <p:txBody>
          <a:bodyPr wrap="square" lIns="136017" tIns="102108" rIns="136017" bIns="102108" rtlCol="0" anchor="ctr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8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成本</a:t>
            </a:r>
            <a:endParaRPr lang="en-US" sz="780" dirty="0"/>
          </a:p>
        </p:txBody>
      </p:sp>
      <p:sp>
        <p:nvSpPr>
          <p:cNvPr id="65" name="Text 62"/>
          <p:cNvSpPr/>
          <p:nvPr/>
        </p:nvSpPr>
        <p:spPr>
          <a:xfrm>
            <a:off x="1614962" y="2968563"/>
            <a:ext cx="1462013" cy="333970"/>
          </a:xfrm>
          <a:prstGeom prst="rect">
            <a:avLst/>
          </a:prstGeom>
          <a:noFill/>
        </p:spPr>
        <p:txBody>
          <a:bodyPr wrap="square" lIns="136017" tIns="102108" rIns="136017" bIns="102108" rtlCol="0" anchor="ctr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8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中</a:t>
            </a:r>
            <a:endParaRPr lang="en-US" sz="780" dirty="0"/>
          </a:p>
        </p:txBody>
      </p:sp>
      <p:sp>
        <p:nvSpPr>
          <p:cNvPr id="66" name="Text 63"/>
          <p:cNvSpPr/>
          <p:nvPr/>
        </p:nvSpPr>
        <p:spPr>
          <a:xfrm>
            <a:off x="3076975" y="2968563"/>
            <a:ext cx="1318664" cy="333970"/>
          </a:xfrm>
          <a:prstGeom prst="rect">
            <a:avLst/>
          </a:prstGeom>
          <a:noFill/>
        </p:spPr>
        <p:txBody>
          <a:bodyPr wrap="square" lIns="136017" tIns="102108" rIns="136017" bIns="102108" rtlCol="0" anchor="ctr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8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高</a:t>
            </a:r>
            <a:endParaRPr lang="en-US" sz="780" dirty="0"/>
          </a:p>
        </p:txBody>
      </p:sp>
      <p:sp>
        <p:nvSpPr>
          <p:cNvPr id="67" name="Shape 64"/>
          <p:cNvSpPr/>
          <p:nvPr/>
        </p:nvSpPr>
        <p:spPr>
          <a:xfrm>
            <a:off x="4395639" y="2968563"/>
            <a:ext cx="1512243" cy="333970"/>
          </a:xfrm>
          <a:prstGeom prst="rect">
            <a:avLst/>
          </a:prstGeom>
          <a:solidFill>
            <a:srgbClr val="EFF6FF"/>
          </a:solidFill>
        </p:spPr>
      </p:sp>
      <p:sp>
        <p:nvSpPr>
          <p:cNvPr id="68" name="Shape 65"/>
          <p:cNvSpPr/>
          <p:nvPr/>
        </p:nvSpPr>
        <p:spPr>
          <a:xfrm>
            <a:off x="4395639" y="2968563"/>
            <a:ext cx="1512243" cy="7144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9" name="Shape 66"/>
          <p:cNvSpPr/>
          <p:nvPr/>
        </p:nvSpPr>
        <p:spPr>
          <a:xfrm>
            <a:off x="5893594" y="2968563"/>
            <a:ext cx="14288" cy="33397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70" name="Shape 67"/>
          <p:cNvSpPr/>
          <p:nvPr/>
        </p:nvSpPr>
        <p:spPr>
          <a:xfrm>
            <a:off x="4395639" y="3295390"/>
            <a:ext cx="1512243" cy="7144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1" name="Shape 68"/>
          <p:cNvSpPr/>
          <p:nvPr/>
        </p:nvSpPr>
        <p:spPr>
          <a:xfrm>
            <a:off x="4395639" y="2968563"/>
            <a:ext cx="14288" cy="33397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72" name="Text 69"/>
          <p:cNvSpPr/>
          <p:nvPr/>
        </p:nvSpPr>
        <p:spPr>
          <a:xfrm>
            <a:off x="4395639" y="2968563"/>
            <a:ext cx="1512243" cy="333970"/>
          </a:xfrm>
          <a:prstGeom prst="rect">
            <a:avLst/>
          </a:prstGeom>
          <a:noFill/>
        </p:spPr>
        <p:txBody>
          <a:bodyPr wrap="square" lIns="136017" tIns="102108" rIns="136017" bIns="102108" rtlCol="0" anchor="ctr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35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低</a:t>
            </a:r>
            <a:endParaRPr lang="en-US" sz="735" dirty="0"/>
          </a:p>
        </p:txBody>
      </p:sp>
      <p:sp>
        <p:nvSpPr>
          <p:cNvPr id="73" name="Text 70"/>
          <p:cNvSpPr/>
          <p:nvPr/>
        </p:nvSpPr>
        <p:spPr>
          <a:xfrm>
            <a:off x="721519" y="3302533"/>
            <a:ext cx="893443" cy="333970"/>
          </a:xfrm>
          <a:prstGeom prst="rect">
            <a:avLst/>
          </a:prstGeom>
          <a:noFill/>
        </p:spPr>
        <p:txBody>
          <a:bodyPr wrap="square" lIns="136017" tIns="102108" rIns="136017" bIns="102108" rtlCol="0" anchor="ctr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8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扩展性</a:t>
            </a:r>
            <a:endParaRPr lang="en-US" sz="780" dirty="0"/>
          </a:p>
        </p:txBody>
      </p:sp>
      <p:sp>
        <p:nvSpPr>
          <p:cNvPr id="74" name="Text 71"/>
          <p:cNvSpPr/>
          <p:nvPr/>
        </p:nvSpPr>
        <p:spPr>
          <a:xfrm>
            <a:off x="1614962" y="3302533"/>
            <a:ext cx="1462013" cy="333970"/>
          </a:xfrm>
          <a:prstGeom prst="rect">
            <a:avLst/>
          </a:prstGeom>
          <a:noFill/>
        </p:spPr>
        <p:txBody>
          <a:bodyPr wrap="square" lIns="136017" tIns="102108" rIns="136017" bIns="102108" rtlCol="0" anchor="ctr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8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低</a:t>
            </a:r>
            <a:endParaRPr lang="en-US" sz="780" dirty="0"/>
          </a:p>
        </p:txBody>
      </p:sp>
      <p:sp>
        <p:nvSpPr>
          <p:cNvPr id="75" name="Text 72"/>
          <p:cNvSpPr/>
          <p:nvPr/>
        </p:nvSpPr>
        <p:spPr>
          <a:xfrm>
            <a:off x="3076975" y="3302533"/>
            <a:ext cx="1318664" cy="333970"/>
          </a:xfrm>
          <a:prstGeom prst="rect">
            <a:avLst/>
          </a:prstGeom>
          <a:noFill/>
        </p:spPr>
        <p:txBody>
          <a:bodyPr wrap="square" lIns="136017" tIns="102108" rIns="136017" bIns="102108" rtlCol="0" anchor="ctr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8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低</a:t>
            </a:r>
            <a:endParaRPr lang="en-US" sz="780" dirty="0"/>
          </a:p>
        </p:txBody>
      </p:sp>
      <p:sp>
        <p:nvSpPr>
          <p:cNvPr id="76" name="Shape 73"/>
          <p:cNvSpPr/>
          <p:nvPr/>
        </p:nvSpPr>
        <p:spPr>
          <a:xfrm>
            <a:off x="4395639" y="3302533"/>
            <a:ext cx="1512243" cy="333970"/>
          </a:xfrm>
          <a:prstGeom prst="rect">
            <a:avLst/>
          </a:prstGeom>
          <a:solidFill>
            <a:srgbClr val="EFF6FF"/>
          </a:solidFill>
        </p:spPr>
      </p:sp>
      <p:sp>
        <p:nvSpPr>
          <p:cNvPr id="77" name="Shape 74"/>
          <p:cNvSpPr/>
          <p:nvPr/>
        </p:nvSpPr>
        <p:spPr>
          <a:xfrm>
            <a:off x="4395639" y="3302533"/>
            <a:ext cx="1512243" cy="7144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8" name="Shape 75"/>
          <p:cNvSpPr/>
          <p:nvPr/>
        </p:nvSpPr>
        <p:spPr>
          <a:xfrm>
            <a:off x="5893594" y="3302533"/>
            <a:ext cx="14288" cy="33397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79" name="Shape 76"/>
          <p:cNvSpPr/>
          <p:nvPr/>
        </p:nvSpPr>
        <p:spPr>
          <a:xfrm>
            <a:off x="4395639" y="3629360"/>
            <a:ext cx="1512243" cy="7144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80" name="Shape 77"/>
          <p:cNvSpPr/>
          <p:nvPr/>
        </p:nvSpPr>
        <p:spPr>
          <a:xfrm>
            <a:off x="4395639" y="3302533"/>
            <a:ext cx="14288" cy="33397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81" name="Text 78"/>
          <p:cNvSpPr/>
          <p:nvPr/>
        </p:nvSpPr>
        <p:spPr>
          <a:xfrm>
            <a:off x="4395639" y="3302533"/>
            <a:ext cx="1512243" cy="333970"/>
          </a:xfrm>
          <a:prstGeom prst="rect">
            <a:avLst/>
          </a:prstGeom>
          <a:noFill/>
        </p:spPr>
        <p:txBody>
          <a:bodyPr wrap="square" lIns="136017" tIns="102108" rIns="136017" bIns="102108" rtlCol="0" anchor="ctr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35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高</a:t>
            </a:r>
            <a:endParaRPr lang="en-US" sz="735" dirty="0"/>
          </a:p>
        </p:txBody>
      </p:sp>
      <p:sp>
        <p:nvSpPr>
          <p:cNvPr id="82" name="Text 79"/>
          <p:cNvSpPr/>
          <p:nvPr/>
        </p:nvSpPr>
        <p:spPr>
          <a:xfrm>
            <a:off x="721519" y="3636504"/>
            <a:ext cx="893443" cy="333970"/>
          </a:xfrm>
          <a:prstGeom prst="rect">
            <a:avLst/>
          </a:prstGeom>
          <a:noFill/>
        </p:spPr>
        <p:txBody>
          <a:bodyPr wrap="square" lIns="136017" tIns="102108" rIns="136017" bIns="102108" rtlCol="0" anchor="ctr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8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学习能力</a:t>
            </a:r>
            <a:endParaRPr lang="en-US" sz="780" dirty="0"/>
          </a:p>
        </p:txBody>
      </p:sp>
      <p:sp>
        <p:nvSpPr>
          <p:cNvPr id="83" name="Text 80"/>
          <p:cNvSpPr/>
          <p:nvPr/>
        </p:nvSpPr>
        <p:spPr>
          <a:xfrm>
            <a:off x="1614962" y="3636504"/>
            <a:ext cx="1462013" cy="333970"/>
          </a:xfrm>
          <a:prstGeom prst="rect">
            <a:avLst/>
          </a:prstGeom>
          <a:noFill/>
        </p:spPr>
        <p:txBody>
          <a:bodyPr wrap="square" lIns="136017" tIns="102108" rIns="136017" bIns="102108" rtlCol="0" anchor="ctr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8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无</a:t>
            </a:r>
            <a:endParaRPr lang="en-US" sz="780" dirty="0"/>
          </a:p>
        </p:txBody>
      </p:sp>
      <p:sp>
        <p:nvSpPr>
          <p:cNvPr id="84" name="Text 81"/>
          <p:cNvSpPr/>
          <p:nvPr/>
        </p:nvSpPr>
        <p:spPr>
          <a:xfrm>
            <a:off x="3076975" y="3636504"/>
            <a:ext cx="1318664" cy="333970"/>
          </a:xfrm>
          <a:prstGeom prst="rect">
            <a:avLst/>
          </a:prstGeom>
          <a:noFill/>
        </p:spPr>
        <p:txBody>
          <a:bodyPr wrap="square" lIns="136017" tIns="102108" rIns="136017" bIns="102108" rtlCol="0" anchor="ctr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8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有（缓慢）</a:t>
            </a:r>
            <a:endParaRPr lang="en-US" sz="780" dirty="0"/>
          </a:p>
        </p:txBody>
      </p:sp>
      <p:sp>
        <p:nvSpPr>
          <p:cNvPr id="85" name="Shape 82"/>
          <p:cNvSpPr/>
          <p:nvPr/>
        </p:nvSpPr>
        <p:spPr>
          <a:xfrm>
            <a:off x="4395639" y="3636504"/>
            <a:ext cx="1512243" cy="333970"/>
          </a:xfrm>
          <a:prstGeom prst="rect">
            <a:avLst/>
          </a:prstGeom>
          <a:solidFill>
            <a:srgbClr val="EFF6FF"/>
          </a:solidFill>
        </p:spPr>
      </p:sp>
      <p:sp>
        <p:nvSpPr>
          <p:cNvPr id="86" name="Shape 83"/>
          <p:cNvSpPr/>
          <p:nvPr/>
        </p:nvSpPr>
        <p:spPr>
          <a:xfrm>
            <a:off x="4395639" y="3636504"/>
            <a:ext cx="1512243" cy="7144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87" name="Shape 84"/>
          <p:cNvSpPr/>
          <p:nvPr/>
        </p:nvSpPr>
        <p:spPr>
          <a:xfrm>
            <a:off x="5893594" y="3636504"/>
            <a:ext cx="14288" cy="33397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88" name="Shape 85"/>
          <p:cNvSpPr/>
          <p:nvPr/>
        </p:nvSpPr>
        <p:spPr>
          <a:xfrm>
            <a:off x="4395639" y="3963330"/>
            <a:ext cx="1512243" cy="7144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89" name="Shape 86"/>
          <p:cNvSpPr/>
          <p:nvPr/>
        </p:nvSpPr>
        <p:spPr>
          <a:xfrm>
            <a:off x="4395639" y="3636504"/>
            <a:ext cx="14288" cy="33397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90" name="Text 87"/>
          <p:cNvSpPr/>
          <p:nvPr/>
        </p:nvSpPr>
        <p:spPr>
          <a:xfrm>
            <a:off x="4395639" y="3636504"/>
            <a:ext cx="1512243" cy="333970"/>
          </a:xfrm>
          <a:prstGeom prst="rect">
            <a:avLst/>
          </a:prstGeom>
          <a:noFill/>
        </p:spPr>
        <p:txBody>
          <a:bodyPr wrap="square" lIns="136017" tIns="102108" rIns="136017" bIns="102108" rtlCol="0" anchor="ctr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35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有（持续迭代）</a:t>
            </a:r>
            <a:endParaRPr lang="en-US" sz="735" dirty="0"/>
          </a:p>
        </p:txBody>
      </p:sp>
      <p:sp>
        <p:nvSpPr>
          <p:cNvPr id="91" name="Text 88"/>
          <p:cNvSpPr/>
          <p:nvPr/>
        </p:nvSpPr>
        <p:spPr>
          <a:xfrm>
            <a:off x="721519" y="3970474"/>
            <a:ext cx="893443" cy="337542"/>
          </a:xfrm>
          <a:prstGeom prst="rect">
            <a:avLst/>
          </a:prstGeom>
          <a:noFill/>
        </p:spPr>
        <p:txBody>
          <a:bodyPr wrap="square" lIns="136017" tIns="102108" rIns="136017" bIns="102108" rtlCol="0" anchor="ctr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8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全球市场</a:t>
            </a:r>
            <a:endParaRPr lang="en-US" sz="780" dirty="0"/>
          </a:p>
        </p:txBody>
      </p:sp>
      <p:sp>
        <p:nvSpPr>
          <p:cNvPr id="92" name="Text 89"/>
          <p:cNvSpPr/>
          <p:nvPr/>
        </p:nvSpPr>
        <p:spPr>
          <a:xfrm>
            <a:off x="1614962" y="3970474"/>
            <a:ext cx="1462013" cy="337542"/>
          </a:xfrm>
          <a:prstGeom prst="rect">
            <a:avLst/>
          </a:prstGeom>
          <a:noFill/>
        </p:spPr>
        <p:txBody>
          <a:bodyPr wrap="square" lIns="136017" tIns="102108" rIns="136017" bIns="102108" rtlCol="0" anchor="ctr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8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部分</a:t>
            </a:r>
            <a:endParaRPr lang="en-US" sz="780" dirty="0"/>
          </a:p>
        </p:txBody>
      </p:sp>
      <p:sp>
        <p:nvSpPr>
          <p:cNvPr id="93" name="Text 90"/>
          <p:cNvSpPr/>
          <p:nvPr/>
        </p:nvSpPr>
        <p:spPr>
          <a:xfrm>
            <a:off x="3076975" y="3970474"/>
            <a:ext cx="1318664" cy="337542"/>
          </a:xfrm>
          <a:prstGeom prst="rect">
            <a:avLst/>
          </a:prstGeom>
          <a:noFill/>
        </p:spPr>
        <p:txBody>
          <a:bodyPr wrap="square" lIns="136017" tIns="102108" rIns="136017" bIns="102108" rtlCol="0" anchor="ctr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8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受限</a:t>
            </a:r>
            <a:endParaRPr lang="en-US" sz="780" dirty="0"/>
          </a:p>
        </p:txBody>
      </p:sp>
      <p:sp>
        <p:nvSpPr>
          <p:cNvPr id="94" name="Shape 91"/>
          <p:cNvSpPr/>
          <p:nvPr/>
        </p:nvSpPr>
        <p:spPr>
          <a:xfrm>
            <a:off x="4395639" y="3970474"/>
            <a:ext cx="1512243" cy="337542"/>
          </a:xfrm>
          <a:prstGeom prst="rect">
            <a:avLst/>
          </a:prstGeom>
          <a:solidFill>
            <a:srgbClr val="EFF6FF"/>
          </a:solidFill>
        </p:spPr>
      </p:sp>
      <p:sp>
        <p:nvSpPr>
          <p:cNvPr id="95" name="Shape 92"/>
          <p:cNvSpPr/>
          <p:nvPr/>
        </p:nvSpPr>
        <p:spPr>
          <a:xfrm>
            <a:off x="4395639" y="3970474"/>
            <a:ext cx="1512243" cy="7144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96" name="Shape 93"/>
          <p:cNvSpPr/>
          <p:nvPr/>
        </p:nvSpPr>
        <p:spPr>
          <a:xfrm>
            <a:off x="5893594" y="3970474"/>
            <a:ext cx="14288" cy="337542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97" name="Shape 94"/>
          <p:cNvSpPr/>
          <p:nvPr/>
        </p:nvSpPr>
        <p:spPr>
          <a:xfrm>
            <a:off x="4395639" y="4300872"/>
            <a:ext cx="1512243" cy="7144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98" name="Shape 95"/>
          <p:cNvSpPr/>
          <p:nvPr/>
        </p:nvSpPr>
        <p:spPr>
          <a:xfrm>
            <a:off x="4395639" y="3970474"/>
            <a:ext cx="14288" cy="337542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99" name="Text 96"/>
          <p:cNvSpPr/>
          <p:nvPr/>
        </p:nvSpPr>
        <p:spPr>
          <a:xfrm>
            <a:off x="4395639" y="3970474"/>
            <a:ext cx="1512243" cy="337542"/>
          </a:xfrm>
          <a:prstGeom prst="rect">
            <a:avLst/>
          </a:prstGeom>
          <a:noFill/>
        </p:spPr>
        <p:txBody>
          <a:bodyPr wrap="square" lIns="136017" tIns="102108" rIns="136017" bIns="102108" rtlCol="0" anchor="ctr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35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股 + 港股 + 美股</a:t>
            </a:r>
            <a:endParaRPr lang="en-US" sz="735" dirty="0"/>
          </a:p>
        </p:txBody>
      </p:sp>
      <p:sp>
        <p:nvSpPr>
          <p:cNvPr id="100" name="Shape 97"/>
          <p:cNvSpPr/>
          <p:nvPr/>
        </p:nvSpPr>
        <p:spPr>
          <a:xfrm>
            <a:off x="6200775" y="1298711"/>
            <a:ext cx="2228850" cy="948333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101" name="Shape 98"/>
          <p:cNvSpPr/>
          <p:nvPr/>
        </p:nvSpPr>
        <p:spPr>
          <a:xfrm>
            <a:off x="6200775" y="1298711"/>
            <a:ext cx="57150" cy="948333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102" name="Text 99"/>
          <p:cNvSpPr/>
          <p:nvPr/>
        </p:nvSpPr>
        <p:spPr>
          <a:xfrm>
            <a:off x="6372225" y="1470161"/>
            <a:ext cx="1885950" cy="24824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极速分析</a:t>
            </a:r>
            <a:endParaRPr lang="en-US" sz="1195" dirty="0"/>
          </a:p>
        </p:txBody>
      </p:sp>
      <p:sp>
        <p:nvSpPr>
          <p:cNvPr id="103" name="Text 100"/>
          <p:cNvSpPr/>
          <p:nvPr/>
        </p:nvSpPr>
        <p:spPr>
          <a:xfrm>
            <a:off x="6372225" y="1775557"/>
            <a:ext cx="1885950" cy="30003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分钟级完成多维度股票分析，支持实时市场响应。</a:t>
            </a:r>
            <a:endParaRPr lang="en-US" sz="725" dirty="0"/>
          </a:p>
        </p:txBody>
      </p:sp>
      <p:sp>
        <p:nvSpPr>
          <p:cNvPr id="104" name="Shape 101"/>
          <p:cNvSpPr/>
          <p:nvPr/>
        </p:nvSpPr>
        <p:spPr>
          <a:xfrm>
            <a:off x="6200775" y="2389919"/>
            <a:ext cx="2228850" cy="948333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105" name="Shape 102"/>
          <p:cNvSpPr/>
          <p:nvPr/>
        </p:nvSpPr>
        <p:spPr>
          <a:xfrm>
            <a:off x="6200775" y="2389919"/>
            <a:ext cx="57150" cy="948333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106" name="Text 103"/>
          <p:cNvSpPr/>
          <p:nvPr/>
        </p:nvSpPr>
        <p:spPr>
          <a:xfrm>
            <a:off x="6372225" y="2561369"/>
            <a:ext cx="1885950" cy="24824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深度洞察</a:t>
            </a:r>
            <a:endParaRPr lang="en-US" sz="1195" dirty="0"/>
          </a:p>
        </p:txBody>
      </p:sp>
      <p:sp>
        <p:nvSpPr>
          <p:cNvPr id="107" name="Text 104"/>
          <p:cNvSpPr/>
          <p:nvPr/>
        </p:nvSpPr>
        <p:spPr>
          <a:xfrm>
            <a:off x="6372225" y="2866765"/>
            <a:ext cx="1885950" cy="30003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多智能体辩论与融合分析，实现机构级研究深度。</a:t>
            </a:r>
            <a:endParaRPr lang="en-US" sz="725" dirty="0"/>
          </a:p>
        </p:txBody>
      </p:sp>
      <p:sp>
        <p:nvSpPr>
          <p:cNvPr id="108" name="Shape 105"/>
          <p:cNvSpPr/>
          <p:nvPr/>
        </p:nvSpPr>
        <p:spPr>
          <a:xfrm>
            <a:off x="6200775" y="3481127"/>
            <a:ext cx="2228850" cy="948333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109" name="Shape 106"/>
          <p:cNvSpPr/>
          <p:nvPr/>
        </p:nvSpPr>
        <p:spPr>
          <a:xfrm>
            <a:off x="6200775" y="3481127"/>
            <a:ext cx="57150" cy="948333"/>
          </a:xfrm>
          <a:prstGeom prst="rect">
            <a:avLst/>
          </a:prstGeom>
          <a:solidFill>
            <a:srgbClr val="64748B"/>
          </a:solidFill>
        </p:spPr>
      </p:sp>
      <p:sp>
        <p:nvSpPr>
          <p:cNvPr id="110" name="Text 107"/>
          <p:cNvSpPr/>
          <p:nvPr/>
        </p:nvSpPr>
        <p:spPr>
          <a:xfrm>
            <a:off x="6372225" y="3652577"/>
            <a:ext cx="1885950" cy="24824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决策透明</a:t>
            </a:r>
            <a:endParaRPr lang="en-US" sz="1195" dirty="0"/>
          </a:p>
        </p:txBody>
      </p:sp>
      <p:sp>
        <p:nvSpPr>
          <p:cNvPr id="111" name="Text 108"/>
          <p:cNvSpPr/>
          <p:nvPr/>
        </p:nvSpPr>
        <p:spPr>
          <a:xfrm>
            <a:off x="6372225" y="3957972"/>
            <a:ext cx="1885950" cy="30003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全程可追溯的自然语言报告，清晰呈现分析逻辑。</a:t>
            </a:r>
            <a:endParaRPr lang="en-US" sz="7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4375" y="428625"/>
            <a:ext cx="7715250" cy="16430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5" b="1" kern="0" spc="2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商业模式与盈利路径</a:t>
            </a:r>
            <a:endParaRPr lang="en-US" sz="785" dirty="0"/>
          </a:p>
        </p:txBody>
      </p:sp>
      <p:sp>
        <p:nvSpPr>
          <p:cNvPr id="4" name="Text 1"/>
          <p:cNvSpPr/>
          <p:nvPr/>
        </p:nvSpPr>
        <p:spPr>
          <a:xfrm>
            <a:off x="714375" y="678656"/>
            <a:ext cx="7715250" cy="33430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810" b="1" kern="0" spc="-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四维收入模型 × 分层定价策略，三年实现 2 亿元营收与 60% 利润率</a:t>
            </a:r>
            <a:endParaRPr lang="en-US" sz="1810" dirty="0"/>
          </a:p>
        </p:txBody>
      </p:sp>
      <p:sp>
        <p:nvSpPr>
          <p:cNvPr id="5" name="Text 2"/>
          <p:cNvSpPr/>
          <p:nvPr/>
        </p:nvSpPr>
        <p:spPr>
          <a:xfrm>
            <a:off x="714375" y="1298711"/>
            <a:ext cx="1028700" cy="333970"/>
          </a:xfrm>
          <a:prstGeom prst="rect">
            <a:avLst/>
          </a:prstGeom>
          <a:noFill/>
        </p:spPr>
        <p:txBody>
          <a:bodyPr wrap="square" lIns="0" tIns="0" rIns="0" bIns="68072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四维收入模型</a:t>
            </a:r>
            <a:endParaRPr lang="en-US" sz="1195" dirty="0"/>
          </a:p>
        </p:txBody>
      </p:sp>
      <p:sp>
        <p:nvSpPr>
          <p:cNvPr id="6" name="Shape 3"/>
          <p:cNvSpPr/>
          <p:nvPr/>
        </p:nvSpPr>
        <p:spPr>
          <a:xfrm>
            <a:off x="714375" y="1804132"/>
            <a:ext cx="3643313" cy="623292"/>
          </a:xfrm>
          <a:prstGeom prst="rect">
            <a:avLst/>
          </a:prstGeom>
          <a:solidFill>
            <a:srgbClr val="F8FAFC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8675" y="1918432"/>
            <a:ext cx="800100" cy="20716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SaaS 订阅</a:t>
            </a:r>
            <a:endParaRPr lang="en-US" sz="985" dirty="0"/>
          </a:p>
        </p:txBody>
      </p:sp>
      <p:sp>
        <p:nvSpPr>
          <p:cNvPr id="8" name="Text 5"/>
          <p:cNvSpPr/>
          <p:nvPr/>
        </p:nvSpPr>
        <p:spPr>
          <a:xfrm>
            <a:off x="828675" y="2154175"/>
            <a:ext cx="800100" cy="14466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目标：个人投资者</a:t>
            </a:r>
            <a:endParaRPr lang="en-US" sz="725" dirty="0"/>
          </a:p>
        </p:txBody>
      </p:sp>
      <p:sp>
        <p:nvSpPr>
          <p:cNvPr id="9" name="Text 6"/>
          <p:cNvSpPr/>
          <p:nvPr/>
        </p:nvSpPr>
        <p:spPr>
          <a:xfrm>
            <a:off x="2934295" y="1995227"/>
            <a:ext cx="1309092" cy="22681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500–2,000 元/年</a:t>
            </a:r>
            <a:endParaRPr lang="en-US" sz="1090" dirty="0"/>
          </a:p>
        </p:txBody>
      </p:sp>
      <p:sp>
        <p:nvSpPr>
          <p:cNvPr id="10" name="Shape 7"/>
          <p:cNvSpPr/>
          <p:nvPr/>
        </p:nvSpPr>
        <p:spPr>
          <a:xfrm>
            <a:off x="714375" y="2527436"/>
            <a:ext cx="3643313" cy="623292"/>
          </a:xfrm>
          <a:prstGeom prst="rect">
            <a:avLst/>
          </a:prstGeom>
          <a:solidFill>
            <a:srgbClr val="F8FAFC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8675" y="2641736"/>
            <a:ext cx="1000125" cy="20716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机构标准版</a:t>
            </a:r>
            <a:endParaRPr lang="en-US" sz="985" dirty="0"/>
          </a:p>
        </p:txBody>
      </p:sp>
      <p:sp>
        <p:nvSpPr>
          <p:cNvPr id="12" name="Text 9"/>
          <p:cNvSpPr/>
          <p:nvPr/>
        </p:nvSpPr>
        <p:spPr>
          <a:xfrm>
            <a:off x="828675" y="2877480"/>
            <a:ext cx="1000125" cy="14466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目标：中小型投研团队</a:t>
            </a:r>
            <a:endParaRPr lang="en-US" sz="725" dirty="0"/>
          </a:p>
        </p:txBody>
      </p:sp>
      <p:sp>
        <p:nvSpPr>
          <p:cNvPr id="13" name="Text 10"/>
          <p:cNvSpPr/>
          <p:nvPr/>
        </p:nvSpPr>
        <p:spPr>
          <a:xfrm>
            <a:off x="3280767" y="2718532"/>
            <a:ext cx="962620" cy="22681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5–50 万元/年</a:t>
            </a:r>
            <a:endParaRPr lang="en-US" sz="1090" dirty="0"/>
          </a:p>
        </p:txBody>
      </p:sp>
      <p:sp>
        <p:nvSpPr>
          <p:cNvPr id="14" name="Shape 11"/>
          <p:cNvSpPr/>
          <p:nvPr/>
        </p:nvSpPr>
        <p:spPr>
          <a:xfrm>
            <a:off x="714375" y="3250741"/>
            <a:ext cx="3643313" cy="623292"/>
          </a:xfrm>
          <a:prstGeom prst="rect">
            <a:avLst/>
          </a:prstGeom>
          <a:solidFill>
            <a:srgbClr val="F8FAFC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8675" y="3365041"/>
            <a:ext cx="935831" cy="20716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按量付费</a:t>
            </a:r>
            <a:endParaRPr lang="en-US" sz="985" dirty="0"/>
          </a:p>
        </p:txBody>
      </p:sp>
      <p:sp>
        <p:nvSpPr>
          <p:cNvPr id="16" name="Text 13"/>
          <p:cNvSpPr/>
          <p:nvPr/>
        </p:nvSpPr>
        <p:spPr>
          <a:xfrm>
            <a:off x="828675" y="3600785"/>
            <a:ext cx="935831" cy="14466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目标：轻量/临时需求</a:t>
            </a:r>
            <a:endParaRPr lang="en-US" sz="725" dirty="0"/>
          </a:p>
        </p:txBody>
      </p:sp>
      <p:sp>
        <p:nvSpPr>
          <p:cNvPr id="17" name="Text 14"/>
          <p:cNvSpPr/>
          <p:nvPr/>
        </p:nvSpPr>
        <p:spPr>
          <a:xfrm>
            <a:off x="3355777" y="3441836"/>
            <a:ext cx="887611" cy="22681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10–50 元/次</a:t>
            </a:r>
            <a:endParaRPr lang="en-US" sz="1090" dirty="0"/>
          </a:p>
        </p:txBody>
      </p:sp>
      <p:sp>
        <p:nvSpPr>
          <p:cNvPr id="18" name="Shape 15"/>
          <p:cNvSpPr/>
          <p:nvPr/>
        </p:nvSpPr>
        <p:spPr>
          <a:xfrm>
            <a:off x="714375" y="3974046"/>
            <a:ext cx="3643313" cy="623292"/>
          </a:xfrm>
          <a:prstGeom prst="rect">
            <a:avLst/>
          </a:prstGeom>
          <a:solidFill>
            <a:srgbClr val="F8FAFC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28675" y="4088346"/>
            <a:ext cx="900113" cy="20716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私有化部署</a:t>
            </a:r>
            <a:endParaRPr lang="en-US" sz="985" dirty="0"/>
          </a:p>
        </p:txBody>
      </p:sp>
      <p:sp>
        <p:nvSpPr>
          <p:cNvPr id="20" name="Text 17"/>
          <p:cNvSpPr/>
          <p:nvPr/>
        </p:nvSpPr>
        <p:spPr>
          <a:xfrm>
            <a:off x="828675" y="4324090"/>
            <a:ext cx="900113" cy="14466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目标：大型金融机构</a:t>
            </a:r>
            <a:endParaRPr lang="en-US" sz="725" dirty="0"/>
          </a:p>
        </p:txBody>
      </p:sp>
      <p:sp>
        <p:nvSpPr>
          <p:cNvPr id="21" name="Text 18"/>
          <p:cNvSpPr/>
          <p:nvPr/>
        </p:nvSpPr>
        <p:spPr>
          <a:xfrm>
            <a:off x="3277195" y="4165141"/>
            <a:ext cx="966192" cy="22681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50–500 万元</a:t>
            </a:r>
            <a:endParaRPr lang="en-US" sz="1090" dirty="0"/>
          </a:p>
        </p:txBody>
      </p:sp>
      <p:sp>
        <p:nvSpPr>
          <p:cNvPr id="22" name="Text 19"/>
          <p:cNvSpPr/>
          <p:nvPr/>
        </p:nvSpPr>
        <p:spPr>
          <a:xfrm>
            <a:off x="4786313" y="1298711"/>
            <a:ext cx="1028700" cy="333970"/>
          </a:xfrm>
          <a:prstGeom prst="rect">
            <a:avLst/>
          </a:prstGeom>
          <a:noFill/>
        </p:spPr>
        <p:txBody>
          <a:bodyPr wrap="square" lIns="0" tIns="0" rIns="0" bIns="68072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三年财务预测</a:t>
            </a:r>
            <a:endParaRPr lang="en-US" sz="1195" dirty="0"/>
          </a:p>
        </p:txBody>
      </p:sp>
      <p:sp>
        <p:nvSpPr>
          <p:cNvPr id="23" name="Text 20"/>
          <p:cNvSpPr/>
          <p:nvPr/>
        </p:nvSpPr>
        <p:spPr>
          <a:xfrm>
            <a:off x="4786313" y="1804132"/>
            <a:ext cx="749089" cy="376833"/>
          </a:xfrm>
          <a:prstGeom prst="rect">
            <a:avLst/>
          </a:prstGeom>
          <a:noFill/>
        </p:spPr>
        <p:txBody>
          <a:bodyPr wrap="square" lIns="136017" tIns="136017" rIns="136017" bIns="136017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5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阶段</a:t>
            </a:r>
            <a:endParaRPr lang="en-US" sz="685" dirty="0"/>
          </a:p>
        </p:txBody>
      </p:sp>
      <p:sp>
        <p:nvSpPr>
          <p:cNvPr id="24" name="Text 21"/>
          <p:cNvSpPr/>
          <p:nvPr/>
        </p:nvSpPr>
        <p:spPr>
          <a:xfrm>
            <a:off x="5535402" y="1804132"/>
            <a:ext cx="1017231" cy="376833"/>
          </a:xfrm>
          <a:prstGeom prst="rect">
            <a:avLst/>
          </a:prstGeom>
          <a:noFill/>
        </p:spPr>
        <p:txBody>
          <a:bodyPr wrap="square" lIns="136017" tIns="136017" rIns="136017" bIns="136017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5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用户规模</a:t>
            </a:r>
            <a:endParaRPr lang="en-US" sz="685" dirty="0"/>
          </a:p>
        </p:txBody>
      </p:sp>
      <p:sp>
        <p:nvSpPr>
          <p:cNvPr id="25" name="Text 22"/>
          <p:cNvSpPr/>
          <p:nvPr/>
        </p:nvSpPr>
        <p:spPr>
          <a:xfrm>
            <a:off x="6552633" y="1804132"/>
            <a:ext cx="1066177" cy="376833"/>
          </a:xfrm>
          <a:prstGeom prst="rect">
            <a:avLst/>
          </a:prstGeom>
          <a:noFill/>
        </p:spPr>
        <p:txBody>
          <a:bodyPr wrap="square" lIns="136017" tIns="136017" rIns="136017" bIns="136017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5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年收入</a:t>
            </a:r>
            <a:endParaRPr lang="en-US" sz="685" dirty="0"/>
          </a:p>
        </p:txBody>
      </p:sp>
      <p:sp>
        <p:nvSpPr>
          <p:cNvPr id="26" name="Text 23"/>
          <p:cNvSpPr/>
          <p:nvPr/>
        </p:nvSpPr>
        <p:spPr>
          <a:xfrm>
            <a:off x="7618809" y="1804132"/>
            <a:ext cx="810816" cy="376833"/>
          </a:xfrm>
          <a:prstGeom prst="rect">
            <a:avLst/>
          </a:prstGeom>
          <a:noFill/>
        </p:spPr>
        <p:txBody>
          <a:bodyPr wrap="square" lIns="136017" tIns="136017" rIns="136017" bIns="136017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5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净利润率</a:t>
            </a:r>
            <a:endParaRPr lang="en-US" sz="685" dirty="0"/>
          </a:p>
        </p:txBody>
      </p:sp>
      <p:sp>
        <p:nvSpPr>
          <p:cNvPr id="27" name="Text 24"/>
          <p:cNvSpPr/>
          <p:nvPr/>
        </p:nvSpPr>
        <p:spPr>
          <a:xfrm>
            <a:off x="4786313" y="2180965"/>
            <a:ext cx="749089" cy="423267"/>
          </a:xfrm>
          <a:prstGeom prst="rect">
            <a:avLst/>
          </a:prstGeom>
          <a:noFill/>
        </p:spPr>
        <p:txBody>
          <a:bodyPr wrap="square" lIns="136017" tIns="136017" rIns="136017" bIns="136017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第 1 年</a:t>
            </a:r>
            <a:endParaRPr lang="en-US" sz="885" dirty="0"/>
          </a:p>
        </p:txBody>
      </p:sp>
      <p:sp>
        <p:nvSpPr>
          <p:cNvPr id="28" name="Text 25"/>
          <p:cNvSpPr/>
          <p:nvPr/>
        </p:nvSpPr>
        <p:spPr>
          <a:xfrm>
            <a:off x="5535402" y="2180965"/>
            <a:ext cx="1017231" cy="423267"/>
          </a:xfrm>
          <a:prstGeom prst="rect">
            <a:avLst/>
          </a:prstGeom>
          <a:noFill/>
        </p:spPr>
        <p:txBody>
          <a:bodyPr wrap="square" lIns="136017" tIns="136017" rIns="136017" bIns="136017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1,000 名</a:t>
            </a:r>
            <a:endParaRPr lang="en-US" sz="885" dirty="0"/>
          </a:p>
        </p:txBody>
      </p:sp>
      <p:sp>
        <p:nvSpPr>
          <p:cNvPr id="29" name="Text 26"/>
          <p:cNvSpPr/>
          <p:nvPr/>
        </p:nvSpPr>
        <p:spPr>
          <a:xfrm>
            <a:off x="6552633" y="2180965"/>
            <a:ext cx="1066177" cy="423267"/>
          </a:xfrm>
          <a:prstGeom prst="rect">
            <a:avLst/>
          </a:prstGeom>
          <a:noFill/>
        </p:spPr>
        <p:txBody>
          <a:bodyPr wrap="square" lIns="136017" tIns="136017" rIns="136017" bIns="136017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500 万元</a:t>
            </a:r>
            <a:endParaRPr lang="en-US" sz="885" dirty="0"/>
          </a:p>
        </p:txBody>
      </p:sp>
      <p:sp>
        <p:nvSpPr>
          <p:cNvPr id="30" name="Text 27"/>
          <p:cNvSpPr/>
          <p:nvPr/>
        </p:nvSpPr>
        <p:spPr>
          <a:xfrm>
            <a:off x="7618809" y="2180965"/>
            <a:ext cx="810816" cy="423267"/>
          </a:xfrm>
          <a:prstGeom prst="rect">
            <a:avLst/>
          </a:prstGeom>
          <a:noFill/>
        </p:spPr>
        <p:txBody>
          <a:bodyPr wrap="square" lIns="136017" tIns="136017" rIns="136017" bIns="136017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约 15%</a:t>
            </a:r>
            <a:endParaRPr lang="en-US" sz="885" dirty="0"/>
          </a:p>
        </p:txBody>
      </p:sp>
      <p:sp>
        <p:nvSpPr>
          <p:cNvPr id="31" name="Text 28"/>
          <p:cNvSpPr/>
          <p:nvPr/>
        </p:nvSpPr>
        <p:spPr>
          <a:xfrm>
            <a:off x="4786313" y="2604232"/>
            <a:ext cx="749089" cy="423267"/>
          </a:xfrm>
          <a:prstGeom prst="rect">
            <a:avLst/>
          </a:prstGeom>
          <a:noFill/>
        </p:spPr>
        <p:txBody>
          <a:bodyPr wrap="square" lIns="136017" tIns="136017" rIns="136017" bIns="136017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第 2 年</a:t>
            </a:r>
            <a:endParaRPr lang="en-US" sz="885" dirty="0"/>
          </a:p>
        </p:txBody>
      </p:sp>
      <p:sp>
        <p:nvSpPr>
          <p:cNvPr id="32" name="Text 29"/>
          <p:cNvSpPr/>
          <p:nvPr/>
        </p:nvSpPr>
        <p:spPr>
          <a:xfrm>
            <a:off x="5535402" y="2604232"/>
            <a:ext cx="1017231" cy="423267"/>
          </a:xfrm>
          <a:prstGeom prst="rect">
            <a:avLst/>
          </a:prstGeom>
          <a:noFill/>
        </p:spPr>
        <p:txBody>
          <a:bodyPr wrap="square" lIns="136017" tIns="136017" rIns="136017" bIns="136017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5,000 名</a:t>
            </a:r>
            <a:endParaRPr lang="en-US" sz="885" dirty="0"/>
          </a:p>
        </p:txBody>
      </p:sp>
      <p:sp>
        <p:nvSpPr>
          <p:cNvPr id="33" name="Text 30"/>
          <p:cNvSpPr/>
          <p:nvPr/>
        </p:nvSpPr>
        <p:spPr>
          <a:xfrm>
            <a:off x="6552633" y="2604232"/>
            <a:ext cx="1066177" cy="423267"/>
          </a:xfrm>
          <a:prstGeom prst="rect">
            <a:avLst/>
          </a:prstGeom>
          <a:noFill/>
        </p:spPr>
        <p:txBody>
          <a:bodyPr wrap="square" lIns="136017" tIns="136017" rIns="136017" bIns="136017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5,000 万元</a:t>
            </a:r>
            <a:endParaRPr lang="en-US" sz="885" dirty="0"/>
          </a:p>
        </p:txBody>
      </p:sp>
      <p:sp>
        <p:nvSpPr>
          <p:cNvPr id="34" name="Text 31"/>
          <p:cNvSpPr/>
          <p:nvPr/>
        </p:nvSpPr>
        <p:spPr>
          <a:xfrm>
            <a:off x="7618809" y="2604232"/>
            <a:ext cx="810816" cy="423267"/>
          </a:xfrm>
          <a:prstGeom prst="rect">
            <a:avLst/>
          </a:prstGeom>
          <a:noFill/>
        </p:spPr>
        <p:txBody>
          <a:bodyPr wrap="square" lIns="136017" tIns="136017" rIns="136017" bIns="136017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约 35%</a:t>
            </a:r>
            <a:endParaRPr lang="en-US" sz="885" dirty="0"/>
          </a:p>
        </p:txBody>
      </p:sp>
      <p:sp>
        <p:nvSpPr>
          <p:cNvPr id="35" name="Text 32"/>
          <p:cNvSpPr/>
          <p:nvPr/>
        </p:nvSpPr>
        <p:spPr>
          <a:xfrm>
            <a:off x="4786313" y="3027499"/>
            <a:ext cx="749089" cy="423267"/>
          </a:xfrm>
          <a:prstGeom prst="rect">
            <a:avLst/>
          </a:prstGeom>
          <a:noFill/>
        </p:spPr>
        <p:txBody>
          <a:bodyPr wrap="square" lIns="136017" tIns="136017" rIns="136017" bIns="136017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第 3 年</a:t>
            </a:r>
            <a:endParaRPr lang="en-US" sz="885" dirty="0"/>
          </a:p>
        </p:txBody>
      </p:sp>
      <p:sp>
        <p:nvSpPr>
          <p:cNvPr id="36" name="Text 33"/>
          <p:cNvSpPr/>
          <p:nvPr/>
        </p:nvSpPr>
        <p:spPr>
          <a:xfrm>
            <a:off x="5535402" y="3027499"/>
            <a:ext cx="1017231" cy="423267"/>
          </a:xfrm>
          <a:prstGeom prst="rect">
            <a:avLst/>
          </a:prstGeom>
          <a:noFill/>
        </p:spPr>
        <p:txBody>
          <a:bodyPr wrap="square" lIns="136017" tIns="136017" rIns="136017" bIns="136017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20,000 名</a:t>
            </a:r>
            <a:endParaRPr lang="en-US" sz="885" dirty="0"/>
          </a:p>
        </p:txBody>
      </p:sp>
      <p:sp>
        <p:nvSpPr>
          <p:cNvPr id="37" name="Text 34"/>
          <p:cNvSpPr/>
          <p:nvPr/>
        </p:nvSpPr>
        <p:spPr>
          <a:xfrm>
            <a:off x="6552633" y="3027499"/>
            <a:ext cx="1066177" cy="423267"/>
          </a:xfrm>
          <a:prstGeom prst="rect">
            <a:avLst/>
          </a:prstGeom>
          <a:noFill/>
        </p:spPr>
        <p:txBody>
          <a:bodyPr wrap="square" lIns="136017" tIns="136017" rIns="136017" bIns="136017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亿元</a:t>
            </a:r>
            <a:endParaRPr lang="en-US" sz="885" dirty="0"/>
          </a:p>
        </p:txBody>
      </p:sp>
      <p:sp>
        <p:nvSpPr>
          <p:cNvPr id="38" name="Text 35"/>
          <p:cNvSpPr/>
          <p:nvPr/>
        </p:nvSpPr>
        <p:spPr>
          <a:xfrm>
            <a:off x="7618809" y="3027499"/>
            <a:ext cx="810816" cy="423267"/>
          </a:xfrm>
          <a:prstGeom prst="rect">
            <a:avLst/>
          </a:prstGeom>
          <a:noFill/>
        </p:spPr>
        <p:txBody>
          <a:bodyPr wrap="square" lIns="136017" tIns="136017" rIns="136017" bIns="136017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60%</a:t>
            </a:r>
            <a:endParaRPr lang="en-US" sz="885" dirty="0"/>
          </a:p>
        </p:txBody>
      </p:sp>
      <p:sp>
        <p:nvSpPr>
          <p:cNvPr id="39" name="Shape 36"/>
          <p:cNvSpPr/>
          <p:nvPr/>
        </p:nvSpPr>
        <p:spPr>
          <a:xfrm>
            <a:off x="4786313" y="3640075"/>
            <a:ext cx="3643313" cy="896541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40" name="Text 37"/>
          <p:cNvSpPr/>
          <p:nvPr/>
        </p:nvSpPr>
        <p:spPr>
          <a:xfrm>
            <a:off x="4957763" y="3888321"/>
            <a:ext cx="1285875" cy="4000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规模化效应显现</a:t>
            </a:r>
            <a:r>
              <a:rPr lang="en-US" sz="98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r>
              <a:rPr lang="en-US" sz="98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第三年预期净利润率</a:t>
            </a:r>
            <a:endParaRPr lang="en-US" sz="985" dirty="0"/>
          </a:p>
        </p:txBody>
      </p:sp>
      <p:sp>
        <p:nvSpPr>
          <p:cNvPr id="41" name="Text 38"/>
          <p:cNvSpPr/>
          <p:nvPr/>
        </p:nvSpPr>
        <p:spPr>
          <a:xfrm>
            <a:off x="7190184" y="3811525"/>
            <a:ext cx="1067991" cy="55364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295" b="1" kern="0" spc="-2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60%</a:t>
            </a:r>
            <a:endParaRPr lang="en-US" sz="329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4375" y="428625"/>
            <a:ext cx="7715250" cy="16430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5" b="1" kern="0" spc="2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商业模式与盈利路径</a:t>
            </a:r>
            <a:endParaRPr lang="en-US" sz="785" dirty="0"/>
          </a:p>
        </p:txBody>
      </p:sp>
      <p:sp>
        <p:nvSpPr>
          <p:cNvPr id="4" name="Text 1"/>
          <p:cNvSpPr/>
          <p:nvPr/>
        </p:nvSpPr>
        <p:spPr>
          <a:xfrm>
            <a:off x="714375" y="678656"/>
            <a:ext cx="7715250" cy="32001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b="1" kern="0" spc="-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三阶段增长路径：从种子用户培育到企业级生态平台演进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1643063" y="1170124"/>
            <a:ext cx="571500" cy="571500"/>
          </a:xfrm>
          <a:prstGeom prst="rect">
            <a:avLst/>
          </a:prstGeom>
          <a:solidFill>
            <a:srgbClr val="FFFFFF"/>
          </a:solidFill>
          <a:ln w="27432">
            <a:solidFill>
              <a:srgbClr val="2563E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643063" y="1170124"/>
            <a:ext cx="571500" cy="57150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500188" y="1855924"/>
            <a:ext cx="857250" cy="24824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产品验证期</a:t>
            </a:r>
            <a:endParaRPr lang="en-US" sz="1195" dirty="0"/>
          </a:p>
        </p:txBody>
      </p:sp>
      <p:sp>
        <p:nvSpPr>
          <p:cNvPr id="8" name="Shape 5"/>
          <p:cNvSpPr/>
          <p:nvPr/>
        </p:nvSpPr>
        <p:spPr>
          <a:xfrm>
            <a:off x="714375" y="2218469"/>
            <a:ext cx="2428875" cy="1973126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9" name="Shape 6"/>
          <p:cNvSpPr/>
          <p:nvPr/>
        </p:nvSpPr>
        <p:spPr>
          <a:xfrm>
            <a:off x="714375" y="2218469"/>
            <a:ext cx="2428875" cy="42863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10" name="Text 7"/>
          <p:cNvSpPr/>
          <p:nvPr/>
        </p:nvSpPr>
        <p:spPr>
          <a:xfrm>
            <a:off x="828675" y="2332769"/>
            <a:ext cx="77688" cy="19288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</a:t>
            </a:r>
            <a:endParaRPr lang="en-US" sz="885" dirty="0"/>
          </a:p>
        </p:txBody>
      </p:sp>
      <p:sp>
        <p:nvSpPr>
          <p:cNvPr id="11" name="Text 8"/>
          <p:cNvSpPr/>
          <p:nvPr/>
        </p:nvSpPr>
        <p:spPr>
          <a:xfrm>
            <a:off x="992088" y="2332769"/>
            <a:ext cx="1607344" cy="17145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免费试用吸引用户，降低使用门槛</a:t>
            </a:r>
            <a:endParaRPr lang="en-US" sz="780" dirty="0"/>
          </a:p>
        </p:txBody>
      </p:sp>
      <p:sp>
        <p:nvSpPr>
          <p:cNvPr id="12" name="Text 9"/>
          <p:cNvSpPr/>
          <p:nvPr/>
        </p:nvSpPr>
        <p:spPr>
          <a:xfrm>
            <a:off x="828675" y="2611375"/>
            <a:ext cx="77688" cy="19288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</a:t>
            </a:r>
            <a:endParaRPr lang="en-US" sz="885" dirty="0"/>
          </a:p>
        </p:txBody>
      </p:sp>
      <p:sp>
        <p:nvSpPr>
          <p:cNvPr id="13" name="Text 10"/>
          <p:cNvSpPr/>
          <p:nvPr/>
        </p:nvSpPr>
        <p:spPr>
          <a:xfrm>
            <a:off x="992088" y="2611375"/>
            <a:ext cx="1834158" cy="17145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积累 1,000 名种子用户，验证产品价值</a:t>
            </a:r>
            <a:endParaRPr lang="en-US" sz="780" dirty="0"/>
          </a:p>
        </p:txBody>
      </p:sp>
      <p:sp>
        <p:nvSpPr>
          <p:cNvPr id="14" name="Text 11"/>
          <p:cNvSpPr/>
          <p:nvPr/>
        </p:nvSpPr>
        <p:spPr>
          <a:xfrm>
            <a:off x="828675" y="2889982"/>
            <a:ext cx="77688" cy="19288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</a:t>
            </a:r>
            <a:endParaRPr lang="en-US" sz="885" dirty="0"/>
          </a:p>
        </p:txBody>
      </p:sp>
      <p:sp>
        <p:nvSpPr>
          <p:cNvPr id="15" name="Text 12"/>
          <p:cNvSpPr/>
          <p:nvPr/>
        </p:nvSpPr>
        <p:spPr>
          <a:xfrm>
            <a:off x="992088" y="2889982"/>
            <a:ext cx="2036862" cy="3429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打磨核心功能，建立社区口碑，促进自然传播</a:t>
            </a:r>
            <a:endParaRPr lang="en-US" sz="780" dirty="0"/>
          </a:p>
        </p:txBody>
      </p:sp>
      <p:sp>
        <p:nvSpPr>
          <p:cNvPr id="16" name="Shape 13"/>
          <p:cNvSpPr/>
          <p:nvPr/>
        </p:nvSpPr>
        <p:spPr>
          <a:xfrm>
            <a:off x="4286250" y="1170124"/>
            <a:ext cx="571500" cy="571500"/>
          </a:xfrm>
          <a:prstGeom prst="rect">
            <a:avLst/>
          </a:prstGeom>
          <a:solidFill>
            <a:srgbClr val="FFFFFF"/>
          </a:solidFill>
          <a:ln w="27432">
            <a:solidFill>
              <a:srgbClr val="0F172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286250" y="1170124"/>
            <a:ext cx="571500" cy="57150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4143375" y="1855924"/>
            <a:ext cx="857250" cy="24824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市场扩张期</a:t>
            </a:r>
            <a:endParaRPr lang="en-US" sz="1195" dirty="0"/>
          </a:p>
        </p:txBody>
      </p:sp>
      <p:sp>
        <p:nvSpPr>
          <p:cNvPr id="19" name="Shape 16"/>
          <p:cNvSpPr/>
          <p:nvPr/>
        </p:nvSpPr>
        <p:spPr>
          <a:xfrm>
            <a:off x="3357563" y="2218469"/>
            <a:ext cx="2428875" cy="1973126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20" name="Shape 17"/>
          <p:cNvSpPr/>
          <p:nvPr/>
        </p:nvSpPr>
        <p:spPr>
          <a:xfrm>
            <a:off x="3357563" y="2218469"/>
            <a:ext cx="2428875" cy="42863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21" name="Text 18"/>
          <p:cNvSpPr/>
          <p:nvPr/>
        </p:nvSpPr>
        <p:spPr>
          <a:xfrm>
            <a:off x="3471863" y="2332769"/>
            <a:ext cx="77688" cy="19288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</a:t>
            </a:r>
            <a:endParaRPr lang="en-US" sz="885" dirty="0"/>
          </a:p>
        </p:txBody>
      </p:sp>
      <p:sp>
        <p:nvSpPr>
          <p:cNvPr id="22" name="Text 19"/>
          <p:cNvSpPr/>
          <p:nvPr/>
        </p:nvSpPr>
        <p:spPr>
          <a:xfrm>
            <a:off x="3635276" y="2332769"/>
            <a:ext cx="2036862" cy="3429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内容营销（投资教育、技术博客、视频教程）建立专业形象</a:t>
            </a:r>
            <a:endParaRPr lang="en-US" sz="780" dirty="0"/>
          </a:p>
        </p:txBody>
      </p:sp>
      <p:sp>
        <p:nvSpPr>
          <p:cNvPr id="23" name="Text 20"/>
          <p:cNvSpPr/>
          <p:nvPr/>
        </p:nvSpPr>
        <p:spPr>
          <a:xfrm>
            <a:off x="3471863" y="2761394"/>
            <a:ext cx="77688" cy="19288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</a:t>
            </a:r>
            <a:endParaRPr lang="en-US" sz="885" dirty="0"/>
          </a:p>
        </p:txBody>
      </p:sp>
      <p:sp>
        <p:nvSpPr>
          <p:cNvPr id="24" name="Text 21"/>
          <p:cNvSpPr/>
          <p:nvPr/>
        </p:nvSpPr>
        <p:spPr>
          <a:xfrm>
            <a:off x="3635276" y="2761394"/>
            <a:ext cx="2036862" cy="3429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渠道合作（券商、云厂商、数据服务商）嵌入服务体系</a:t>
            </a:r>
            <a:endParaRPr lang="en-US" sz="780" dirty="0"/>
          </a:p>
        </p:txBody>
      </p:sp>
      <p:sp>
        <p:nvSpPr>
          <p:cNvPr id="25" name="Text 22"/>
          <p:cNvSpPr/>
          <p:nvPr/>
        </p:nvSpPr>
        <p:spPr>
          <a:xfrm>
            <a:off x="3471863" y="3190019"/>
            <a:ext cx="77688" cy="19288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</a:t>
            </a:r>
            <a:endParaRPr lang="en-US" sz="885" dirty="0"/>
          </a:p>
        </p:txBody>
      </p:sp>
      <p:sp>
        <p:nvSpPr>
          <p:cNvPr id="26" name="Text 23"/>
          <p:cNvSpPr/>
          <p:nvPr/>
        </p:nvSpPr>
        <p:spPr>
          <a:xfrm>
            <a:off x="3635276" y="3190019"/>
            <a:ext cx="1852017" cy="17145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实现 5,000 名付费用户，验证商业模式</a:t>
            </a:r>
            <a:endParaRPr lang="en-US" sz="780" dirty="0"/>
          </a:p>
        </p:txBody>
      </p:sp>
      <p:sp>
        <p:nvSpPr>
          <p:cNvPr id="27" name="Shape 24"/>
          <p:cNvSpPr/>
          <p:nvPr/>
        </p:nvSpPr>
        <p:spPr>
          <a:xfrm>
            <a:off x="6929438" y="1170124"/>
            <a:ext cx="571500" cy="571500"/>
          </a:xfrm>
          <a:prstGeom prst="rect">
            <a:avLst/>
          </a:prstGeom>
          <a:solidFill>
            <a:srgbClr val="FFFFFF"/>
          </a:solidFill>
          <a:ln w="27432">
            <a:solidFill>
              <a:srgbClr val="64748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929438" y="1170124"/>
            <a:ext cx="571500" cy="57150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6786563" y="1855924"/>
            <a:ext cx="857250" cy="24824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生态构建期</a:t>
            </a:r>
            <a:endParaRPr lang="en-US" sz="1195" dirty="0"/>
          </a:p>
        </p:txBody>
      </p:sp>
      <p:sp>
        <p:nvSpPr>
          <p:cNvPr id="30" name="Shape 27"/>
          <p:cNvSpPr/>
          <p:nvPr/>
        </p:nvSpPr>
        <p:spPr>
          <a:xfrm>
            <a:off x="6000750" y="2218469"/>
            <a:ext cx="2428875" cy="1973126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31" name="Shape 28"/>
          <p:cNvSpPr/>
          <p:nvPr/>
        </p:nvSpPr>
        <p:spPr>
          <a:xfrm>
            <a:off x="6000750" y="2218469"/>
            <a:ext cx="2428875" cy="42863"/>
          </a:xfrm>
          <a:prstGeom prst="rect">
            <a:avLst/>
          </a:prstGeom>
          <a:solidFill>
            <a:srgbClr val="64748B"/>
          </a:solidFill>
        </p:spPr>
      </p:sp>
      <p:sp>
        <p:nvSpPr>
          <p:cNvPr id="32" name="Text 29"/>
          <p:cNvSpPr/>
          <p:nvPr/>
        </p:nvSpPr>
        <p:spPr>
          <a:xfrm>
            <a:off x="6115050" y="2332769"/>
            <a:ext cx="77688" cy="19288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</a:t>
            </a:r>
            <a:endParaRPr lang="en-US" sz="885" dirty="0"/>
          </a:p>
        </p:txBody>
      </p:sp>
      <p:sp>
        <p:nvSpPr>
          <p:cNvPr id="33" name="Text 30"/>
          <p:cNvSpPr/>
          <p:nvPr/>
        </p:nvSpPr>
        <p:spPr>
          <a:xfrm>
            <a:off x="6278463" y="2332769"/>
            <a:ext cx="2036862" cy="3429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打造开放平台，支持第三方集成，丰富生态能力</a:t>
            </a:r>
            <a:endParaRPr lang="en-US" sz="780" dirty="0"/>
          </a:p>
        </p:txBody>
      </p:sp>
      <p:sp>
        <p:nvSpPr>
          <p:cNvPr id="34" name="Text 31"/>
          <p:cNvSpPr/>
          <p:nvPr/>
        </p:nvSpPr>
        <p:spPr>
          <a:xfrm>
            <a:off x="6115050" y="2761394"/>
            <a:ext cx="77688" cy="19288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</a:t>
            </a:r>
            <a:endParaRPr lang="en-US" sz="885" dirty="0"/>
          </a:p>
        </p:txBody>
      </p:sp>
      <p:sp>
        <p:nvSpPr>
          <p:cNvPr id="35" name="Text 32"/>
          <p:cNvSpPr/>
          <p:nvPr/>
        </p:nvSpPr>
        <p:spPr>
          <a:xfrm>
            <a:off x="6278463" y="2761394"/>
            <a:ext cx="2036862" cy="3429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联合行业伙伴举办峰会，打造 AI 金融分析领域标杆品牌</a:t>
            </a:r>
            <a:endParaRPr lang="en-US" sz="780" dirty="0"/>
          </a:p>
        </p:txBody>
      </p:sp>
      <p:sp>
        <p:nvSpPr>
          <p:cNvPr id="36" name="Text 33"/>
          <p:cNvSpPr/>
          <p:nvPr/>
        </p:nvSpPr>
        <p:spPr>
          <a:xfrm>
            <a:off x="6115050" y="3190019"/>
            <a:ext cx="77688" cy="19288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</a:t>
            </a:r>
            <a:endParaRPr lang="en-US" sz="885" dirty="0"/>
          </a:p>
        </p:txBody>
      </p:sp>
      <p:sp>
        <p:nvSpPr>
          <p:cNvPr id="37" name="Text 34"/>
          <p:cNvSpPr/>
          <p:nvPr/>
        </p:nvSpPr>
        <p:spPr>
          <a:xfrm>
            <a:off x="6278463" y="3190019"/>
            <a:ext cx="1803797" cy="17145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目标：20,000 名用户，年收入 2 亿元</a:t>
            </a:r>
            <a:endParaRPr lang="en-US" sz="780" dirty="0"/>
          </a:p>
        </p:txBody>
      </p:sp>
      <p:sp>
        <p:nvSpPr>
          <p:cNvPr id="38" name="Text 35"/>
          <p:cNvSpPr/>
          <p:nvPr/>
        </p:nvSpPr>
        <p:spPr>
          <a:xfrm>
            <a:off x="4229100" y="4334470"/>
            <a:ext cx="685800" cy="14466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5" b="1" kern="0" spc="2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生态合作伙伴</a:t>
            </a:r>
            <a:endParaRPr lang="en-US" sz="685" dirty="0"/>
          </a:p>
        </p:txBody>
      </p:sp>
      <p:sp>
        <p:nvSpPr>
          <p:cNvPr id="39" name="Shape 36"/>
          <p:cNvSpPr/>
          <p:nvPr/>
        </p:nvSpPr>
        <p:spPr>
          <a:xfrm>
            <a:off x="2294037" y="4564856"/>
            <a:ext cx="809030" cy="321469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2294037" y="4564856"/>
            <a:ext cx="809030" cy="321469"/>
          </a:xfrm>
          <a:prstGeom prst="rect">
            <a:avLst/>
          </a:prstGeom>
          <a:noFill/>
        </p:spPr>
        <p:txBody>
          <a:bodyPr wrap="square" lIns="204089" tIns="85090" rIns="204089" bIns="8509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5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Tushare</a:t>
            </a:r>
            <a:endParaRPr lang="en-US" sz="785" dirty="0"/>
          </a:p>
        </p:txBody>
      </p:sp>
      <p:sp>
        <p:nvSpPr>
          <p:cNvPr id="41" name="Shape 38"/>
          <p:cNvSpPr/>
          <p:nvPr/>
        </p:nvSpPr>
        <p:spPr>
          <a:xfrm>
            <a:off x="3210223" y="4564856"/>
            <a:ext cx="846534" cy="321469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3210223" y="4564856"/>
            <a:ext cx="846534" cy="321469"/>
          </a:xfrm>
          <a:prstGeom prst="rect">
            <a:avLst/>
          </a:prstGeom>
          <a:noFill/>
        </p:spPr>
        <p:txBody>
          <a:bodyPr wrap="square" lIns="204089" tIns="85090" rIns="204089" bIns="8509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5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AKShare</a:t>
            </a:r>
            <a:endParaRPr lang="en-US" sz="785" dirty="0"/>
          </a:p>
        </p:txBody>
      </p:sp>
      <p:sp>
        <p:nvSpPr>
          <p:cNvPr id="43" name="Shape 40"/>
          <p:cNvSpPr/>
          <p:nvPr/>
        </p:nvSpPr>
        <p:spPr>
          <a:xfrm>
            <a:off x="4163913" y="4564856"/>
            <a:ext cx="700088" cy="321469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4163913" y="4564856"/>
            <a:ext cx="700088" cy="321469"/>
          </a:xfrm>
          <a:prstGeom prst="rect">
            <a:avLst/>
          </a:prstGeom>
          <a:noFill/>
        </p:spPr>
        <p:txBody>
          <a:bodyPr wrap="square" lIns="204089" tIns="85090" rIns="204089" bIns="8509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5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阿里云</a:t>
            </a:r>
            <a:endParaRPr lang="en-US" sz="785" dirty="0"/>
          </a:p>
        </p:txBody>
      </p:sp>
      <p:sp>
        <p:nvSpPr>
          <p:cNvPr id="45" name="Shape 42"/>
          <p:cNvSpPr/>
          <p:nvPr/>
        </p:nvSpPr>
        <p:spPr>
          <a:xfrm>
            <a:off x="4971157" y="4564856"/>
            <a:ext cx="814388" cy="321469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4971157" y="4564856"/>
            <a:ext cx="814388" cy="321469"/>
          </a:xfrm>
          <a:prstGeom prst="rect">
            <a:avLst/>
          </a:prstGeom>
          <a:noFill/>
        </p:spPr>
        <p:txBody>
          <a:bodyPr wrap="square" lIns="204089" tIns="85090" rIns="204089" bIns="8509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5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券商渠道</a:t>
            </a:r>
            <a:endParaRPr lang="en-US" sz="78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2468</Words>
  <Application>WPS 演示</Application>
  <PresentationFormat>On-screen Show (16:9)</PresentationFormat>
  <Paragraphs>442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3" baseType="lpstr">
      <vt:lpstr>Arial</vt:lpstr>
      <vt:lpstr>宋体</vt:lpstr>
      <vt:lpstr>Wingdings</vt:lpstr>
      <vt:lpstr>Inter</vt:lpstr>
      <vt:lpstr>Segoe Print</vt:lpstr>
      <vt:lpstr>Inter</vt:lpstr>
      <vt:lpstr>Inter</vt:lpstr>
      <vt:lpstr>Calibri</vt:lpstr>
      <vt:lpstr>微软雅黑</vt:lpstr>
      <vt:lpstr>Arial Unicode MS</vt:lpstr>
      <vt:lpstr>等线</vt:lpstr>
      <vt:lpstr>MingLiU-ExtB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杨琦</cp:lastModifiedBy>
  <cp:revision>2</cp:revision>
  <dcterms:created xsi:type="dcterms:W3CDTF">2026-03-07T07:10:00Z</dcterms:created>
  <dcterms:modified xsi:type="dcterms:W3CDTF">2026-03-07T07:13:00Z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88DE756A5EF44F60853C5CB9F479C85F_12</vt:lpwstr>
  </property>
  <property fmtid="{D5CDD505-2E9C-101B-9397-08002B2CF9AE}" pid="3" name="KSOProductBuildVer">
    <vt:lpwstr>2052-12.1.0.25225</vt:lpwstr>
  </property>
</Properties>
</file>
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Ares 智能研报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Microsoft YaHei"/>
              </a:defRPr>
            </a:pPr>
            <a:r>
              <a:t>AI驱动的下一代金融分析平台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7432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V3.0 | 多智能体协同 · 可解释决策 · 机构级分析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项目定位与核心价值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AI原生架构 · 四维分析引擎 · 企业级功能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核心技术架构设计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多智能体协同 · 多LLM兼容 · 模块化架构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480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数据流程与智能决策链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多源数据融合 · NLP事件抽取 · 决策融合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市场竞争优势分析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速度×深度×透明度 · 对比优势 · 三位一体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583679"/>
            <a:ext cx="5303520" cy="219456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7132319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704087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商业模式与盈利路径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768095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四维收入 · 分层定价 · 增长路径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D4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核心技术架构设计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多智能体协同 · 模块化架构 · 多LLM兼容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智能决策引擎架构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核心引擎基于TradingAgents框架，集成LangGraph工作流实现智能体协同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模块化架构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支持多智能体分工协作，各模块独立运行并协同处理任务。可扩展设计便于集成新功能组件，适应多样化业务需求。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动态调度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根据任务优先级与资源状态实时调整执行顺序。实现负载均衡与高效响应，提升系统整体吞吐能力。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可视化流程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基于LangGraph展示工作流结构，直观呈现节点关系。精确控制信息传递路径与执行时序，减少逻辑错误。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角色交互机制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图结构定义分析师、研究员、风险官等角色的协作规则。推动结构化辩论与意见融合，增强决策合理性。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39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39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3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并行处理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多个分析任务同时执行，显著缩短整体决策周期。支持异步结果汇聚与冲突检测，保障数据一致性。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过程留痕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完整记录每一步推理与决策依据，实现全程可追溯。支持归因分析，快速定位关键影响因素与逻辑节点。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多LLM兼容架构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支持OpenAI、DeepSeek、百炼等主流模型灵活切换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566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多模型支持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集成OpenAI、DeepSeek、阿里百炼等主流大模型，按场景智能调度，兼顾性能与成本。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5661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5661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39" y="228600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39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动态切换机制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023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支持运行时动态切换LLM，适配不同市场与任务需求，保障分析连续性与稳定性。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5661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566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55480" y="2286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标准化接口设计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233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抽象统一LLM交互层，降低耦合度，便于快速接入新模型与私有化部署环境。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D4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数据流程与智能决策链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多源数据融合 · NLP事件抽取 · 智能决策生成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多源异构数据融合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聚合Tushare、AKShare、FinnHub等多源数据，构建统一金融知识图谱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66160" cy="256032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多源异构集成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整合Tushare、AKShare、BaoStock等A股数据，Yahoo Finance、FinnHub等美股港股源，实现跨市场统一接入。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566160" cy="256032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数据融合建模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通过标准化清洗与实体对齐，将财务、行情、新闻等多源数据构建为统一金融知识图谱。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566160" cy="256032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智能缓存架构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采用Redis→MongoDB→API三级缓存机制，保障数据实时性与系统高并发下的稳定响应能力。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201168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数据采集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017520" y="4800600"/>
            <a:ext cx="548640" cy="27432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0" y="4572000"/>
            <a:ext cx="201168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709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清洗对齐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760720" y="4800600"/>
            <a:ext cx="548640" cy="27432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572000"/>
            <a:ext cx="201168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09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知识图谱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503920" y="4800600"/>
            <a:ext cx="548640" cy="274320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4572000"/>
            <a:ext cx="201168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709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智能分析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NLP事件抽取与情绪建模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通过NLP实现新闻事件抽取与社交媒体情绪建模，捕捉非结构化信息价值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303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事件智能识别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基于NLP技术自动抽取财经新闻中的关键事件，如并购、政策变动、财报发布，构建结构化事件知识库。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303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多源情绪聚合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整合微博、雪球、股吧等社交平台文本，利用情感分析模型生成实时投资者情绪指数。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303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影响量化评估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结合历史市场反应，量化新闻与情绪对股价波动的潜在影响，识别短期驱动因子。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5303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动态权重融合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在决策链中动态加权消息面与情绪面信号，提升对市场拐点和热点轮动的响应能力。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智能决策融合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决策层融合分析师观点、风险评估与市场信号，生成可追溯的自然语言报告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36576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智能决策融合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决策层融合分析师观点、风险评估与市场信号，生成可追溯的自然语言报告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36576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观点融合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整合多智能体并行分析结果，加权汇总看涨与看跌观点，形成平衡判断。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566160" cy="36576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06439" y="2286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39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校准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风险校准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引入激进、中性、保守三重风险评估模型，动态调整建议的风险等级。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566160" cy="36576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228600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514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报告生成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基于自然语言生成技术输出结构化报告，支持决策过程全程追溯与解释。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D4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项目定位与核心价值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AI原生架构 · 四维分析引擎 · 机构级分析平民化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AI原生金融分析平台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基于多智能体大语言模型构建，推动金融分析从传统模式向智能化范式跃迁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范式智能革新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重构投研流程的底层逻辑与执行效率，实现系统自主演进与动态优化能力。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量化人工融合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结合量化系统的高效执行与人工投研的深度洞察，形成优势互补的混合增强智能。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可解释中间路径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开创兼具智能水平与可解释性的分析路径，填补规则驱动与经验驱动间的空白。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智能协同机制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多智能体间实现分工协作与信息共享，通过协同推理提升复杂问题处理能力。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39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39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3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自然语言交互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以自然语言呈现分析过程与逻辑链条，降低用户理解门槛，实现模型思维的可视化表达。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打破黑箱局限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揭示模型决策背后的依据与推导路径，增强用户对AI输出的信任感。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四维智能分析引擎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构建覆盖基本面、技术面、消息面与情绪面的全方位投资分析体系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基本面分析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财务数据解读，分析营收、利润、现金流等指标评估企业健康度。估值模型应用，使用PE、DCF等方法判断企业内在价值。盈利能力评估，衡量ROE、毛利率等指标预测长期收益能力。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3035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技术面分析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趋势识别，利用MA判断价格长期方向与支撑阻力位。动量指标分析，通过RSI探测超买超卖状态。交易信号生成，结合MACD交叉点优化买卖时机决策。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30352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C8"/>
                </a:solidFill>
                <a:latin typeface="Microsoft YaHei"/>
              </a:defRPr>
            </a:pPr>
            <a:r>
              <a:t>消息面监测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新闻动态追踪，实时获取政策、并购、财报等关键事件。事件影响量化，评估外部消息对股价波动的潜在冲击。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206240"/>
            <a:ext cx="5303520" cy="73152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434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464"/>
                </a:solidFill>
                <a:latin typeface="Microsoft YaHei"/>
              </a:defRPr>
            </a:pPr>
            <a:r>
              <a:t>情绪面分析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377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社交媒体监控，抓取微博、雪球等平台用户情感倾向。群体行为识别，捕捉散户情绪高涨或恐慌抛售的前兆信号。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企业级功能闭环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支持批量分析、自选股监控、模拟交易与报告导出的完整功能体系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多股批量分析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支持同时分析多只股票，提升研究覆盖范围，加快投研决策速度。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行业轮动研究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辅助识别行业间强弱变化，把握周期切换机会，优化资产配置方向。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自定义分组监控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用户可灵活创建股票组合，便于分类管理，提高监控针对性。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实时价格追踪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及时捕捉股价异常波动，快速响应市场变化，防范潜在风险。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风险信号预警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自动识别技术或基本面风险信号，提供前置化风险提示。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6616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动态资产配置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根据市场变化调整持仓结构，增强组合适应性，提升收益稳定性。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模拟交易环境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提供虚拟交易场景，用于验证投资策略，减少实盘试错成本。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3544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策略回测测试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支持历史数据回测，评估策略有效性，优化参数设置。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D4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市场竞争优势分析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速度×深度×透明度 · 三位一体优势 · 新一代投研标准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相较传统量化系统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具备深度理解能力与高可解释性，避免黑箱决策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语义解析能力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利用大语言模型解析非结构化数据，精准提取财报、新闻等深层信号。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信息来源多样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整合财报、新闻及社交媒体数据，覆盖多渠道非结构化信息源。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多智能体协作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多个智能体分工处理不同任务，通过协作增强推理逻辑性。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交叉验证机制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智能体间相互验证分析结果，提高判断准确性与可靠性。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推理过程透明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全程记录分析逻辑与依据，确保每一步推导可追溯可审计。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6616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决策链条完整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从数据输入到输出结论闭环，清晰展现分析路径与演变过程。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自然语言生成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将AI推理结果转化为自然语言，生成人类可读的分析报告。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3544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可解释性增强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明确展示关键判断依据，让决策过程不再黑箱化。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相较人工投研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分析效率提升10倍以上，支持全球化市场同步覆盖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智能高效分析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单只股票分析时间从小时级缩短至分钟级，效率提升超十倍。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四体并行加速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四个并行智能体协同工作，显著提高计算与分析吞吐能力。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全域市场覆盖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全面覆盖A股、港股及美股三大市场，打破市场边界限制。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64592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64592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多语数据采集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2402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实时采集多语言金融数据，消除地域信息壁垒。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全天候监控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支持7×24小时不间断监控自选股动态，无遗漏捕捉关键变化。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6616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事件自动追踪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自动识别并追踪重大财经事件，快速关联影响个股。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情绪变化监测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实时分析市场情绪波动，识别舆论倾向转变。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4206240"/>
            <a:ext cx="26517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0624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3544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投资决策支持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8006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整合多维数据提供全天候决策支持，增强应对市场突变的能力。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三位一体核心优势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构建'速度×深度×透明度'三位一体优势，确立新一代智能投研标准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41148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5661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57400" y="256032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743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极速分析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分钟级完成多维度股票分析，相较人工投研效率提升10倍以上，支持实时市场响应。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566160" cy="41148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82880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39" y="256032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39" y="2743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深度洞察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通过多智能体辩论与融合分析，实现机构级研究深度，超越传统量化模型的规则局限。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566160" cy="41148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566160" cy="9144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55480" y="2560320"/>
            <a:ext cx="914400" cy="914400"/>
          </a:xfrm>
          <a:prstGeom prst="ellipse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743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C8"/>
                </a:solidFill>
                <a:latin typeface="Microsoft YaHei"/>
              </a:defRPr>
            </a:pPr>
            <a:r>
              <a:t>决策透明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全程可追溯的自然语言报告，清晰呈现分析逻辑与依据，满足合规与信任双重需求。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00D4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商业模式与盈利路径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D700"/>
                </a:solidFill>
                <a:latin typeface="Microsoft YaHei"/>
              </a:defRPr>
            </a:pPr>
            <a:r>
              <a:t>四维收入模型 · 分层定价策略 · 三阶段增长路径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核心竞争优势对比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628650"/>
          </a:xfrm>
          <a:prstGeom prst="rect">
            <a:avLst/>
          </a:prstGeom>
          <a:solidFill>
            <a:srgbClr val="00D4FF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4876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2743200" cy="628650"/>
          </a:xfrm>
          <a:prstGeom prst="rect">
            <a:avLst/>
          </a:prstGeom>
          <a:solidFill>
            <a:srgbClr val="00D4FF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5487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传统量化系统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371600"/>
            <a:ext cx="2743200" cy="628650"/>
          </a:xfrm>
          <a:prstGeom prst="rect">
            <a:avLst/>
          </a:prstGeom>
          <a:solidFill>
            <a:srgbClr val="00D4FF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5487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人工投研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71600"/>
            <a:ext cx="2926080" cy="628650"/>
          </a:xfrm>
          <a:prstGeom prst="rect">
            <a:avLst/>
          </a:prstGeom>
          <a:solidFill>
            <a:srgbClr val="00D4FF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4876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Ares智能研报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0025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774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分析速度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0002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1774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⚡ 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0002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1774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🐌 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00025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7741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⚡ 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2890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606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分析深度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6289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8060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📊 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6289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8060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📚 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62890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80606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📚 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5755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347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覆盖维度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2575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4347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📈 单一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2575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34347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📊 多维度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25755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43471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📊 多维度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8620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06336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可解释性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8862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0633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❌ 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8862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40633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✅ 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388620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06336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✅ 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51485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920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成本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5148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6920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💰 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45148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46920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💰💰💰 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451485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469201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💰 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14350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32066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扩展性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1435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53206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⚠️ 低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514350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532066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⚠️ 低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514350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532066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✅ 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772150"/>
            <a:ext cx="2286000" cy="628650"/>
          </a:xfrm>
          <a:prstGeom prst="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949315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学习能力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57721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0" y="59493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5772150"/>
            <a:ext cx="274320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59493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4BEC8"/>
                </a:solidFill>
                <a:latin typeface="Microsoft YaHei"/>
              </a:defRPr>
            </a:pPr>
            <a:r>
              <a:t>✅ 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20" y="5772150"/>
            <a:ext cx="2926080" cy="628650"/>
          </a:xfrm>
          <a:prstGeom prst="rect">
            <a:avLst/>
          </a:prstGeom>
          <a:solidFill>
            <a:srgbClr val="192D4B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594931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FFD700"/>
                </a:solidFill>
                <a:latin typeface="Microsoft YaHei"/>
              </a:defRPr>
            </a:pPr>
            <a:r>
              <a:t>✅ 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四维收入模型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SaaS订阅、按量付费、私有化部署与数据服务协同发展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SaaS订阅模式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提供年费订阅服务，覆盖个人与机构用户，获取核心分析功能。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按量付费机制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支持按调用次数计费，满足轻量或间歇性使用需求，提升使用灵活性。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私有化部署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为金融机构提供本地化部署方案，保障数据安全与系统稳定性。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一次性授权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1148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私有化部署采用买断式授权，满足合规与定制化集成要求。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分层定价策略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精准匹配个人投资者至大型金融机构的差异化需求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51760" cy="4572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651760" cy="13716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FFC8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个人版订阅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  <a:latin typeface="Microsoft YaHei"/>
              </a:defRPr>
            </a:pPr>
            <a:r>
              <a:t>500-2000元/年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提供基础分析功能，满足散户日常投资决策需求。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651760" cy="4572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651760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机构标准版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5万-50万元/年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0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支持批量分析、API接入，适配中小型投研团队。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2651760" cy="4572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265176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企业定制化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50万-500万元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私有化部署，深度集成内部系统，保障数据安全与合规。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645920"/>
            <a:ext cx="2651760" cy="4572000"/>
          </a:xfrm>
          <a:prstGeom prst="roundRect">
            <a:avLst/>
          </a:prstGeom>
          <a:solidFill>
            <a:srgbClr val="12233C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645920"/>
            <a:ext cx="2651760" cy="13716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464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按需付费模式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004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464"/>
                </a:solidFill>
                <a:latin typeface="Microsoft YaHei"/>
              </a:defRPr>
            </a:pPr>
            <a:r>
              <a:t>10-50元/次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840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BEC8"/>
                </a:solidFill>
                <a:latin typeface="Microsoft YaHei"/>
              </a:defRPr>
            </a:pPr>
            <a:r>
              <a:t>灵活适用于临时研究需求，降低使用门槛。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三年财务预测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规模化后利润率可达60%，具备强劲盈利能力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用户增长目标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三年内将用户规模从1,000名扩展至20,000名。实现用户数量的指数级增长。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收入提升规划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推动年收入从500万元增长至2亿元。保持高速增长节奏。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78308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562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成本控制策略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402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依托规模效应抑制成本过快增长。优化运营效率。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盈利目标设定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第三年实现1.2亿元净利润。达到60%的高利润率水平。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39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39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3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ARPU值提升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将每用户平均收入提升至10,000元。反映价值挖掘能力增强。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566160" cy="22860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206240"/>
            <a:ext cx="35661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12480" y="434340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41655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可持续增长模型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006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构建可复制、可扩展的业务模式。实现增长与盈利的良性循环。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三阶段用户增长路径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从种子用户培育到企业级生态平台演进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73736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FFC8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初期获客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免费试用吸引用户，降低使用门槛。积累千名种子用户，验证产品价值。建立社区口碑，促进自然传播。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1,000用户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2011680"/>
            <a:ext cx="17373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产品打磨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收集用户反馈，优化核心功能。提升用户体验，增强用户粘性。形成初步产品闭环，支撑后续扩展。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2011680"/>
            <a:ext cx="17373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市场扩张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通过渠道合作触达更广用户群体。内容营销建立专业形象与信任感。实现五千名付费用户，验证商业模式。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6217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5,000用户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199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199" y="2011680"/>
            <a:ext cx="1737360" cy="73152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199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464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39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企业服务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组建销售团队，对接企业客户需求。推出行业定制方案，提升解决方案深度。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2011680"/>
            <a:ext cx="1737360" cy="73152"/>
          </a:xfrm>
          <a:prstGeom prst="rect">
            <a:avLst/>
          </a:prstGeom>
          <a:solidFill>
            <a:srgbClr val="96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664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生态构建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打造开放平台，支持第三方集成。吸引开发者与伙伴，丰富生态能力。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2011680"/>
            <a:ext cx="17373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21240" y="2011680"/>
            <a:ext cx="17373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21945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长期发展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291840"/>
            <a:ext cx="1554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900">
                <a:solidFill>
                  <a:srgbClr val="B4BEC8"/>
                </a:solidFill>
                <a:latin typeface="Microsoft YaHei"/>
              </a:defRPr>
            </a:pPr>
            <a:r>
              <a:t>以客户成功为核心，提升续费率。持续功能迭代，保持产品竞争力。强化品牌建设，扩大行业影响力。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6217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20,000用户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市场推广策略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内容营销+渠道合作双轮驱动，联合券商、云厂商与数据服务商共建生态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内容获客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通过投资教育、技术博客和视频教程建立专业形象，吸引高价值用户持续关注并转化。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74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渠道联动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233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与券商、云厂商及数据服务商合作，嵌入其服务体系，实现客户资源互补与联合推广。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74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生态协同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233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接入Tushare、阿里云等平台生态，提升数据与技术可信度，增强产品整合竞争力。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828800"/>
            <a:ext cx="2651760" cy="4114800"/>
          </a:xfrm>
          <a:prstGeom prst="roundRect">
            <a:avLst/>
          </a:prstGeom>
          <a:solidFill>
            <a:srgbClr val="1223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474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品牌共建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0233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B4BEC8"/>
                </a:solidFill>
                <a:latin typeface="Microsoft YaHei"/>
              </a:defRPr>
            </a:pPr>
            <a:r>
              <a:t>联合行业伙伴举办线上峰会、开发者大会，扩大影响力，打造AI金融分析领域标杆品牌。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Ares 智能研报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Microsoft YaHei"/>
              </a:defRPr>
            </a:pPr>
            <a:r>
              <a:t>AI驱动的下一代金融分析平台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B4BEC8"/>
                </a:solidFill>
                <a:latin typeface="Microsoft YaHei"/>
              </a:defRPr>
            </a:pPr>
            <a:r>
              <a:t>多智能体协同  ·  可解释决策  ·  机构级分析  ·  平民化服务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27432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EC8"/>
                </a:solidFill>
                <a:latin typeface="Microsoft YaHei"/>
              </a:defRPr>
            </a:pPr>
            <a:r>
              <a:t>联系我们 · 共创未来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
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58" r:id="rId14"/>
    <p:sldId id="259" r:id="rId15"/>
    <p:sldId id="288" r:id="rId16"/>
    <p:sldId id="263" r:id="rId17"/>
    <p:sldId id="265" r:id="rId18"/>
    <p:sldId id="260" r:id="rId19"/>
    <p:sldId id="261" r:id="rId20"/>
    <p:sldId id="274" r:id="rId21"/>
    <p:sldId id="275" r:id="rId22"/>
    <p:sldId id="276" r:id="rId23"/>
    <p:sldId id="277" r:id="rId24"/>
    <p:sldId id="278" r:id="rId25"/>
    <p:sldId id="279" r:id="rId26"/>
    <p:sldId id="290" r:id="rId27"/>
    <p:sldId id="291" r:id="rId28"/>
    <p:sldId id="289" r:id="rId29"/>
    <p:sldId id="280" r:id="rId30"/>
    <p:sldId id="281" r:id="rId31"/>
    <p:sldId id="283" r:id="rId32"/>
    <p:sldId id="284" r:id="rId3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6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5.png"/><Relationship Id="rId2" Type="http://schemas.openxmlformats.org/officeDocument/2006/relationships/tags" Target="../tags/tag1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7.png"/><Relationship Id="rId10" Type="http://schemas.openxmlformats.org/officeDocument/2006/relationships/tags" Target="../tags/tag7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image" Target="../media/image13.png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image" Target="../media/image12.png"/><Relationship Id="rId2" Type="http://schemas.openxmlformats.org/officeDocument/2006/relationships/tags" Target="../tags/tag10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image" Target="../media/image15.png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image" Target="../media/image14.png"/><Relationship Id="rId10" Type="http://schemas.openxmlformats.org/officeDocument/2006/relationships/tags" Target="../tags/tag16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image" Target="../media/image19.png"/><Relationship Id="rId26" Type="http://schemas.openxmlformats.org/officeDocument/2006/relationships/notesSlide" Target="../notesSlides/notesSlide12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3.xml"/><Relationship Id="rId23" Type="http://schemas.openxmlformats.org/officeDocument/2006/relationships/tags" Target="../tags/tag42.xml"/><Relationship Id="rId22" Type="http://schemas.openxmlformats.org/officeDocument/2006/relationships/tags" Target="../tags/tag41.xml"/><Relationship Id="rId21" Type="http://schemas.openxmlformats.org/officeDocument/2006/relationships/tags" Target="../tags/tag40.xml"/><Relationship Id="rId20" Type="http://schemas.openxmlformats.org/officeDocument/2006/relationships/tags" Target="../tags/tag39.xml"/><Relationship Id="rId2" Type="http://schemas.openxmlformats.org/officeDocument/2006/relationships/tags" Target="../tags/tag22.xml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3.jpe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8.jpe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66813"/>
            <a:ext cx="80010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Ares 智能研报：</a:t>
            </a:r>
            <a:endParaRPr lang="en-US" sz="37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5250"/>
              </a:lnSpc>
              <a:buNone/>
            </a:pPr>
            <a:endParaRPr lang="en-US" sz="37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AI驱动的下一代金融分析平台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576513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30" y="-118745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175402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252460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项目定位与核心价值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207311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43625" y="175402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6610350" y="207311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238267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185023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核心技术架构设计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70176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43625" y="238267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6539865" y="185086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数据流程与智能决策链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10350" y="270176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301132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6539865" y="244459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市场竞争优势分析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333041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990975" y="313483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商业模式与盈利路径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10350" y="333041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990975" y="395906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核心技术架构设计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"/>
          <p:cNvSpPr/>
          <p:nvPr/>
        </p:nvSpPr>
        <p:spPr>
          <a:xfrm>
            <a:off x="3246769" y="89908"/>
            <a:ext cx="3168438" cy="3705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技术架构与数据流程</a:t>
            </a:r>
            <a:endParaRPr lang="en-US" sz="2625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15875" y="397476"/>
            <a:ext cx="5299572" cy="4497188"/>
            <a:chOff x="0" y="642"/>
            <a:chExt cx="10665" cy="7390"/>
          </a:xfrm>
        </p:grpSpPr>
        <p:sp>
          <p:nvSpPr>
            <p:cNvPr id="18" name="Shape 0"/>
            <p:cNvSpPr/>
            <p:nvPr/>
          </p:nvSpPr>
          <p:spPr>
            <a:xfrm>
              <a:off x="584" y="642"/>
              <a:ext cx="58" cy="467"/>
            </a:xfrm>
            <a:custGeom>
              <a:avLst/>
              <a:gdLst/>
              <a:ahLst/>
              <a:cxnLst/>
              <a:rect l="l" t="t" r="r" b="b"/>
              <a:pathLst>
                <a:path w="37058" h="296462">
                  <a:moveTo>
                    <a:pt x="0" y="0"/>
                  </a:moveTo>
                  <a:lnTo>
                    <a:pt x="37058" y="0"/>
                  </a:lnTo>
                  <a:lnTo>
                    <a:pt x="37058" y="296462"/>
                  </a:lnTo>
                  <a:lnTo>
                    <a:pt x="0" y="296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1" name="Shape 3"/>
            <p:cNvSpPr/>
            <p:nvPr/>
          </p:nvSpPr>
          <p:spPr>
            <a:xfrm>
              <a:off x="0" y="781"/>
              <a:ext cx="10665" cy="7156"/>
            </a:xfrm>
            <a:custGeom>
              <a:avLst/>
              <a:gdLst/>
              <a:ahLst/>
              <a:cxnLst/>
              <a:rect l="l" t="t" r="r" b="b"/>
              <a:pathLst>
                <a:path w="6772304" h="5660571">
                  <a:moveTo>
                    <a:pt x="111174" y="0"/>
                  </a:moveTo>
                  <a:lnTo>
                    <a:pt x="6661130" y="0"/>
                  </a:lnTo>
                  <a:cubicBezTo>
                    <a:pt x="6722530" y="0"/>
                    <a:pt x="6772304" y="49774"/>
                    <a:pt x="6772304" y="111174"/>
                  </a:cubicBezTo>
                  <a:lnTo>
                    <a:pt x="6772304" y="5549398"/>
                  </a:lnTo>
                  <a:cubicBezTo>
                    <a:pt x="6772304" y="5610797"/>
                    <a:pt x="6722530" y="5660571"/>
                    <a:pt x="6661130" y="5660571"/>
                  </a:cubicBezTo>
                  <a:lnTo>
                    <a:pt x="111174" y="5660571"/>
                  </a:lnTo>
                  <a:cubicBezTo>
                    <a:pt x="49774" y="5660571"/>
                    <a:pt x="0" y="5610797"/>
                    <a:pt x="0" y="5549398"/>
                  </a:cubicBezTo>
                  <a:lnTo>
                    <a:pt x="0" y="111174"/>
                  </a:lnTo>
                  <a:cubicBezTo>
                    <a:pt x="0" y="49815"/>
                    <a:pt x="49815" y="0"/>
                    <a:pt x="111174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22" name="Text 4"/>
            <p:cNvSpPr/>
            <p:nvPr/>
          </p:nvSpPr>
          <p:spPr>
            <a:xfrm>
              <a:off x="48" y="1387"/>
              <a:ext cx="10329" cy="40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6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系统架构分层</a:t>
              </a:r>
              <a:endParaRPr lang="en-US" sz="146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3" name="Shape 5"/>
            <p:cNvSpPr/>
            <p:nvPr/>
          </p:nvSpPr>
          <p:spPr>
            <a:xfrm>
              <a:off x="128" y="1977"/>
              <a:ext cx="10169" cy="1707"/>
            </a:xfrm>
            <a:custGeom>
              <a:avLst/>
              <a:gdLst/>
              <a:ahLst/>
              <a:cxnLst/>
              <a:rect l="l" t="t" r="r" b="b"/>
              <a:pathLst>
                <a:path w="6457313" h="1083939">
                  <a:moveTo>
                    <a:pt x="74120" y="0"/>
                  </a:moveTo>
                  <a:lnTo>
                    <a:pt x="6383193" y="0"/>
                  </a:lnTo>
                  <a:cubicBezTo>
                    <a:pt x="6424129" y="0"/>
                    <a:pt x="6457313" y="33185"/>
                    <a:pt x="6457313" y="74120"/>
                  </a:cubicBezTo>
                  <a:lnTo>
                    <a:pt x="6457313" y="1009819"/>
                  </a:lnTo>
                  <a:cubicBezTo>
                    <a:pt x="6457313" y="1050755"/>
                    <a:pt x="6424129" y="1083939"/>
                    <a:pt x="6383193" y="1083939"/>
                  </a:cubicBezTo>
                  <a:lnTo>
                    <a:pt x="74120" y="1083939"/>
                  </a:lnTo>
                  <a:cubicBezTo>
                    <a:pt x="33185" y="1083939"/>
                    <a:pt x="0" y="1050755"/>
                    <a:pt x="0" y="1009819"/>
                  </a:cubicBezTo>
                  <a:lnTo>
                    <a:pt x="0" y="74120"/>
                  </a:lnTo>
                  <a:cubicBezTo>
                    <a:pt x="0" y="33212"/>
                    <a:pt x="33212" y="0"/>
                    <a:pt x="74120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24" name="Shape 6"/>
            <p:cNvSpPr/>
            <p:nvPr/>
          </p:nvSpPr>
          <p:spPr>
            <a:xfrm>
              <a:off x="310" y="2160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5" name="Text 7"/>
            <p:cNvSpPr/>
            <p:nvPr/>
          </p:nvSpPr>
          <p:spPr>
            <a:xfrm>
              <a:off x="259" y="2160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6" name="Text 8"/>
            <p:cNvSpPr/>
            <p:nvPr/>
          </p:nvSpPr>
          <p:spPr>
            <a:xfrm>
              <a:off x="952" y="2188"/>
              <a:ext cx="2084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用户接入层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7" name="Shape 9"/>
            <p:cNvSpPr/>
            <p:nvPr/>
          </p:nvSpPr>
          <p:spPr>
            <a:xfrm>
              <a:off x="310" y="2743"/>
              <a:ext cx="3195" cy="759"/>
            </a:xfrm>
            <a:custGeom>
              <a:avLst/>
              <a:gdLst/>
              <a:ahLst/>
              <a:cxnLst/>
              <a:rect l="l" t="t" r="r" b="b"/>
              <a:pathLst>
                <a:path w="2028912" h="481751">
                  <a:moveTo>
                    <a:pt x="37056" y="0"/>
                  </a:moveTo>
                  <a:lnTo>
                    <a:pt x="1991856" y="0"/>
                  </a:lnTo>
                  <a:cubicBezTo>
                    <a:pt x="2012321" y="0"/>
                    <a:pt x="2028912" y="16591"/>
                    <a:pt x="2028912" y="37056"/>
                  </a:cubicBezTo>
                  <a:lnTo>
                    <a:pt x="2028912" y="444694"/>
                  </a:lnTo>
                  <a:cubicBezTo>
                    <a:pt x="2028912" y="465146"/>
                    <a:pt x="2012307" y="481751"/>
                    <a:pt x="1991856" y="481751"/>
                  </a:cubicBezTo>
                  <a:lnTo>
                    <a:pt x="37056" y="481751"/>
                  </a:lnTo>
                  <a:cubicBezTo>
                    <a:pt x="16591" y="481751"/>
                    <a:pt x="0" y="465160"/>
                    <a:pt x="0" y="444694"/>
                  </a:cubicBezTo>
                  <a:lnTo>
                    <a:pt x="0" y="37056"/>
                  </a:lnTo>
                  <a:cubicBezTo>
                    <a:pt x="0" y="16604"/>
                    <a:pt x="16604" y="0"/>
                    <a:pt x="37056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28" name="Text 10"/>
            <p:cNvSpPr/>
            <p:nvPr/>
          </p:nvSpPr>
          <p:spPr>
            <a:xfrm>
              <a:off x="376" y="2860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Web前端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9" name="Text 11"/>
            <p:cNvSpPr/>
            <p:nvPr/>
          </p:nvSpPr>
          <p:spPr>
            <a:xfrm>
              <a:off x="383" y="3152"/>
              <a:ext cx="3049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Vue 3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0" name="Shape 12"/>
            <p:cNvSpPr/>
            <p:nvPr/>
          </p:nvSpPr>
          <p:spPr>
            <a:xfrm>
              <a:off x="3616" y="2743"/>
              <a:ext cx="3195" cy="759"/>
            </a:xfrm>
            <a:custGeom>
              <a:avLst/>
              <a:gdLst/>
              <a:ahLst/>
              <a:cxnLst/>
              <a:rect l="l" t="t" r="r" b="b"/>
              <a:pathLst>
                <a:path w="2028912" h="481751">
                  <a:moveTo>
                    <a:pt x="37056" y="0"/>
                  </a:moveTo>
                  <a:lnTo>
                    <a:pt x="1991856" y="0"/>
                  </a:lnTo>
                  <a:cubicBezTo>
                    <a:pt x="2012321" y="0"/>
                    <a:pt x="2028912" y="16591"/>
                    <a:pt x="2028912" y="37056"/>
                  </a:cubicBezTo>
                  <a:lnTo>
                    <a:pt x="2028912" y="444694"/>
                  </a:lnTo>
                  <a:cubicBezTo>
                    <a:pt x="2028912" y="465146"/>
                    <a:pt x="2012307" y="481751"/>
                    <a:pt x="1991856" y="481751"/>
                  </a:cubicBezTo>
                  <a:lnTo>
                    <a:pt x="37056" y="481751"/>
                  </a:lnTo>
                  <a:cubicBezTo>
                    <a:pt x="16591" y="481751"/>
                    <a:pt x="0" y="465160"/>
                    <a:pt x="0" y="444694"/>
                  </a:cubicBezTo>
                  <a:lnTo>
                    <a:pt x="0" y="37056"/>
                  </a:lnTo>
                  <a:cubicBezTo>
                    <a:pt x="0" y="16604"/>
                    <a:pt x="16604" y="0"/>
                    <a:pt x="37056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31" name="Text 13"/>
            <p:cNvSpPr/>
            <p:nvPr/>
          </p:nvSpPr>
          <p:spPr>
            <a:xfrm>
              <a:off x="3682" y="2860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移动端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2" name="Text 14"/>
            <p:cNvSpPr/>
            <p:nvPr/>
          </p:nvSpPr>
          <p:spPr>
            <a:xfrm>
              <a:off x="3689" y="3152"/>
              <a:ext cx="3049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规划中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3" name="Shape 15"/>
            <p:cNvSpPr/>
            <p:nvPr/>
          </p:nvSpPr>
          <p:spPr>
            <a:xfrm>
              <a:off x="6922" y="2743"/>
              <a:ext cx="3195" cy="759"/>
            </a:xfrm>
            <a:custGeom>
              <a:avLst/>
              <a:gdLst/>
              <a:ahLst/>
              <a:cxnLst/>
              <a:rect l="l" t="t" r="r" b="b"/>
              <a:pathLst>
                <a:path w="2028912" h="481751">
                  <a:moveTo>
                    <a:pt x="37056" y="0"/>
                  </a:moveTo>
                  <a:lnTo>
                    <a:pt x="1991856" y="0"/>
                  </a:lnTo>
                  <a:cubicBezTo>
                    <a:pt x="2012321" y="0"/>
                    <a:pt x="2028912" y="16591"/>
                    <a:pt x="2028912" y="37056"/>
                  </a:cubicBezTo>
                  <a:lnTo>
                    <a:pt x="2028912" y="444694"/>
                  </a:lnTo>
                  <a:cubicBezTo>
                    <a:pt x="2028912" y="465146"/>
                    <a:pt x="2012307" y="481751"/>
                    <a:pt x="1991856" y="481751"/>
                  </a:cubicBezTo>
                  <a:lnTo>
                    <a:pt x="37056" y="481751"/>
                  </a:lnTo>
                  <a:cubicBezTo>
                    <a:pt x="16591" y="481751"/>
                    <a:pt x="0" y="465160"/>
                    <a:pt x="0" y="444694"/>
                  </a:cubicBezTo>
                  <a:lnTo>
                    <a:pt x="0" y="37056"/>
                  </a:lnTo>
                  <a:cubicBezTo>
                    <a:pt x="0" y="16604"/>
                    <a:pt x="16604" y="0"/>
                    <a:pt x="37056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34" name="Text 16"/>
            <p:cNvSpPr/>
            <p:nvPr/>
          </p:nvSpPr>
          <p:spPr>
            <a:xfrm>
              <a:off x="6987" y="2860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API接口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5" name="Text 17"/>
            <p:cNvSpPr/>
            <p:nvPr/>
          </p:nvSpPr>
          <p:spPr>
            <a:xfrm>
              <a:off x="6995" y="3152"/>
              <a:ext cx="3049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RESTful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6" name="Shape 18"/>
            <p:cNvSpPr/>
            <p:nvPr/>
          </p:nvSpPr>
          <p:spPr>
            <a:xfrm>
              <a:off x="128" y="3816"/>
              <a:ext cx="10169" cy="1240"/>
            </a:xfrm>
            <a:custGeom>
              <a:avLst/>
              <a:gdLst/>
              <a:ahLst/>
              <a:cxnLst/>
              <a:rect l="l" t="t" r="r" b="b"/>
              <a:pathLst>
                <a:path w="6457313" h="787477">
                  <a:moveTo>
                    <a:pt x="74117" y="0"/>
                  </a:moveTo>
                  <a:lnTo>
                    <a:pt x="6383196" y="0"/>
                  </a:lnTo>
                  <a:cubicBezTo>
                    <a:pt x="6424130" y="0"/>
                    <a:pt x="6457313" y="33183"/>
                    <a:pt x="6457313" y="74117"/>
                  </a:cubicBezTo>
                  <a:lnTo>
                    <a:pt x="6457313" y="713360"/>
                  </a:lnTo>
                  <a:cubicBezTo>
                    <a:pt x="6457313" y="754294"/>
                    <a:pt x="6424130" y="787477"/>
                    <a:pt x="6383196" y="787477"/>
                  </a:cubicBezTo>
                  <a:lnTo>
                    <a:pt x="74117" y="787477"/>
                  </a:lnTo>
                  <a:cubicBezTo>
                    <a:pt x="33183" y="787477"/>
                    <a:pt x="0" y="754294"/>
                    <a:pt x="0" y="713360"/>
                  </a:cubicBezTo>
                  <a:lnTo>
                    <a:pt x="0" y="74117"/>
                  </a:lnTo>
                  <a:cubicBezTo>
                    <a:pt x="0" y="33211"/>
                    <a:pt x="33211" y="0"/>
                    <a:pt x="74117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rgbClr val="4A6C8C">
                  <a:alpha val="40000"/>
                </a:srgbClr>
              </a:solidFill>
              <a:prstDash val="solid"/>
            </a:ln>
          </p:spPr>
        </p:sp>
        <p:sp>
          <p:nvSpPr>
            <p:cNvPr id="37" name="Shape 19"/>
            <p:cNvSpPr/>
            <p:nvPr/>
          </p:nvSpPr>
          <p:spPr>
            <a:xfrm>
              <a:off x="310" y="3998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38" name="Text 20"/>
            <p:cNvSpPr/>
            <p:nvPr/>
          </p:nvSpPr>
          <p:spPr>
            <a:xfrm>
              <a:off x="259" y="3998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9" name="Text 21"/>
            <p:cNvSpPr/>
            <p:nvPr/>
          </p:nvSpPr>
          <p:spPr>
            <a:xfrm>
              <a:off x="952" y="4027"/>
              <a:ext cx="1996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应用服务层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0" name="Text 22"/>
            <p:cNvSpPr/>
            <p:nvPr/>
          </p:nvSpPr>
          <p:spPr>
            <a:xfrm>
              <a:off x="259" y="4582"/>
              <a:ext cx="990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FastAPI后端服务 | 认证授权 | 分析服务 | 数据服务 | 队列管理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1" name="Shape 23"/>
            <p:cNvSpPr/>
            <p:nvPr/>
          </p:nvSpPr>
          <p:spPr>
            <a:xfrm>
              <a:off x="128" y="5187"/>
              <a:ext cx="10169" cy="1240"/>
            </a:xfrm>
            <a:custGeom>
              <a:avLst/>
              <a:gdLst/>
              <a:ahLst/>
              <a:cxnLst/>
              <a:rect l="l" t="t" r="r" b="b"/>
              <a:pathLst>
                <a:path w="6457313" h="787477">
                  <a:moveTo>
                    <a:pt x="74117" y="0"/>
                  </a:moveTo>
                  <a:lnTo>
                    <a:pt x="6383196" y="0"/>
                  </a:lnTo>
                  <a:cubicBezTo>
                    <a:pt x="6424130" y="0"/>
                    <a:pt x="6457313" y="33183"/>
                    <a:pt x="6457313" y="74117"/>
                  </a:cubicBezTo>
                  <a:lnTo>
                    <a:pt x="6457313" y="713360"/>
                  </a:lnTo>
                  <a:cubicBezTo>
                    <a:pt x="6457313" y="754294"/>
                    <a:pt x="6424130" y="787477"/>
                    <a:pt x="6383196" y="787477"/>
                  </a:cubicBezTo>
                  <a:lnTo>
                    <a:pt x="74117" y="787477"/>
                  </a:lnTo>
                  <a:cubicBezTo>
                    <a:pt x="33183" y="787477"/>
                    <a:pt x="0" y="754294"/>
                    <a:pt x="0" y="713360"/>
                  </a:cubicBezTo>
                  <a:lnTo>
                    <a:pt x="0" y="74117"/>
                  </a:lnTo>
                  <a:cubicBezTo>
                    <a:pt x="0" y="33211"/>
                    <a:pt x="33211" y="0"/>
                    <a:pt x="74117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20000"/>
              </a:schemeClr>
            </a:solidFill>
            <a:ln w="12700">
              <a:solidFill>
                <a:srgbClr val="8D99AE">
                  <a:alpha val="40000"/>
                </a:srgbClr>
              </a:solidFill>
              <a:prstDash val="solid"/>
            </a:ln>
          </p:spPr>
        </p:sp>
        <p:sp>
          <p:nvSpPr>
            <p:cNvPr id="42" name="Shape 24"/>
            <p:cNvSpPr/>
            <p:nvPr/>
          </p:nvSpPr>
          <p:spPr>
            <a:xfrm>
              <a:off x="310" y="5369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8D99AE"/>
            </a:solidFill>
          </p:spPr>
        </p:sp>
        <p:sp>
          <p:nvSpPr>
            <p:cNvPr id="43" name="Text 25"/>
            <p:cNvSpPr/>
            <p:nvPr/>
          </p:nvSpPr>
          <p:spPr>
            <a:xfrm>
              <a:off x="259" y="5369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3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4" name="Text 26"/>
            <p:cNvSpPr/>
            <p:nvPr/>
          </p:nvSpPr>
          <p:spPr>
            <a:xfrm>
              <a:off x="952" y="5398"/>
              <a:ext cx="2875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rgbClr val="615CE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智能决策引擎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5" name="Text 27"/>
            <p:cNvSpPr/>
            <p:nvPr/>
          </p:nvSpPr>
          <p:spPr>
            <a:xfrm>
              <a:off x="259" y="5953"/>
              <a:ext cx="990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TradingAgents多智能体框架 | 分析师 | 研究员 | 交易员 | 风险管理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6" name="Shape 28"/>
            <p:cNvSpPr/>
            <p:nvPr/>
          </p:nvSpPr>
          <p:spPr>
            <a:xfrm>
              <a:off x="128" y="6559"/>
              <a:ext cx="10169" cy="1474"/>
            </a:xfrm>
            <a:custGeom>
              <a:avLst/>
              <a:gdLst/>
              <a:ahLst/>
              <a:cxnLst/>
              <a:rect l="l" t="t" r="r" b="b"/>
              <a:pathLst>
                <a:path w="6457313" h="935708">
                  <a:moveTo>
                    <a:pt x="74117" y="0"/>
                  </a:moveTo>
                  <a:lnTo>
                    <a:pt x="6383196" y="0"/>
                  </a:lnTo>
                  <a:cubicBezTo>
                    <a:pt x="6424130" y="0"/>
                    <a:pt x="6457313" y="33184"/>
                    <a:pt x="6457313" y="74117"/>
                  </a:cubicBezTo>
                  <a:lnTo>
                    <a:pt x="6457313" y="861591"/>
                  </a:lnTo>
                  <a:cubicBezTo>
                    <a:pt x="6457313" y="902525"/>
                    <a:pt x="6424130" y="935708"/>
                    <a:pt x="6383196" y="935708"/>
                  </a:cubicBezTo>
                  <a:lnTo>
                    <a:pt x="74117" y="935708"/>
                  </a:lnTo>
                  <a:cubicBezTo>
                    <a:pt x="33184" y="935708"/>
                    <a:pt x="0" y="902525"/>
                    <a:pt x="0" y="861591"/>
                  </a:cubicBezTo>
                  <a:lnTo>
                    <a:pt x="0" y="74117"/>
                  </a:lnTo>
                  <a:cubicBezTo>
                    <a:pt x="0" y="33184"/>
                    <a:pt x="33184" y="0"/>
                    <a:pt x="74117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47" name="Shape 29"/>
            <p:cNvSpPr/>
            <p:nvPr/>
          </p:nvSpPr>
          <p:spPr>
            <a:xfrm>
              <a:off x="310" y="6741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48" name="Text 30"/>
            <p:cNvSpPr/>
            <p:nvPr/>
          </p:nvSpPr>
          <p:spPr>
            <a:xfrm>
              <a:off x="259" y="6741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4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9" name="Text 31"/>
            <p:cNvSpPr/>
            <p:nvPr/>
          </p:nvSpPr>
          <p:spPr>
            <a:xfrm>
              <a:off x="952" y="6770"/>
              <a:ext cx="1996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基础设施层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0" name="Shape 32"/>
            <p:cNvSpPr/>
            <p:nvPr/>
          </p:nvSpPr>
          <p:spPr>
            <a:xfrm>
              <a:off x="310" y="7324"/>
              <a:ext cx="3195" cy="525"/>
            </a:xfrm>
            <a:custGeom>
              <a:avLst/>
              <a:gdLst/>
              <a:ahLst/>
              <a:cxnLst/>
              <a:rect l="l" t="t" r="r" b="b"/>
              <a:pathLst>
                <a:path w="2028912" h="333520">
                  <a:moveTo>
                    <a:pt x="37057" y="0"/>
                  </a:moveTo>
                  <a:lnTo>
                    <a:pt x="1991854" y="0"/>
                  </a:lnTo>
                  <a:cubicBezTo>
                    <a:pt x="2012321" y="0"/>
                    <a:pt x="2028912" y="16591"/>
                    <a:pt x="2028912" y="37057"/>
                  </a:cubicBezTo>
                  <a:lnTo>
                    <a:pt x="2028912" y="296462"/>
                  </a:lnTo>
                  <a:cubicBezTo>
                    <a:pt x="2028912" y="316929"/>
                    <a:pt x="2012321" y="333520"/>
                    <a:pt x="1991854" y="333520"/>
                  </a:cubicBezTo>
                  <a:lnTo>
                    <a:pt x="37057" y="333520"/>
                  </a:lnTo>
                  <a:cubicBezTo>
                    <a:pt x="16605" y="333520"/>
                    <a:pt x="0" y="316915"/>
                    <a:pt x="0" y="296462"/>
                  </a:cubicBezTo>
                  <a:lnTo>
                    <a:pt x="0" y="37057"/>
                  </a:lnTo>
                  <a:cubicBezTo>
                    <a:pt x="0" y="16605"/>
                    <a:pt x="16605" y="0"/>
                    <a:pt x="37057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50000"/>
              </a:schemeClr>
            </a:solidFill>
          </p:spPr>
        </p:sp>
        <p:sp>
          <p:nvSpPr>
            <p:cNvPr id="51" name="Text 33"/>
            <p:cNvSpPr/>
            <p:nvPr/>
          </p:nvSpPr>
          <p:spPr>
            <a:xfrm>
              <a:off x="376" y="7441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MongoDB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2" name="Shape 34"/>
            <p:cNvSpPr/>
            <p:nvPr/>
          </p:nvSpPr>
          <p:spPr>
            <a:xfrm>
              <a:off x="3616" y="7324"/>
              <a:ext cx="3195" cy="525"/>
            </a:xfrm>
            <a:custGeom>
              <a:avLst/>
              <a:gdLst/>
              <a:ahLst/>
              <a:cxnLst/>
              <a:rect l="l" t="t" r="r" b="b"/>
              <a:pathLst>
                <a:path w="2028912" h="333520">
                  <a:moveTo>
                    <a:pt x="37057" y="0"/>
                  </a:moveTo>
                  <a:lnTo>
                    <a:pt x="1991854" y="0"/>
                  </a:lnTo>
                  <a:cubicBezTo>
                    <a:pt x="2012321" y="0"/>
                    <a:pt x="2028912" y="16591"/>
                    <a:pt x="2028912" y="37057"/>
                  </a:cubicBezTo>
                  <a:lnTo>
                    <a:pt x="2028912" y="296462"/>
                  </a:lnTo>
                  <a:cubicBezTo>
                    <a:pt x="2028912" y="316929"/>
                    <a:pt x="2012321" y="333520"/>
                    <a:pt x="1991854" y="333520"/>
                  </a:cubicBezTo>
                  <a:lnTo>
                    <a:pt x="37057" y="333520"/>
                  </a:lnTo>
                  <a:cubicBezTo>
                    <a:pt x="16605" y="333520"/>
                    <a:pt x="0" y="316915"/>
                    <a:pt x="0" y="296462"/>
                  </a:cubicBezTo>
                  <a:lnTo>
                    <a:pt x="0" y="37057"/>
                  </a:lnTo>
                  <a:cubicBezTo>
                    <a:pt x="0" y="16605"/>
                    <a:pt x="16605" y="0"/>
                    <a:pt x="37057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50000"/>
              </a:schemeClr>
            </a:solidFill>
          </p:spPr>
        </p:sp>
        <p:sp>
          <p:nvSpPr>
            <p:cNvPr id="53" name="Text 35"/>
            <p:cNvSpPr/>
            <p:nvPr/>
          </p:nvSpPr>
          <p:spPr>
            <a:xfrm>
              <a:off x="3682" y="7441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Redis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4" name="Shape 36"/>
            <p:cNvSpPr/>
            <p:nvPr/>
          </p:nvSpPr>
          <p:spPr>
            <a:xfrm>
              <a:off x="6922" y="7324"/>
              <a:ext cx="3195" cy="525"/>
            </a:xfrm>
            <a:custGeom>
              <a:avLst/>
              <a:gdLst/>
              <a:ahLst/>
              <a:cxnLst/>
              <a:rect l="l" t="t" r="r" b="b"/>
              <a:pathLst>
                <a:path w="2028912" h="333520">
                  <a:moveTo>
                    <a:pt x="37057" y="0"/>
                  </a:moveTo>
                  <a:lnTo>
                    <a:pt x="1991854" y="0"/>
                  </a:lnTo>
                  <a:cubicBezTo>
                    <a:pt x="2012321" y="0"/>
                    <a:pt x="2028912" y="16591"/>
                    <a:pt x="2028912" y="37057"/>
                  </a:cubicBezTo>
                  <a:lnTo>
                    <a:pt x="2028912" y="296462"/>
                  </a:lnTo>
                  <a:cubicBezTo>
                    <a:pt x="2028912" y="316929"/>
                    <a:pt x="2012321" y="333520"/>
                    <a:pt x="1991854" y="333520"/>
                  </a:cubicBezTo>
                  <a:lnTo>
                    <a:pt x="37057" y="333520"/>
                  </a:lnTo>
                  <a:cubicBezTo>
                    <a:pt x="16605" y="333520"/>
                    <a:pt x="0" y="316915"/>
                    <a:pt x="0" y="296462"/>
                  </a:cubicBezTo>
                  <a:lnTo>
                    <a:pt x="0" y="37057"/>
                  </a:lnTo>
                  <a:cubicBezTo>
                    <a:pt x="0" y="16605"/>
                    <a:pt x="16605" y="0"/>
                    <a:pt x="37057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50000"/>
              </a:schemeClr>
            </a:solidFill>
          </p:spPr>
        </p:sp>
        <p:sp>
          <p:nvSpPr>
            <p:cNvPr id="55" name="Text 37"/>
            <p:cNvSpPr/>
            <p:nvPr/>
          </p:nvSpPr>
          <p:spPr>
            <a:xfrm>
              <a:off x="6987" y="7441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文件系统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5331500" y="471687"/>
            <a:ext cx="3782046" cy="4619138"/>
            <a:chOff x="11500" y="1875"/>
            <a:chExt cx="7105" cy="8914"/>
          </a:xfrm>
        </p:grpSpPr>
        <p:sp>
          <p:nvSpPr>
            <p:cNvPr id="56" name="Shape 38"/>
            <p:cNvSpPr/>
            <p:nvPr/>
          </p:nvSpPr>
          <p:spPr>
            <a:xfrm>
              <a:off x="11500" y="1875"/>
              <a:ext cx="7105" cy="5850"/>
            </a:xfrm>
            <a:custGeom>
              <a:avLst/>
              <a:gdLst/>
              <a:ahLst/>
              <a:cxnLst/>
              <a:rect l="l" t="t" r="r" b="b"/>
              <a:pathLst>
                <a:path w="4511781" h="3715040">
                  <a:moveTo>
                    <a:pt x="111191" y="0"/>
                  </a:moveTo>
                  <a:lnTo>
                    <a:pt x="4400590" y="0"/>
                  </a:lnTo>
                  <a:cubicBezTo>
                    <a:pt x="4461999" y="0"/>
                    <a:pt x="4511781" y="49782"/>
                    <a:pt x="4511781" y="111191"/>
                  </a:cubicBezTo>
                  <a:lnTo>
                    <a:pt x="4511781" y="3603848"/>
                  </a:lnTo>
                  <a:cubicBezTo>
                    <a:pt x="4511781" y="3665258"/>
                    <a:pt x="4461999" y="3715040"/>
                    <a:pt x="4400590" y="3715040"/>
                  </a:cubicBezTo>
                  <a:lnTo>
                    <a:pt x="111191" y="3715040"/>
                  </a:lnTo>
                  <a:cubicBezTo>
                    <a:pt x="49782" y="3715040"/>
                    <a:pt x="0" y="3665258"/>
                    <a:pt x="0" y="3603848"/>
                  </a:cubicBezTo>
                  <a:lnTo>
                    <a:pt x="0" y="111191"/>
                  </a:lnTo>
                  <a:cubicBezTo>
                    <a:pt x="0" y="49782"/>
                    <a:pt x="49782" y="0"/>
                    <a:pt x="111191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57" name="Shape 39"/>
            <p:cNvSpPr/>
            <p:nvPr/>
          </p:nvSpPr>
          <p:spPr>
            <a:xfrm>
              <a:off x="11796" y="2174"/>
              <a:ext cx="255" cy="292"/>
            </a:xfrm>
            <a:custGeom>
              <a:avLst/>
              <a:gdLst/>
              <a:ahLst/>
              <a:cxnLst/>
              <a:rect l="l" t="t" r="r" b="b"/>
              <a:pathLst>
                <a:path w="162128" h="185289">
                  <a:moveTo>
                    <a:pt x="162128" y="74477"/>
                  </a:moveTo>
                  <a:cubicBezTo>
                    <a:pt x="156772" y="78024"/>
                    <a:pt x="150619" y="80883"/>
                    <a:pt x="144214" y="83163"/>
                  </a:cubicBezTo>
                  <a:cubicBezTo>
                    <a:pt x="127205" y="89243"/>
                    <a:pt x="104876" y="92644"/>
                    <a:pt x="81064" y="92644"/>
                  </a:cubicBezTo>
                  <a:cubicBezTo>
                    <a:pt x="57251" y="92644"/>
                    <a:pt x="34886" y="89206"/>
                    <a:pt x="17914" y="83163"/>
                  </a:cubicBezTo>
                  <a:cubicBezTo>
                    <a:pt x="11544" y="80883"/>
                    <a:pt x="5356" y="78024"/>
                    <a:pt x="0" y="74477"/>
                  </a:cubicBezTo>
                  <a:lnTo>
                    <a:pt x="0" y="104225"/>
                  </a:lnTo>
                  <a:cubicBezTo>
                    <a:pt x="0" y="120221"/>
                    <a:pt x="36298" y="133176"/>
                    <a:pt x="81064" y="133176"/>
                  </a:cubicBezTo>
                  <a:cubicBezTo>
                    <a:pt x="125830" y="133176"/>
                    <a:pt x="162128" y="120221"/>
                    <a:pt x="162128" y="104225"/>
                  </a:cubicBezTo>
                  <a:lnTo>
                    <a:pt x="162128" y="74477"/>
                  </a:lnTo>
                  <a:close/>
                  <a:moveTo>
                    <a:pt x="162128" y="46322"/>
                  </a:moveTo>
                  <a:lnTo>
                    <a:pt x="162128" y="28951"/>
                  </a:lnTo>
                  <a:cubicBezTo>
                    <a:pt x="162128" y="12956"/>
                    <a:pt x="125830" y="0"/>
                    <a:pt x="81064" y="0"/>
                  </a:cubicBezTo>
                  <a:cubicBezTo>
                    <a:pt x="36298" y="0"/>
                    <a:pt x="0" y="12956"/>
                    <a:pt x="0" y="28951"/>
                  </a:cubicBezTo>
                  <a:lnTo>
                    <a:pt x="0" y="46322"/>
                  </a:lnTo>
                  <a:cubicBezTo>
                    <a:pt x="0" y="62318"/>
                    <a:pt x="36298" y="75274"/>
                    <a:pt x="81064" y="75274"/>
                  </a:cubicBezTo>
                  <a:cubicBezTo>
                    <a:pt x="125830" y="75274"/>
                    <a:pt x="162128" y="62318"/>
                    <a:pt x="162128" y="46322"/>
                  </a:cubicBezTo>
                  <a:close/>
                  <a:moveTo>
                    <a:pt x="144214" y="141066"/>
                  </a:moveTo>
                  <a:cubicBezTo>
                    <a:pt x="127241" y="147109"/>
                    <a:pt x="104913" y="150547"/>
                    <a:pt x="81064" y="150547"/>
                  </a:cubicBezTo>
                  <a:cubicBezTo>
                    <a:pt x="57215" y="150547"/>
                    <a:pt x="34886" y="147109"/>
                    <a:pt x="17914" y="141066"/>
                  </a:cubicBezTo>
                  <a:cubicBezTo>
                    <a:pt x="11544" y="138786"/>
                    <a:pt x="5356" y="135927"/>
                    <a:pt x="0" y="132380"/>
                  </a:cubicBezTo>
                  <a:lnTo>
                    <a:pt x="0" y="156337"/>
                  </a:lnTo>
                  <a:cubicBezTo>
                    <a:pt x="0" y="172333"/>
                    <a:pt x="36298" y="185289"/>
                    <a:pt x="81064" y="185289"/>
                  </a:cubicBezTo>
                  <a:cubicBezTo>
                    <a:pt x="125830" y="185289"/>
                    <a:pt x="162128" y="172333"/>
                    <a:pt x="162128" y="156337"/>
                  </a:cubicBezTo>
                  <a:lnTo>
                    <a:pt x="162128" y="132380"/>
                  </a:lnTo>
                  <a:cubicBezTo>
                    <a:pt x="156772" y="135927"/>
                    <a:pt x="150619" y="138786"/>
                    <a:pt x="144214" y="141066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58" name="Text 40"/>
            <p:cNvSpPr/>
            <p:nvPr/>
          </p:nvSpPr>
          <p:spPr>
            <a:xfrm>
              <a:off x="12106" y="2116"/>
              <a:ext cx="6405" cy="40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6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数据流程设计</a:t>
              </a:r>
              <a:endParaRPr lang="en-US" sz="146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9" name="Shape 41"/>
            <p:cNvSpPr/>
            <p:nvPr/>
          </p:nvSpPr>
          <p:spPr>
            <a:xfrm>
              <a:off x="11741" y="2699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60" name="Shape 42"/>
            <p:cNvSpPr/>
            <p:nvPr/>
          </p:nvSpPr>
          <p:spPr>
            <a:xfrm>
              <a:off x="11945" y="2933"/>
              <a:ext cx="233" cy="233"/>
            </a:xfrm>
            <a:custGeom>
              <a:avLst/>
              <a:gdLst/>
              <a:ahLst/>
              <a:cxnLst/>
              <a:rect l="l" t="t" r="r" b="b"/>
              <a:pathLst>
                <a:path w="148231" h="148231">
                  <a:moveTo>
                    <a:pt x="67312" y="1505"/>
                  </a:moveTo>
                  <a:cubicBezTo>
                    <a:pt x="71626" y="-492"/>
                    <a:pt x="76605" y="-492"/>
                    <a:pt x="80919" y="1505"/>
                  </a:cubicBezTo>
                  <a:lnTo>
                    <a:pt x="144207" y="30746"/>
                  </a:lnTo>
                  <a:cubicBezTo>
                    <a:pt x="146668" y="31875"/>
                    <a:pt x="148231" y="34336"/>
                    <a:pt x="148231" y="37058"/>
                  </a:cubicBezTo>
                  <a:cubicBezTo>
                    <a:pt x="148231" y="39779"/>
                    <a:pt x="146668" y="42240"/>
                    <a:pt x="144207" y="43369"/>
                  </a:cubicBezTo>
                  <a:lnTo>
                    <a:pt x="80919" y="72610"/>
                  </a:lnTo>
                  <a:cubicBezTo>
                    <a:pt x="76605" y="74608"/>
                    <a:pt x="71626" y="74608"/>
                    <a:pt x="67312" y="72610"/>
                  </a:cubicBezTo>
                  <a:lnTo>
                    <a:pt x="4024" y="43369"/>
                  </a:lnTo>
                  <a:cubicBezTo>
                    <a:pt x="1563" y="42211"/>
                    <a:pt x="0" y="39750"/>
                    <a:pt x="0" y="37058"/>
                  </a:cubicBezTo>
                  <a:cubicBezTo>
                    <a:pt x="0" y="34365"/>
                    <a:pt x="1563" y="31875"/>
                    <a:pt x="4024" y="30746"/>
                  </a:cubicBezTo>
                  <a:lnTo>
                    <a:pt x="67312" y="1505"/>
                  </a:lnTo>
                  <a:close/>
                  <a:moveTo>
                    <a:pt x="13926" y="63230"/>
                  </a:moveTo>
                  <a:lnTo>
                    <a:pt x="61493" y="85204"/>
                  </a:lnTo>
                  <a:cubicBezTo>
                    <a:pt x="69512" y="88910"/>
                    <a:pt x="78748" y="88910"/>
                    <a:pt x="86767" y="85204"/>
                  </a:cubicBezTo>
                  <a:lnTo>
                    <a:pt x="134334" y="63230"/>
                  </a:lnTo>
                  <a:lnTo>
                    <a:pt x="144207" y="67804"/>
                  </a:lnTo>
                  <a:cubicBezTo>
                    <a:pt x="146668" y="68933"/>
                    <a:pt x="148231" y="71394"/>
                    <a:pt x="148231" y="74116"/>
                  </a:cubicBezTo>
                  <a:cubicBezTo>
                    <a:pt x="148231" y="76837"/>
                    <a:pt x="146668" y="79298"/>
                    <a:pt x="144207" y="80427"/>
                  </a:cubicBezTo>
                  <a:lnTo>
                    <a:pt x="80919" y="109668"/>
                  </a:lnTo>
                  <a:cubicBezTo>
                    <a:pt x="76605" y="111665"/>
                    <a:pt x="71626" y="111665"/>
                    <a:pt x="67312" y="109668"/>
                  </a:cubicBezTo>
                  <a:lnTo>
                    <a:pt x="4024" y="80427"/>
                  </a:lnTo>
                  <a:cubicBezTo>
                    <a:pt x="1563" y="79269"/>
                    <a:pt x="0" y="76808"/>
                    <a:pt x="0" y="74116"/>
                  </a:cubicBezTo>
                  <a:cubicBezTo>
                    <a:pt x="0" y="71423"/>
                    <a:pt x="1563" y="68933"/>
                    <a:pt x="4024" y="67804"/>
                  </a:cubicBezTo>
                  <a:lnTo>
                    <a:pt x="13897" y="63230"/>
                  </a:lnTo>
                  <a:close/>
                  <a:moveTo>
                    <a:pt x="4024" y="104862"/>
                  </a:moveTo>
                  <a:lnTo>
                    <a:pt x="13897" y="100288"/>
                  </a:lnTo>
                  <a:lnTo>
                    <a:pt x="61464" y="122262"/>
                  </a:lnTo>
                  <a:cubicBezTo>
                    <a:pt x="69483" y="125967"/>
                    <a:pt x="78719" y="125967"/>
                    <a:pt x="86738" y="122262"/>
                  </a:cubicBezTo>
                  <a:lnTo>
                    <a:pt x="134305" y="100288"/>
                  </a:lnTo>
                  <a:lnTo>
                    <a:pt x="144178" y="104862"/>
                  </a:lnTo>
                  <a:cubicBezTo>
                    <a:pt x="146639" y="105991"/>
                    <a:pt x="148202" y="108452"/>
                    <a:pt x="148202" y="111173"/>
                  </a:cubicBezTo>
                  <a:cubicBezTo>
                    <a:pt x="148202" y="113895"/>
                    <a:pt x="146639" y="116356"/>
                    <a:pt x="144178" y="117485"/>
                  </a:cubicBezTo>
                  <a:lnTo>
                    <a:pt x="80890" y="146726"/>
                  </a:lnTo>
                  <a:cubicBezTo>
                    <a:pt x="76576" y="148723"/>
                    <a:pt x="71597" y="148723"/>
                    <a:pt x="67283" y="146726"/>
                  </a:cubicBezTo>
                  <a:lnTo>
                    <a:pt x="4024" y="117485"/>
                  </a:lnTo>
                  <a:cubicBezTo>
                    <a:pt x="1563" y="116327"/>
                    <a:pt x="0" y="113866"/>
                    <a:pt x="0" y="111173"/>
                  </a:cubicBezTo>
                  <a:cubicBezTo>
                    <a:pt x="0" y="108481"/>
                    <a:pt x="1563" y="105991"/>
                    <a:pt x="4024" y="104862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61" name="Text 43"/>
            <p:cNvSpPr/>
            <p:nvPr/>
          </p:nvSpPr>
          <p:spPr>
            <a:xfrm>
              <a:off x="12324" y="2874"/>
              <a:ext cx="1962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多级缓存机制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2" name="Text 44"/>
            <p:cNvSpPr/>
            <p:nvPr/>
          </p:nvSpPr>
          <p:spPr>
            <a:xfrm>
              <a:off x="11916" y="3341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L1内存→L2 Redis→L3 MongoDB,性能提升10倍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3" name="Shape 45"/>
            <p:cNvSpPr/>
            <p:nvPr/>
          </p:nvSpPr>
          <p:spPr>
            <a:xfrm>
              <a:off x="11741" y="3925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64" name="Shape 46"/>
            <p:cNvSpPr/>
            <p:nvPr/>
          </p:nvSpPr>
          <p:spPr>
            <a:xfrm>
              <a:off x="11945" y="4158"/>
              <a:ext cx="233" cy="233"/>
            </a:xfrm>
            <a:custGeom>
              <a:avLst/>
              <a:gdLst/>
              <a:ahLst/>
              <a:cxnLst/>
              <a:rect l="l" t="t" r="r" b="b"/>
              <a:pathLst>
                <a:path w="148231" h="148231">
                  <a:moveTo>
                    <a:pt x="38737" y="10509"/>
                  </a:moveTo>
                  <a:cubicBezTo>
                    <a:pt x="41893" y="12710"/>
                    <a:pt x="42645" y="17052"/>
                    <a:pt x="40445" y="20179"/>
                  </a:cubicBezTo>
                  <a:lnTo>
                    <a:pt x="24232" y="43340"/>
                  </a:lnTo>
                  <a:cubicBezTo>
                    <a:pt x="23045" y="45019"/>
                    <a:pt x="21192" y="46091"/>
                    <a:pt x="19137" y="46264"/>
                  </a:cubicBezTo>
                  <a:cubicBezTo>
                    <a:pt x="17081" y="46438"/>
                    <a:pt x="15055" y="45743"/>
                    <a:pt x="13607" y="44296"/>
                  </a:cubicBezTo>
                  <a:lnTo>
                    <a:pt x="2027" y="32715"/>
                  </a:lnTo>
                  <a:cubicBezTo>
                    <a:pt x="-666" y="29994"/>
                    <a:pt x="-666" y="25593"/>
                    <a:pt x="2027" y="22872"/>
                  </a:cubicBezTo>
                  <a:cubicBezTo>
                    <a:pt x="4719" y="20150"/>
                    <a:pt x="9149" y="20179"/>
                    <a:pt x="11870" y="22872"/>
                  </a:cubicBezTo>
                  <a:lnTo>
                    <a:pt x="17602" y="28604"/>
                  </a:lnTo>
                  <a:lnTo>
                    <a:pt x="29067" y="12217"/>
                  </a:lnTo>
                  <a:cubicBezTo>
                    <a:pt x="31267" y="9062"/>
                    <a:pt x="35610" y="8309"/>
                    <a:pt x="38737" y="10509"/>
                  </a:cubicBezTo>
                  <a:close/>
                  <a:moveTo>
                    <a:pt x="38737" y="56832"/>
                  </a:moveTo>
                  <a:cubicBezTo>
                    <a:pt x="41893" y="59032"/>
                    <a:pt x="42645" y="63375"/>
                    <a:pt x="40445" y="66501"/>
                  </a:cubicBezTo>
                  <a:lnTo>
                    <a:pt x="24232" y="89662"/>
                  </a:lnTo>
                  <a:cubicBezTo>
                    <a:pt x="23045" y="91342"/>
                    <a:pt x="21192" y="92413"/>
                    <a:pt x="19137" y="92586"/>
                  </a:cubicBezTo>
                  <a:cubicBezTo>
                    <a:pt x="17081" y="92760"/>
                    <a:pt x="15055" y="92065"/>
                    <a:pt x="13607" y="90618"/>
                  </a:cubicBezTo>
                  <a:lnTo>
                    <a:pt x="2027" y="79037"/>
                  </a:lnTo>
                  <a:cubicBezTo>
                    <a:pt x="-695" y="76316"/>
                    <a:pt x="-695" y="71915"/>
                    <a:pt x="2027" y="69223"/>
                  </a:cubicBezTo>
                  <a:cubicBezTo>
                    <a:pt x="4748" y="66530"/>
                    <a:pt x="9149" y="66501"/>
                    <a:pt x="11841" y="69223"/>
                  </a:cubicBezTo>
                  <a:lnTo>
                    <a:pt x="17573" y="74955"/>
                  </a:lnTo>
                  <a:lnTo>
                    <a:pt x="29038" y="58569"/>
                  </a:lnTo>
                  <a:cubicBezTo>
                    <a:pt x="31239" y="55413"/>
                    <a:pt x="35581" y="54660"/>
                    <a:pt x="38708" y="56860"/>
                  </a:cubicBezTo>
                  <a:close/>
                  <a:moveTo>
                    <a:pt x="64851" y="27793"/>
                  </a:moveTo>
                  <a:cubicBezTo>
                    <a:pt x="64851" y="22669"/>
                    <a:pt x="68991" y="18529"/>
                    <a:pt x="74116" y="18529"/>
                  </a:cubicBezTo>
                  <a:lnTo>
                    <a:pt x="138967" y="18529"/>
                  </a:lnTo>
                  <a:cubicBezTo>
                    <a:pt x="144091" y="18529"/>
                    <a:pt x="148231" y="22669"/>
                    <a:pt x="148231" y="27793"/>
                  </a:cubicBezTo>
                  <a:cubicBezTo>
                    <a:pt x="148231" y="32918"/>
                    <a:pt x="144091" y="37058"/>
                    <a:pt x="138967" y="37058"/>
                  </a:cubicBezTo>
                  <a:lnTo>
                    <a:pt x="74116" y="37058"/>
                  </a:lnTo>
                  <a:cubicBezTo>
                    <a:pt x="68991" y="37058"/>
                    <a:pt x="64851" y="32918"/>
                    <a:pt x="64851" y="27793"/>
                  </a:cubicBezTo>
                  <a:close/>
                  <a:moveTo>
                    <a:pt x="64851" y="74116"/>
                  </a:moveTo>
                  <a:cubicBezTo>
                    <a:pt x="64851" y="68991"/>
                    <a:pt x="68991" y="64851"/>
                    <a:pt x="74116" y="64851"/>
                  </a:cubicBezTo>
                  <a:lnTo>
                    <a:pt x="138967" y="64851"/>
                  </a:lnTo>
                  <a:cubicBezTo>
                    <a:pt x="144091" y="64851"/>
                    <a:pt x="148231" y="68991"/>
                    <a:pt x="148231" y="74116"/>
                  </a:cubicBezTo>
                  <a:cubicBezTo>
                    <a:pt x="148231" y="79240"/>
                    <a:pt x="144091" y="83380"/>
                    <a:pt x="138967" y="83380"/>
                  </a:cubicBezTo>
                  <a:lnTo>
                    <a:pt x="74116" y="83380"/>
                  </a:lnTo>
                  <a:cubicBezTo>
                    <a:pt x="68991" y="83380"/>
                    <a:pt x="64851" y="79240"/>
                    <a:pt x="64851" y="74116"/>
                  </a:cubicBezTo>
                  <a:close/>
                  <a:moveTo>
                    <a:pt x="46322" y="120438"/>
                  </a:moveTo>
                  <a:cubicBezTo>
                    <a:pt x="46322" y="115313"/>
                    <a:pt x="50462" y="111173"/>
                    <a:pt x="55587" y="111173"/>
                  </a:cubicBezTo>
                  <a:lnTo>
                    <a:pt x="138967" y="111173"/>
                  </a:lnTo>
                  <a:cubicBezTo>
                    <a:pt x="144091" y="111173"/>
                    <a:pt x="148231" y="115313"/>
                    <a:pt x="148231" y="120438"/>
                  </a:cubicBezTo>
                  <a:cubicBezTo>
                    <a:pt x="148231" y="125562"/>
                    <a:pt x="144091" y="129702"/>
                    <a:pt x="138967" y="129702"/>
                  </a:cubicBezTo>
                  <a:lnTo>
                    <a:pt x="55587" y="129702"/>
                  </a:lnTo>
                  <a:cubicBezTo>
                    <a:pt x="50462" y="129702"/>
                    <a:pt x="46322" y="125562"/>
                    <a:pt x="46322" y="120438"/>
                  </a:cubicBezTo>
                  <a:close/>
                  <a:moveTo>
                    <a:pt x="18529" y="108857"/>
                  </a:moveTo>
                  <a:cubicBezTo>
                    <a:pt x="24920" y="108857"/>
                    <a:pt x="30109" y="114046"/>
                    <a:pt x="30109" y="120438"/>
                  </a:cubicBezTo>
                  <a:cubicBezTo>
                    <a:pt x="30109" y="126829"/>
                    <a:pt x="24920" y="132018"/>
                    <a:pt x="18529" y="132018"/>
                  </a:cubicBezTo>
                  <a:cubicBezTo>
                    <a:pt x="12137" y="132018"/>
                    <a:pt x="6948" y="126829"/>
                    <a:pt x="6948" y="120438"/>
                  </a:cubicBezTo>
                  <a:cubicBezTo>
                    <a:pt x="6948" y="114046"/>
                    <a:pt x="12137" y="108857"/>
                    <a:pt x="18529" y="10885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65" name="Text 47"/>
            <p:cNvSpPr/>
            <p:nvPr/>
          </p:nvSpPr>
          <p:spPr>
            <a:xfrm>
              <a:off x="12324" y="4100"/>
              <a:ext cx="2114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任务队列管理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6" name="Text 48"/>
            <p:cNvSpPr/>
            <p:nvPr/>
          </p:nvSpPr>
          <p:spPr>
            <a:xfrm>
              <a:off x="11916" y="4567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Redis队列+Worker进程,支持高并发处理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7" name="Shape 49"/>
            <p:cNvSpPr/>
            <p:nvPr/>
          </p:nvSpPr>
          <p:spPr>
            <a:xfrm>
              <a:off x="11741" y="5150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68" name="Shape 50"/>
            <p:cNvSpPr/>
            <p:nvPr/>
          </p:nvSpPr>
          <p:spPr>
            <a:xfrm>
              <a:off x="11945" y="5384"/>
              <a:ext cx="233" cy="233"/>
            </a:xfrm>
            <a:custGeom>
              <a:avLst/>
              <a:gdLst/>
              <a:ahLst/>
              <a:cxnLst/>
              <a:rect l="l" t="t" r="r" b="b"/>
              <a:pathLst>
                <a:path w="148231" h="148231">
                  <a:moveTo>
                    <a:pt x="74116" y="0"/>
                  </a:moveTo>
                  <a:cubicBezTo>
                    <a:pt x="75447" y="0"/>
                    <a:pt x="76779" y="290"/>
                    <a:pt x="77995" y="840"/>
                  </a:cubicBezTo>
                  <a:lnTo>
                    <a:pt x="132539" y="23972"/>
                  </a:lnTo>
                  <a:cubicBezTo>
                    <a:pt x="138909" y="26664"/>
                    <a:pt x="143657" y="32947"/>
                    <a:pt x="143628" y="40532"/>
                  </a:cubicBezTo>
                  <a:cubicBezTo>
                    <a:pt x="143483" y="69252"/>
                    <a:pt x="131671" y="121798"/>
                    <a:pt x="81788" y="145683"/>
                  </a:cubicBezTo>
                  <a:cubicBezTo>
                    <a:pt x="76953" y="147999"/>
                    <a:pt x="71336" y="147999"/>
                    <a:pt x="66501" y="145683"/>
                  </a:cubicBezTo>
                  <a:cubicBezTo>
                    <a:pt x="16589" y="121798"/>
                    <a:pt x="4806" y="69252"/>
                    <a:pt x="4661" y="40532"/>
                  </a:cubicBezTo>
                  <a:cubicBezTo>
                    <a:pt x="4632" y="32947"/>
                    <a:pt x="9380" y="26664"/>
                    <a:pt x="15750" y="23972"/>
                  </a:cubicBezTo>
                  <a:lnTo>
                    <a:pt x="70265" y="840"/>
                  </a:lnTo>
                  <a:cubicBezTo>
                    <a:pt x="71481" y="290"/>
                    <a:pt x="72784" y="0"/>
                    <a:pt x="74116" y="0"/>
                  </a:cubicBezTo>
                  <a:close/>
                  <a:moveTo>
                    <a:pt x="74116" y="19340"/>
                  </a:moveTo>
                  <a:lnTo>
                    <a:pt x="74116" y="128805"/>
                  </a:lnTo>
                  <a:cubicBezTo>
                    <a:pt x="114068" y="109465"/>
                    <a:pt x="124809" y="66617"/>
                    <a:pt x="125070" y="40966"/>
                  </a:cubicBezTo>
                  <a:lnTo>
                    <a:pt x="74116" y="19368"/>
                  </a:lnTo>
                  <a:lnTo>
                    <a:pt x="74116" y="19368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69" name="Text 51"/>
            <p:cNvSpPr/>
            <p:nvPr/>
          </p:nvSpPr>
          <p:spPr>
            <a:xfrm>
              <a:off x="12324" y="5326"/>
              <a:ext cx="2184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数据质量保障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0" name="Text 52"/>
            <p:cNvSpPr/>
            <p:nvPr/>
          </p:nvSpPr>
          <p:spPr>
            <a:xfrm>
              <a:off x="11916" y="5792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验证→清洗→标准化,降级策略保障可用性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1" name="Shape 53"/>
            <p:cNvSpPr/>
            <p:nvPr/>
          </p:nvSpPr>
          <p:spPr>
            <a:xfrm>
              <a:off x="11741" y="6376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72" name="Shape 54"/>
            <p:cNvSpPr/>
            <p:nvPr/>
          </p:nvSpPr>
          <p:spPr>
            <a:xfrm>
              <a:off x="11960" y="6609"/>
              <a:ext cx="204" cy="233"/>
            </a:xfrm>
            <a:custGeom>
              <a:avLst/>
              <a:gdLst/>
              <a:ahLst/>
              <a:cxnLst/>
              <a:rect l="l" t="t" r="r" b="b"/>
              <a:pathLst>
                <a:path w="129702" h="148231">
                  <a:moveTo>
                    <a:pt x="98087" y="-2866"/>
                  </a:moveTo>
                  <a:cubicBezTo>
                    <a:pt x="101532" y="-376"/>
                    <a:pt x="102806" y="4140"/>
                    <a:pt x="101243" y="8077"/>
                  </a:cubicBezTo>
                  <a:lnTo>
                    <a:pt x="78545" y="64851"/>
                  </a:lnTo>
                  <a:lnTo>
                    <a:pt x="120438" y="64851"/>
                  </a:lnTo>
                  <a:cubicBezTo>
                    <a:pt x="124346" y="64851"/>
                    <a:pt x="127820" y="67283"/>
                    <a:pt x="129152" y="70960"/>
                  </a:cubicBezTo>
                  <a:cubicBezTo>
                    <a:pt x="130484" y="74637"/>
                    <a:pt x="129355" y="78748"/>
                    <a:pt x="126373" y="81238"/>
                  </a:cubicBezTo>
                  <a:lnTo>
                    <a:pt x="42993" y="150721"/>
                  </a:lnTo>
                  <a:cubicBezTo>
                    <a:pt x="39721" y="153442"/>
                    <a:pt x="35060" y="153587"/>
                    <a:pt x="31615" y="151097"/>
                  </a:cubicBezTo>
                  <a:cubicBezTo>
                    <a:pt x="28170" y="148607"/>
                    <a:pt x="26896" y="144091"/>
                    <a:pt x="28459" y="140154"/>
                  </a:cubicBezTo>
                  <a:lnTo>
                    <a:pt x="51157" y="83380"/>
                  </a:lnTo>
                  <a:lnTo>
                    <a:pt x="9264" y="83380"/>
                  </a:lnTo>
                  <a:cubicBezTo>
                    <a:pt x="5356" y="83380"/>
                    <a:pt x="1882" y="80948"/>
                    <a:pt x="550" y="77271"/>
                  </a:cubicBezTo>
                  <a:cubicBezTo>
                    <a:pt x="-782" y="73594"/>
                    <a:pt x="347" y="69483"/>
                    <a:pt x="3329" y="66993"/>
                  </a:cubicBezTo>
                  <a:lnTo>
                    <a:pt x="86709" y="-2490"/>
                  </a:lnTo>
                  <a:cubicBezTo>
                    <a:pt x="89981" y="-5211"/>
                    <a:pt x="94642" y="-5356"/>
                    <a:pt x="98087" y="-2866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73" name="Text 55"/>
            <p:cNvSpPr/>
            <p:nvPr/>
          </p:nvSpPr>
          <p:spPr>
            <a:xfrm>
              <a:off x="12324" y="6551"/>
              <a:ext cx="2114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实时推送机制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4" name="Text 56"/>
            <p:cNvSpPr/>
            <p:nvPr/>
          </p:nvSpPr>
          <p:spPr>
            <a:xfrm>
              <a:off x="11916" y="7018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SSE/WebSocket实时推送分析进度和结果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5" name="Shape 57"/>
            <p:cNvSpPr/>
            <p:nvPr/>
          </p:nvSpPr>
          <p:spPr>
            <a:xfrm>
              <a:off x="11500" y="7915"/>
              <a:ext cx="7105" cy="2874"/>
            </a:xfrm>
            <a:custGeom>
              <a:avLst/>
              <a:gdLst/>
              <a:ahLst/>
              <a:cxnLst/>
              <a:rect l="l" t="t" r="r" b="b"/>
              <a:pathLst>
                <a:path w="4511781" h="1825094">
                  <a:moveTo>
                    <a:pt x="111166" y="0"/>
                  </a:moveTo>
                  <a:lnTo>
                    <a:pt x="4400615" y="0"/>
                  </a:lnTo>
                  <a:cubicBezTo>
                    <a:pt x="4462010" y="0"/>
                    <a:pt x="4511781" y="49771"/>
                    <a:pt x="4511781" y="111166"/>
                  </a:cubicBezTo>
                  <a:lnTo>
                    <a:pt x="4511781" y="1713928"/>
                  </a:lnTo>
                  <a:cubicBezTo>
                    <a:pt x="4511781" y="1775323"/>
                    <a:pt x="4462010" y="1825094"/>
                    <a:pt x="4400615" y="1825094"/>
                  </a:cubicBezTo>
                  <a:lnTo>
                    <a:pt x="111166" y="1825094"/>
                  </a:lnTo>
                  <a:cubicBezTo>
                    <a:pt x="49771" y="1825094"/>
                    <a:pt x="0" y="1775323"/>
                    <a:pt x="0" y="1713928"/>
                  </a:cubicBezTo>
                  <a:lnTo>
                    <a:pt x="0" y="111166"/>
                  </a:lnTo>
                  <a:cubicBezTo>
                    <a:pt x="0" y="49771"/>
                    <a:pt x="49771" y="0"/>
                    <a:pt x="11116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A6C8C">
                    <a:alpha val="20000"/>
                  </a:srgbClr>
                </a:gs>
                <a:gs pos="100000">
                  <a:srgbClr val="8D99AE">
                    <a:alpha val="20000"/>
                  </a:srgbClr>
                </a:gs>
              </a:gsLst>
              <a:lin ang="2700000" scaled="1"/>
            </a:gradFill>
            <a:ln w="12700">
              <a:solidFill>
                <a:srgbClr val="4A6C8C">
                  <a:alpha val="40000"/>
                </a:srgbClr>
              </a:solidFill>
              <a:prstDash val="solid"/>
            </a:ln>
          </p:spPr>
        </p:sp>
        <p:sp>
          <p:nvSpPr>
            <p:cNvPr id="76" name="Text 58"/>
            <p:cNvSpPr/>
            <p:nvPr/>
          </p:nvSpPr>
          <p:spPr>
            <a:xfrm>
              <a:off x="11675" y="8156"/>
              <a:ext cx="6755" cy="40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技术栈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7" name="Text 59"/>
            <p:cNvSpPr/>
            <p:nvPr/>
          </p:nvSpPr>
          <p:spPr>
            <a:xfrm>
              <a:off x="11690" y="8739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Vue 3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8" name="Text 60"/>
            <p:cNvSpPr/>
            <p:nvPr/>
          </p:nvSpPr>
          <p:spPr>
            <a:xfrm>
              <a:off x="11697" y="9031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前端框架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9" name="Text 61"/>
            <p:cNvSpPr/>
            <p:nvPr/>
          </p:nvSpPr>
          <p:spPr>
            <a:xfrm>
              <a:off x="15059" y="8739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FastAPI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0" name="Text 62"/>
            <p:cNvSpPr/>
            <p:nvPr/>
          </p:nvSpPr>
          <p:spPr>
            <a:xfrm>
              <a:off x="15066" y="9031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后端框架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1" name="Text 63"/>
            <p:cNvSpPr/>
            <p:nvPr/>
          </p:nvSpPr>
          <p:spPr>
            <a:xfrm>
              <a:off x="11690" y="9381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MongoDB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2" name="Text 64"/>
            <p:cNvSpPr/>
            <p:nvPr/>
          </p:nvSpPr>
          <p:spPr>
            <a:xfrm>
              <a:off x="11697" y="9673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主数据库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3" name="Text 65"/>
            <p:cNvSpPr/>
            <p:nvPr/>
          </p:nvSpPr>
          <p:spPr>
            <a:xfrm>
              <a:off x="15059" y="9381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Redis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4" name="Text 66"/>
            <p:cNvSpPr/>
            <p:nvPr/>
          </p:nvSpPr>
          <p:spPr>
            <a:xfrm>
              <a:off x="15066" y="9673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缓存队列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5" name="Text 67"/>
            <p:cNvSpPr/>
            <p:nvPr/>
          </p:nvSpPr>
          <p:spPr>
            <a:xfrm>
              <a:off x="11690" y="10023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LangGraph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6" name="Text 68"/>
            <p:cNvSpPr/>
            <p:nvPr/>
          </p:nvSpPr>
          <p:spPr>
            <a:xfrm>
              <a:off x="11697" y="10315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智能体框架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7" name="Text 69"/>
            <p:cNvSpPr/>
            <p:nvPr/>
          </p:nvSpPr>
          <p:spPr>
            <a:xfrm>
              <a:off x="15059" y="10023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LangChain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8" name="Text 70"/>
            <p:cNvSpPr/>
            <p:nvPr/>
          </p:nvSpPr>
          <p:spPr>
            <a:xfrm>
              <a:off x="15066" y="10315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LLM集成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388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核心引擎基于TradingAgents框架，集成LangGraph工作流实现智能体协同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3819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14775" y="2286000"/>
            <a:ext cx="131445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智能决策引擎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762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模块化架构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26770" y="3857625"/>
            <a:ext cx="1183005" cy="8769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支持多智能体分工协作，各模块独立运行并协同处理任务。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6770" y="4733925"/>
            <a:ext cx="1186815" cy="8769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可扩展设计便于集成新功能组件，适应多样化业务需求。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0097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动态调度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209800" y="3862070"/>
            <a:ext cx="1133475" cy="66230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根据任务优先级与资源状态实时调整执行顺序。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209800" y="4530725"/>
            <a:ext cx="1133475" cy="869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实现负载均衡与高效响应，提升系统整体吞吐能力。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432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可视化流程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43300" y="3857625"/>
            <a:ext cx="1209040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基于LangGraph展示工作流结构，直观呈现节点关系。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43300" y="4733925"/>
            <a:ext cx="1209040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精确控制信息传递路径与执行时序，减少逻辑错误。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6767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角色交互机制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76800" y="3857625"/>
            <a:ext cx="1146810" cy="878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图结构定义分析师、研究员、风险官等角色的协作规则。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76800" y="4733925"/>
            <a:ext cx="1146810" cy="66865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推动结构化辩论与意见融合，增强决策合理性。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0102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并行处理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210300" y="3743325"/>
            <a:ext cx="1113155" cy="8686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多个分析任务同时执行，显著缩短整体决策周期。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210300" y="4619625"/>
            <a:ext cx="1113155" cy="8686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支持异步结果汇聚与冲突检测，保障数据一致性。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3437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过程留痕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543800" y="3737610"/>
            <a:ext cx="1241425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完整记录每一步推理与决策依据，实现全程可追溯。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543800" y="4613910"/>
            <a:ext cx="1241425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支持归因分析，快速定位关键影响因素与逻辑节点。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多LLM兼容架构支持OpenAI、DeepSeek、百炼等主流模型灵活切换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1539875" y="213741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571500" y="272796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多模型支持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571500" y="323850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集成OpenAI、DeepSeek、阿里百炼等主流大模型.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按场景智能调度，兼顾性能与成本。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4333875" y="21145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3365500" y="27051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动态切换机制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3402965" y="32385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ctr" fontAlgn="t">
              <a:lnSpc>
                <a:spcPts val="1650"/>
              </a:lnSpc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支持运行时动态切换LLM，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ctr" fontAlgn="t">
              <a:lnSpc>
                <a:spcPts val="1650"/>
              </a:lnSpc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适配不同市场与任务需求，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ctr" fontAlgn="t">
              <a:lnSpc>
                <a:spcPts val="1650"/>
              </a:lnSpc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保障分析连续性与稳定性。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7127875" y="2165985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6159500" y="2756535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标准化接口设计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6652260" y="3138170"/>
            <a:ext cx="241300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抽象统一LLM交互层，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降低耦合度，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便于快速接入新模型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私有化部署环境。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数据流程与智能决策链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聚合Tushare、AKShare、FinnHub等多源数据，构建统一金融知识图谱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847850"/>
            <a:ext cx="2781151" cy="2338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28900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多源异构集成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19412"/>
            <a:ext cx="2076301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整合Tushare、AKShare、BaoStock等A股数据，Yahoo Finance、FinnHub等美股港股源，实现跨市场统一接入。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1847850"/>
            <a:ext cx="2781151" cy="23383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数据融合建模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通过标准化清洗与实体对齐，将财务、行情、新闻等多源数据构建为统一金融知识图谱。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1847850"/>
            <a:ext cx="2781151" cy="23383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智能缓存架构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采用Redis→MongoDB→API三级缓存机制，保障数据实时性与系统高并发下的稳定响应能力。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通过NLP实现新闻事件抽取与社交媒体情绪建模，捕捉非结构化信息价值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400050" y="184785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600075" y="205501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事件智能识别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600075" y="234553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基于NLP技术自动抽取财经新闻中的关键事件，如</a:t>
            </a:r>
            <a:r>
              <a:rPr lang="en-US" sz="105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并购、政策变动、财报发布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，构建结构化事件知识库。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4572000" y="1847850"/>
            <a:ext cx="4171950" cy="140970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5972175" y="21597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多源情绪聚合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5972175" y="24503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</a:t>
            </a:r>
            <a:r>
              <a:rPr lang="en-US" sz="105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微博、雪球、股吧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等社交平台文本，利用情感分析模型生成实时投资者情绪指数。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400050" y="325755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600075" y="35694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影响量化评估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600075" y="38600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</a:t>
            </a:r>
            <a:r>
              <a:rPr lang="en-US" sz="105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历史市场反应，量化新闻与情绪对股价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波动的潜在影响，识别短期驱动因子。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/>
          <a:stretch>
            <a:fillRect/>
          </a:stretch>
        </p:blipFill>
        <p:spPr>
          <a:xfrm>
            <a:off x="4572000" y="3257550"/>
            <a:ext cx="4171950" cy="1409700"/>
          </a:xfrm>
          <a:prstGeom prst="rect">
            <a:avLst/>
          </a:prstGeom>
        </p:spPr>
      </p:pic>
      <p:sp>
        <p:nvSpPr>
          <p:cNvPr id="16" name="Text 9"/>
          <p:cNvSpPr/>
          <p:nvPr>
            <p:custDataLst>
              <p:tags r:id="rId16"/>
            </p:custDataLst>
          </p:nvPr>
        </p:nvSpPr>
        <p:spPr>
          <a:xfrm>
            <a:off x="5972175" y="35694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动态权重融合</a:t>
            </a:r>
            <a:endParaRPr lang="en-US" sz="1200" dirty="0"/>
          </a:p>
        </p:txBody>
      </p:sp>
      <p:sp>
        <p:nvSpPr>
          <p:cNvPr id="17" name="Text 10"/>
          <p:cNvSpPr/>
          <p:nvPr>
            <p:custDataLst>
              <p:tags r:id="rId17"/>
            </p:custDataLst>
          </p:nvPr>
        </p:nvSpPr>
        <p:spPr>
          <a:xfrm>
            <a:off x="5972175" y="38600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在决策链中动态加权</a:t>
            </a:r>
            <a:r>
              <a:rPr lang="en-US" sz="105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消息面与情绪面信号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，提升对市场拐点和热点轮动的响应能力。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决策层融合分析师观点、风险评估与市场信号，生成可追溯的自然语言报告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9875" y="240030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9908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观点融合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32385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整合多智能体并行分析结果，加权汇总看涨与看跌观点，形成平衡判断。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33875" y="240030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29908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风险校准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32385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引入激进、中性、保守三重风险评估模型，动态调整建议的风险等级。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27875" y="240030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29908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报告生成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32385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基于自然语言生成技术输出结构化报告，支持决策过程全程追溯与解释。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项目定位与核心价值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0"/>
            <a:ext cx="9144000" cy="566737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4622" r="4622"/>
          <a:stretch>
            <a:fillRect/>
          </a:stretch>
        </p:blipFill>
        <p:spPr>
          <a:xfrm>
            <a:off x="0" y="-114300"/>
            <a:ext cx="9144000" cy="5667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3630" y="111125"/>
            <a:ext cx="4350385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定位为AI原生金融分析平台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563880" y="1440180"/>
            <a:ext cx="8382000" cy="3648075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963930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AI原生定位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584200" y="1854835"/>
            <a:ext cx="2073910" cy="1504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基于多智能体大语言模型构建AI原生定位，推动金融分析底层架构革新。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该范式融合智能体协同与自然语言理解能力。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实现从技术架构到应用逻辑的全面智能化转型。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2940368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范式智能革新</a:t>
            </a:r>
            <a:endParaRPr lang="en-US" sz="1200" dirty="0"/>
          </a:p>
        </p:txBody>
      </p:sp>
      <p:sp>
        <p:nvSpPr>
          <p:cNvPr id="10" name="Text 6"/>
          <p:cNvSpPr/>
          <p:nvPr>
            <p:custDataLst>
              <p:tags r:id="rId7"/>
            </p:custDataLst>
          </p:nvPr>
        </p:nvSpPr>
        <p:spPr>
          <a:xfrm>
            <a:off x="2940685" y="1854835"/>
            <a:ext cx="1706880" cy="136080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推动金融分析从传统模式向智能化范式跃迁。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重构投研流程的底层逻辑与执行效率。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实现系统自主演进与动态优化能力。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7"/>
          <p:cNvSpPr/>
          <p:nvPr>
            <p:custDataLst>
              <p:tags r:id="rId8"/>
            </p:custDataLst>
          </p:nvPr>
        </p:nvSpPr>
        <p:spPr>
          <a:xfrm>
            <a:off x="4916805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量化人工融合</a:t>
            </a:r>
            <a:endParaRPr lang="en-US" sz="1200" dirty="0"/>
          </a:p>
        </p:txBody>
      </p:sp>
      <p:sp>
        <p:nvSpPr>
          <p:cNvPr id="12" name="Text 8"/>
          <p:cNvSpPr/>
          <p:nvPr>
            <p:custDataLst>
              <p:tags r:id="rId9"/>
            </p:custDataLst>
          </p:nvPr>
        </p:nvSpPr>
        <p:spPr>
          <a:xfrm>
            <a:off x="4916805" y="1854835"/>
            <a:ext cx="1857375" cy="13919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结合量化系统的高效执行与人工投研的深度洞察。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形成优势互补的混合增强智能。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提升策略生成的质量与适应性。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9"/>
          <p:cNvSpPr/>
          <p:nvPr>
            <p:custDataLst>
              <p:tags r:id="rId10"/>
            </p:custDataLst>
          </p:nvPr>
        </p:nvSpPr>
        <p:spPr>
          <a:xfrm>
            <a:off x="6893243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可解释中间路径</a:t>
            </a:r>
            <a:endParaRPr lang="en-US" sz="1200" dirty="0"/>
          </a:p>
        </p:txBody>
      </p:sp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7043420" y="1818005"/>
            <a:ext cx="1826260" cy="134175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开创兼具智能水平与可解释性的分析路径。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填补规则驱动与经验驱动间的空白。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增强模型决策的透明性与可信度。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963930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智能协同机制</a:t>
            </a:r>
            <a:endParaRPr lang="en-US" sz="1200" dirty="0"/>
          </a:p>
        </p:txBody>
      </p:sp>
      <p:sp>
        <p:nvSpPr>
          <p:cNvPr id="16" name="Text 12"/>
          <p:cNvSpPr/>
          <p:nvPr>
            <p:custDataLst>
              <p:tags r:id="rId13"/>
            </p:custDataLst>
          </p:nvPr>
        </p:nvSpPr>
        <p:spPr>
          <a:xfrm>
            <a:off x="683895" y="3869055"/>
            <a:ext cx="183769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多智能体间实现分工协作与信息共享。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通过协同推理提升复杂问题处理能力。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形成类团队化的研究工作流。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3"/>
          <p:cNvSpPr/>
          <p:nvPr>
            <p:custDataLst>
              <p:tags r:id="rId14"/>
            </p:custDataLst>
          </p:nvPr>
        </p:nvSpPr>
        <p:spPr>
          <a:xfrm>
            <a:off x="2940368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自然语言交互</a:t>
            </a:r>
            <a:endParaRPr lang="en-US" sz="1200" dirty="0"/>
          </a:p>
        </p:txBody>
      </p:sp>
      <p:sp>
        <p:nvSpPr>
          <p:cNvPr id="18" name="Text 14"/>
          <p:cNvSpPr/>
          <p:nvPr>
            <p:custDataLst>
              <p:tags r:id="rId15"/>
            </p:custDataLst>
          </p:nvPr>
        </p:nvSpPr>
        <p:spPr>
          <a:xfrm>
            <a:off x="2940685" y="3869055"/>
            <a:ext cx="172212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以自然语言呈现分析过程与逻辑链条。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降低用户理解门槛，提升交互体验。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实现模型思维的可视化表达。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5"/>
          <p:cNvSpPr/>
          <p:nvPr>
            <p:custDataLst>
              <p:tags r:id="rId16"/>
            </p:custDataLst>
          </p:nvPr>
        </p:nvSpPr>
        <p:spPr>
          <a:xfrm>
            <a:off x="4916805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打破黑箱局限</a:t>
            </a:r>
            <a:endParaRPr lang="en-US" sz="1200" dirty="0"/>
          </a:p>
        </p:txBody>
      </p:sp>
      <p:sp>
        <p:nvSpPr>
          <p:cNvPr id="20" name="Text 16"/>
          <p:cNvSpPr/>
          <p:nvPr>
            <p:custDataLst>
              <p:tags r:id="rId17"/>
            </p:custDataLst>
          </p:nvPr>
        </p:nvSpPr>
        <p:spPr>
          <a:xfrm>
            <a:off x="4916805" y="3869055"/>
            <a:ext cx="180721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揭示模型决策背后的依据与推导路径。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避免传统黑箱模型的不可控风险。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增强用户对AI输出的信任感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50" dirty="0"/>
          </a:p>
        </p:txBody>
      </p:sp>
      <p:sp>
        <p:nvSpPr>
          <p:cNvPr id="21" name="Text 17"/>
          <p:cNvSpPr/>
          <p:nvPr>
            <p:custDataLst>
              <p:tags r:id="rId18"/>
            </p:custDataLst>
          </p:nvPr>
        </p:nvSpPr>
        <p:spPr>
          <a:xfrm>
            <a:off x="6893243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决策透明升级</a:t>
            </a:r>
            <a:endParaRPr lang="en-US" sz="1200" dirty="0"/>
          </a:p>
        </p:txBody>
      </p:sp>
      <p:sp>
        <p:nvSpPr>
          <p:cNvPr id="22" name="Text 18"/>
          <p:cNvSpPr/>
          <p:nvPr>
            <p:custDataLst>
              <p:tags r:id="rId19"/>
            </p:custDataLst>
          </p:nvPr>
        </p:nvSpPr>
        <p:spPr>
          <a:xfrm>
            <a:off x="7042785" y="3869055"/>
            <a:ext cx="177609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全面提升投研决策的可追溯性与可控性。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强化人机协同中的主导权与监督力。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推动金融AI向负责任方向发展。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12"/>
          <p:cNvSpPr/>
          <p:nvPr>
            <p:custDataLst>
              <p:tags r:id="rId20"/>
            </p:custDataLst>
          </p:nvPr>
        </p:nvSpPr>
        <p:spPr>
          <a:xfrm>
            <a:off x="683895" y="3869055"/>
            <a:ext cx="183769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多智能体间实现分工协作与信息共享。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通过协同推理提升复杂问题处理能力。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形成类团队化的研究工作流。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14"/>
          <p:cNvSpPr/>
          <p:nvPr>
            <p:custDataLst>
              <p:tags r:id="rId21"/>
            </p:custDataLst>
          </p:nvPr>
        </p:nvSpPr>
        <p:spPr>
          <a:xfrm>
            <a:off x="2940685" y="3869055"/>
            <a:ext cx="172212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以自然语言呈现分析过程与逻辑链条。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降低用户理解门槛，提升交互体验。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实现模型思维的可视化表达。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16"/>
          <p:cNvSpPr/>
          <p:nvPr>
            <p:custDataLst>
              <p:tags r:id="rId22"/>
            </p:custDataLst>
          </p:nvPr>
        </p:nvSpPr>
        <p:spPr>
          <a:xfrm>
            <a:off x="4916805" y="3869055"/>
            <a:ext cx="180721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揭示模型决策背后的依据与推导路径。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避免传统黑箱模型的不可控风险。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增强用户对AI输出的信任感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50" dirty="0"/>
          </a:p>
        </p:txBody>
      </p:sp>
      <p:sp>
        <p:nvSpPr>
          <p:cNvPr id="26" name="Text 12"/>
          <p:cNvSpPr/>
          <p:nvPr>
            <p:custDataLst>
              <p:tags r:id="rId23"/>
            </p:custDataLst>
          </p:nvPr>
        </p:nvSpPr>
        <p:spPr>
          <a:xfrm>
            <a:off x="683895" y="3869055"/>
            <a:ext cx="183769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多智能体间实现分工协作与信息共享。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通过协同推理提升复杂问题处理能力。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形成类团队化的研究工作流。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14"/>
          <p:cNvSpPr/>
          <p:nvPr>
            <p:custDataLst>
              <p:tags r:id="rId24"/>
            </p:custDataLst>
          </p:nvPr>
        </p:nvSpPr>
        <p:spPr>
          <a:xfrm>
            <a:off x="2940685" y="3869055"/>
            <a:ext cx="172212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以自然语言呈现分析过程与逻辑链条。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降低用户理解门槛，提升交互体验。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实现模型思维的可视化表达。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3895" y="709295"/>
            <a:ext cx="7024370" cy="495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ts val="3150"/>
              </a:lnSpc>
              <a:buNone/>
            </a:pPr>
            <a:r>
              <a:rPr 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填补传统量化与人工投研之间的能力鸿沟</a:t>
            </a:r>
            <a:endParaRPr lang="en-US" altLang="en-US" sz="16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/>
          <p:cNvGrpSpPr/>
          <p:nvPr/>
        </p:nvGrpSpPr>
        <p:grpSpPr>
          <a:xfrm>
            <a:off x="342941" y="167567"/>
            <a:ext cx="8801370" cy="5047123"/>
            <a:chOff x="540" y="286"/>
            <a:chExt cx="18115" cy="10205"/>
          </a:xfrm>
        </p:grpSpPr>
        <p:sp>
          <p:nvSpPr>
            <p:cNvPr id="15" name="Shape 0"/>
            <p:cNvSpPr/>
            <p:nvPr/>
          </p:nvSpPr>
          <p:spPr>
            <a:xfrm>
              <a:off x="540" y="594"/>
              <a:ext cx="54" cy="432"/>
            </a:xfrm>
            <a:custGeom>
              <a:avLst/>
              <a:gdLst/>
              <a:ahLst/>
              <a:cxnLst/>
              <a:rect l="l" t="t" r="r" b="b"/>
              <a:pathLst>
                <a:path w="34295" h="274363">
                  <a:moveTo>
                    <a:pt x="0" y="0"/>
                  </a:moveTo>
                  <a:lnTo>
                    <a:pt x="34295" y="0"/>
                  </a:lnTo>
                  <a:lnTo>
                    <a:pt x="34295" y="274363"/>
                  </a:lnTo>
                  <a:lnTo>
                    <a:pt x="0" y="2743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6" name="Text 1"/>
            <p:cNvSpPr/>
            <p:nvPr/>
          </p:nvSpPr>
          <p:spPr>
            <a:xfrm>
              <a:off x="6324" y="286"/>
              <a:ext cx="6481" cy="54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43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四大核心业务能力</a:t>
              </a:r>
              <a:endParaRPr lang="en-US" sz="243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8" name="Shape 3"/>
            <p:cNvSpPr/>
            <p:nvPr/>
          </p:nvSpPr>
          <p:spPr>
            <a:xfrm>
              <a:off x="547" y="1735"/>
              <a:ext cx="8938" cy="4145"/>
            </a:xfrm>
            <a:custGeom>
              <a:avLst/>
              <a:gdLst/>
              <a:ahLst/>
              <a:cxnLst/>
              <a:rect l="l" t="t" r="r" b="b"/>
              <a:pathLst>
                <a:path w="5675882" h="2632169">
                  <a:moveTo>
                    <a:pt x="102891" y="0"/>
                  </a:moveTo>
                  <a:lnTo>
                    <a:pt x="5572990" y="0"/>
                  </a:lnTo>
                  <a:cubicBezTo>
                    <a:pt x="5629816" y="0"/>
                    <a:pt x="5675882" y="46066"/>
                    <a:pt x="5675882" y="102891"/>
                  </a:cubicBezTo>
                  <a:lnTo>
                    <a:pt x="5675882" y="2529277"/>
                  </a:lnTo>
                  <a:cubicBezTo>
                    <a:pt x="5675882" y="2586103"/>
                    <a:pt x="5629816" y="2632169"/>
                    <a:pt x="5572990" y="2632169"/>
                  </a:cubicBezTo>
                  <a:lnTo>
                    <a:pt x="102891" y="2632169"/>
                  </a:lnTo>
                  <a:cubicBezTo>
                    <a:pt x="46066" y="2632169"/>
                    <a:pt x="0" y="2586103"/>
                    <a:pt x="0" y="2529277"/>
                  </a:cubicBezTo>
                  <a:lnTo>
                    <a:pt x="0" y="102891"/>
                  </a:lnTo>
                  <a:cubicBezTo>
                    <a:pt x="0" y="46104"/>
                    <a:pt x="46104" y="0"/>
                    <a:pt x="102891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19" name="Shape 4"/>
            <p:cNvSpPr/>
            <p:nvPr/>
          </p:nvSpPr>
          <p:spPr>
            <a:xfrm>
              <a:off x="770" y="1958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20" name="Shape 5"/>
            <p:cNvSpPr/>
            <p:nvPr/>
          </p:nvSpPr>
          <p:spPr>
            <a:xfrm>
              <a:off x="932" y="2120"/>
              <a:ext cx="324" cy="324"/>
            </a:xfrm>
            <a:custGeom>
              <a:avLst/>
              <a:gdLst/>
              <a:ahLst/>
              <a:cxnLst/>
              <a:rect l="l" t="t" r="r" b="b"/>
              <a:pathLst>
                <a:path w="205772" h="205772">
                  <a:moveTo>
                    <a:pt x="12861" y="12861"/>
                  </a:moveTo>
                  <a:cubicBezTo>
                    <a:pt x="19974" y="12861"/>
                    <a:pt x="25722" y="18608"/>
                    <a:pt x="25722" y="25722"/>
                  </a:cubicBezTo>
                  <a:lnTo>
                    <a:pt x="25722" y="160759"/>
                  </a:lnTo>
                  <a:cubicBezTo>
                    <a:pt x="25722" y="164296"/>
                    <a:pt x="28615" y="167190"/>
                    <a:pt x="32152" y="167190"/>
                  </a:cubicBezTo>
                  <a:lnTo>
                    <a:pt x="192911" y="167190"/>
                  </a:lnTo>
                  <a:cubicBezTo>
                    <a:pt x="200025" y="167190"/>
                    <a:pt x="205772" y="172937"/>
                    <a:pt x="205772" y="180051"/>
                  </a:cubicBezTo>
                  <a:cubicBezTo>
                    <a:pt x="205772" y="187164"/>
                    <a:pt x="200025" y="192911"/>
                    <a:pt x="192911" y="192911"/>
                  </a:cubicBezTo>
                  <a:lnTo>
                    <a:pt x="32152" y="192911"/>
                  </a:lnTo>
                  <a:cubicBezTo>
                    <a:pt x="14388" y="192911"/>
                    <a:pt x="0" y="178523"/>
                    <a:pt x="0" y="160759"/>
                  </a:cubicBezTo>
                  <a:lnTo>
                    <a:pt x="0" y="25722"/>
                  </a:lnTo>
                  <a:cubicBezTo>
                    <a:pt x="0" y="18608"/>
                    <a:pt x="5747" y="12861"/>
                    <a:pt x="12861" y="12861"/>
                  </a:cubicBezTo>
                  <a:close/>
                  <a:moveTo>
                    <a:pt x="51443" y="38582"/>
                  </a:moveTo>
                  <a:cubicBezTo>
                    <a:pt x="51443" y="31469"/>
                    <a:pt x="57190" y="25722"/>
                    <a:pt x="64304" y="25722"/>
                  </a:cubicBezTo>
                  <a:lnTo>
                    <a:pt x="141468" y="25722"/>
                  </a:lnTo>
                  <a:cubicBezTo>
                    <a:pt x="148582" y="25722"/>
                    <a:pt x="154329" y="31469"/>
                    <a:pt x="154329" y="38582"/>
                  </a:cubicBezTo>
                  <a:cubicBezTo>
                    <a:pt x="154329" y="45696"/>
                    <a:pt x="148582" y="51443"/>
                    <a:pt x="141468" y="51443"/>
                  </a:cubicBezTo>
                  <a:lnTo>
                    <a:pt x="64304" y="51443"/>
                  </a:lnTo>
                  <a:cubicBezTo>
                    <a:pt x="57190" y="51443"/>
                    <a:pt x="51443" y="45696"/>
                    <a:pt x="51443" y="38582"/>
                  </a:cubicBezTo>
                  <a:close/>
                  <a:moveTo>
                    <a:pt x="64304" y="70734"/>
                  </a:moveTo>
                  <a:lnTo>
                    <a:pt x="115747" y="70734"/>
                  </a:lnTo>
                  <a:cubicBezTo>
                    <a:pt x="122860" y="70734"/>
                    <a:pt x="128608" y="76481"/>
                    <a:pt x="128608" y="83595"/>
                  </a:cubicBezTo>
                  <a:cubicBezTo>
                    <a:pt x="128608" y="90709"/>
                    <a:pt x="122860" y="96456"/>
                    <a:pt x="115747" y="96456"/>
                  </a:cubicBezTo>
                  <a:lnTo>
                    <a:pt x="64304" y="96456"/>
                  </a:lnTo>
                  <a:cubicBezTo>
                    <a:pt x="57190" y="96456"/>
                    <a:pt x="51443" y="90709"/>
                    <a:pt x="51443" y="83595"/>
                  </a:cubicBezTo>
                  <a:cubicBezTo>
                    <a:pt x="51443" y="76481"/>
                    <a:pt x="57190" y="70734"/>
                    <a:pt x="64304" y="70734"/>
                  </a:cubicBezTo>
                  <a:close/>
                  <a:moveTo>
                    <a:pt x="64304" y="115747"/>
                  </a:moveTo>
                  <a:lnTo>
                    <a:pt x="167190" y="115747"/>
                  </a:lnTo>
                  <a:cubicBezTo>
                    <a:pt x="174303" y="115747"/>
                    <a:pt x="180051" y="121494"/>
                    <a:pt x="180051" y="128608"/>
                  </a:cubicBezTo>
                  <a:cubicBezTo>
                    <a:pt x="180051" y="135721"/>
                    <a:pt x="174303" y="141468"/>
                    <a:pt x="167190" y="141468"/>
                  </a:cubicBezTo>
                  <a:lnTo>
                    <a:pt x="64304" y="141468"/>
                  </a:lnTo>
                  <a:cubicBezTo>
                    <a:pt x="57190" y="141468"/>
                    <a:pt x="51443" y="135721"/>
                    <a:pt x="51443" y="128608"/>
                  </a:cubicBezTo>
                  <a:cubicBezTo>
                    <a:pt x="51443" y="121494"/>
                    <a:pt x="57190" y="115747"/>
                    <a:pt x="64304" y="11574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1" name="Text 6"/>
            <p:cNvSpPr/>
            <p:nvPr/>
          </p:nvSpPr>
          <p:spPr>
            <a:xfrm>
              <a:off x="1580" y="2093"/>
              <a:ext cx="2896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智能分析能力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2" name="Shape 7"/>
            <p:cNvSpPr/>
            <p:nvPr/>
          </p:nvSpPr>
          <p:spPr>
            <a:xfrm>
              <a:off x="770" y="2768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23" name="Shape 8"/>
            <p:cNvSpPr/>
            <p:nvPr/>
          </p:nvSpPr>
          <p:spPr>
            <a:xfrm>
              <a:off x="1013" y="2876"/>
              <a:ext cx="162" cy="216"/>
            </a:xfrm>
            <a:custGeom>
              <a:avLst/>
              <a:gdLst/>
              <a:ahLst/>
              <a:cxnLst/>
              <a:rect l="l" t="t" r="r" b="b"/>
              <a:pathLst>
                <a:path w="102886" h="137181">
                  <a:moveTo>
                    <a:pt x="17148" y="0"/>
                  </a:moveTo>
                  <a:cubicBezTo>
                    <a:pt x="7690" y="0"/>
                    <a:pt x="0" y="7690"/>
                    <a:pt x="0" y="17148"/>
                  </a:cubicBezTo>
                  <a:lnTo>
                    <a:pt x="0" y="120034"/>
                  </a:lnTo>
                  <a:cubicBezTo>
                    <a:pt x="0" y="129492"/>
                    <a:pt x="7690" y="137181"/>
                    <a:pt x="17148" y="137181"/>
                  </a:cubicBezTo>
                  <a:lnTo>
                    <a:pt x="85738" y="137181"/>
                  </a:lnTo>
                  <a:cubicBezTo>
                    <a:pt x="95196" y="137181"/>
                    <a:pt x="102886" y="129492"/>
                    <a:pt x="102886" y="120034"/>
                  </a:cubicBezTo>
                  <a:lnTo>
                    <a:pt x="102886" y="17148"/>
                  </a:lnTo>
                  <a:cubicBezTo>
                    <a:pt x="102886" y="7690"/>
                    <a:pt x="95196" y="0"/>
                    <a:pt x="85738" y="0"/>
                  </a:cubicBezTo>
                  <a:lnTo>
                    <a:pt x="17148" y="0"/>
                  </a:lnTo>
                  <a:close/>
                  <a:moveTo>
                    <a:pt x="47156" y="94312"/>
                  </a:moveTo>
                  <a:lnTo>
                    <a:pt x="55730" y="94312"/>
                  </a:lnTo>
                  <a:cubicBezTo>
                    <a:pt x="60472" y="94312"/>
                    <a:pt x="64304" y="98144"/>
                    <a:pt x="64304" y="102886"/>
                  </a:cubicBezTo>
                  <a:lnTo>
                    <a:pt x="64304" y="124321"/>
                  </a:lnTo>
                  <a:lnTo>
                    <a:pt x="38582" y="124321"/>
                  </a:lnTo>
                  <a:lnTo>
                    <a:pt x="38582" y="102886"/>
                  </a:lnTo>
                  <a:cubicBezTo>
                    <a:pt x="38582" y="98144"/>
                    <a:pt x="42414" y="94312"/>
                    <a:pt x="47156" y="94312"/>
                  </a:cubicBezTo>
                  <a:close/>
                  <a:moveTo>
                    <a:pt x="25722" y="30008"/>
                  </a:moveTo>
                  <a:cubicBezTo>
                    <a:pt x="25722" y="27651"/>
                    <a:pt x="27651" y="25722"/>
                    <a:pt x="30008" y="25722"/>
                  </a:cubicBezTo>
                  <a:lnTo>
                    <a:pt x="38582" y="25722"/>
                  </a:lnTo>
                  <a:cubicBezTo>
                    <a:pt x="40940" y="25722"/>
                    <a:pt x="42869" y="27651"/>
                    <a:pt x="42869" y="30008"/>
                  </a:cubicBezTo>
                  <a:lnTo>
                    <a:pt x="42869" y="38582"/>
                  </a:lnTo>
                  <a:cubicBezTo>
                    <a:pt x="42869" y="40940"/>
                    <a:pt x="40940" y="42869"/>
                    <a:pt x="38582" y="42869"/>
                  </a:cubicBezTo>
                  <a:lnTo>
                    <a:pt x="30008" y="42869"/>
                  </a:lnTo>
                  <a:cubicBezTo>
                    <a:pt x="27651" y="42869"/>
                    <a:pt x="25722" y="40940"/>
                    <a:pt x="25722" y="38582"/>
                  </a:cubicBezTo>
                  <a:lnTo>
                    <a:pt x="25722" y="30008"/>
                  </a:lnTo>
                  <a:close/>
                  <a:moveTo>
                    <a:pt x="64304" y="25722"/>
                  </a:moveTo>
                  <a:lnTo>
                    <a:pt x="72878" y="25722"/>
                  </a:lnTo>
                  <a:cubicBezTo>
                    <a:pt x="75235" y="25722"/>
                    <a:pt x="77165" y="27651"/>
                    <a:pt x="77165" y="30008"/>
                  </a:cubicBezTo>
                  <a:lnTo>
                    <a:pt x="77165" y="38582"/>
                  </a:lnTo>
                  <a:cubicBezTo>
                    <a:pt x="77165" y="40940"/>
                    <a:pt x="75235" y="42869"/>
                    <a:pt x="72878" y="42869"/>
                  </a:cubicBezTo>
                  <a:lnTo>
                    <a:pt x="64304" y="42869"/>
                  </a:lnTo>
                  <a:cubicBezTo>
                    <a:pt x="61946" y="42869"/>
                    <a:pt x="60017" y="40940"/>
                    <a:pt x="60017" y="38582"/>
                  </a:cubicBezTo>
                  <a:lnTo>
                    <a:pt x="60017" y="30008"/>
                  </a:lnTo>
                  <a:cubicBezTo>
                    <a:pt x="60017" y="27651"/>
                    <a:pt x="61946" y="25722"/>
                    <a:pt x="64304" y="25722"/>
                  </a:cubicBezTo>
                  <a:close/>
                  <a:moveTo>
                    <a:pt x="25722" y="64304"/>
                  </a:moveTo>
                  <a:cubicBezTo>
                    <a:pt x="25722" y="61946"/>
                    <a:pt x="27651" y="60017"/>
                    <a:pt x="30008" y="60017"/>
                  </a:cubicBezTo>
                  <a:lnTo>
                    <a:pt x="38582" y="60017"/>
                  </a:lnTo>
                  <a:cubicBezTo>
                    <a:pt x="40940" y="60017"/>
                    <a:pt x="42869" y="61946"/>
                    <a:pt x="42869" y="64304"/>
                  </a:cubicBezTo>
                  <a:lnTo>
                    <a:pt x="42869" y="72878"/>
                  </a:lnTo>
                  <a:cubicBezTo>
                    <a:pt x="42869" y="75235"/>
                    <a:pt x="40940" y="77165"/>
                    <a:pt x="38582" y="77165"/>
                  </a:cubicBezTo>
                  <a:lnTo>
                    <a:pt x="30008" y="77165"/>
                  </a:lnTo>
                  <a:cubicBezTo>
                    <a:pt x="27651" y="77165"/>
                    <a:pt x="25722" y="75235"/>
                    <a:pt x="25722" y="72878"/>
                  </a:cubicBezTo>
                  <a:lnTo>
                    <a:pt x="25722" y="64304"/>
                  </a:lnTo>
                  <a:close/>
                  <a:moveTo>
                    <a:pt x="64304" y="60017"/>
                  </a:moveTo>
                  <a:lnTo>
                    <a:pt x="72878" y="60017"/>
                  </a:lnTo>
                  <a:cubicBezTo>
                    <a:pt x="75235" y="60017"/>
                    <a:pt x="77165" y="61946"/>
                    <a:pt x="77165" y="64304"/>
                  </a:cubicBezTo>
                  <a:lnTo>
                    <a:pt x="77165" y="72878"/>
                  </a:lnTo>
                  <a:cubicBezTo>
                    <a:pt x="77165" y="75235"/>
                    <a:pt x="75235" y="77165"/>
                    <a:pt x="72878" y="77165"/>
                  </a:cubicBezTo>
                  <a:lnTo>
                    <a:pt x="64304" y="77165"/>
                  </a:lnTo>
                  <a:cubicBezTo>
                    <a:pt x="61946" y="77165"/>
                    <a:pt x="60017" y="75235"/>
                    <a:pt x="60017" y="72878"/>
                  </a:cubicBezTo>
                  <a:lnTo>
                    <a:pt x="60017" y="64304"/>
                  </a:lnTo>
                  <a:cubicBezTo>
                    <a:pt x="60017" y="61946"/>
                    <a:pt x="61946" y="60017"/>
                    <a:pt x="64304" y="6001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4" name="Text 9"/>
            <p:cNvSpPr/>
            <p:nvPr/>
          </p:nvSpPr>
          <p:spPr>
            <a:xfrm>
              <a:off x="1256" y="2849"/>
              <a:ext cx="3913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基本面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识别价值投资机会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5" name="Text 10"/>
            <p:cNvSpPr/>
            <p:nvPr/>
          </p:nvSpPr>
          <p:spPr>
            <a:xfrm>
              <a:off x="932" y="3362"/>
              <a:ext cx="3969" cy="4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财务数据深度分析、估值模型、盈利能力评估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6" name="Text 11"/>
            <p:cNvSpPr/>
            <p:nvPr/>
          </p:nvSpPr>
          <p:spPr>
            <a:xfrm>
              <a:off x="932" y="3963"/>
              <a:ext cx="3956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7" name="Shape 12"/>
            <p:cNvSpPr/>
            <p:nvPr/>
          </p:nvSpPr>
          <p:spPr>
            <a:xfrm>
              <a:off x="5071" y="2768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8" name="Shape 13"/>
            <p:cNvSpPr/>
            <p:nvPr/>
          </p:nvSpPr>
          <p:spPr>
            <a:xfrm>
              <a:off x="5260" y="2984"/>
              <a:ext cx="216" cy="216"/>
            </a:xfrm>
            <a:custGeom>
              <a:avLst/>
              <a:gdLst/>
              <a:ahLst/>
              <a:cxnLst/>
              <a:rect l="l" t="t" r="r" b="b"/>
              <a:pathLst>
                <a:path w="137181" h="137181">
                  <a:moveTo>
                    <a:pt x="17148" y="17148"/>
                  </a:moveTo>
                  <a:cubicBezTo>
                    <a:pt x="17148" y="12405"/>
                    <a:pt x="13316" y="8574"/>
                    <a:pt x="8574" y="8574"/>
                  </a:cubicBezTo>
                  <a:cubicBezTo>
                    <a:pt x="3831" y="8574"/>
                    <a:pt x="0" y="12405"/>
                    <a:pt x="0" y="17148"/>
                  </a:cubicBezTo>
                  <a:lnTo>
                    <a:pt x="0" y="107173"/>
                  </a:lnTo>
                  <a:cubicBezTo>
                    <a:pt x="0" y="119016"/>
                    <a:pt x="9592" y="128608"/>
                    <a:pt x="21435" y="128608"/>
                  </a:cubicBezTo>
                  <a:lnTo>
                    <a:pt x="128608" y="128608"/>
                  </a:lnTo>
                  <a:cubicBezTo>
                    <a:pt x="133350" y="128608"/>
                    <a:pt x="137181" y="124776"/>
                    <a:pt x="137181" y="120034"/>
                  </a:cubicBezTo>
                  <a:cubicBezTo>
                    <a:pt x="137181" y="115291"/>
                    <a:pt x="133350" y="111460"/>
                    <a:pt x="128608" y="111460"/>
                  </a:cubicBezTo>
                  <a:lnTo>
                    <a:pt x="21435" y="111460"/>
                  </a:lnTo>
                  <a:cubicBezTo>
                    <a:pt x="19077" y="111460"/>
                    <a:pt x="17148" y="109531"/>
                    <a:pt x="17148" y="107173"/>
                  </a:cubicBezTo>
                  <a:lnTo>
                    <a:pt x="17148" y="17148"/>
                  </a:lnTo>
                  <a:close/>
                  <a:moveTo>
                    <a:pt x="126089" y="40351"/>
                  </a:moveTo>
                  <a:cubicBezTo>
                    <a:pt x="129438" y="37001"/>
                    <a:pt x="129438" y="31562"/>
                    <a:pt x="126089" y="28213"/>
                  </a:cubicBezTo>
                  <a:cubicBezTo>
                    <a:pt x="122740" y="24864"/>
                    <a:pt x="117301" y="24864"/>
                    <a:pt x="113952" y="28213"/>
                  </a:cubicBezTo>
                  <a:lnTo>
                    <a:pt x="85738" y="56453"/>
                  </a:lnTo>
                  <a:lnTo>
                    <a:pt x="70359" y="41101"/>
                  </a:lnTo>
                  <a:cubicBezTo>
                    <a:pt x="67010" y="37752"/>
                    <a:pt x="61571" y="37752"/>
                    <a:pt x="58222" y="41101"/>
                  </a:cubicBezTo>
                  <a:lnTo>
                    <a:pt x="32500" y="66822"/>
                  </a:lnTo>
                  <a:cubicBezTo>
                    <a:pt x="29151" y="70172"/>
                    <a:pt x="29151" y="75611"/>
                    <a:pt x="32500" y="78960"/>
                  </a:cubicBezTo>
                  <a:cubicBezTo>
                    <a:pt x="35849" y="82309"/>
                    <a:pt x="41288" y="82309"/>
                    <a:pt x="44638" y="78960"/>
                  </a:cubicBezTo>
                  <a:lnTo>
                    <a:pt x="64304" y="59293"/>
                  </a:lnTo>
                  <a:lnTo>
                    <a:pt x="79683" y="74673"/>
                  </a:lnTo>
                  <a:cubicBezTo>
                    <a:pt x="83032" y="78022"/>
                    <a:pt x="88471" y="78022"/>
                    <a:pt x="91820" y="74673"/>
                  </a:cubicBezTo>
                  <a:lnTo>
                    <a:pt x="126116" y="40377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29" name="Text 14"/>
            <p:cNvSpPr/>
            <p:nvPr/>
          </p:nvSpPr>
          <p:spPr>
            <a:xfrm>
              <a:off x="5611" y="2930"/>
              <a:ext cx="3731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技术面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把握买卖时机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0" name="Text 15"/>
            <p:cNvSpPr/>
            <p:nvPr/>
          </p:nvSpPr>
          <p:spPr>
            <a:xfrm>
              <a:off x="5233" y="3362"/>
              <a:ext cx="3970" cy="3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技术指标计算、趋势识别、交易信号生成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1" name="Text 16"/>
            <p:cNvSpPr/>
            <p:nvPr/>
          </p:nvSpPr>
          <p:spPr>
            <a:xfrm>
              <a:off x="5246" y="3943"/>
              <a:ext cx="3956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2" name="Shape 17"/>
            <p:cNvSpPr/>
            <p:nvPr/>
          </p:nvSpPr>
          <p:spPr>
            <a:xfrm>
              <a:off x="770" y="4263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33" name="Shape 18"/>
            <p:cNvSpPr/>
            <p:nvPr/>
          </p:nvSpPr>
          <p:spPr>
            <a:xfrm>
              <a:off x="959" y="4479"/>
              <a:ext cx="216" cy="216"/>
            </a:xfrm>
            <a:custGeom>
              <a:avLst/>
              <a:gdLst/>
              <a:ahLst/>
              <a:cxnLst/>
              <a:rect l="l" t="t" r="r" b="b"/>
              <a:pathLst>
                <a:path w="137181" h="137181">
                  <a:moveTo>
                    <a:pt x="0" y="111460"/>
                  </a:moveTo>
                  <a:lnTo>
                    <a:pt x="0" y="32152"/>
                  </a:lnTo>
                  <a:cubicBezTo>
                    <a:pt x="0" y="28588"/>
                    <a:pt x="2867" y="25722"/>
                    <a:pt x="6430" y="25722"/>
                  </a:cubicBezTo>
                  <a:cubicBezTo>
                    <a:pt x="9994" y="25722"/>
                    <a:pt x="12861" y="28588"/>
                    <a:pt x="12861" y="32152"/>
                  </a:cubicBezTo>
                  <a:lnTo>
                    <a:pt x="12861" y="109316"/>
                  </a:lnTo>
                  <a:cubicBezTo>
                    <a:pt x="12861" y="112880"/>
                    <a:pt x="15728" y="115747"/>
                    <a:pt x="19291" y="115747"/>
                  </a:cubicBezTo>
                  <a:cubicBezTo>
                    <a:pt x="22855" y="115747"/>
                    <a:pt x="25722" y="112880"/>
                    <a:pt x="25722" y="109316"/>
                  </a:cubicBezTo>
                  <a:lnTo>
                    <a:pt x="25722" y="25722"/>
                  </a:lnTo>
                  <a:cubicBezTo>
                    <a:pt x="25722" y="16264"/>
                    <a:pt x="33411" y="8574"/>
                    <a:pt x="42869" y="8574"/>
                  </a:cubicBezTo>
                  <a:lnTo>
                    <a:pt x="120034" y="8574"/>
                  </a:lnTo>
                  <a:cubicBezTo>
                    <a:pt x="129492" y="8574"/>
                    <a:pt x="137181" y="16264"/>
                    <a:pt x="137181" y="25722"/>
                  </a:cubicBezTo>
                  <a:lnTo>
                    <a:pt x="137181" y="111460"/>
                  </a:lnTo>
                  <a:cubicBezTo>
                    <a:pt x="137181" y="120918"/>
                    <a:pt x="129492" y="128608"/>
                    <a:pt x="120034" y="128608"/>
                  </a:cubicBezTo>
                  <a:lnTo>
                    <a:pt x="17148" y="128608"/>
                  </a:lnTo>
                  <a:cubicBezTo>
                    <a:pt x="7690" y="128608"/>
                    <a:pt x="0" y="120918"/>
                    <a:pt x="0" y="111460"/>
                  </a:cubicBezTo>
                  <a:close/>
                  <a:moveTo>
                    <a:pt x="42869" y="34295"/>
                  </a:moveTo>
                  <a:lnTo>
                    <a:pt x="42869" y="51443"/>
                  </a:lnTo>
                  <a:cubicBezTo>
                    <a:pt x="42869" y="56185"/>
                    <a:pt x="46701" y="60017"/>
                    <a:pt x="51443" y="60017"/>
                  </a:cubicBezTo>
                  <a:lnTo>
                    <a:pt x="68591" y="60017"/>
                  </a:lnTo>
                  <a:cubicBezTo>
                    <a:pt x="73333" y="60017"/>
                    <a:pt x="77165" y="56185"/>
                    <a:pt x="77165" y="51443"/>
                  </a:cubicBezTo>
                  <a:lnTo>
                    <a:pt x="77165" y="34295"/>
                  </a:lnTo>
                  <a:cubicBezTo>
                    <a:pt x="77165" y="29553"/>
                    <a:pt x="73333" y="25722"/>
                    <a:pt x="68591" y="25722"/>
                  </a:cubicBezTo>
                  <a:lnTo>
                    <a:pt x="51443" y="25722"/>
                  </a:lnTo>
                  <a:cubicBezTo>
                    <a:pt x="46701" y="25722"/>
                    <a:pt x="42869" y="29553"/>
                    <a:pt x="42869" y="34295"/>
                  </a:cubicBezTo>
                  <a:close/>
                  <a:moveTo>
                    <a:pt x="49300" y="98599"/>
                  </a:moveTo>
                  <a:cubicBezTo>
                    <a:pt x="45736" y="98599"/>
                    <a:pt x="42869" y="101466"/>
                    <a:pt x="42869" y="105030"/>
                  </a:cubicBezTo>
                  <a:cubicBezTo>
                    <a:pt x="42869" y="108593"/>
                    <a:pt x="45736" y="111460"/>
                    <a:pt x="49300" y="111460"/>
                  </a:cubicBezTo>
                  <a:lnTo>
                    <a:pt x="113603" y="111460"/>
                  </a:lnTo>
                  <a:cubicBezTo>
                    <a:pt x="117167" y="111460"/>
                    <a:pt x="120034" y="108593"/>
                    <a:pt x="120034" y="105030"/>
                  </a:cubicBezTo>
                  <a:cubicBezTo>
                    <a:pt x="120034" y="101466"/>
                    <a:pt x="117167" y="98599"/>
                    <a:pt x="113603" y="98599"/>
                  </a:cubicBezTo>
                  <a:lnTo>
                    <a:pt x="49300" y="98599"/>
                  </a:lnTo>
                  <a:close/>
                  <a:moveTo>
                    <a:pt x="42869" y="79308"/>
                  </a:moveTo>
                  <a:cubicBezTo>
                    <a:pt x="42869" y="82872"/>
                    <a:pt x="45736" y="85738"/>
                    <a:pt x="49300" y="85738"/>
                  </a:cubicBezTo>
                  <a:lnTo>
                    <a:pt x="113603" y="85738"/>
                  </a:lnTo>
                  <a:cubicBezTo>
                    <a:pt x="117167" y="85738"/>
                    <a:pt x="120034" y="82872"/>
                    <a:pt x="120034" y="79308"/>
                  </a:cubicBezTo>
                  <a:cubicBezTo>
                    <a:pt x="120034" y="75745"/>
                    <a:pt x="117167" y="72878"/>
                    <a:pt x="113603" y="72878"/>
                  </a:cubicBezTo>
                  <a:lnTo>
                    <a:pt x="49300" y="72878"/>
                  </a:lnTo>
                  <a:cubicBezTo>
                    <a:pt x="45736" y="72878"/>
                    <a:pt x="42869" y="75745"/>
                    <a:pt x="42869" y="79308"/>
                  </a:cubicBezTo>
                  <a:close/>
                  <a:moveTo>
                    <a:pt x="96456" y="47156"/>
                  </a:moveTo>
                  <a:cubicBezTo>
                    <a:pt x="92892" y="47156"/>
                    <a:pt x="90025" y="50023"/>
                    <a:pt x="90025" y="53586"/>
                  </a:cubicBezTo>
                  <a:cubicBezTo>
                    <a:pt x="90025" y="57150"/>
                    <a:pt x="92892" y="60017"/>
                    <a:pt x="96456" y="60017"/>
                  </a:cubicBezTo>
                  <a:lnTo>
                    <a:pt x="113603" y="60017"/>
                  </a:lnTo>
                  <a:cubicBezTo>
                    <a:pt x="117167" y="60017"/>
                    <a:pt x="120034" y="57150"/>
                    <a:pt x="120034" y="53586"/>
                  </a:cubicBezTo>
                  <a:cubicBezTo>
                    <a:pt x="120034" y="50023"/>
                    <a:pt x="117167" y="47156"/>
                    <a:pt x="113603" y="47156"/>
                  </a:cubicBezTo>
                  <a:lnTo>
                    <a:pt x="96456" y="47156"/>
                  </a:lnTo>
                  <a:close/>
                </a:path>
              </a:pathLst>
            </a:custGeom>
            <a:solidFill>
              <a:srgbClr val="8D99AE"/>
            </a:solidFill>
          </p:spPr>
        </p:sp>
        <p:sp>
          <p:nvSpPr>
            <p:cNvPr id="34" name="Text 19"/>
            <p:cNvSpPr/>
            <p:nvPr/>
          </p:nvSpPr>
          <p:spPr>
            <a:xfrm>
              <a:off x="1310" y="4425"/>
              <a:ext cx="3505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消息面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捕捉市场热点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5" name="Text 20"/>
            <p:cNvSpPr/>
            <p:nvPr/>
          </p:nvSpPr>
          <p:spPr>
            <a:xfrm>
              <a:off x="932" y="4857"/>
              <a:ext cx="3970" cy="3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新闻事件监控、情绪分析、影响评估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7" name="Shape 22"/>
            <p:cNvSpPr/>
            <p:nvPr/>
          </p:nvSpPr>
          <p:spPr>
            <a:xfrm>
              <a:off x="5071" y="4263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38" name="Shape 23"/>
            <p:cNvSpPr/>
            <p:nvPr/>
          </p:nvSpPr>
          <p:spPr>
            <a:xfrm>
              <a:off x="5260" y="4479"/>
              <a:ext cx="216" cy="216"/>
            </a:xfrm>
            <a:custGeom>
              <a:avLst/>
              <a:gdLst/>
              <a:ahLst/>
              <a:cxnLst/>
              <a:rect l="l" t="t" r="r" b="b"/>
              <a:pathLst>
                <a:path w="137181" h="137181">
                  <a:moveTo>
                    <a:pt x="68591" y="137181"/>
                  </a:moveTo>
                  <a:cubicBezTo>
                    <a:pt x="106447" y="137181"/>
                    <a:pt x="137181" y="106447"/>
                    <a:pt x="137181" y="68591"/>
                  </a:cubicBezTo>
                  <a:cubicBezTo>
                    <a:pt x="137181" y="30734"/>
                    <a:pt x="106447" y="0"/>
                    <a:pt x="68591" y="0"/>
                  </a:cubicBezTo>
                  <a:cubicBezTo>
                    <a:pt x="30734" y="0"/>
                    <a:pt x="0" y="30734"/>
                    <a:pt x="0" y="68591"/>
                  </a:cubicBezTo>
                  <a:cubicBezTo>
                    <a:pt x="0" y="106447"/>
                    <a:pt x="30734" y="137181"/>
                    <a:pt x="68591" y="137181"/>
                  </a:cubicBezTo>
                  <a:close/>
                  <a:moveTo>
                    <a:pt x="44316" y="86247"/>
                  </a:moveTo>
                  <a:cubicBezTo>
                    <a:pt x="49782" y="93750"/>
                    <a:pt x="58624" y="98599"/>
                    <a:pt x="68591" y="98599"/>
                  </a:cubicBezTo>
                  <a:cubicBezTo>
                    <a:pt x="78558" y="98599"/>
                    <a:pt x="87400" y="93750"/>
                    <a:pt x="92865" y="86247"/>
                  </a:cubicBezTo>
                  <a:cubicBezTo>
                    <a:pt x="94955" y="83381"/>
                    <a:pt x="98974" y="82738"/>
                    <a:pt x="101841" y="84827"/>
                  </a:cubicBezTo>
                  <a:cubicBezTo>
                    <a:pt x="104708" y="86917"/>
                    <a:pt x="105351" y="90936"/>
                    <a:pt x="103261" y="93803"/>
                  </a:cubicBezTo>
                  <a:cubicBezTo>
                    <a:pt x="95464" y="104494"/>
                    <a:pt x="82845" y="111460"/>
                    <a:pt x="68591" y="111460"/>
                  </a:cubicBezTo>
                  <a:cubicBezTo>
                    <a:pt x="54337" y="111460"/>
                    <a:pt x="41717" y="104494"/>
                    <a:pt x="33920" y="93803"/>
                  </a:cubicBezTo>
                  <a:cubicBezTo>
                    <a:pt x="31830" y="90936"/>
                    <a:pt x="32473" y="86917"/>
                    <a:pt x="35340" y="84827"/>
                  </a:cubicBezTo>
                  <a:cubicBezTo>
                    <a:pt x="38207" y="82738"/>
                    <a:pt x="42226" y="83381"/>
                    <a:pt x="44316" y="86247"/>
                  </a:cubicBezTo>
                  <a:close/>
                  <a:moveTo>
                    <a:pt x="38582" y="55730"/>
                  </a:moveTo>
                  <a:cubicBezTo>
                    <a:pt x="38582" y="50998"/>
                    <a:pt x="42424" y="47156"/>
                    <a:pt x="47156" y="47156"/>
                  </a:cubicBezTo>
                  <a:cubicBezTo>
                    <a:pt x="51888" y="47156"/>
                    <a:pt x="55730" y="50998"/>
                    <a:pt x="55730" y="55730"/>
                  </a:cubicBezTo>
                  <a:cubicBezTo>
                    <a:pt x="55730" y="60462"/>
                    <a:pt x="51888" y="64304"/>
                    <a:pt x="47156" y="64304"/>
                  </a:cubicBezTo>
                  <a:cubicBezTo>
                    <a:pt x="42424" y="64304"/>
                    <a:pt x="38582" y="60462"/>
                    <a:pt x="38582" y="55730"/>
                  </a:cubicBezTo>
                  <a:close/>
                  <a:moveTo>
                    <a:pt x="90025" y="47156"/>
                  </a:moveTo>
                  <a:cubicBezTo>
                    <a:pt x="94757" y="47156"/>
                    <a:pt x="98599" y="50998"/>
                    <a:pt x="98599" y="55730"/>
                  </a:cubicBezTo>
                  <a:cubicBezTo>
                    <a:pt x="98599" y="60462"/>
                    <a:pt x="94757" y="64304"/>
                    <a:pt x="90025" y="64304"/>
                  </a:cubicBezTo>
                  <a:cubicBezTo>
                    <a:pt x="85293" y="64304"/>
                    <a:pt x="81451" y="60462"/>
                    <a:pt x="81451" y="55730"/>
                  </a:cubicBezTo>
                  <a:cubicBezTo>
                    <a:pt x="81451" y="50998"/>
                    <a:pt x="85293" y="47156"/>
                    <a:pt x="90025" y="47156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39" name="Text 24"/>
            <p:cNvSpPr/>
            <p:nvPr/>
          </p:nvSpPr>
          <p:spPr>
            <a:xfrm>
              <a:off x="5611" y="4425"/>
              <a:ext cx="3943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情绪面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理解市场情绪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0" name="Text 25"/>
            <p:cNvSpPr/>
            <p:nvPr/>
          </p:nvSpPr>
          <p:spPr>
            <a:xfrm>
              <a:off x="5233" y="4857"/>
              <a:ext cx="3970" cy="3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社交媒体情绪、投资者情绪指数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2" name="Shape 27"/>
            <p:cNvSpPr/>
            <p:nvPr/>
          </p:nvSpPr>
          <p:spPr>
            <a:xfrm>
              <a:off x="9716" y="1735"/>
              <a:ext cx="8938" cy="4145"/>
            </a:xfrm>
            <a:custGeom>
              <a:avLst/>
              <a:gdLst/>
              <a:ahLst/>
              <a:cxnLst/>
              <a:rect l="l" t="t" r="r" b="b"/>
              <a:pathLst>
                <a:path w="5675882" h="2632169">
                  <a:moveTo>
                    <a:pt x="102891" y="0"/>
                  </a:moveTo>
                  <a:lnTo>
                    <a:pt x="5572990" y="0"/>
                  </a:lnTo>
                  <a:cubicBezTo>
                    <a:pt x="5629816" y="0"/>
                    <a:pt x="5675882" y="46066"/>
                    <a:pt x="5675882" y="102891"/>
                  </a:cubicBezTo>
                  <a:lnTo>
                    <a:pt x="5675882" y="2529277"/>
                  </a:lnTo>
                  <a:cubicBezTo>
                    <a:pt x="5675882" y="2586103"/>
                    <a:pt x="5629816" y="2632169"/>
                    <a:pt x="5572990" y="2632169"/>
                  </a:cubicBezTo>
                  <a:lnTo>
                    <a:pt x="102891" y="2632169"/>
                  </a:lnTo>
                  <a:cubicBezTo>
                    <a:pt x="46066" y="2632169"/>
                    <a:pt x="0" y="2586103"/>
                    <a:pt x="0" y="2529277"/>
                  </a:cubicBezTo>
                  <a:lnTo>
                    <a:pt x="0" y="102891"/>
                  </a:lnTo>
                  <a:cubicBezTo>
                    <a:pt x="0" y="46104"/>
                    <a:pt x="46104" y="0"/>
                    <a:pt x="102891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10000"/>
              </a:scheme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43" name="Shape 28"/>
            <p:cNvSpPr/>
            <p:nvPr/>
          </p:nvSpPr>
          <p:spPr>
            <a:xfrm>
              <a:off x="9939" y="1958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44" name="Shape 29"/>
            <p:cNvSpPr/>
            <p:nvPr/>
          </p:nvSpPr>
          <p:spPr>
            <a:xfrm>
              <a:off x="10061" y="2120"/>
              <a:ext cx="405" cy="324"/>
            </a:xfrm>
            <a:custGeom>
              <a:avLst/>
              <a:gdLst/>
              <a:ahLst/>
              <a:cxnLst/>
              <a:rect l="l" t="t" r="r" b="b"/>
              <a:pathLst>
                <a:path w="257215" h="205772">
                  <a:moveTo>
                    <a:pt x="128608" y="90025"/>
                  </a:moveTo>
                  <a:cubicBezTo>
                    <a:pt x="151676" y="90025"/>
                    <a:pt x="170405" y="71296"/>
                    <a:pt x="170405" y="48228"/>
                  </a:cubicBezTo>
                  <a:cubicBezTo>
                    <a:pt x="170405" y="25159"/>
                    <a:pt x="151676" y="6430"/>
                    <a:pt x="128608" y="6430"/>
                  </a:cubicBezTo>
                  <a:cubicBezTo>
                    <a:pt x="105539" y="6430"/>
                    <a:pt x="86810" y="25159"/>
                    <a:pt x="86810" y="48228"/>
                  </a:cubicBezTo>
                  <a:cubicBezTo>
                    <a:pt x="86810" y="71296"/>
                    <a:pt x="105539" y="90025"/>
                    <a:pt x="128608" y="90025"/>
                  </a:cubicBezTo>
                  <a:close/>
                  <a:moveTo>
                    <a:pt x="38582" y="93241"/>
                  </a:moveTo>
                  <a:cubicBezTo>
                    <a:pt x="54553" y="93241"/>
                    <a:pt x="67519" y="80274"/>
                    <a:pt x="67519" y="64304"/>
                  </a:cubicBezTo>
                  <a:cubicBezTo>
                    <a:pt x="67519" y="48333"/>
                    <a:pt x="54553" y="35367"/>
                    <a:pt x="38582" y="35367"/>
                  </a:cubicBezTo>
                  <a:cubicBezTo>
                    <a:pt x="22612" y="35367"/>
                    <a:pt x="9646" y="48333"/>
                    <a:pt x="9646" y="64304"/>
                  </a:cubicBezTo>
                  <a:cubicBezTo>
                    <a:pt x="9646" y="80274"/>
                    <a:pt x="22612" y="93241"/>
                    <a:pt x="38582" y="93241"/>
                  </a:cubicBezTo>
                  <a:close/>
                  <a:moveTo>
                    <a:pt x="0" y="167190"/>
                  </a:moveTo>
                  <a:lnTo>
                    <a:pt x="0" y="180051"/>
                  </a:lnTo>
                  <a:cubicBezTo>
                    <a:pt x="0" y="187164"/>
                    <a:pt x="5747" y="192911"/>
                    <a:pt x="12861" y="192911"/>
                  </a:cubicBezTo>
                  <a:lnTo>
                    <a:pt x="47705" y="192911"/>
                  </a:lnTo>
                  <a:cubicBezTo>
                    <a:pt x="45977" y="188973"/>
                    <a:pt x="45013" y="184632"/>
                    <a:pt x="45013" y="180051"/>
                  </a:cubicBezTo>
                  <a:lnTo>
                    <a:pt x="45013" y="173620"/>
                  </a:lnTo>
                  <a:cubicBezTo>
                    <a:pt x="45013" y="152239"/>
                    <a:pt x="53051" y="132707"/>
                    <a:pt x="66273" y="117917"/>
                  </a:cubicBezTo>
                  <a:cubicBezTo>
                    <a:pt x="61571" y="116510"/>
                    <a:pt x="56587" y="115747"/>
                    <a:pt x="51443" y="115747"/>
                  </a:cubicBezTo>
                  <a:cubicBezTo>
                    <a:pt x="23029" y="115747"/>
                    <a:pt x="0" y="138776"/>
                    <a:pt x="0" y="167190"/>
                  </a:cubicBezTo>
                  <a:close/>
                  <a:moveTo>
                    <a:pt x="247570" y="64304"/>
                  </a:moveTo>
                  <a:cubicBezTo>
                    <a:pt x="247570" y="48333"/>
                    <a:pt x="234604" y="35367"/>
                    <a:pt x="218633" y="35367"/>
                  </a:cubicBezTo>
                  <a:cubicBezTo>
                    <a:pt x="202662" y="35367"/>
                    <a:pt x="189696" y="48333"/>
                    <a:pt x="189696" y="64304"/>
                  </a:cubicBezTo>
                  <a:cubicBezTo>
                    <a:pt x="189696" y="80274"/>
                    <a:pt x="202662" y="93241"/>
                    <a:pt x="218633" y="93241"/>
                  </a:cubicBezTo>
                  <a:cubicBezTo>
                    <a:pt x="234604" y="93241"/>
                    <a:pt x="247570" y="80274"/>
                    <a:pt x="247570" y="64304"/>
                  </a:cubicBezTo>
                  <a:close/>
                  <a:moveTo>
                    <a:pt x="64304" y="173620"/>
                  </a:moveTo>
                  <a:lnTo>
                    <a:pt x="64304" y="180051"/>
                  </a:lnTo>
                  <a:cubicBezTo>
                    <a:pt x="64304" y="187164"/>
                    <a:pt x="70051" y="192911"/>
                    <a:pt x="77165" y="192911"/>
                  </a:cubicBezTo>
                  <a:lnTo>
                    <a:pt x="140182" y="192911"/>
                  </a:lnTo>
                  <a:cubicBezTo>
                    <a:pt x="137329" y="184230"/>
                    <a:pt x="137650" y="175067"/>
                    <a:pt x="144483" y="167190"/>
                  </a:cubicBezTo>
                  <a:cubicBezTo>
                    <a:pt x="138856" y="160679"/>
                    <a:pt x="136244" y="151234"/>
                    <a:pt x="139901" y="141750"/>
                  </a:cubicBezTo>
                  <a:cubicBezTo>
                    <a:pt x="142553" y="134877"/>
                    <a:pt x="146291" y="128447"/>
                    <a:pt x="150913" y="122740"/>
                  </a:cubicBezTo>
                  <a:cubicBezTo>
                    <a:pt x="153083" y="120087"/>
                    <a:pt x="155575" y="118038"/>
                    <a:pt x="158268" y="116551"/>
                  </a:cubicBezTo>
                  <a:cubicBezTo>
                    <a:pt x="149386" y="111929"/>
                    <a:pt x="139298" y="109316"/>
                    <a:pt x="128608" y="109316"/>
                  </a:cubicBezTo>
                  <a:cubicBezTo>
                    <a:pt x="93080" y="109316"/>
                    <a:pt x="64304" y="138092"/>
                    <a:pt x="64304" y="173620"/>
                  </a:cubicBezTo>
                  <a:close/>
                  <a:moveTo>
                    <a:pt x="251026" y="155897"/>
                  </a:moveTo>
                  <a:cubicBezTo>
                    <a:pt x="253558" y="154450"/>
                    <a:pt x="254844" y="151435"/>
                    <a:pt x="253759" y="148662"/>
                  </a:cubicBezTo>
                  <a:cubicBezTo>
                    <a:pt x="251830" y="143679"/>
                    <a:pt x="249137" y="138977"/>
                    <a:pt x="245761" y="134837"/>
                  </a:cubicBezTo>
                  <a:cubicBezTo>
                    <a:pt x="243912" y="132546"/>
                    <a:pt x="240657" y="132144"/>
                    <a:pt x="238125" y="133631"/>
                  </a:cubicBezTo>
                  <a:cubicBezTo>
                    <a:pt x="229364" y="138695"/>
                    <a:pt x="218593" y="132506"/>
                    <a:pt x="218593" y="122338"/>
                  </a:cubicBezTo>
                  <a:cubicBezTo>
                    <a:pt x="218593" y="119404"/>
                    <a:pt x="216623" y="116792"/>
                    <a:pt x="213730" y="116350"/>
                  </a:cubicBezTo>
                  <a:cubicBezTo>
                    <a:pt x="208545" y="115546"/>
                    <a:pt x="202959" y="115546"/>
                    <a:pt x="197774" y="116350"/>
                  </a:cubicBezTo>
                  <a:cubicBezTo>
                    <a:pt x="194881" y="116792"/>
                    <a:pt x="192911" y="119404"/>
                    <a:pt x="192911" y="122338"/>
                  </a:cubicBezTo>
                  <a:cubicBezTo>
                    <a:pt x="192911" y="132466"/>
                    <a:pt x="182141" y="138695"/>
                    <a:pt x="173379" y="133631"/>
                  </a:cubicBezTo>
                  <a:cubicBezTo>
                    <a:pt x="170847" y="132184"/>
                    <a:pt x="167592" y="132586"/>
                    <a:pt x="165743" y="134837"/>
                  </a:cubicBezTo>
                  <a:cubicBezTo>
                    <a:pt x="162367" y="138977"/>
                    <a:pt x="159674" y="143679"/>
                    <a:pt x="157745" y="148662"/>
                  </a:cubicBezTo>
                  <a:cubicBezTo>
                    <a:pt x="156700" y="151395"/>
                    <a:pt x="157946" y="154409"/>
                    <a:pt x="160478" y="155856"/>
                  </a:cubicBezTo>
                  <a:cubicBezTo>
                    <a:pt x="169280" y="160920"/>
                    <a:pt x="169280" y="173339"/>
                    <a:pt x="160478" y="178443"/>
                  </a:cubicBezTo>
                  <a:cubicBezTo>
                    <a:pt x="157946" y="179890"/>
                    <a:pt x="156660" y="182904"/>
                    <a:pt x="157745" y="185637"/>
                  </a:cubicBezTo>
                  <a:cubicBezTo>
                    <a:pt x="159674" y="190621"/>
                    <a:pt x="162367" y="195323"/>
                    <a:pt x="165743" y="199462"/>
                  </a:cubicBezTo>
                  <a:cubicBezTo>
                    <a:pt x="167592" y="201753"/>
                    <a:pt x="170847" y="202155"/>
                    <a:pt x="173379" y="200668"/>
                  </a:cubicBezTo>
                  <a:cubicBezTo>
                    <a:pt x="182141" y="195604"/>
                    <a:pt x="192911" y="201834"/>
                    <a:pt x="192911" y="211961"/>
                  </a:cubicBezTo>
                  <a:cubicBezTo>
                    <a:pt x="192911" y="214895"/>
                    <a:pt x="194881" y="217508"/>
                    <a:pt x="197774" y="217950"/>
                  </a:cubicBezTo>
                  <a:cubicBezTo>
                    <a:pt x="202959" y="218753"/>
                    <a:pt x="208545" y="218753"/>
                    <a:pt x="213730" y="217950"/>
                  </a:cubicBezTo>
                  <a:cubicBezTo>
                    <a:pt x="216623" y="217508"/>
                    <a:pt x="218593" y="214895"/>
                    <a:pt x="218593" y="211961"/>
                  </a:cubicBezTo>
                  <a:cubicBezTo>
                    <a:pt x="218593" y="201834"/>
                    <a:pt x="229364" y="195604"/>
                    <a:pt x="238125" y="200668"/>
                  </a:cubicBezTo>
                  <a:cubicBezTo>
                    <a:pt x="240657" y="202115"/>
                    <a:pt x="243912" y="201713"/>
                    <a:pt x="245761" y="199462"/>
                  </a:cubicBezTo>
                  <a:cubicBezTo>
                    <a:pt x="249137" y="195323"/>
                    <a:pt x="251830" y="190621"/>
                    <a:pt x="253759" y="185637"/>
                  </a:cubicBezTo>
                  <a:cubicBezTo>
                    <a:pt x="254804" y="182904"/>
                    <a:pt x="253558" y="179890"/>
                    <a:pt x="251026" y="178443"/>
                  </a:cubicBezTo>
                  <a:cubicBezTo>
                    <a:pt x="242224" y="173379"/>
                    <a:pt x="242224" y="160960"/>
                    <a:pt x="251026" y="155856"/>
                  </a:cubicBezTo>
                  <a:close/>
                  <a:moveTo>
                    <a:pt x="189696" y="167190"/>
                  </a:moveTo>
                  <a:cubicBezTo>
                    <a:pt x="189696" y="158317"/>
                    <a:pt x="196900" y="151114"/>
                    <a:pt x="205772" y="151114"/>
                  </a:cubicBezTo>
                  <a:cubicBezTo>
                    <a:pt x="214645" y="151114"/>
                    <a:pt x="221848" y="158317"/>
                    <a:pt x="221848" y="167190"/>
                  </a:cubicBezTo>
                  <a:cubicBezTo>
                    <a:pt x="221848" y="176062"/>
                    <a:pt x="214645" y="183266"/>
                    <a:pt x="205772" y="183266"/>
                  </a:cubicBezTo>
                  <a:cubicBezTo>
                    <a:pt x="196900" y="183266"/>
                    <a:pt x="189696" y="176062"/>
                    <a:pt x="189696" y="16719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45" name="Text 30"/>
            <p:cNvSpPr/>
            <p:nvPr/>
          </p:nvSpPr>
          <p:spPr>
            <a:xfrm>
              <a:off x="10750" y="2093"/>
              <a:ext cx="2487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多智能体协作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6" name="Shape 31"/>
            <p:cNvSpPr/>
            <p:nvPr/>
          </p:nvSpPr>
          <p:spPr>
            <a:xfrm>
              <a:off x="9939" y="2768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47" name="Text 32"/>
            <p:cNvSpPr/>
            <p:nvPr/>
          </p:nvSpPr>
          <p:spPr>
            <a:xfrm>
              <a:off x="10059" y="2849"/>
              <a:ext cx="28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01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8" name="Text 33"/>
            <p:cNvSpPr/>
            <p:nvPr/>
          </p:nvSpPr>
          <p:spPr>
            <a:xfrm>
              <a:off x="10533" y="2768"/>
              <a:ext cx="3673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分析师团队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9" name="Text 34"/>
            <p:cNvSpPr/>
            <p:nvPr/>
          </p:nvSpPr>
          <p:spPr>
            <a:xfrm>
              <a:off x="10533" y="3206"/>
              <a:ext cx="5404" cy="1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4个专业分析师并行工作,提高分析效率</a:t>
              </a: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10倍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0" name="Shape 35"/>
            <p:cNvSpPr/>
            <p:nvPr/>
          </p:nvSpPr>
          <p:spPr>
            <a:xfrm>
              <a:off x="9939" y="3531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51" name="Text 36"/>
            <p:cNvSpPr/>
            <p:nvPr/>
          </p:nvSpPr>
          <p:spPr>
            <a:xfrm>
              <a:off x="10043" y="3612"/>
              <a:ext cx="32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02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2" name="Text 37"/>
            <p:cNvSpPr/>
            <p:nvPr/>
          </p:nvSpPr>
          <p:spPr>
            <a:xfrm>
              <a:off x="10533" y="3531"/>
              <a:ext cx="3268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研究员辩论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3" name="Text 38"/>
            <p:cNvSpPr/>
            <p:nvPr/>
          </p:nvSpPr>
          <p:spPr>
            <a:xfrm>
              <a:off x="10533" y="3971"/>
              <a:ext cx="5092" cy="15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看涨/看跌观点交锋,减少决策偏差</a:t>
              </a: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30%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4" name="Shape 39"/>
            <p:cNvSpPr/>
            <p:nvPr/>
          </p:nvSpPr>
          <p:spPr>
            <a:xfrm>
              <a:off x="9939" y="4294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55" name="Text 40"/>
            <p:cNvSpPr/>
            <p:nvPr/>
          </p:nvSpPr>
          <p:spPr>
            <a:xfrm>
              <a:off x="10040" y="4375"/>
              <a:ext cx="32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03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6" name="Text 41"/>
            <p:cNvSpPr/>
            <p:nvPr/>
          </p:nvSpPr>
          <p:spPr>
            <a:xfrm>
              <a:off x="10533" y="4294"/>
              <a:ext cx="3322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风险管理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7" name="Text 42"/>
            <p:cNvSpPr/>
            <p:nvPr/>
          </p:nvSpPr>
          <p:spPr>
            <a:xfrm>
              <a:off x="10533" y="4726"/>
              <a:ext cx="5169" cy="16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激进/保守/中性三重评估,降低投资风险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8" name="Shape 43"/>
            <p:cNvSpPr/>
            <p:nvPr/>
          </p:nvSpPr>
          <p:spPr>
            <a:xfrm>
              <a:off x="9939" y="5057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59" name="Text 44"/>
            <p:cNvSpPr/>
            <p:nvPr/>
          </p:nvSpPr>
          <p:spPr>
            <a:xfrm>
              <a:off x="10040" y="5138"/>
              <a:ext cx="32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04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0" name="Text 45"/>
            <p:cNvSpPr/>
            <p:nvPr/>
          </p:nvSpPr>
          <p:spPr>
            <a:xfrm>
              <a:off x="10533" y="5057"/>
              <a:ext cx="2619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决策层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1" name="Text 46"/>
            <p:cNvSpPr/>
            <p:nvPr/>
          </p:nvSpPr>
          <p:spPr>
            <a:xfrm>
              <a:off x="10533" y="5381"/>
              <a:ext cx="4726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多维度信息融合,提升决策质量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2" name="Shape 47"/>
            <p:cNvSpPr/>
            <p:nvPr/>
          </p:nvSpPr>
          <p:spPr>
            <a:xfrm>
              <a:off x="547" y="6103"/>
              <a:ext cx="8938" cy="4388"/>
            </a:xfrm>
            <a:custGeom>
              <a:avLst/>
              <a:gdLst/>
              <a:ahLst/>
              <a:cxnLst/>
              <a:rect l="l" t="t" r="r" b="b"/>
              <a:pathLst>
                <a:path w="5675882" h="2786498">
                  <a:moveTo>
                    <a:pt x="102878" y="0"/>
                  </a:moveTo>
                  <a:lnTo>
                    <a:pt x="5573004" y="0"/>
                  </a:lnTo>
                  <a:cubicBezTo>
                    <a:pt x="5629822" y="0"/>
                    <a:pt x="5675882" y="46060"/>
                    <a:pt x="5675882" y="102878"/>
                  </a:cubicBezTo>
                  <a:lnTo>
                    <a:pt x="5675882" y="2683620"/>
                  </a:lnTo>
                  <a:cubicBezTo>
                    <a:pt x="5675882" y="2740438"/>
                    <a:pt x="5629822" y="2786498"/>
                    <a:pt x="5573004" y="2786498"/>
                  </a:cubicBezTo>
                  <a:lnTo>
                    <a:pt x="102878" y="2786498"/>
                  </a:lnTo>
                  <a:cubicBezTo>
                    <a:pt x="46060" y="2786498"/>
                    <a:pt x="0" y="2740438"/>
                    <a:pt x="0" y="2683620"/>
                  </a:cubicBezTo>
                  <a:lnTo>
                    <a:pt x="0" y="102878"/>
                  </a:lnTo>
                  <a:cubicBezTo>
                    <a:pt x="0" y="46098"/>
                    <a:pt x="46098" y="0"/>
                    <a:pt x="102878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63" name="Shape 48"/>
            <p:cNvSpPr/>
            <p:nvPr/>
          </p:nvSpPr>
          <p:spPr>
            <a:xfrm>
              <a:off x="770" y="6326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64" name="Shape 49"/>
            <p:cNvSpPr/>
            <p:nvPr/>
          </p:nvSpPr>
          <p:spPr>
            <a:xfrm>
              <a:off x="932" y="6488"/>
              <a:ext cx="324" cy="324"/>
            </a:xfrm>
            <a:custGeom>
              <a:avLst/>
              <a:gdLst/>
              <a:ahLst/>
              <a:cxnLst/>
              <a:rect l="l" t="t" r="r" b="b"/>
              <a:pathLst>
                <a:path w="205772" h="205772">
                  <a:moveTo>
                    <a:pt x="80380" y="19291"/>
                  </a:moveTo>
                  <a:lnTo>
                    <a:pt x="125392" y="19291"/>
                  </a:lnTo>
                  <a:cubicBezTo>
                    <a:pt x="127161" y="19291"/>
                    <a:pt x="128608" y="20738"/>
                    <a:pt x="128608" y="22506"/>
                  </a:cubicBezTo>
                  <a:lnTo>
                    <a:pt x="128608" y="38582"/>
                  </a:lnTo>
                  <a:lnTo>
                    <a:pt x="77165" y="38582"/>
                  </a:lnTo>
                  <a:lnTo>
                    <a:pt x="77165" y="22506"/>
                  </a:lnTo>
                  <a:cubicBezTo>
                    <a:pt x="77165" y="20738"/>
                    <a:pt x="78611" y="19291"/>
                    <a:pt x="80380" y="19291"/>
                  </a:cubicBezTo>
                  <a:close/>
                  <a:moveTo>
                    <a:pt x="57873" y="22506"/>
                  </a:moveTo>
                  <a:lnTo>
                    <a:pt x="57873" y="38582"/>
                  </a:lnTo>
                  <a:lnTo>
                    <a:pt x="25722" y="38582"/>
                  </a:lnTo>
                  <a:cubicBezTo>
                    <a:pt x="11534" y="38582"/>
                    <a:pt x="0" y="50117"/>
                    <a:pt x="0" y="64304"/>
                  </a:cubicBezTo>
                  <a:lnTo>
                    <a:pt x="0" y="102886"/>
                  </a:lnTo>
                  <a:lnTo>
                    <a:pt x="205772" y="102886"/>
                  </a:lnTo>
                  <a:lnTo>
                    <a:pt x="205772" y="64304"/>
                  </a:lnTo>
                  <a:cubicBezTo>
                    <a:pt x="205772" y="50117"/>
                    <a:pt x="194238" y="38582"/>
                    <a:pt x="180051" y="38582"/>
                  </a:cubicBezTo>
                  <a:lnTo>
                    <a:pt x="147899" y="38582"/>
                  </a:lnTo>
                  <a:lnTo>
                    <a:pt x="147899" y="22506"/>
                  </a:lnTo>
                  <a:cubicBezTo>
                    <a:pt x="147899" y="10088"/>
                    <a:pt x="137811" y="0"/>
                    <a:pt x="125392" y="0"/>
                  </a:cubicBezTo>
                  <a:lnTo>
                    <a:pt x="80380" y="0"/>
                  </a:lnTo>
                  <a:cubicBezTo>
                    <a:pt x="67961" y="0"/>
                    <a:pt x="57873" y="10088"/>
                    <a:pt x="57873" y="22506"/>
                  </a:cubicBezTo>
                  <a:close/>
                  <a:moveTo>
                    <a:pt x="205772" y="122177"/>
                  </a:moveTo>
                  <a:lnTo>
                    <a:pt x="128608" y="122177"/>
                  </a:lnTo>
                  <a:lnTo>
                    <a:pt x="128608" y="128608"/>
                  </a:lnTo>
                  <a:cubicBezTo>
                    <a:pt x="128608" y="135721"/>
                    <a:pt x="122860" y="141468"/>
                    <a:pt x="115747" y="141468"/>
                  </a:cubicBezTo>
                  <a:lnTo>
                    <a:pt x="90025" y="141468"/>
                  </a:lnTo>
                  <a:cubicBezTo>
                    <a:pt x="82912" y="141468"/>
                    <a:pt x="77165" y="135721"/>
                    <a:pt x="77165" y="128608"/>
                  </a:cubicBezTo>
                  <a:lnTo>
                    <a:pt x="77165" y="122177"/>
                  </a:lnTo>
                  <a:lnTo>
                    <a:pt x="0" y="122177"/>
                  </a:lnTo>
                  <a:lnTo>
                    <a:pt x="0" y="167190"/>
                  </a:lnTo>
                  <a:cubicBezTo>
                    <a:pt x="0" y="181377"/>
                    <a:pt x="11534" y="192911"/>
                    <a:pt x="25722" y="192911"/>
                  </a:cubicBezTo>
                  <a:lnTo>
                    <a:pt x="180051" y="192911"/>
                  </a:lnTo>
                  <a:cubicBezTo>
                    <a:pt x="194238" y="192911"/>
                    <a:pt x="205772" y="181377"/>
                    <a:pt x="205772" y="167190"/>
                  </a:cubicBezTo>
                  <a:lnTo>
                    <a:pt x="205772" y="122177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5" name="Text 50"/>
            <p:cNvSpPr/>
            <p:nvPr/>
          </p:nvSpPr>
          <p:spPr>
            <a:xfrm>
              <a:off x="1580" y="6461"/>
              <a:ext cx="2317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企业级功能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6" name="Shape 51"/>
            <p:cNvSpPr/>
            <p:nvPr/>
          </p:nvSpPr>
          <p:spPr>
            <a:xfrm>
              <a:off x="770" y="713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67" name="Shape 52"/>
            <p:cNvSpPr/>
            <p:nvPr/>
          </p:nvSpPr>
          <p:spPr>
            <a:xfrm>
              <a:off x="2014" y="7244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77" h="171477">
                  <a:moveTo>
                    <a:pt x="77868" y="1742"/>
                  </a:moveTo>
                  <a:cubicBezTo>
                    <a:pt x="82858" y="-569"/>
                    <a:pt x="88619" y="-569"/>
                    <a:pt x="93609" y="1742"/>
                  </a:cubicBezTo>
                  <a:lnTo>
                    <a:pt x="166821" y="35568"/>
                  </a:lnTo>
                  <a:cubicBezTo>
                    <a:pt x="169668" y="36874"/>
                    <a:pt x="171477" y="39721"/>
                    <a:pt x="171477" y="42869"/>
                  </a:cubicBezTo>
                  <a:cubicBezTo>
                    <a:pt x="171477" y="46017"/>
                    <a:pt x="169668" y="48864"/>
                    <a:pt x="166821" y="50170"/>
                  </a:cubicBezTo>
                  <a:lnTo>
                    <a:pt x="93609" y="83997"/>
                  </a:lnTo>
                  <a:cubicBezTo>
                    <a:pt x="88619" y="86308"/>
                    <a:pt x="82858" y="86308"/>
                    <a:pt x="77868" y="83997"/>
                  </a:cubicBezTo>
                  <a:lnTo>
                    <a:pt x="4655" y="50170"/>
                  </a:lnTo>
                  <a:cubicBezTo>
                    <a:pt x="1809" y="48831"/>
                    <a:pt x="0" y="45984"/>
                    <a:pt x="0" y="42869"/>
                  </a:cubicBezTo>
                  <a:cubicBezTo>
                    <a:pt x="0" y="39754"/>
                    <a:pt x="1809" y="36874"/>
                    <a:pt x="4655" y="35568"/>
                  </a:cubicBezTo>
                  <a:lnTo>
                    <a:pt x="77868" y="1742"/>
                  </a:lnTo>
                  <a:close/>
                  <a:moveTo>
                    <a:pt x="16109" y="73146"/>
                  </a:moveTo>
                  <a:lnTo>
                    <a:pt x="71136" y="98566"/>
                  </a:lnTo>
                  <a:cubicBezTo>
                    <a:pt x="80413" y="102853"/>
                    <a:pt x="91097" y="102853"/>
                    <a:pt x="100374" y="98566"/>
                  </a:cubicBezTo>
                  <a:lnTo>
                    <a:pt x="155401" y="73146"/>
                  </a:lnTo>
                  <a:lnTo>
                    <a:pt x="166821" y="78437"/>
                  </a:lnTo>
                  <a:cubicBezTo>
                    <a:pt x="169668" y="79743"/>
                    <a:pt x="171477" y="82590"/>
                    <a:pt x="171477" y="85738"/>
                  </a:cubicBezTo>
                  <a:cubicBezTo>
                    <a:pt x="171477" y="88887"/>
                    <a:pt x="169668" y="91733"/>
                    <a:pt x="166821" y="93040"/>
                  </a:cubicBezTo>
                  <a:lnTo>
                    <a:pt x="93609" y="126866"/>
                  </a:lnTo>
                  <a:cubicBezTo>
                    <a:pt x="88619" y="129177"/>
                    <a:pt x="82858" y="129177"/>
                    <a:pt x="77868" y="126866"/>
                  </a:cubicBezTo>
                  <a:lnTo>
                    <a:pt x="4655" y="93040"/>
                  </a:lnTo>
                  <a:cubicBezTo>
                    <a:pt x="1809" y="91700"/>
                    <a:pt x="0" y="88853"/>
                    <a:pt x="0" y="85738"/>
                  </a:cubicBezTo>
                  <a:cubicBezTo>
                    <a:pt x="0" y="82624"/>
                    <a:pt x="1809" y="79743"/>
                    <a:pt x="4655" y="78437"/>
                  </a:cubicBezTo>
                  <a:lnTo>
                    <a:pt x="16076" y="73146"/>
                  </a:lnTo>
                  <a:close/>
                  <a:moveTo>
                    <a:pt x="4655" y="121306"/>
                  </a:moveTo>
                  <a:lnTo>
                    <a:pt x="16076" y="116015"/>
                  </a:lnTo>
                  <a:lnTo>
                    <a:pt x="71103" y="141435"/>
                  </a:lnTo>
                  <a:cubicBezTo>
                    <a:pt x="80380" y="145722"/>
                    <a:pt x="91064" y="145722"/>
                    <a:pt x="100341" y="141435"/>
                  </a:cubicBezTo>
                  <a:lnTo>
                    <a:pt x="155367" y="116015"/>
                  </a:lnTo>
                  <a:lnTo>
                    <a:pt x="166788" y="121306"/>
                  </a:lnTo>
                  <a:cubicBezTo>
                    <a:pt x="169635" y="122613"/>
                    <a:pt x="171443" y="125459"/>
                    <a:pt x="171443" y="128608"/>
                  </a:cubicBezTo>
                  <a:cubicBezTo>
                    <a:pt x="171443" y="131756"/>
                    <a:pt x="169635" y="134603"/>
                    <a:pt x="166788" y="135909"/>
                  </a:cubicBezTo>
                  <a:lnTo>
                    <a:pt x="93575" y="169735"/>
                  </a:lnTo>
                  <a:cubicBezTo>
                    <a:pt x="88585" y="172046"/>
                    <a:pt x="82825" y="172046"/>
                    <a:pt x="77834" y="169735"/>
                  </a:cubicBezTo>
                  <a:lnTo>
                    <a:pt x="4655" y="135909"/>
                  </a:lnTo>
                  <a:cubicBezTo>
                    <a:pt x="1809" y="134569"/>
                    <a:pt x="0" y="131722"/>
                    <a:pt x="0" y="128608"/>
                  </a:cubicBezTo>
                  <a:cubicBezTo>
                    <a:pt x="0" y="125493"/>
                    <a:pt x="1809" y="122613"/>
                    <a:pt x="4655" y="121306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8" name="Text 53"/>
            <p:cNvSpPr/>
            <p:nvPr/>
          </p:nvSpPr>
          <p:spPr>
            <a:xfrm>
              <a:off x="830" y="757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批量分析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9" name="Text 54"/>
            <p:cNvSpPr/>
            <p:nvPr/>
          </p:nvSpPr>
          <p:spPr>
            <a:xfrm>
              <a:off x="837" y="784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多股票并发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0" name="Shape 55"/>
            <p:cNvSpPr/>
            <p:nvPr/>
          </p:nvSpPr>
          <p:spPr>
            <a:xfrm>
              <a:off x="3637" y="713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71" name="Shape 56"/>
            <p:cNvSpPr/>
            <p:nvPr/>
          </p:nvSpPr>
          <p:spPr>
            <a:xfrm>
              <a:off x="4882" y="7244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77" h="171477">
                  <a:moveTo>
                    <a:pt x="10717" y="21435"/>
                  </a:moveTo>
                  <a:cubicBezTo>
                    <a:pt x="6397" y="21435"/>
                    <a:pt x="2478" y="24047"/>
                    <a:pt x="804" y="28066"/>
                  </a:cubicBezTo>
                  <a:cubicBezTo>
                    <a:pt x="-871" y="32085"/>
                    <a:pt x="67" y="36673"/>
                    <a:pt x="3148" y="39721"/>
                  </a:cubicBezTo>
                  <a:lnTo>
                    <a:pt x="64304" y="100910"/>
                  </a:lnTo>
                  <a:lnTo>
                    <a:pt x="64304" y="139325"/>
                  </a:lnTo>
                  <a:cubicBezTo>
                    <a:pt x="64304" y="142172"/>
                    <a:pt x="65443" y="144884"/>
                    <a:pt x="67452" y="146894"/>
                  </a:cubicBezTo>
                  <a:lnTo>
                    <a:pt x="88887" y="168329"/>
                  </a:lnTo>
                  <a:cubicBezTo>
                    <a:pt x="91968" y="171410"/>
                    <a:pt x="96556" y="172314"/>
                    <a:pt x="100575" y="170640"/>
                  </a:cubicBezTo>
                  <a:cubicBezTo>
                    <a:pt x="104594" y="168965"/>
                    <a:pt x="107173" y="165080"/>
                    <a:pt x="107173" y="160759"/>
                  </a:cubicBezTo>
                  <a:lnTo>
                    <a:pt x="107173" y="100910"/>
                  </a:lnTo>
                  <a:lnTo>
                    <a:pt x="168329" y="39754"/>
                  </a:lnTo>
                  <a:cubicBezTo>
                    <a:pt x="171410" y="36673"/>
                    <a:pt x="172314" y="32085"/>
                    <a:pt x="170640" y="28066"/>
                  </a:cubicBezTo>
                  <a:cubicBezTo>
                    <a:pt x="168965" y="24047"/>
                    <a:pt x="165080" y="21435"/>
                    <a:pt x="160759" y="21435"/>
                  </a:cubicBezTo>
                  <a:lnTo>
                    <a:pt x="10717" y="21435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72" name="Text 57"/>
            <p:cNvSpPr/>
            <p:nvPr/>
          </p:nvSpPr>
          <p:spPr>
            <a:xfrm>
              <a:off x="3698" y="757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股票筛选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3" name="Text 58"/>
            <p:cNvSpPr/>
            <p:nvPr/>
          </p:nvSpPr>
          <p:spPr>
            <a:xfrm>
              <a:off x="3705" y="784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多维度指标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4" name="Shape 59"/>
            <p:cNvSpPr/>
            <p:nvPr/>
          </p:nvSpPr>
          <p:spPr>
            <a:xfrm>
              <a:off x="6504" y="713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75" name="Shape 60"/>
            <p:cNvSpPr/>
            <p:nvPr/>
          </p:nvSpPr>
          <p:spPr>
            <a:xfrm>
              <a:off x="7749" y="7244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77" h="171477">
                  <a:moveTo>
                    <a:pt x="80715" y="29171"/>
                  </a:moveTo>
                  <a:lnTo>
                    <a:pt x="85738" y="36104"/>
                  </a:lnTo>
                  <a:lnTo>
                    <a:pt x="90762" y="29171"/>
                  </a:lnTo>
                  <a:cubicBezTo>
                    <a:pt x="99135" y="17583"/>
                    <a:pt x="112599" y="10717"/>
                    <a:pt x="126900" y="10717"/>
                  </a:cubicBezTo>
                  <a:cubicBezTo>
                    <a:pt x="151516" y="10717"/>
                    <a:pt x="171477" y="30678"/>
                    <a:pt x="171477" y="55295"/>
                  </a:cubicBezTo>
                  <a:lnTo>
                    <a:pt x="171477" y="56165"/>
                  </a:lnTo>
                  <a:cubicBezTo>
                    <a:pt x="171477" y="93743"/>
                    <a:pt x="124622" y="137382"/>
                    <a:pt x="100173" y="156037"/>
                  </a:cubicBezTo>
                  <a:cubicBezTo>
                    <a:pt x="96020" y="159185"/>
                    <a:pt x="90930" y="160759"/>
                    <a:pt x="85738" y="160759"/>
                  </a:cubicBezTo>
                  <a:cubicBezTo>
                    <a:pt x="80547" y="160759"/>
                    <a:pt x="75423" y="159219"/>
                    <a:pt x="71304" y="156037"/>
                  </a:cubicBezTo>
                  <a:cubicBezTo>
                    <a:pt x="46855" y="137382"/>
                    <a:pt x="0" y="93743"/>
                    <a:pt x="0" y="56165"/>
                  </a:cubicBezTo>
                  <a:lnTo>
                    <a:pt x="0" y="55295"/>
                  </a:lnTo>
                  <a:cubicBezTo>
                    <a:pt x="0" y="30678"/>
                    <a:pt x="19961" y="10717"/>
                    <a:pt x="44577" y="10717"/>
                  </a:cubicBezTo>
                  <a:cubicBezTo>
                    <a:pt x="58878" y="10717"/>
                    <a:pt x="72342" y="17583"/>
                    <a:pt x="80715" y="29171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76" name="Text 61"/>
            <p:cNvSpPr/>
            <p:nvPr/>
          </p:nvSpPr>
          <p:spPr>
            <a:xfrm>
              <a:off x="6565" y="757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自选股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7" name="Text 62"/>
            <p:cNvSpPr/>
            <p:nvPr/>
          </p:nvSpPr>
          <p:spPr>
            <a:xfrm>
              <a:off x="6572" y="784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分组管理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8" name="Shape 63"/>
            <p:cNvSpPr/>
            <p:nvPr/>
          </p:nvSpPr>
          <p:spPr>
            <a:xfrm>
              <a:off x="770" y="875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79" name="Shape 64"/>
            <p:cNvSpPr/>
            <p:nvPr/>
          </p:nvSpPr>
          <p:spPr>
            <a:xfrm>
              <a:off x="1980" y="8864"/>
              <a:ext cx="338" cy="270"/>
            </a:xfrm>
            <a:custGeom>
              <a:avLst/>
              <a:gdLst/>
              <a:ahLst/>
              <a:cxnLst/>
              <a:rect l="l" t="t" r="r" b="b"/>
              <a:pathLst>
                <a:path w="214346" h="171477">
                  <a:moveTo>
                    <a:pt x="150042" y="21435"/>
                  </a:moveTo>
                  <a:cubicBezTo>
                    <a:pt x="185543" y="21435"/>
                    <a:pt x="214346" y="50237"/>
                    <a:pt x="214346" y="85738"/>
                  </a:cubicBezTo>
                  <a:cubicBezTo>
                    <a:pt x="214346" y="121239"/>
                    <a:pt x="185543" y="150042"/>
                    <a:pt x="150042" y="150042"/>
                  </a:cubicBezTo>
                  <a:lnTo>
                    <a:pt x="64304" y="150042"/>
                  </a:lnTo>
                  <a:cubicBezTo>
                    <a:pt x="28803" y="150042"/>
                    <a:pt x="0" y="121239"/>
                    <a:pt x="0" y="85738"/>
                  </a:cubicBezTo>
                  <a:cubicBezTo>
                    <a:pt x="0" y="50237"/>
                    <a:pt x="28803" y="21435"/>
                    <a:pt x="64304" y="21435"/>
                  </a:cubicBezTo>
                  <a:lnTo>
                    <a:pt x="150042" y="21435"/>
                  </a:lnTo>
                  <a:close/>
                  <a:moveTo>
                    <a:pt x="64304" y="58945"/>
                  </a:moveTo>
                  <a:cubicBezTo>
                    <a:pt x="59849" y="58945"/>
                    <a:pt x="56266" y="62529"/>
                    <a:pt x="56266" y="66983"/>
                  </a:cubicBezTo>
                  <a:lnTo>
                    <a:pt x="56266" y="77700"/>
                  </a:lnTo>
                  <a:lnTo>
                    <a:pt x="45549" y="77700"/>
                  </a:lnTo>
                  <a:cubicBezTo>
                    <a:pt x="41094" y="77700"/>
                    <a:pt x="37511" y="81284"/>
                    <a:pt x="37511" y="85738"/>
                  </a:cubicBezTo>
                  <a:cubicBezTo>
                    <a:pt x="37511" y="90193"/>
                    <a:pt x="41094" y="93776"/>
                    <a:pt x="45549" y="93776"/>
                  </a:cubicBezTo>
                  <a:lnTo>
                    <a:pt x="56266" y="93776"/>
                  </a:lnTo>
                  <a:lnTo>
                    <a:pt x="56266" y="104494"/>
                  </a:lnTo>
                  <a:cubicBezTo>
                    <a:pt x="56266" y="108948"/>
                    <a:pt x="59849" y="112532"/>
                    <a:pt x="64304" y="112532"/>
                  </a:cubicBezTo>
                  <a:cubicBezTo>
                    <a:pt x="68758" y="112532"/>
                    <a:pt x="72342" y="108948"/>
                    <a:pt x="72342" y="104494"/>
                  </a:cubicBezTo>
                  <a:lnTo>
                    <a:pt x="72342" y="93776"/>
                  </a:lnTo>
                  <a:lnTo>
                    <a:pt x="83059" y="93776"/>
                  </a:lnTo>
                  <a:cubicBezTo>
                    <a:pt x="87513" y="93776"/>
                    <a:pt x="91097" y="90193"/>
                    <a:pt x="91097" y="85738"/>
                  </a:cubicBezTo>
                  <a:cubicBezTo>
                    <a:pt x="91097" y="81284"/>
                    <a:pt x="87513" y="77700"/>
                    <a:pt x="83059" y="77700"/>
                  </a:cubicBezTo>
                  <a:lnTo>
                    <a:pt x="72342" y="77700"/>
                  </a:lnTo>
                  <a:lnTo>
                    <a:pt x="72342" y="66983"/>
                  </a:lnTo>
                  <a:cubicBezTo>
                    <a:pt x="72342" y="62529"/>
                    <a:pt x="68758" y="58945"/>
                    <a:pt x="64304" y="58945"/>
                  </a:cubicBezTo>
                  <a:close/>
                  <a:moveTo>
                    <a:pt x="144684" y="91097"/>
                  </a:moveTo>
                  <a:cubicBezTo>
                    <a:pt x="138769" y="91097"/>
                    <a:pt x="133966" y="95899"/>
                    <a:pt x="133966" y="101814"/>
                  </a:cubicBezTo>
                  <a:cubicBezTo>
                    <a:pt x="133966" y="107729"/>
                    <a:pt x="138769" y="112532"/>
                    <a:pt x="144684" y="112532"/>
                  </a:cubicBezTo>
                  <a:cubicBezTo>
                    <a:pt x="150599" y="112532"/>
                    <a:pt x="155401" y="107729"/>
                    <a:pt x="155401" y="101814"/>
                  </a:cubicBezTo>
                  <a:cubicBezTo>
                    <a:pt x="155401" y="95899"/>
                    <a:pt x="150599" y="91097"/>
                    <a:pt x="144684" y="91097"/>
                  </a:cubicBezTo>
                  <a:close/>
                  <a:moveTo>
                    <a:pt x="166118" y="58945"/>
                  </a:moveTo>
                  <a:cubicBezTo>
                    <a:pt x="160203" y="58945"/>
                    <a:pt x="155401" y="63747"/>
                    <a:pt x="155401" y="69662"/>
                  </a:cubicBezTo>
                  <a:cubicBezTo>
                    <a:pt x="155401" y="75577"/>
                    <a:pt x="160203" y="80380"/>
                    <a:pt x="166118" y="80380"/>
                  </a:cubicBezTo>
                  <a:cubicBezTo>
                    <a:pt x="172033" y="80380"/>
                    <a:pt x="176835" y="75577"/>
                    <a:pt x="176835" y="69662"/>
                  </a:cubicBezTo>
                  <a:cubicBezTo>
                    <a:pt x="176835" y="63747"/>
                    <a:pt x="172033" y="58945"/>
                    <a:pt x="166118" y="58945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80" name="Text 65"/>
            <p:cNvSpPr/>
            <p:nvPr/>
          </p:nvSpPr>
          <p:spPr>
            <a:xfrm>
              <a:off x="830" y="919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模拟交易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1" name="Text 66"/>
            <p:cNvSpPr/>
            <p:nvPr/>
          </p:nvSpPr>
          <p:spPr>
            <a:xfrm>
              <a:off x="837" y="946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虚拟环境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2" name="Shape 67"/>
            <p:cNvSpPr/>
            <p:nvPr/>
          </p:nvSpPr>
          <p:spPr>
            <a:xfrm>
              <a:off x="3637" y="875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83" name="Shape 68"/>
            <p:cNvSpPr/>
            <p:nvPr/>
          </p:nvSpPr>
          <p:spPr>
            <a:xfrm>
              <a:off x="4865" y="8864"/>
              <a:ext cx="304" cy="270"/>
            </a:xfrm>
            <a:custGeom>
              <a:avLst/>
              <a:gdLst/>
              <a:ahLst/>
              <a:cxnLst/>
              <a:rect l="l" t="t" r="r" b="b"/>
              <a:pathLst>
                <a:path w="192911" h="171477">
                  <a:moveTo>
                    <a:pt x="32319" y="0"/>
                  </a:moveTo>
                  <a:cubicBezTo>
                    <a:pt x="20497" y="0"/>
                    <a:pt x="10885" y="9612"/>
                    <a:pt x="10885" y="21435"/>
                  </a:cubicBezTo>
                  <a:lnTo>
                    <a:pt x="10885" y="150042"/>
                  </a:lnTo>
                  <a:cubicBezTo>
                    <a:pt x="10885" y="161865"/>
                    <a:pt x="20497" y="171477"/>
                    <a:pt x="32319" y="171477"/>
                  </a:cubicBezTo>
                  <a:lnTo>
                    <a:pt x="118058" y="171477"/>
                  </a:lnTo>
                  <a:cubicBezTo>
                    <a:pt x="129880" y="171477"/>
                    <a:pt x="139492" y="161865"/>
                    <a:pt x="139492" y="150042"/>
                  </a:cubicBezTo>
                  <a:lnTo>
                    <a:pt x="139492" y="117890"/>
                  </a:lnTo>
                  <a:lnTo>
                    <a:pt x="165649" y="117890"/>
                  </a:lnTo>
                  <a:lnTo>
                    <a:pt x="155267" y="128273"/>
                  </a:lnTo>
                  <a:cubicBezTo>
                    <a:pt x="152119" y="131421"/>
                    <a:pt x="152119" y="136512"/>
                    <a:pt x="155267" y="139626"/>
                  </a:cubicBezTo>
                  <a:cubicBezTo>
                    <a:pt x="158415" y="142741"/>
                    <a:pt x="163506" y="142775"/>
                    <a:pt x="166621" y="139626"/>
                  </a:cubicBezTo>
                  <a:lnTo>
                    <a:pt x="190734" y="115512"/>
                  </a:lnTo>
                  <a:cubicBezTo>
                    <a:pt x="193883" y="112364"/>
                    <a:pt x="193883" y="107273"/>
                    <a:pt x="190734" y="104159"/>
                  </a:cubicBezTo>
                  <a:lnTo>
                    <a:pt x="166621" y="80045"/>
                  </a:lnTo>
                  <a:cubicBezTo>
                    <a:pt x="163472" y="76897"/>
                    <a:pt x="158382" y="76897"/>
                    <a:pt x="155267" y="80045"/>
                  </a:cubicBezTo>
                  <a:cubicBezTo>
                    <a:pt x="152152" y="83193"/>
                    <a:pt x="152119" y="88284"/>
                    <a:pt x="155267" y="91398"/>
                  </a:cubicBezTo>
                  <a:lnTo>
                    <a:pt x="165649" y="101781"/>
                  </a:lnTo>
                  <a:lnTo>
                    <a:pt x="139492" y="101781"/>
                  </a:lnTo>
                  <a:lnTo>
                    <a:pt x="139492" y="57070"/>
                  </a:lnTo>
                  <a:cubicBezTo>
                    <a:pt x="139492" y="51376"/>
                    <a:pt x="137248" y="45917"/>
                    <a:pt x="133229" y="41898"/>
                  </a:cubicBezTo>
                  <a:lnTo>
                    <a:pt x="97527" y="6263"/>
                  </a:lnTo>
                  <a:cubicBezTo>
                    <a:pt x="93508" y="2244"/>
                    <a:pt x="88083" y="0"/>
                    <a:pt x="82389" y="0"/>
                  </a:cubicBezTo>
                  <a:lnTo>
                    <a:pt x="32319" y="0"/>
                  </a:lnTo>
                  <a:close/>
                  <a:moveTo>
                    <a:pt x="119900" y="58945"/>
                  </a:moveTo>
                  <a:lnTo>
                    <a:pt x="88585" y="58945"/>
                  </a:lnTo>
                  <a:cubicBezTo>
                    <a:pt x="84131" y="58945"/>
                    <a:pt x="80547" y="55362"/>
                    <a:pt x="80547" y="50907"/>
                  </a:cubicBezTo>
                  <a:lnTo>
                    <a:pt x="80547" y="19593"/>
                  </a:lnTo>
                  <a:lnTo>
                    <a:pt x="119900" y="58945"/>
                  </a:lnTo>
                  <a:close/>
                  <a:moveTo>
                    <a:pt x="75189" y="109852"/>
                  </a:moveTo>
                  <a:cubicBezTo>
                    <a:pt x="75189" y="105398"/>
                    <a:pt x="78772" y="101814"/>
                    <a:pt x="83227" y="101814"/>
                  </a:cubicBezTo>
                  <a:lnTo>
                    <a:pt x="118058" y="101814"/>
                  </a:lnTo>
                  <a:lnTo>
                    <a:pt x="118058" y="117890"/>
                  </a:lnTo>
                  <a:lnTo>
                    <a:pt x="83227" y="117890"/>
                  </a:lnTo>
                  <a:cubicBezTo>
                    <a:pt x="78772" y="117890"/>
                    <a:pt x="75189" y="114307"/>
                    <a:pt x="75189" y="109852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84" name="Text 69"/>
            <p:cNvSpPr/>
            <p:nvPr/>
          </p:nvSpPr>
          <p:spPr>
            <a:xfrm>
              <a:off x="3698" y="919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报告导出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5" name="Text 70"/>
            <p:cNvSpPr/>
            <p:nvPr/>
          </p:nvSpPr>
          <p:spPr>
            <a:xfrm>
              <a:off x="3705" y="946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多格式支持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6" name="Shape 71"/>
            <p:cNvSpPr/>
            <p:nvPr/>
          </p:nvSpPr>
          <p:spPr>
            <a:xfrm>
              <a:off x="6504" y="875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87" name="Shape 72"/>
            <p:cNvSpPr/>
            <p:nvPr/>
          </p:nvSpPr>
          <p:spPr>
            <a:xfrm>
              <a:off x="7766" y="8864"/>
              <a:ext cx="236" cy="270"/>
            </a:xfrm>
            <a:custGeom>
              <a:avLst/>
              <a:gdLst/>
              <a:ahLst/>
              <a:cxnLst/>
              <a:rect l="l" t="t" r="r" b="b"/>
              <a:pathLst>
                <a:path w="150042" h="171477">
                  <a:moveTo>
                    <a:pt x="75021" y="0"/>
                  </a:moveTo>
                  <a:cubicBezTo>
                    <a:pt x="69093" y="0"/>
                    <a:pt x="64304" y="4789"/>
                    <a:pt x="64304" y="10717"/>
                  </a:cubicBezTo>
                  <a:lnTo>
                    <a:pt x="64304" y="11789"/>
                  </a:lnTo>
                  <a:cubicBezTo>
                    <a:pt x="39855" y="16746"/>
                    <a:pt x="21435" y="38381"/>
                    <a:pt x="21435" y="64304"/>
                  </a:cubicBezTo>
                  <a:lnTo>
                    <a:pt x="21435" y="71571"/>
                  </a:lnTo>
                  <a:cubicBezTo>
                    <a:pt x="21435" y="87681"/>
                    <a:pt x="15942" y="103321"/>
                    <a:pt x="5895" y="115914"/>
                  </a:cubicBezTo>
                  <a:lnTo>
                    <a:pt x="2612" y="120000"/>
                  </a:lnTo>
                  <a:cubicBezTo>
                    <a:pt x="904" y="122110"/>
                    <a:pt x="0" y="124723"/>
                    <a:pt x="0" y="127435"/>
                  </a:cubicBezTo>
                  <a:cubicBezTo>
                    <a:pt x="0" y="134000"/>
                    <a:pt x="5325" y="139325"/>
                    <a:pt x="11890" y="139325"/>
                  </a:cubicBezTo>
                  <a:lnTo>
                    <a:pt x="138119" y="139325"/>
                  </a:lnTo>
                  <a:cubicBezTo>
                    <a:pt x="144684" y="139325"/>
                    <a:pt x="150009" y="134000"/>
                    <a:pt x="150009" y="127435"/>
                  </a:cubicBezTo>
                  <a:cubicBezTo>
                    <a:pt x="150009" y="124723"/>
                    <a:pt x="149104" y="122110"/>
                    <a:pt x="147396" y="120000"/>
                  </a:cubicBezTo>
                  <a:lnTo>
                    <a:pt x="144114" y="115914"/>
                  </a:lnTo>
                  <a:cubicBezTo>
                    <a:pt x="134100" y="103321"/>
                    <a:pt x="128608" y="87681"/>
                    <a:pt x="128608" y="71571"/>
                  </a:cubicBezTo>
                  <a:lnTo>
                    <a:pt x="128608" y="64304"/>
                  </a:lnTo>
                  <a:cubicBezTo>
                    <a:pt x="128608" y="38381"/>
                    <a:pt x="110187" y="16746"/>
                    <a:pt x="85738" y="11789"/>
                  </a:cubicBezTo>
                  <a:lnTo>
                    <a:pt x="85738" y="10717"/>
                  </a:lnTo>
                  <a:cubicBezTo>
                    <a:pt x="85738" y="4789"/>
                    <a:pt x="80949" y="0"/>
                    <a:pt x="75021" y="0"/>
                  </a:cubicBezTo>
                  <a:close/>
                  <a:moveTo>
                    <a:pt x="54256" y="155401"/>
                  </a:moveTo>
                  <a:cubicBezTo>
                    <a:pt x="56634" y="164645"/>
                    <a:pt x="65041" y="171477"/>
                    <a:pt x="75021" y="171477"/>
                  </a:cubicBezTo>
                  <a:cubicBezTo>
                    <a:pt x="85002" y="171477"/>
                    <a:pt x="93408" y="164645"/>
                    <a:pt x="95786" y="155401"/>
                  </a:cubicBezTo>
                  <a:lnTo>
                    <a:pt x="54256" y="155401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88" name="Text 73"/>
            <p:cNvSpPr/>
            <p:nvPr/>
          </p:nvSpPr>
          <p:spPr>
            <a:xfrm>
              <a:off x="6565" y="919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实时监控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9" name="Text 74"/>
            <p:cNvSpPr/>
            <p:nvPr/>
          </p:nvSpPr>
          <p:spPr>
            <a:xfrm>
              <a:off x="6572" y="946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推送通知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0" name="Shape 75"/>
            <p:cNvSpPr/>
            <p:nvPr/>
          </p:nvSpPr>
          <p:spPr>
            <a:xfrm>
              <a:off x="9716" y="6103"/>
              <a:ext cx="8938" cy="4388"/>
            </a:xfrm>
            <a:custGeom>
              <a:avLst/>
              <a:gdLst/>
              <a:ahLst/>
              <a:cxnLst/>
              <a:rect l="l" t="t" r="r" b="b"/>
              <a:pathLst>
                <a:path w="5675882" h="2786498">
                  <a:moveTo>
                    <a:pt x="102878" y="0"/>
                  </a:moveTo>
                  <a:lnTo>
                    <a:pt x="5573004" y="0"/>
                  </a:lnTo>
                  <a:cubicBezTo>
                    <a:pt x="5629822" y="0"/>
                    <a:pt x="5675882" y="46060"/>
                    <a:pt x="5675882" y="102878"/>
                  </a:cubicBezTo>
                  <a:lnTo>
                    <a:pt x="5675882" y="2683620"/>
                  </a:lnTo>
                  <a:cubicBezTo>
                    <a:pt x="5675882" y="2740438"/>
                    <a:pt x="5629822" y="2786498"/>
                    <a:pt x="5573004" y="2786498"/>
                  </a:cubicBezTo>
                  <a:lnTo>
                    <a:pt x="102878" y="2786498"/>
                  </a:lnTo>
                  <a:cubicBezTo>
                    <a:pt x="46060" y="2786498"/>
                    <a:pt x="0" y="2740438"/>
                    <a:pt x="0" y="2683620"/>
                  </a:cubicBezTo>
                  <a:lnTo>
                    <a:pt x="0" y="102878"/>
                  </a:lnTo>
                  <a:cubicBezTo>
                    <a:pt x="0" y="46098"/>
                    <a:pt x="46098" y="0"/>
                    <a:pt x="102878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91" name="Shape 76"/>
            <p:cNvSpPr/>
            <p:nvPr/>
          </p:nvSpPr>
          <p:spPr>
            <a:xfrm>
              <a:off x="9939" y="6326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92" name="Shape 77"/>
            <p:cNvSpPr/>
            <p:nvPr/>
          </p:nvSpPr>
          <p:spPr>
            <a:xfrm>
              <a:off x="10121" y="6488"/>
              <a:ext cx="284" cy="324"/>
            </a:xfrm>
            <a:custGeom>
              <a:avLst/>
              <a:gdLst/>
              <a:ahLst/>
              <a:cxnLst/>
              <a:rect l="l" t="t" r="r" b="b"/>
              <a:pathLst>
                <a:path w="180051" h="205772">
                  <a:moveTo>
                    <a:pt x="51443" y="-12861"/>
                  </a:moveTo>
                  <a:cubicBezTo>
                    <a:pt x="58557" y="-12861"/>
                    <a:pt x="64304" y="-7114"/>
                    <a:pt x="64304" y="0"/>
                  </a:cubicBezTo>
                  <a:lnTo>
                    <a:pt x="64304" y="38582"/>
                  </a:lnTo>
                  <a:lnTo>
                    <a:pt x="115747" y="38582"/>
                  </a:lnTo>
                  <a:lnTo>
                    <a:pt x="115747" y="0"/>
                  </a:lnTo>
                  <a:cubicBezTo>
                    <a:pt x="115747" y="-7114"/>
                    <a:pt x="121494" y="-12861"/>
                    <a:pt x="128608" y="-12861"/>
                  </a:cubicBezTo>
                  <a:cubicBezTo>
                    <a:pt x="135721" y="-12861"/>
                    <a:pt x="141468" y="-7114"/>
                    <a:pt x="141468" y="0"/>
                  </a:cubicBezTo>
                  <a:lnTo>
                    <a:pt x="141468" y="38582"/>
                  </a:lnTo>
                  <a:lnTo>
                    <a:pt x="167190" y="38582"/>
                  </a:lnTo>
                  <a:cubicBezTo>
                    <a:pt x="174303" y="38582"/>
                    <a:pt x="180051" y="44329"/>
                    <a:pt x="180051" y="51443"/>
                  </a:cubicBezTo>
                  <a:cubicBezTo>
                    <a:pt x="180051" y="58557"/>
                    <a:pt x="174303" y="64304"/>
                    <a:pt x="167190" y="64304"/>
                  </a:cubicBezTo>
                  <a:lnTo>
                    <a:pt x="167190" y="90025"/>
                  </a:lnTo>
                  <a:cubicBezTo>
                    <a:pt x="167190" y="128246"/>
                    <a:pt x="139378" y="159996"/>
                    <a:pt x="102886" y="166105"/>
                  </a:cubicBezTo>
                  <a:lnTo>
                    <a:pt x="102886" y="192911"/>
                  </a:lnTo>
                  <a:cubicBezTo>
                    <a:pt x="102886" y="200025"/>
                    <a:pt x="97139" y="205772"/>
                    <a:pt x="90025" y="205772"/>
                  </a:cubicBezTo>
                  <a:cubicBezTo>
                    <a:pt x="82912" y="205772"/>
                    <a:pt x="77165" y="200025"/>
                    <a:pt x="77165" y="192911"/>
                  </a:cubicBezTo>
                  <a:lnTo>
                    <a:pt x="77165" y="166105"/>
                  </a:lnTo>
                  <a:cubicBezTo>
                    <a:pt x="40672" y="159996"/>
                    <a:pt x="12861" y="128246"/>
                    <a:pt x="12861" y="90025"/>
                  </a:cubicBezTo>
                  <a:lnTo>
                    <a:pt x="12861" y="64304"/>
                  </a:lnTo>
                  <a:cubicBezTo>
                    <a:pt x="5747" y="64304"/>
                    <a:pt x="0" y="58557"/>
                    <a:pt x="0" y="51443"/>
                  </a:cubicBezTo>
                  <a:cubicBezTo>
                    <a:pt x="0" y="44329"/>
                    <a:pt x="5747" y="38582"/>
                    <a:pt x="12861" y="38582"/>
                  </a:cubicBezTo>
                  <a:lnTo>
                    <a:pt x="38582" y="38582"/>
                  </a:lnTo>
                  <a:lnTo>
                    <a:pt x="38582" y="0"/>
                  </a:lnTo>
                  <a:cubicBezTo>
                    <a:pt x="38582" y="-7114"/>
                    <a:pt x="44329" y="-12861"/>
                    <a:pt x="51443" y="-12861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93" name="Text 78"/>
            <p:cNvSpPr/>
            <p:nvPr/>
          </p:nvSpPr>
          <p:spPr>
            <a:xfrm>
              <a:off x="10750" y="6461"/>
              <a:ext cx="1665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开放生态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4" name="Shape 79"/>
            <p:cNvSpPr/>
            <p:nvPr/>
          </p:nvSpPr>
          <p:spPr>
            <a:xfrm>
              <a:off x="9939" y="7136"/>
              <a:ext cx="8493" cy="972"/>
            </a:xfrm>
            <a:custGeom>
              <a:avLst/>
              <a:gdLst/>
              <a:ahLst/>
              <a:cxnLst/>
              <a:rect l="l" t="t" r="r" b="b"/>
              <a:pathLst>
                <a:path w="5392945" h="617316">
                  <a:moveTo>
                    <a:pt x="68590" y="0"/>
                  </a:moveTo>
                  <a:lnTo>
                    <a:pt x="5324355" y="0"/>
                  </a:lnTo>
                  <a:cubicBezTo>
                    <a:pt x="5362236" y="0"/>
                    <a:pt x="5392945" y="30709"/>
                    <a:pt x="5392945" y="68590"/>
                  </a:cubicBezTo>
                  <a:lnTo>
                    <a:pt x="5392945" y="548726"/>
                  </a:lnTo>
                  <a:cubicBezTo>
                    <a:pt x="5392945" y="586608"/>
                    <a:pt x="5362236" y="617316"/>
                    <a:pt x="5324355" y="617316"/>
                  </a:cubicBezTo>
                  <a:lnTo>
                    <a:pt x="68590" y="617316"/>
                  </a:lnTo>
                  <a:cubicBezTo>
                    <a:pt x="30734" y="617316"/>
                    <a:pt x="0" y="586582"/>
                    <a:pt x="0" y="548726"/>
                  </a:cubicBezTo>
                  <a:lnTo>
                    <a:pt x="0" y="68590"/>
                  </a:lnTo>
                  <a:cubicBezTo>
                    <a:pt x="0" y="30734"/>
                    <a:pt x="30734" y="0"/>
                    <a:pt x="68590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95" name="Shape 80"/>
            <p:cNvSpPr/>
            <p:nvPr/>
          </p:nvSpPr>
          <p:spPr>
            <a:xfrm>
              <a:off x="10115" y="7352"/>
              <a:ext cx="243" cy="216"/>
            </a:xfrm>
            <a:custGeom>
              <a:avLst/>
              <a:gdLst/>
              <a:ahLst/>
              <a:cxnLst/>
              <a:rect l="l" t="t" r="r" b="b"/>
              <a:pathLst>
                <a:path w="154329" h="137181">
                  <a:moveTo>
                    <a:pt x="96670" y="322"/>
                  </a:moveTo>
                  <a:cubicBezTo>
                    <a:pt x="92115" y="-991"/>
                    <a:pt x="87373" y="1661"/>
                    <a:pt x="86060" y="6216"/>
                  </a:cubicBezTo>
                  <a:lnTo>
                    <a:pt x="51765" y="126250"/>
                  </a:lnTo>
                  <a:cubicBezTo>
                    <a:pt x="50452" y="130805"/>
                    <a:pt x="53104" y="135547"/>
                    <a:pt x="57659" y="136860"/>
                  </a:cubicBezTo>
                  <a:cubicBezTo>
                    <a:pt x="62214" y="138173"/>
                    <a:pt x="66956" y="135520"/>
                    <a:pt x="68269" y="130965"/>
                  </a:cubicBezTo>
                  <a:lnTo>
                    <a:pt x="102565" y="10932"/>
                  </a:lnTo>
                  <a:cubicBezTo>
                    <a:pt x="103877" y="6377"/>
                    <a:pt x="101225" y="1634"/>
                    <a:pt x="96670" y="322"/>
                  </a:cubicBezTo>
                  <a:close/>
                  <a:moveTo>
                    <a:pt x="113978" y="36787"/>
                  </a:moveTo>
                  <a:cubicBezTo>
                    <a:pt x="110629" y="40136"/>
                    <a:pt x="110629" y="45575"/>
                    <a:pt x="113978" y="48924"/>
                  </a:cubicBezTo>
                  <a:lnTo>
                    <a:pt x="133645" y="68591"/>
                  </a:lnTo>
                  <a:lnTo>
                    <a:pt x="113978" y="88257"/>
                  </a:lnTo>
                  <a:cubicBezTo>
                    <a:pt x="110629" y="91606"/>
                    <a:pt x="110629" y="97045"/>
                    <a:pt x="113978" y="100394"/>
                  </a:cubicBezTo>
                  <a:cubicBezTo>
                    <a:pt x="117328" y="103743"/>
                    <a:pt x="122767" y="103743"/>
                    <a:pt x="126116" y="100394"/>
                  </a:cubicBezTo>
                  <a:lnTo>
                    <a:pt x="151837" y="74673"/>
                  </a:lnTo>
                  <a:cubicBezTo>
                    <a:pt x="155186" y="71324"/>
                    <a:pt x="155186" y="65885"/>
                    <a:pt x="151837" y="62535"/>
                  </a:cubicBezTo>
                  <a:lnTo>
                    <a:pt x="126116" y="36814"/>
                  </a:lnTo>
                  <a:cubicBezTo>
                    <a:pt x="122767" y="33465"/>
                    <a:pt x="117328" y="33465"/>
                    <a:pt x="113978" y="36814"/>
                  </a:cubicBezTo>
                  <a:close/>
                  <a:moveTo>
                    <a:pt x="40377" y="36787"/>
                  </a:moveTo>
                  <a:cubicBezTo>
                    <a:pt x="37028" y="33438"/>
                    <a:pt x="31589" y="33438"/>
                    <a:pt x="28240" y="36787"/>
                  </a:cubicBezTo>
                  <a:lnTo>
                    <a:pt x="2519" y="62509"/>
                  </a:lnTo>
                  <a:cubicBezTo>
                    <a:pt x="-831" y="65858"/>
                    <a:pt x="-831" y="71297"/>
                    <a:pt x="2519" y="74646"/>
                  </a:cubicBezTo>
                  <a:lnTo>
                    <a:pt x="28240" y="100368"/>
                  </a:lnTo>
                  <a:cubicBezTo>
                    <a:pt x="31589" y="103717"/>
                    <a:pt x="37028" y="103717"/>
                    <a:pt x="40377" y="100368"/>
                  </a:cubicBezTo>
                  <a:cubicBezTo>
                    <a:pt x="43727" y="97018"/>
                    <a:pt x="43727" y="91579"/>
                    <a:pt x="40377" y="88230"/>
                  </a:cubicBezTo>
                  <a:lnTo>
                    <a:pt x="20711" y="68591"/>
                  </a:lnTo>
                  <a:lnTo>
                    <a:pt x="40351" y="48924"/>
                  </a:lnTo>
                  <a:cubicBezTo>
                    <a:pt x="43700" y="45575"/>
                    <a:pt x="43700" y="40136"/>
                    <a:pt x="40351" y="3678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96" name="Text 81"/>
            <p:cNvSpPr/>
            <p:nvPr/>
          </p:nvSpPr>
          <p:spPr>
            <a:xfrm>
              <a:off x="10479" y="7298"/>
              <a:ext cx="1621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API开放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7" name="Text 82"/>
            <p:cNvSpPr/>
            <p:nvPr/>
          </p:nvSpPr>
          <p:spPr>
            <a:xfrm>
              <a:off x="10101" y="7676"/>
              <a:ext cx="826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RESTful API,支持第三方集成和定制开发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8" name="Shape 83"/>
            <p:cNvSpPr/>
            <p:nvPr/>
          </p:nvSpPr>
          <p:spPr>
            <a:xfrm>
              <a:off x="9939" y="8216"/>
              <a:ext cx="8493" cy="972"/>
            </a:xfrm>
            <a:custGeom>
              <a:avLst/>
              <a:gdLst/>
              <a:ahLst/>
              <a:cxnLst/>
              <a:rect l="l" t="t" r="r" b="b"/>
              <a:pathLst>
                <a:path w="5392945" h="617316">
                  <a:moveTo>
                    <a:pt x="68590" y="0"/>
                  </a:moveTo>
                  <a:lnTo>
                    <a:pt x="5324355" y="0"/>
                  </a:lnTo>
                  <a:cubicBezTo>
                    <a:pt x="5362236" y="0"/>
                    <a:pt x="5392945" y="30709"/>
                    <a:pt x="5392945" y="68590"/>
                  </a:cubicBezTo>
                  <a:lnTo>
                    <a:pt x="5392945" y="548726"/>
                  </a:lnTo>
                  <a:cubicBezTo>
                    <a:pt x="5392945" y="586608"/>
                    <a:pt x="5362236" y="617316"/>
                    <a:pt x="5324355" y="617316"/>
                  </a:cubicBezTo>
                  <a:lnTo>
                    <a:pt x="68590" y="617316"/>
                  </a:lnTo>
                  <a:cubicBezTo>
                    <a:pt x="30734" y="617316"/>
                    <a:pt x="0" y="586582"/>
                    <a:pt x="0" y="548726"/>
                  </a:cubicBezTo>
                  <a:lnTo>
                    <a:pt x="0" y="68590"/>
                  </a:lnTo>
                  <a:cubicBezTo>
                    <a:pt x="0" y="30734"/>
                    <a:pt x="30734" y="0"/>
                    <a:pt x="68590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99" name="Shape 84"/>
            <p:cNvSpPr/>
            <p:nvPr/>
          </p:nvSpPr>
          <p:spPr>
            <a:xfrm>
              <a:off x="10101" y="8432"/>
              <a:ext cx="270" cy="216"/>
            </a:xfrm>
            <a:custGeom>
              <a:avLst/>
              <a:gdLst/>
              <a:ahLst/>
              <a:cxnLst/>
              <a:rect l="l" t="t" r="r" b="b"/>
              <a:pathLst>
                <a:path w="171477" h="137181">
                  <a:moveTo>
                    <a:pt x="94312" y="0"/>
                  </a:moveTo>
                  <a:cubicBezTo>
                    <a:pt x="94312" y="-4742"/>
                    <a:pt x="90481" y="-8574"/>
                    <a:pt x="85738" y="-8574"/>
                  </a:cubicBezTo>
                  <a:cubicBezTo>
                    <a:pt x="80996" y="-8574"/>
                    <a:pt x="77165" y="-4742"/>
                    <a:pt x="77165" y="0"/>
                  </a:cubicBezTo>
                  <a:lnTo>
                    <a:pt x="77165" y="17148"/>
                  </a:lnTo>
                  <a:lnTo>
                    <a:pt x="51443" y="17148"/>
                  </a:lnTo>
                  <a:cubicBezTo>
                    <a:pt x="37243" y="17148"/>
                    <a:pt x="25722" y="28669"/>
                    <a:pt x="25722" y="42869"/>
                  </a:cubicBezTo>
                  <a:lnTo>
                    <a:pt x="25722" y="102886"/>
                  </a:lnTo>
                  <a:cubicBezTo>
                    <a:pt x="25722" y="117086"/>
                    <a:pt x="37243" y="128608"/>
                    <a:pt x="51443" y="128608"/>
                  </a:cubicBezTo>
                  <a:lnTo>
                    <a:pt x="120034" y="128608"/>
                  </a:lnTo>
                  <a:cubicBezTo>
                    <a:pt x="134234" y="128608"/>
                    <a:pt x="145755" y="117086"/>
                    <a:pt x="145755" y="102886"/>
                  </a:cubicBezTo>
                  <a:lnTo>
                    <a:pt x="145755" y="42869"/>
                  </a:lnTo>
                  <a:cubicBezTo>
                    <a:pt x="145755" y="28669"/>
                    <a:pt x="134234" y="17148"/>
                    <a:pt x="120034" y="17148"/>
                  </a:cubicBezTo>
                  <a:lnTo>
                    <a:pt x="94312" y="17148"/>
                  </a:lnTo>
                  <a:lnTo>
                    <a:pt x="94312" y="0"/>
                  </a:lnTo>
                  <a:close/>
                  <a:moveTo>
                    <a:pt x="42869" y="98599"/>
                  </a:moveTo>
                  <a:cubicBezTo>
                    <a:pt x="42869" y="95036"/>
                    <a:pt x="45736" y="92169"/>
                    <a:pt x="49300" y="92169"/>
                  </a:cubicBezTo>
                  <a:lnTo>
                    <a:pt x="57873" y="92169"/>
                  </a:lnTo>
                  <a:cubicBezTo>
                    <a:pt x="61437" y="92169"/>
                    <a:pt x="64304" y="95036"/>
                    <a:pt x="64304" y="98599"/>
                  </a:cubicBezTo>
                  <a:cubicBezTo>
                    <a:pt x="64304" y="102163"/>
                    <a:pt x="61437" y="105030"/>
                    <a:pt x="57873" y="105030"/>
                  </a:cubicBezTo>
                  <a:lnTo>
                    <a:pt x="49300" y="105030"/>
                  </a:lnTo>
                  <a:cubicBezTo>
                    <a:pt x="45736" y="105030"/>
                    <a:pt x="42869" y="102163"/>
                    <a:pt x="42869" y="98599"/>
                  </a:cubicBezTo>
                  <a:close/>
                  <a:moveTo>
                    <a:pt x="75021" y="98599"/>
                  </a:moveTo>
                  <a:cubicBezTo>
                    <a:pt x="75021" y="95036"/>
                    <a:pt x="77888" y="92169"/>
                    <a:pt x="81451" y="92169"/>
                  </a:cubicBezTo>
                  <a:lnTo>
                    <a:pt x="90025" y="92169"/>
                  </a:lnTo>
                  <a:cubicBezTo>
                    <a:pt x="93589" y="92169"/>
                    <a:pt x="96456" y="95036"/>
                    <a:pt x="96456" y="98599"/>
                  </a:cubicBezTo>
                  <a:cubicBezTo>
                    <a:pt x="96456" y="102163"/>
                    <a:pt x="93589" y="105030"/>
                    <a:pt x="90025" y="105030"/>
                  </a:cubicBezTo>
                  <a:lnTo>
                    <a:pt x="81451" y="105030"/>
                  </a:lnTo>
                  <a:cubicBezTo>
                    <a:pt x="77888" y="105030"/>
                    <a:pt x="75021" y="102163"/>
                    <a:pt x="75021" y="98599"/>
                  </a:cubicBezTo>
                  <a:close/>
                  <a:moveTo>
                    <a:pt x="107173" y="98599"/>
                  </a:moveTo>
                  <a:cubicBezTo>
                    <a:pt x="107173" y="95036"/>
                    <a:pt x="110040" y="92169"/>
                    <a:pt x="113603" y="92169"/>
                  </a:cubicBezTo>
                  <a:lnTo>
                    <a:pt x="122177" y="92169"/>
                  </a:lnTo>
                  <a:cubicBezTo>
                    <a:pt x="125741" y="92169"/>
                    <a:pt x="128608" y="95036"/>
                    <a:pt x="128608" y="98599"/>
                  </a:cubicBezTo>
                  <a:cubicBezTo>
                    <a:pt x="128608" y="102163"/>
                    <a:pt x="125741" y="105030"/>
                    <a:pt x="122177" y="105030"/>
                  </a:cubicBezTo>
                  <a:lnTo>
                    <a:pt x="113603" y="105030"/>
                  </a:lnTo>
                  <a:cubicBezTo>
                    <a:pt x="110040" y="105030"/>
                    <a:pt x="107173" y="102163"/>
                    <a:pt x="107173" y="98599"/>
                  </a:cubicBezTo>
                  <a:close/>
                  <a:moveTo>
                    <a:pt x="60017" y="47156"/>
                  </a:moveTo>
                  <a:cubicBezTo>
                    <a:pt x="67115" y="47156"/>
                    <a:pt x="72878" y="52919"/>
                    <a:pt x="72878" y="60017"/>
                  </a:cubicBezTo>
                  <a:cubicBezTo>
                    <a:pt x="72878" y="67115"/>
                    <a:pt x="67115" y="72878"/>
                    <a:pt x="60017" y="72878"/>
                  </a:cubicBezTo>
                  <a:cubicBezTo>
                    <a:pt x="52919" y="72878"/>
                    <a:pt x="47156" y="67115"/>
                    <a:pt x="47156" y="60017"/>
                  </a:cubicBezTo>
                  <a:cubicBezTo>
                    <a:pt x="47156" y="52919"/>
                    <a:pt x="52919" y="47156"/>
                    <a:pt x="60017" y="47156"/>
                  </a:cubicBezTo>
                  <a:close/>
                  <a:moveTo>
                    <a:pt x="98599" y="60017"/>
                  </a:moveTo>
                  <a:cubicBezTo>
                    <a:pt x="98599" y="52919"/>
                    <a:pt x="104362" y="47156"/>
                    <a:pt x="111460" y="47156"/>
                  </a:cubicBezTo>
                  <a:cubicBezTo>
                    <a:pt x="118558" y="47156"/>
                    <a:pt x="124321" y="52919"/>
                    <a:pt x="124321" y="60017"/>
                  </a:cubicBezTo>
                  <a:cubicBezTo>
                    <a:pt x="124321" y="67115"/>
                    <a:pt x="118558" y="72878"/>
                    <a:pt x="111460" y="72878"/>
                  </a:cubicBezTo>
                  <a:cubicBezTo>
                    <a:pt x="104362" y="72878"/>
                    <a:pt x="98599" y="67115"/>
                    <a:pt x="98599" y="60017"/>
                  </a:cubicBezTo>
                  <a:close/>
                  <a:moveTo>
                    <a:pt x="17148" y="60017"/>
                  </a:moveTo>
                  <a:cubicBezTo>
                    <a:pt x="17148" y="55274"/>
                    <a:pt x="13316" y="51443"/>
                    <a:pt x="8574" y="51443"/>
                  </a:cubicBezTo>
                  <a:cubicBezTo>
                    <a:pt x="3831" y="51443"/>
                    <a:pt x="0" y="55274"/>
                    <a:pt x="0" y="60017"/>
                  </a:cubicBezTo>
                  <a:lnTo>
                    <a:pt x="0" y="85738"/>
                  </a:lnTo>
                  <a:cubicBezTo>
                    <a:pt x="0" y="90481"/>
                    <a:pt x="3831" y="94312"/>
                    <a:pt x="8574" y="94312"/>
                  </a:cubicBezTo>
                  <a:cubicBezTo>
                    <a:pt x="13316" y="94312"/>
                    <a:pt x="17148" y="90481"/>
                    <a:pt x="17148" y="85738"/>
                  </a:cubicBezTo>
                  <a:lnTo>
                    <a:pt x="17148" y="60017"/>
                  </a:lnTo>
                  <a:close/>
                  <a:moveTo>
                    <a:pt x="162903" y="51443"/>
                  </a:moveTo>
                  <a:cubicBezTo>
                    <a:pt x="158161" y="51443"/>
                    <a:pt x="154329" y="55274"/>
                    <a:pt x="154329" y="60017"/>
                  </a:cubicBezTo>
                  <a:lnTo>
                    <a:pt x="154329" y="85738"/>
                  </a:lnTo>
                  <a:cubicBezTo>
                    <a:pt x="154329" y="90481"/>
                    <a:pt x="158161" y="94312"/>
                    <a:pt x="162903" y="94312"/>
                  </a:cubicBezTo>
                  <a:cubicBezTo>
                    <a:pt x="167645" y="94312"/>
                    <a:pt x="171477" y="90481"/>
                    <a:pt x="171477" y="85738"/>
                  </a:cubicBezTo>
                  <a:lnTo>
                    <a:pt x="171477" y="60017"/>
                  </a:lnTo>
                  <a:cubicBezTo>
                    <a:pt x="171477" y="55274"/>
                    <a:pt x="167645" y="51443"/>
                    <a:pt x="162903" y="51443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0" name="Text 85"/>
            <p:cNvSpPr/>
            <p:nvPr/>
          </p:nvSpPr>
          <p:spPr>
            <a:xfrm>
              <a:off x="10479" y="8395"/>
              <a:ext cx="1937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多LLM支持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1" name="Text 86"/>
            <p:cNvSpPr/>
            <p:nvPr/>
          </p:nvSpPr>
          <p:spPr>
            <a:xfrm>
              <a:off x="10101" y="8756"/>
              <a:ext cx="826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OpenAI、Google AI、阿里百炼、DeepSeek等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2" name="Shape 87"/>
            <p:cNvSpPr/>
            <p:nvPr/>
          </p:nvSpPr>
          <p:spPr>
            <a:xfrm>
              <a:off x="9939" y="9296"/>
              <a:ext cx="8493" cy="972"/>
            </a:xfrm>
            <a:custGeom>
              <a:avLst/>
              <a:gdLst/>
              <a:ahLst/>
              <a:cxnLst/>
              <a:rect l="l" t="t" r="r" b="b"/>
              <a:pathLst>
                <a:path w="5392945" h="617316">
                  <a:moveTo>
                    <a:pt x="68590" y="0"/>
                  </a:moveTo>
                  <a:lnTo>
                    <a:pt x="5324355" y="0"/>
                  </a:lnTo>
                  <a:cubicBezTo>
                    <a:pt x="5362236" y="0"/>
                    <a:pt x="5392945" y="30709"/>
                    <a:pt x="5392945" y="68590"/>
                  </a:cubicBezTo>
                  <a:lnTo>
                    <a:pt x="5392945" y="548726"/>
                  </a:lnTo>
                  <a:cubicBezTo>
                    <a:pt x="5392945" y="586608"/>
                    <a:pt x="5362236" y="617316"/>
                    <a:pt x="5324355" y="617316"/>
                  </a:cubicBezTo>
                  <a:lnTo>
                    <a:pt x="68590" y="617316"/>
                  </a:lnTo>
                  <a:cubicBezTo>
                    <a:pt x="30734" y="617316"/>
                    <a:pt x="0" y="586582"/>
                    <a:pt x="0" y="548726"/>
                  </a:cubicBezTo>
                  <a:lnTo>
                    <a:pt x="0" y="68590"/>
                  </a:lnTo>
                  <a:cubicBezTo>
                    <a:pt x="0" y="30734"/>
                    <a:pt x="30734" y="0"/>
                    <a:pt x="68590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103" name="Shape 88"/>
            <p:cNvSpPr/>
            <p:nvPr/>
          </p:nvSpPr>
          <p:spPr>
            <a:xfrm>
              <a:off x="10142" y="9512"/>
              <a:ext cx="189" cy="216"/>
            </a:xfrm>
            <a:custGeom>
              <a:avLst/>
              <a:gdLst/>
              <a:ahLst/>
              <a:cxnLst/>
              <a:rect l="l" t="t" r="r" b="b"/>
              <a:pathLst>
                <a:path w="120034" h="137181">
                  <a:moveTo>
                    <a:pt x="120034" y="55141"/>
                  </a:moveTo>
                  <a:cubicBezTo>
                    <a:pt x="116068" y="57766"/>
                    <a:pt x="111514" y="59883"/>
                    <a:pt x="106771" y="61571"/>
                  </a:cubicBezTo>
                  <a:cubicBezTo>
                    <a:pt x="94178" y="66072"/>
                    <a:pt x="77647" y="68591"/>
                    <a:pt x="60017" y="68591"/>
                  </a:cubicBezTo>
                  <a:cubicBezTo>
                    <a:pt x="42387" y="68591"/>
                    <a:pt x="25829" y="66045"/>
                    <a:pt x="13263" y="61571"/>
                  </a:cubicBezTo>
                  <a:cubicBezTo>
                    <a:pt x="8547" y="59883"/>
                    <a:pt x="3965" y="57766"/>
                    <a:pt x="0" y="55141"/>
                  </a:cubicBezTo>
                  <a:lnTo>
                    <a:pt x="0" y="77165"/>
                  </a:lnTo>
                  <a:cubicBezTo>
                    <a:pt x="0" y="89007"/>
                    <a:pt x="26874" y="98599"/>
                    <a:pt x="60017" y="98599"/>
                  </a:cubicBezTo>
                  <a:cubicBezTo>
                    <a:pt x="93160" y="98599"/>
                    <a:pt x="120034" y="89007"/>
                    <a:pt x="120034" y="77165"/>
                  </a:cubicBezTo>
                  <a:lnTo>
                    <a:pt x="120034" y="55141"/>
                  </a:lnTo>
                  <a:close/>
                  <a:moveTo>
                    <a:pt x="120034" y="34295"/>
                  </a:moveTo>
                  <a:lnTo>
                    <a:pt x="120034" y="21435"/>
                  </a:lnTo>
                  <a:cubicBezTo>
                    <a:pt x="120034" y="9592"/>
                    <a:pt x="93160" y="0"/>
                    <a:pt x="60017" y="0"/>
                  </a:cubicBezTo>
                  <a:cubicBezTo>
                    <a:pt x="26874" y="0"/>
                    <a:pt x="0" y="9592"/>
                    <a:pt x="0" y="21435"/>
                  </a:cubicBezTo>
                  <a:lnTo>
                    <a:pt x="0" y="34295"/>
                  </a:lnTo>
                  <a:cubicBezTo>
                    <a:pt x="0" y="46138"/>
                    <a:pt x="26874" y="55730"/>
                    <a:pt x="60017" y="55730"/>
                  </a:cubicBezTo>
                  <a:cubicBezTo>
                    <a:pt x="93160" y="55730"/>
                    <a:pt x="120034" y="46138"/>
                    <a:pt x="120034" y="34295"/>
                  </a:cubicBezTo>
                  <a:close/>
                  <a:moveTo>
                    <a:pt x="106771" y="104440"/>
                  </a:moveTo>
                  <a:cubicBezTo>
                    <a:pt x="94205" y="108915"/>
                    <a:pt x="77674" y="111460"/>
                    <a:pt x="60017" y="111460"/>
                  </a:cubicBezTo>
                  <a:cubicBezTo>
                    <a:pt x="42360" y="111460"/>
                    <a:pt x="25829" y="108915"/>
                    <a:pt x="13263" y="104440"/>
                  </a:cubicBezTo>
                  <a:cubicBezTo>
                    <a:pt x="8547" y="102752"/>
                    <a:pt x="3965" y="100635"/>
                    <a:pt x="0" y="98010"/>
                  </a:cubicBezTo>
                  <a:lnTo>
                    <a:pt x="0" y="115747"/>
                  </a:lnTo>
                  <a:cubicBezTo>
                    <a:pt x="0" y="127589"/>
                    <a:pt x="26874" y="137181"/>
                    <a:pt x="60017" y="137181"/>
                  </a:cubicBezTo>
                  <a:cubicBezTo>
                    <a:pt x="93160" y="137181"/>
                    <a:pt x="120034" y="127589"/>
                    <a:pt x="120034" y="115747"/>
                  </a:cubicBezTo>
                  <a:lnTo>
                    <a:pt x="120034" y="98010"/>
                  </a:lnTo>
                  <a:cubicBezTo>
                    <a:pt x="116068" y="100635"/>
                    <a:pt x="111514" y="102752"/>
                    <a:pt x="106771" y="10444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4" name="Text 89"/>
            <p:cNvSpPr/>
            <p:nvPr/>
          </p:nvSpPr>
          <p:spPr>
            <a:xfrm>
              <a:off x="10479" y="9459"/>
              <a:ext cx="1768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多数据源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5" name="Text 90"/>
            <p:cNvSpPr/>
            <p:nvPr/>
          </p:nvSpPr>
          <p:spPr>
            <a:xfrm>
              <a:off x="10101" y="9836"/>
              <a:ext cx="826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Tushare、AKShare、BaoStock、FinnHub等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961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构建覆盖基本面、技术面、消息面与情绪面的四维智能分析引擎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52768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9088" y="4024313"/>
            <a:ext cx="885825" cy="5143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投资分析体系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81275" y="15525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基本面分析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9100" y="19240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财务数据解读，分析营收、利润、现金流等指标评估企业健康度。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19100" y="23812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估值模型应用，使用PE、DCF等方法判断企业内在价值。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19100" y="28384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盈利能力评估，衡量ROE、毛利率等指标预测长期收益能力。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581275" y="346710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技术面分析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19100" y="38385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趋势识别，利用MA判断价格长期方向与支撑阻力位。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19100" y="42957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动量指标分析，通过RSI探测超买超卖状态。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19100" y="47529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交易信号生成，结合MACD交叉点优化买卖时机决策。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581275" y="53816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消息面监测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19100" y="57531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新闻动态追踪，实时获取政策、并购、财报等关键事件。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19100" y="62103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事件影响量化，评估外部消息对股价波动的潜在冲击。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076950" y="20097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情绪面分析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29338" y="23812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社交媒体监控，抓取微博、雪球等平台用户情感倾向。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129338" y="28384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群体行为识别，捕捉散户情绪高涨或恐慌抛售的前兆信号。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076950" y="3467100"/>
            <a:ext cx="952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多维研判整合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129338" y="38385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策略协同优化，融合基本面与技术面提高决策置信度。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129338" y="42957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热点驱动捕捉，结合情绪与消息面发现短期市场焦点。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6076950" y="4924425"/>
            <a:ext cx="952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风险控制管理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129338" y="52959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回撤监控预警，设定最大亏损阈值保护投资本金安全。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6129338" y="57531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仓位动态调整，依据市场信号变化合理分配资产比例。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支持批量分析、自选股监控、模拟交易与报告导出的企业级功能闭环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3105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418594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多股批量分析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443835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支持同时分析多只股票，提升研究覆盖范围，加快投研决策速度。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34129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行业轮动研究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3665339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辅助识别行业间强弱变化，把握周期切换机会，优化资产配置方向。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26399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自定义分组监控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2892326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用户可灵活创建股票组合，便于分类管理，提高监控针对性。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95313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实时价格追踪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5313" y="211931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及时捕捉股价异常波动，快速响应市场变化，防范潜在风险。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风险信号预警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211931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自动识别技术或基本面风险信号，提供前置化风险提示。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26399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动态资产配置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2892326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根据市场变化调整持仓结构，增强组合适应性，提升收益稳定性。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86488" y="34129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模拟交易环境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3665339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提供虚拟交易场景，用于验证投资策略，减少实盘试错成本。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186488" y="418594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策略回测测试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443835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支持历史数据回测，评估策略有效性，优化参数设置。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通过多智能体协作机制模拟专业投资团队，实现机构级分析平民化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84785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智能体协同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4个专业分析师并行工作，覆盖基本面、技术面、消息面与情绪面，提升分析效率10倍。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184785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02731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结构化辩论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093244"/>
            <a:ext cx="20763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看涨与看跌研究员观点交锋，通过多角度论证减少决策偏差30%。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184785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决策平民化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将机构级投研流程AI化，让个人投资者也能获得专业、客观的分析支持。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面向个人与机构用户提供可解释、多维度、高效率的投资决策支持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t="20395" b="20395"/>
          <a:stretch>
            <a:fillRect/>
          </a:stretch>
        </p:blipFill>
        <p:spPr>
          <a:xfrm>
            <a:off x="571500" y="1828800"/>
            <a:ext cx="24130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344805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可解释决策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695700"/>
            <a:ext cx="2222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每份报告均生成自然语言推理链，清晰展示分析逻辑与依据，确保决策过程透明可信。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t="20395" b="20395"/>
          <a:stretch>
            <a:fillRect/>
          </a:stretch>
        </p:blipFill>
        <p:spPr>
          <a:xfrm>
            <a:off x="3365500" y="1828800"/>
            <a:ext cx="2413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60750" y="344805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四维全覆盖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460750" y="3695700"/>
            <a:ext cx="2222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融合基本面、技术面、消息面、情绪面数据，提供全方位投资视角，避免单一维度盲区。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 t="20395" b="20395"/>
          <a:stretch>
            <a:fillRect/>
          </a:stretch>
        </p:blipFill>
        <p:spPr>
          <a:xfrm>
            <a:off x="6159500" y="1828800"/>
            <a:ext cx="24130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54750" y="344805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分钟级响应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54750" y="3695700"/>
            <a:ext cx="2222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AI驱动并行分析，单只股票深度分析仅需数分钟，相较人工投研效率提升10倍以上。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市场竞争优势分析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2927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相较传统量化系统：具备深度理解能力与高可解释性，避免黑箱决策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36099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66888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85850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语义解析能力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85850" y="2595563"/>
            <a:ext cx="162877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利用大语言模型解析非结构化数据。精准提取财报、新闻等深层信号。实现对复杂文本的深度理解。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48062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867025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信息来源多样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67025" y="2595563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整合财报、新闻及社交媒体数据。覆盖多渠道非结构化信息源。提升分析全面性与实时性。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329238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8200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多智能体协作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48200" y="2595563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多个智能体分工处理不同任务。通过协作增强推理逻辑性。降低单一模型带来的偏差风险。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110413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29375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交叉验证机制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9375" y="2595563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智能体间相互验证分析结果。提高判断准确性与可靠性。增强系统整体决策稳健性。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110413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429375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推理过程透明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29375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全程记录分析逻辑与依据。确保每一步推导可追溯可审计。提升系统可信度与合规性。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329238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48200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决策链条完整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648200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从数据输入到输出结论闭环。清晰展现分析路径与演变过程。支持监管审查与用户理解。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548062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2867025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自然语言生成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867025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将AI推理结果转化为自然语言。生成人类可读的分析报告。提升结果传达效率与易懂性。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1766888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1085850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可解释性增强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85850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明确展示关键判断依据。让决策过程不再黑箱化。加强用户对系统的信任感。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8333" r="8333"/>
          <a:stretch>
            <a:fillRect/>
          </a:stretch>
        </p:blipFill>
        <p:spPr>
          <a:xfrm>
            <a:off x="0" y="0"/>
            <a:ext cx="9144000" cy="6172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相较人工投研：分析效率提升10倍以上，支持全球化市场同步覆盖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415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481459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智能高效分析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5067002"/>
            <a:ext cx="2362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利用智能化技术将单只股票分析时间从小时级缩短至分钟级，效率提升超十倍。通过并行智能体架构大幅提升数据处理速度，实现快速响应与决策支持。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38320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四体并行加速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4084439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依托四个并行智能体协同工作，显著提高计算与分析吞吐能力。各智能体分工明确，保障系统高效稳定运行。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28494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全域市场覆盖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3101876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全面覆盖A股、港股及美股三大市场，打破市场边界限制。支持跨市场对比分析，提升投资策略的广度与深度。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95313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多语数据采集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5313" y="2119313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实时采集多语言金融数据，消除地域信息壁垒。确保全球资讯无缝对接，增强信息获取的及时性与完整性。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197167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全天候监控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2224088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支持7×24小时不间断监控自选股动态，无遗漏捕捉关键变化。适用于全球不同时区市场，保障持续跟踪。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295423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事件自动追踪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3206651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自动识别并追踪重大财经事件，快速关联影响个股。帮助用户第一时间掌握潜在风险与机会。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86488" y="3936802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情绪变化监测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4189214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实时分析市场情绪波动，识别舆论倾向转变。结合情绪数据优化交易策略，提升决策科学性。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186488" y="491936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投资决策支持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5171777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整合多维数据提供全天候决策支持，增强应对市场突变的能力。助力投资者实现更精准、高效的资产配置。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构建‘速度×深度×透明度’三位一体优势，确立新一代智能投研标准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84785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21597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极速分析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24503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分钟级完成多维度股票分析，相较人工投研效率提升10倍以上，支持实时市场响应。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1847850"/>
            <a:ext cx="4171950" cy="2819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21597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深度洞察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24503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通过多智能体辩论与融合分析，实现机构级研究深度，超越传统量化模型的规则局限。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325755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5694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决策透明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8600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全程可追溯的自然语言报告，清晰呈现分析逻辑与依据，满足合规与信任双重需求。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商业模式与盈利路径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381000" y="69363"/>
            <a:ext cx="8664494" cy="5004532"/>
            <a:chOff x="600" y="-37"/>
            <a:chExt cx="17998" cy="10230"/>
          </a:xfrm>
        </p:grpSpPr>
        <p:sp>
          <p:nvSpPr>
            <p:cNvPr id="19" name="Shape 0"/>
            <p:cNvSpPr/>
            <p:nvPr/>
          </p:nvSpPr>
          <p:spPr>
            <a:xfrm>
              <a:off x="600" y="660"/>
              <a:ext cx="60" cy="480"/>
            </a:xfrm>
            <a:custGeom>
              <a:avLst/>
              <a:gdLst/>
              <a:ahLst/>
              <a:cxnLst/>
              <a:rect l="l" t="t" r="r" b="b"/>
              <a:pathLst>
                <a:path w="38100" h="304800">
                  <a:moveTo>
                    <a:pt x="0" y="0"/>
                  </a:moveTo>
                  <a:lnTo>
                    <a:pt x="38100" y="0"/>
                  </a:lnTo>
                  <a:lnTo>
                    <a:pt x="381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0" name="Text 1"/>
            <p:cNvSpPr/>
            <p:nvPr/>
          </p:nvSpPr>
          <p:spPr>
            <a:xfrm>
              <a:off x="6946" y="-37"/>
              <a:ext cx="5853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巨大的市场机会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2" name="Shape 3"/>
            <p:cNvSpPr/>
            <p:nvPr/>
          </p:nvSpPr>
          <p:spPr>
            <a:xfrm>
              <a:off x="608" y="1928"/>
              <a:ext cx="10635" cy="6555"/>
            </a:xfrm>
            <a:custGeom>
              <a:avLst/>
              <a:gdLst/>
              <a:ahLst/>
              <a:cxnLst/>
              <a:rect l="l" t="t" r="r" b="b"/>
              <a:pathLst>
                <a:path w="6753225" h="4162425">
                  <a:moveTo>
                    <a:pt x="114300" y="0"/>
                  </a:moveTo>
                  <a:lnTo>
                    <a:pt x="6638925" y="0"/>
                  </a:lnTo>
                  <a:cubicBezTo>
                    <a:pt x="6702051" y="0"/>
                    <a:pt x="6753225" y="51174"/>
                    <a:pt x="6753225" y="114300"/>
                  </a:cubicBezTo>
                  <a:lnTo>
                    <a:pt x="6753225" y="4048125"/>
                  </a:lnTo>
                  <a:cubicBezTo>
                    <a:pt x="6753225" y="4111251"/>
                    <a:pt x="6702051" y="4162425"/>
                    <a:pt x="6638925" y="4162425"/>
                  </a:cubicBezTo>
                  <a:lnTo>
                    <a:pt x="114300" y="4162425"/>
                  </a:lnTo>
                  <a:cubicBezTo>
                    <a:pt x="51174" y="4162425"/>
                    <a:pt x="0" y="4111251"/>
                    <a:pt x="0" y="4048125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23" name="Shape 4"/>
            <p:cNvSpPr/>
            <p:nvPr/>
          </p:nvSpPr>
          <p:spPr>
            <a:xfrm>
              <a:off x="893" y="2235"/>
              <a:ext cx="300" cy="3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1906" y="11906"/>
                  </a:moveTo>
                  <a:cubicBezTo>
                    <a:pt x="18492" y="11906"/>
                    <a:pt x="23812" y="17227"/>
                    <a:pt x="23812" y="23812"/>
                  </a:cubicBezTo>
                  <a:lnTo>
                    <a:pt x="23812" y="148828"/>
                  </a:lnTo>
                  <a:cubicBezTo>
                    <a:pt x="23812" y="152102"/>
                    <a:pt x="26491" y="154781"/>
                    <a:pt x="29766" y="154781"/>
                  </a:cubicBezTo>
                  <a:lnTo>
                    <a:pt x="178594" y="154781"/>
                  </a:lnTo>
                  <a:cubicBezTo>
                    <a:pt x="185179" y="154781"/>
                    <a:pt x="190500" y="160102"/>
                    <a:pt x="190500" y="166688"/>
                  </a:cubicBezTo>
                  <a:cubicBezTo>
                    <a:pt x="190500" y="173273"/>
                    <a:pt x="185179" y="178594"/>
                    <a:pt x="178594" y="178594"/>
                  </a:cubicBezTo>
                  <a:lnTo>
                    <a:pt x="29766" y="178594"/>
                  </a:lnTo>
                  <a:cubicBezTo>
                    <a:pt x="13320" y="178594"/>
                    <a:pt x="0" y="165274"/>
                    <a:pt x="0" y="148828"/>
                  </a:cubicBezTo>
                  <a:lnTo>
                    <a:pt x="0" y="23812"/>
                  </a:lnTo>
                  <a:cubicBezTo>
                    <a:pt x="0" y="17227"/>
                    <a:pt x="5321" y="11906"/>
                    <a:pt x="11906" y="11906"/>
                  </a:cubicBezTo>
                  <a:close/>
                  <a:moveTo>
                    <a:pt x="89297" y="35719"/>
                  </a:moveTo>
                  <a:cubicBezTo>
                    <a:pt x="91790" y="35719"/>
                    <a:pt x="94171" y="36761"/>
                    <a:pt x="95883" y="38621"/>
                  </a:cubicBezTo>
                  <a:lnTo>
                    <a:pt x="122337" y="67456"/>
                  </a:lnTo>
                  <a:lnTo>
                    <a:pt x="139526" y="50229"/>
                  </a:lnTo>
                  <a:cubicBezTo>
                    <a:pt x="143024" y="46732"/>
                    <a:pt x="148679" y="46732"/>
                    <a:pt x="152140" y="50229"/>
                  </a:cubicBezTo>
                  <a:lnTo>
                    <a:pt x="175952" y="74042"/>
                  </a:lnTo>
                  <a:cubicBezTo>
                    <a:pt x="177626" y="75716"/>
                    <a:pt x="178557" y="77986"/>
                    <a:pt x="178557" y="80367"/>
                  </a:cubicBezTo>
                  <a:lnTo>
                    <a:pt x="178557" y="122039"/>
                  </a:lnTo>
                  <a:cubicBezTo>
                    <a:pt x="178557" y="126988"/>
                    <a:pt x="174575" y="130969"/>
                    <a:pt x="169627" y="130969"/>
                  </a:cubicBezTo>
                  <a:lnTo>
                    <a:pt x="56517" y="130969"/>
                  </a:lnTo>
                  <a:cubicBezTo>
                    <a:pt x="51569" y="130969"/>
                    <a:pt x="47588" y="126988"/>
                    <a:pt x="47588" y="122039"/>
                  </a:cubicBezTo>
                  <a:lnTo>
                    <a:pt x="47588" y="80367"/>
                  </a:lnTo>
                  <a:cubicBezTo>
                    <a:pt x="47588" y="78135"/>
                    <a:pt x="48444" y="75977"/>
                    <a:pt x="49932" y="74340"/>
                  </a:cubicBezTo>
                  <a:lnTo>
                    <a:pt x="82674" y="38621"/>
                  </a:lnTo>
                  <a:cubicBezTo>
                    <a:pt x="84348" y="36761"/>
                    <a:pt x="86767" y="35719"/>
                    <a:pt x="89260" y="35719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4" name="Text 5"/>
            <p:cNvSpPr/>
            <p:nvPr/>
          </p:nvSpPr>
          <p:spPr>
            <a:xfrm>
              <a:off x="1230" y="2175"/>
              <a:ext cx="991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中国智能投顾市场规模</a:t>
              </a:r>
              <a:endParaRPr lang="en-US" sz="15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pic>
          <p:nvPicPr>
            <p:cNvPr id="25" name="Image 0" descr="https://kimi-img.moonshot.cn/pub/slides/26-02-13-20:30:18-d67himlf4391fc71l5f0.png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855" y="2775"/>
              <a:ext cx="10140" cy="5460"/>
            </a:xfrm>
            <a:prstGeom prst="roundRect">
              <a:avLst>
                <a:gd name="adj" fmla="val 0"/>
              </a:avLst>
            </a:prstGeom>
          </p:spPr>
        </p:pic>
        <p:sp>
          <p:nvSpPr>
            <p:cNvPr id="26" name="Shape 6"/>
            <p:cNvSpPr/>
            <p:nvPr/>
          </p:nvSpPr>
          <p:spPr>
            <a:xfrm>
              <a:off x="608" y="8738"/>
              <a:ext cx="3375" cy="1455"/>
            </a:xfrm>
            <a:custGeom>
              <a:avLst/>
              <a:gdLst/>
              <a:ahLst/>
              <a:cxnLst/>
              <a:rect l="l" t="t" r="r" b="b"/>
              <a:pathLst>
                <a:path w="2143125" h="923925">
                  <a:moveTo>
                    <a:pt x="114299" y="0"/>
                  </a:moveTo>
                  <a:lnTo>
                    <a:pt x="2028826" y="0"/>
                  </a:lnTo>
                  <a:cubicBezTo>
                    <a:pt x="2091952" y="0"/>
                    <a:pt x="2143125" y="51173"/>
                    <a:pt x="2143125" y="114299"/>
                  </a:cubicBezTo>
                  <a:lnTo>
                    <a:pt x="2143125" y="809626"/>
                  </a:lnTo>
                  <a:cubicBezTo>
                    <a:pt x="2143125" y="872752"/>
                    <a:pt x="2091952" y="923925"/>
                    <a:pt x="2028826" y="923925"/>
                  </a:cubicBezTo>
                  <a:lnTo>
                    <a:pt x="114299" y="923925"/>
                  </a:lnTo>
                  <a:cubicBezTo>
                    <a:pt x="51216" y="923925"/>
                    <a:pt x="0" y="872709"/>
                    <a:pt x="0" y="809626"/>
                  </a:cubicBezTo>
                  <a:lnTo>
                    <a:pt x="0" y="114299"/>
                  </a:lnTo>
                  <a:cubicBezTo>
                    <a:pt x="0" y="51216"/>
                    <a:pt x="51216" y="0"/>
                    <a:pt x="114299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27" name="Text 7"/>
            <p:cNvSpPr/>
            <p:nvPr/>
          </p:nvSpPr>
          <p:spPr>
            <a:xfrm>
              <a:off x="720" y="8985"/>
              <a:ext cx="315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5000亿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8" name="Text 8"/>
            <p:cNvSpPr/>
            <p:nvPr/>
          </p:nvSpPr>
          <p:spPr>
            <a:xfrm>
              <a:off x="802" y="9645"/>
              <a:ext cx="298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2024年市场规模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9" name="Shape 9"/>
            <p:cNvSpPr/>
            <p:nvPr/>
          </p:nvSpPr>
          <p:spPr>
            <a:xfrm>
              <a:off x="4239" y="8738"/>
              <a:ext cx="3375" cy="1455"/>
            </a:xfrm>
            <a:custGeom>
              <a:avLst/>
              <a:gdLst/>
              <a:ahLst/>
              <a:cxnLst/>
              <a:rect l="l" t="t" r="r" b="b"/>
              <a:pathLst>
                <a:path w="2143125" h="923925">
                  <a:moveTo>
                    <a:pt x="114299" y="0"/>
                  </a:moveTo>
                  <a:lnTo>
                    <a:pt x="2028826" y="0"/>
                  </a:lnTo>
                  <a:cubicBezTo>
                    <a:pt x="2091952" y="0"/>
                    <a:pt x="2143125" y="51173"/>
                    <a:pt x="2143125" y="114299"/>
                  </a:cubicBezTo>
                  <a:lnTo>
                    <a:pt x="2143125" y="809626"/>
                  </a:lnTo>
                  <a:cubicBezTo>
                    <a:pt x="2143125" y="872752"/>
                    <a:pt x="2091952" y="923925"/>
                    <a:pt x="2028826" y="923925"/>
                  </a:cubicBezTo>
                  <a:lnTo>
                    <a:pt x="114299" y="923925"/>
                  </a:lnTo>
                  <a:cubicBezTo>
                    <a:pt x="51216" y="923925"/>
                    <a:pt x="0" y="872709"/>
                    <a:pt x="0" y="809626"/>
                  </a:cubicBezTo>
                  <a:lnTo>
                    <a:pt x="0" y="114299"/>
                  </a:lnTo>
                  <a:cubicBezTo>
                    <a:pt x="0" y="51216"/>
                    <a:pt x="51216" y="0"/>
                    <a:pt x="114299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30" name="Text 10"/>
            <p:cNvSpPr/>
            <p:nvPr/>
          </p:nvSpPr>
          <p:spPr>
            <a:xfrm>
              <a:off x="4352" y="8985"/>
              <a:ext cx="315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1.5万亿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1" name="Text 11"/>
            <p:cNvSpPr/>
            <p:nvPr/>
          </p:nvSpPr>
          <p:spPr>
            <a:xfrm>
              <a:off x="4434" y="9645"/>
              <a:ext cx="298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2028年预测规模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2" name="Shape 12"/>
            <p:cNvSpPr/>
            <p:nvPr/>
          </p:nvSpPr>
          <p:spPr>
            <a:xfrm>
              <a:off x="7871" y="8738"/>
              <a:ext cx="3375" cy="1455"/>
            </a:xfrm>
            <a:custGeom>
              <a:avLst/>
              <a:gdLst/>
              <a:ahLst/>
              <a:cxnLst/>
              <a:rect l="l" t="t" r="r" b="b"/>
              <a:pathLst>
                <a:path w="2143125" h="923925">
                  <a:moveTo>
                    <a:pt x="114299" y="0"/>
                  </a:moveTo>
                  <a:lnTo>
                    <a:pt x="2028826" y="0"/>
                  </a:lnTo>
                  <a:cubicBezTo>
                    <a:pt x="2091952" y="0"/>
                    <a:pt x="2143125" y="51173"/>
                    <a:pt x="2143125" y="114299"/>
                  </a:cubicBezTo>
                  <a:lnTo>
                    <a:pt x="2143125" y="809626"/>
                  </a:lnTo>
                  <a:cubicBezTo>
                    <a:pt x="2143125" y="872752"/>
                    <a:pt x="2091952" y="923925"/>
                    <a:pt x="2028826" y="923925"/>
                  </a:cubicBezTo>
                  <a:lnTo>
                    <a:pt x="114299" y="923925"/>
                  </a:lnTo>
                  <a:cubicBezTo>
                    <a:pt x="51216" y="923925"/>
                    <a:pt x="0" y="872709"/>
                    <a:pt x="0" y="809626"/>
                  </a:cubicBezTo>
                  <a:lnTo>
                    <a:pt x="0" y="114299"/>
                  </a:lnTo>
                  <a:cubicBezTo>
                    <a:pt x="0" y="51216"/>
                    <a:pt x="51216" y="0"/>
                    <a:pt x="114299" y="0"/>
                  </a:cubicBezTo>
                  <a:close/>
                </a:path>
              </a:pathLst>
            </a:custGeom>
            <a:solidFill>
              <a:srgbClr val="8D99AE">
                <a:alpha val="10196"/>
              </a:srgbClr>
            </a:solidFill>
            <a:ln w="12700">
              <a:solidFill>
                <a:srgbClr val="8D99AE">
                  <a:alpha val="30196"/>
                </a:srgbClr>
              </a:solidFill>
              <a:prstDash val="solid"/>
            </a:ln>
          </p:spPr>
        </p:sp>
        <p:sp>
          <p:nvSpPr>
            <p:cNvPr id="33" name="Text 13"/>
            <p:cNvSpPr/>
            <p:nvPr/>
          </p:nvSpPr>
          <p:spPr>
            <a:xfrm>
              <a:off x="7984" y="8985"/>
              <a:ext cx="315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25%+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4" name="Text 14"/>
            <p:cNvSpPr/>
            <p:nvPr/>
          </p:nvSpPr>
          <p:spPr>
            <a:xfrm>
              <a:off x="8066" y="9645"/>
              <a:ext cx="298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年复合增长率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5" name="Shape 15"/>
            <p:cNvSpPr/>
            <p:nvPr/>
          </p:nvSpPr>
          <p:spPr>
            <a:xfrm>
              <a:off x="11503" y="1928"/>
              <a:ext cx="7095" cy="5595"/>
            </a:xfrm>
            <a:custGeom>
              <a:avLst/>
              <a:gdLst/>
              <a:ahLst/>
              <a:cxnLst/>
              <a:rect l="l" t="t" r="r" b="b"/>
              <a:pathLst>
                <a:path w="4505325" h="3552825">
                  <a:moveTo>
                    <a:pt x="114294" y="0"/>
                  </a:moveTo>
                  <a:lnTo>
                    <a:pt x="4391031" y="0"/>
                  </a:lnTo>
                  <a:cubicBezTo>
                    <a:pt x="4454154" y="0"/>
                    <a:pt x="4505325" y="51171"/>
                    <a:pt x="4505325" y="114294"/>
                  </a:cubicBezTo>
                  <a:lnTo>
                    <a:pt x="4505325" y="3438531"/>
                  </a:lnTo>
                  <a:cubicBezTo>
                    <a:pt x="4505325" y="3501654"/>
                    <a:pt x="4454154" y="3552825"/>
                    <a:pt x="4391031" y="3552825"/>
                  </a:cubicBezTo>
                  <a:lnTo>
                    <a:pt x="114294" y="3552825"/>
                  </a:lnTo>
                  <a:cubicBezTo>
                    <a:pt x="51171" y="3552825"/>
                    <a:pt x="0" y="3501654"/>
                    <a:pt x="0" y="3438531"/>
                  </a:cubicBezTo>
                  <a:lnTo>
                    <a:pt x="0" y="114294"/>
                  </a:lnTo>
                  <a:cubicBezTo>
                    <a:pt x="0" y="51214"/>
                    <a:pt x="51214" y="0"/>
                    <a:pt x="114294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36" name="Shape 16"/>
            <p:cNvSpPr/>
            <p:nvPr/>
          </p:nvSpPr>
          <p:spPr>
            <a:xfrm>
              <a:off x="11751" y="2235"/>
              <a:ext cx="375" cy="3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119063" y="5953"/>
                  </a:moveTo>
                  <a:cubicBezTo>
                    <a:pt x="140419" y="5953"/>
                    <a:pt x="157758" y="23292"/>
                    <a:pt x="157758" y="44648"/>
                  </a:cubicBezTo>
                  <a:cubicBezTo>
                    <a:pt x="157758" y="66005"/>
                    <a:pt x="140419" y="83344"/>
                    <a:pt x="119063" y="83344"/>
                  </a:cubicBezTo>
                  <a:cubicBezTo>
                    <a:pt x="97706" y="83344"/>
                    <a:pt x="80367" y="66005"/>
                    <a:pt x="80367" y="44648"/>
                  </a:cubicBezTo>
                  <a:cubicBezTo>
                    <a:pt x="80367" y="23292"/>
                    <a:pt x="97706" y="5953"/>
                    <a:pt x="119063" y="5953"/>
                  </a:cubicBezTo>
                  <a:close/>
                  <a:moveTo>
                    <a:pt x="35719" y="32742"/>
                  </a:moveTo>
                  <a:cubicBezTo>
                    <a:pt x="50504" y="32742"/>
                    <a:pt x="62508" y="44746"/>
                    <a:pt x="62508" y="59531"/>
                  </a:cubicBezTo>
                  <a:cubicBezTo>
                    <a:pt x="62508" y="74317"/>
                    <a:pt x="50504" y="86320"/>
                    <a:pt x="35719" y="86320"/>
                  </a:cubicBezTo>
                  <a:cubicBezTo>
                    <a:pt x="20933" y="86320"/>
                    <a:pt x="8930" y="74317"/>
                    <a:pt x="8930" y="59531"/>
                  </a:cubicBezTo>
                  <a:cubicBezTo>
                    <a:pt x="8930" y="44746"/>
                    <a:pt x="20933" y="32742"/>
                    <a:pt x="35719" y="32742"/>
                  </a:cubicBezTo>
                  <a:close/>
                  <a:moveTo>
                    <a:pt x="0" y="154781"/>
                  </a:moveTo>
                  <a:cubicBezTo>
                    <a:pt x="0" y="128476"/>
                    <a:pt x="21320" y="107156"/>
                    <a:pt x="47625" y="107156"/>
                  </a:cubicBezTo>
                  <a:cubicBezTo>
                    <a:pt x="52388" y="107156"/>
                    <a:pt x="57001" y="107863"/>
                    <a:pt x="61354" y="109165"/>
                  </a:cubicBezTo>
                  <a:cubicBezTo>
                    <a:pt x="49113" y="122858"/>
                    <a:pt x="41672" y="140940"/>
                    <a:pt x="41672" y="160734"/>
                  </a:cubicBezTo>
                  <a:lnTo>
                    <a:pt x="41672" y="166688"/>
                  </a:lnTo>
                  <a:cubicBezTo>
                    <a:pt x="41672" y="170929"/>
                    <a:pt x="42565" y="174947"/>
                    <a:pt x="44165" y="178594"/>
                  </a:cubicBezTo>
                  <a:lnTo>
                    <a:pt x="11906" y="178594"/>
                  </a:lnTo>
                  <a:cubicBezTo>
                    <a:pt x="5321" y="178594"/>
                    <a:pt x="0" y="173273"/>
                    <a:pt x="0" y="166688"/>
                  </a:cubicBezTo>
                  <a:lnTo>
                    <a:pt x="0" y="154781"/>
                  </a:lnTo>
                  <a:close/>
                  <a:moveTo>
                    <a:pt x="193960" y="178594"/>
                  </a:moveTo>
                  <a:cubicBezTo>
                    <a:pt x="195560" y="174947"/>
                    <a:pt x="196453" y="170929"/>
                    <a:pt x="196453" y="166688"/>
                  </a:cubicBezTo>
                  <a:lnTo>
                    <a:pt x="196453" y="160734"/>
                  </a:lnTo>
                  <a:cubicBezTo>
                    <a:pt x="196453" y="140940"/>
                    <a:pt x="189012" y="122858"/>
                    <a:pt x="176771" y="109165"/>
                  </a:cubicBezTo>
                  <a:cubicBezTo>
                    <a:pt x="181124" y="107863"/>
                    <a:pt x="185738" y="107156"/>
                    <a:pt x="190500" y="107156"/>
                  </a:cubicBezTo>
                  <a:cubicBezTo>
                    <a:pt x="216805" y="107156"/>
                    <a:pt x="238125" y="128476"/>
                    <a:pt x="238125" y="154781"/>
                  </a:cubicBezTo>
                  <a:lnTo>
                    <a:pt x="238125" y="166688"/>
                  </a:lnTo>
                  <a:cubicBezTo>
                    <a:pt x="238125" y="173273"/>
                    <a:pt x="232804" y="178594"/>
                    <a:pt x="226219" y="178594"/>
                  </a:cubicBezTo>
                  <a:lnTo>
                    <a:pt x="193960" y="178594"/>
                  </a:lnTo>
                  <a:close/>
                  <a:moveTo>
                    <a:pt x="175617" y="59531"/>
                  </a:moveTo>
                  <a:cubicBezTo>
                    <a:pt x="175617" y="44746"/>
                    <a:pt x="187621" y="32742"/>
                    <a:pt x="202406" y="32742"/>
                  </a:cubicBezTo>
                  <a:cubicBezTo>
                    <a:pt x="217192" y="32742"/>
                    <a:pt x="229195" y="44746"/>
                    <a:pt x="229195" y="59531"/>
                  </a:cubicBezTo>
                  <a:cubicBezTo>
                    <a:pt x="229195" y="74317"/>
                    <a:pt x="217192" y="86320"/>
                    <a:pt x="202406" y="86320"/>
                  </a:cubicBezTo>
                  <a:cubicBezTo>
                    <a:pt x="187621" y="86320"/>
                    <a:pt x="175617" y="74317"/>
                    <a:pt x="175617" y="59531"/>
                  </a:cubicBezTo>
                  <a:close/>
                  <a:moveTo>
                    <a:pt x="59531" y="160734"/>
                  </a:moveTo>
                  <a:cubicBezTo>
                    <a:pt x="59531" y="127843"/>
                    <a:pt x="86171" y="101203"/>
                    <a:pt x="119063" y="101203"/>
                  </a:cubicBezTo>
                  <a:cubicBezTo>
                    <a:pt x="151954" y="101203"/>
                    <a:pt x="178594" y="127843"/>
                    <a:pt x="178594" y="160734"/>
                  </a:cubicBezTo>
                  <a:lnTo>
                    <a:pt x="178594" y="166688"/>
                  </a:lnTo>
                  <a:cubicBezTo>
                    <a:pt x="178594" y="173273"/>
                    <a:pt x="173273" y="178594"/>
                    <a:pt x="166688" y="178594"/>
                  </a:cubicBezTo>
                  <a:lnTo>
                    <a:pt x="71438" y="178594"/>
                  </a:lnTo>
                  <a:cubicBezTo>
                    <a:pt x="64852" y="178594"/>
                    <a:pt x="59531" y="173273"/>
                    <a:pt x="59531" y="166688"/>
                  </a:cubicBezTo>
                  <a:lnTo>
                    <a:pt x="59531" y="160734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37" name="Text 17"/>
            <p:cNvSpPr/>
            <p:nvPr/>
          </p:nvSpPr>
          <p:spPr>
            <a:xfrm>
              <a:off x="12126" y="2175"/>
              <a:ext cx="637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用户规模</a:t>
              </a:r>
              <a:endParaRPr lang="en-US" sz="15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8" name="Shape 18"/>
            <p:cNvSpPr/>
            <p:nvPr/>
          </p:nvSpPr>
          <p:spPr>
            <a:xfrm>
              <a:off x="11751" y="3330"/>
              <a:ext cx="6600" cy="1080"/>
            </a:xfrm>
            <a:custGeom>
              <a:avLst/>
              <a:gdLst/>
              <a:ahLst/>
              <a:cxnLst/>
              <a:rect l="l" t="t" r="r" b="b"/>
              <a:pathLst>
                <a:path w="4191000" h="685800">
                  <a:moveTo>
                    <a:pt x="76199" y="0"/>
                  </a:moveTo>
                  <a:lnTo>
                    <a:pt x="4114801" y="0"/>
                  </a:lnTo>
                  <a:cubicBezTo>
                    <a:pt x="4156884" y="0"/>
                    <a:pt x="4191000" y="34116"/>
                    <a:pt x="4191000" y="76199"/>
                  </a:cubicBezTo>
                  <a:lnTo>
                    <a:pt x="4191000" y="609601"/>
                  </a:lnTo>
                  <a:cubicBezTo>
                    <a:pt x="4191000" y="651684"/>
                    <a:pt x="4156884" y="685800"/>
                    <a:pt x="4114801" y="685800"/>
                  </a:cubicBezTo>
                  <a:lnTo>
                    <a:pt x="76199" y="685800"/>
                  </a:lnTo>
                  <a:cubicBezTo>
                    <a:pt x="34116" y="685800"/>
                    <a:pt x="0" y="651684"/>
                    <a:pt x="0" y="6096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39" name="Text 19"/>
            <p:cNvSpPr/>
            <p:nvPr/>
          </p:nvSpPr>
          <p:spPr>
            <a:xfrm>
              <a:off x="11931" y="3570"/>
              <a:ext cx="13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个人投资者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0" name="Text 20"/>
            <p:cNvSpPr/>
            <p:nvPr/>
          </p:nvSpPr>
          <p:spPr>
            <a:xfrm>
              <a:off x="17386" y="3510"/>
              <a:ext cx="96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2亿+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1" name="Shape 21"/>
            <p:cNvSpPr/>
            <p:nvPr/>
          </p:nvSpPr>
          <p:spPr>
            <a:xfrm>
              <a:off x="11931" y="4110"/>
              <a:ext cx="6240" cy="120"/>
            </a:xfrm>
            <a:custGeom>
              <a:avLst/>
              <a:gdLst/>
              <a:ahLst/>
              <a:cxnLst/>
              <a:rect l="l" t="t" r="r" b="b"/>
              <a:pathLst>
                <a:path w="3962400" h="76200">
                  <a:moveTo>
                    <a:pt x="38100" y="0"/>
                  </a:moveTo>
                  <a:lnTo>
                    <a:pt x="3924300" y="0"/>
                  </a:lnTo>
                  <a:cubicBezTo>
                    <a:pt x="3945328" y="0"/>
                    <a:pt x="3962400" y="17072"/>
                    <a:pt x="3962400" y="38100"/>
                  </a:cubicBezTo>
                  <a:lnTo>
                    <a:pt x="3962400" y="38100"/>
                  </a:lnTo>
                  <a:cubicBezTo>
                    <a:pt x="3962400" y="59128"/>
                    <a:pt x="3945328" y="76200"/>
                    <a:pt x="39243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42" name="Shape 22"/>
            <p:cNvSpPr/>
            <p:nvPr/>
          </p:nvSpPr>
          <p:spPr>
            <a:xfrm>
              <a:off x="11931" y="4110"/>
              <a:ext cx="5295" cy="120"/>
            </a:xfrm>
            <a:custGeom>
              <a:avLst/>
              <a:gdLst/>
              <a:ahLst/>
              <a:cxnLst/>
              <a:rect l="l" t="t" r="r" b="b"/>
              <a:pathLst>
                <a:path w="3362325" h="76200">
                  <a:moveTo>
                    <a:pt x="38100" y="0"/>
                  </a:moveTo>
                  <a:lnTo>
                    <a:pt x="3324225" y="0"/>
                  </a:lnTo>
                  <a:cubicBezTo>
                    <a:pt x="3345253" y="0"/>
                    <a:pt x="3362325" y="17072"/>
                    <a:pt x="3362325" y="38100"/>
                  </a:cubicBezTo>
                  <a:lnTo>
                    <a:pt x="3362325" y="38100"/>
                  </a:lnTo>
                  <a:cubicBezTo>
                    <a:pt x="3362325" y="59128"/>
                    <a:pt x="3345253" y="76200"/>
                    <a:pt x="3324225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43" name="Shape 23"/>
            <p:cNvSpPr/>
            <p:nvPr/>
          </p:nvSpPr>
          <p:spPr>
            <a:xfrm>
              <a:off x="11751" y="5640"/>
              <a:ext cx="6600" cy="1080"/>
            </a:xfrm>
            <a:custGeom>
              <a:avLst/>
              <a:gdLst/>
              <a:ahLst/>
              <a:cxnLst/>
              <a:rect l="l" t="t" r="r" b="b"/>
              <a:pathLst>
                <a:path w="4191000" h="685800">
                  <a:moveTo>
                    <a:pt x="76199" y="0"/>
                  </a:moveTo>
                  <a:lnTo>
                    <a:pt x="4114801" y="0"/>
                  </a:lnTo>
                  <a:cubicBezTo>
                    <a:pt x="4156884" y="0"/>
                    <a:pt x="4191000" y="34116"/>
                    <a:pt x="4191000" y="76199"/>
                  </a:cubicBezTo>
                  <a:lnTo>
                    <a:pt x="4191000" y="609601"/>
                  </a:lnTo>
                  <a:cubicBezTo>
                    <a:pt x="4191000" y="651684"/>
                    <a:pt x="4156884" y="685800"/>
                    <a:pt x="4114801" y="685800"/>
                  </a:cubicBezTo>
                  <a:lnTo>
                    <a:pt x="76199" y="685800"/>
                  </a:lnTo>
                  <a:cubicBezTo>
                    <a:pt x="34116" y="685800"/>
                    <a:pt x="0" y="651684"/>
                    <a:pt x="0" y="6096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44" name="Text 24"/>
            <p:cNvSpPr/>
            <p:nvPr/>
          </p:nvSpPr>
          <p:spPr>
            <a:xfrm>
              <a:off x="11931" y="5880"/>
              <a:ext cx="108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机构客户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5" name="Text 25"/>
            <p:cNvSpPr/>
            <p:nvPr/>
          </p:nvSpPr>
          <p:spPr>
            <a:xfrm>
              <a:off x="17445" y="5820"/>
              <a:ext cx="90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数万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6" name="Shape 26"/>
            <p:cNvSpPr/>
            <p:nvPr/>
          </p:nvSpPr>
          <p:spPr>
            <a:xfrm>
              <a:off x="11931" y="6420"/>
              <a:ext cx="6240" cy="120"/>
            </a:xfrm>
            <a:custGeom>
              <a:avLst/>
              <a:gdLst/>
              <a:ahLst/>
              <a:cxnLst/>
              <a:rect l="l" t="t" r="r" b="b"/>
              <a:pathLst>
                <a:path w="3962400" h="76200">
                  <a:moveTo>
                    <a:pt x="38100" y="0"/>
                  </a:moveTo>
                  <a:lnTo>
                    <a:pt x="3924300" y="0"/>
                  </a:lnTo>
                  <a:cubicBezTo>
                    <a:pt x="3945328" y="0"/>
                    <a:pt x="3962400" y="17072"/>
                    <a:pt x="3962400" y="38100"/>
                  </a:cubicBezTo>
                  <a:lnTo>
                    <a:pt x="3962400" y="38100"/>
                  </a:lnTo>
                  <a:cubicBezTo>
                    <a:pt x="3962400" y="59128"/>
                    <a:pt x="3945328" y="76200"/>
                    <a:pt x="39243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47" name="Shape 27"/>
            <p:cNvSpPr/>
            <p:nvPr/>
          </p:nvSpPr>
          <p:spPr>
            <a:xfrm>
              <a:off x="11931" y="6420"/>
              <a:ext cx="3735" cy="120"/>
            </a:xfrm>
            <a:custGeom>
              <a:avLst/>
              <a:gdLst/>
              <a:ahLst/>
              <a:cxnLst/>
              <a:rect l="l" t="t" r="r" b="b"/>
              <a:pathLst>
                <a:path w="2371725" h="76200">
                  <a:moveTo>
                    <a:pt x="38100" y="0"/>
                  </a:moveTo>
                  <a:lnTo>
                    <a:pt x="2333625" y="0"/>
                  </a:lnTo>
                  <a:cubicBezTo>
                    <a:pt x="2354653" y="0"/>
                    <a:pt x="2371725" y="17072"/>
                    <a:pt x="2371725" y="38100"/>
                  </a:cubicBezTo>
                  <a:lnTo>
                    <a:pt x="2371725" y="38100"/>
                  </a:lnTo>
                  <a:cubicBezTo>
                    <a:pt x="2371725" y="59128"/>
                    <a:pt x="2354653" y="76200"/>
                    <a:pt x="2333625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48" name="Shape 28"/>
            <p:cNvSpPr/>
            <p:nvPr/>
          </p:nvSpPr>
          <p:spPr>
            <a:xfrm>
              <a:off x="11503" y="7778"/>
              <a:ext cx="7095" cy="2415"/>
            </a:xfrm>
            <a:custGeom>
              <a:avLst/>
              <a:gdLst/>
              <a:ahLst/>
              <a:cxnLst/>
              <a:rect l="l" t="t" r="r" b="b"/>
              <a:pathLst>
                <a:path w="4505325" h="1533525">
                  <a:moveTo>
                    <a:pt x="114294" y="0"/>
                  </a:moveTo>
                  <a:lnTo>
                    <a:pt x="4391031" y="0"/>
                  </a:lnTo>
                  <a:cubicBezTo>
                    <a:pt x="4454154" y="0"/>
                    <a:pt x="4505325" y="51171"/>
                    <a:pt x="4505325" y="114294"/>
                  </a:cubicBezTo>
                  <a:lnTo>
                    <a:pt x="4505325" y="1419231"/>
                  </a:lnTo>
                  <a:cubicBezTo>
                    <a:pt x="4505325" y="1482354"/>
                    <a:pt x="4454154" y="1533525"/>
                    <a:pt x="4391031" y="1533525"/>
                  </a:cubicBezTo>
                  <a:lnTo>
                    <a:pt x="114294" y="1533525"/>
                  </a:lnTo>
                  <a:cubicBezTo>
                    <a:pt x="51171" y="1533525"/>
                    <a:pt x="0" y="1482354"/>
                    <a:pt x="0" y="1419231"/>
                  </a:cubicBezTo>
                  <a:lnTo>
                    <a:pt x="0" y="114294"/>
                  </a:lnTo>
                  <a:cubicBezTo>
                    <a:pt x="0" y="51213"/>
                    <a:pt x="51213" y="0"/>
                    <a:pt x="114294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49" name="Shape 29"/>
            <p:cNvSpPr/>
            <p:nvPr/>
          </p:nvSpPr>
          <p:spPr>
            <a:xfrm>
              <a:off x="11788" y="8100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0716" y="10716"/>
                  </a:moveTo>
                  <a:cubicBezTo>
                    <a:pt x="4789" y="10716"/>
                    <a:pt x="0" y="15504"/>
                    <a:pt x="0" y="21431"/>
                  </a:cubicBezTo>
                  <a:lnTo>
                    <a:pt x="0" y="144661"/>
                  </a:lnTo>
                  <a:cubicBezTo>
                    <a:pt x="0" y="153535"/>
                    <a:pt x="7200" y="160734"/>
                    <a:pt x="16073" y="160734"/>
                  </a:cubicBezTo>
                  <a:lnTo>
                    <a:pt x="155377" y="160734"/>
                  </a:lnTo>
                  <a:cubicBezTo>
                    <a:pt x="164250" y="160734"/>
                    <a:pt x="171450" y="153535"/>
                    <a:pt x="171450" y="144661"/>
                  </a:cubicBezTo>
                  <a:lnTo>
                    <a:pt x="171450" y="50966"/>
                  </a:lnTo>
                  <a:cubicBezTo>
                    <a:pt x="171450" y="44872"/>
                    <a:pt x="164954" y="41021"/>
                    <a:pt x="159596" y="43901"/>
                  </a:cubicBezTo>
                  <a:lnTo>
                    <a:pt x="107156" y="72130"/>
                  </a:lnTo>
                  <a:lnTo>
                    <a:pt x="107156" y="50966"/>
                  </a:lnTo>
                  <a:cubicBezTo>
                    <a:pt x="107156" y="44872"/>
                    <a:pt x="100660" y="41021"/>
                    <a:pt x="95302" y="43901"/>
                  </a:cubicBezTo>
                  <a:lnTo>
                    <a:pt x="42863" y="72130"/>
                  </a:lnTo>
                  <a:lnTo>
                    <a:pt x="42863" y="21431"/>
                  </a:lnTo>
                  <a:cubicBezTo>
                    <a:pt x="42863" y="15504"/>
                    <a:pt x="38074" y="10716"/>
                    <a:pt x="32147" y="10716"/>
                  </a:cubicBezTo>
                  <a:lnTo>
                    <a:pt x="10716" y="10716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50" name="Text 30"/>
            <p:cNvSpPr/>
            <p:nvPr/>
          </p:nvSpPr>
          <p:spPr>
            <a:xfrm>
              <a:off x="12096" y="8025"/>
              <a:ext cx="6390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细分市场增长率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1" name="Text 31"/>
            <p:cNvSpPr/>
            <p:nvPr/>
          </p:nvSpPr>
          <p:spPr>
            <a:xfrm>
              <a:off x="11751" y="8655"/>
              <a:ext cx="199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企业级金融分析工具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2" name="Text 32"/>
            <p:cNvSpPr/>
            <p:nvPr/>
          </p:nvSpPr>
          <p:spPr>
            <a:xfrm>
              <a:off x="17712" y="8625"/>
              <a:ext cx="75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30%+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3" name="Text 33"/>
            <p:cNvSpPr/>
            <p:nvPr/>
          </p:nvSpPr>
          <p:spPr>
            <a:xfrm>
              <a:off x="11751" y="9135"/>
              <a:ext cx="1560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AI金融应用市场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4" name="Text 34"/>
            <p:cNvSpPr/>
            <p:nvPr/>
          </p:nvSpPr>
          <p:spPr>
            <a:xfrm>
              <a:off x="17713" y="9105"/>
              <a:ext cx="75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40%+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5" name="Text 35"/>
            <p:cNvSpPr/>
            <p:nvPr/>
          </p:nvSpPr>
          <p:spPr>
            <a:xfrm>
              <a:off x="11751" y="9615"/>
              <a:ext cx="178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量化投资工具市场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6" name="Text 36"/>
            <p:cNvSpPr/>
            <p:nvPr/>
          </p:nvSpPr>
          <p:spPr>
            <a:xfrm>
              <a:off x="17718" y="9585"/>
              <a:ext cx="75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20%+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组合 97"/>
          <p:cNvGrpSpPr/>
          <p:nvPr/>
        </p:nvGrpSpPr>
        <p:grpSpPr>
          <a:xfrm>
            <a:off x="275590" y="166283"/>
            <a:ext cx="8420357" cy="4654949"/>
            <a:chOff x="600" y="215"/>
            <a:chExt cx="17993" cy="9898"/>
          </a:xfrm>
        </p:grpSpPr>
        <p:sp>
          <p:nvSpPr>
            <p:cNvPr id="2" name="Shape 0"/>
            <p:cNvSpPr/>
            <p:nvPr/>
          </p:nvSpPr>
          <p:spPr>
            <a:xfrm>
              <a:off x="600" y="660"/>
              <a:ext cx="60" cy="480"/>
            </a:xfrm>
            <a:custGeom>
              <a:avLst/>
              <a:gdLst/>
              <a:ahLst/>
              <a:cxnLst/>
              <a:rect l="l" t="t" r="r" b="b"/>
              <a:pathLst>
                <a:path w="38100" h="304800">
                  <a:moveTo>
                    <a:pt x="0" y="0"/>
                  </a:moveTo>
                  <a:lnTo>
                    <a:pt x="38100" y="0"/>
                  </a:lnTo>
                  <a:lnTo>
                    <a:pt x="381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3" name="Text 1"/>
            <p:cNvSpPr/>
            <p:nvPr/>
          </p:nvSpPr>
          <p:spPr>
            <a:xfrm>
              <a:off x="6966" y="215"/>
              <a:ext cx="6737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目标客户群体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" name="Shape 3"/>
            <p:cNvSpPr/>
            <p:nvPr/>
          </p:nvSpPr>
          <p:spPr>
            <a:xfrm>
              <a:off x="608" y="1928"/>
              <a:ext cx="8865" cy="6615"/>
            </a:xfrm>
            <a:custGeom>
              <a:avLst/>
              <a:gdLst/>
              <a:ahLst/>
              <a:cxnLst/>
              <a:rect l="l" t="t" r="r" b="b"/>
              <a:pathLst>
                <a:path w="5629275" h="4200525">
                  <a:moveTo>
                    <a:pt x="114296" y="0"/>
                  </a:moveTo>
                  <a:lnTo>
                    <a:pt x="5514979" y="0"/>
                  </a:lnTo>
                  <a:cubicBezTo>
                    <a:pt x="5578061" y="0"/>
                    <a:pt x="5629275" y="51214"/>
                    <a:pt x="5629275" y="114296"/>
                  </a:cubicBezTo>
                  <a:lnTo>
                    <a:pt x="5629275" y="4086229"/>
                  </a:lnTo>
                  <a:cubicBezTo>
                    <a:pt x="5629275" y="4149311"/>
                    <a:pt x="5578061" y="4200525"/>
                    <a:pt x="5514979" y="4200525"/>
                  </a:cubicBezTo>
                  <a:lnTo>
                    <a:pt x="114296" y="4200525"/>
                  </a:lnTo>
                  <a:cubicBezTo>
                    <a:pt x="51214" y="4200525"/>
                    <a:pt x="0" y="4149311"/>
                    <a:pt x="0" y="4086229"/>
                  </a:cubicBezTo>
                  <a:lnTo>
                    <a:pt x="0" y="114296"/>
                  </a:lnTo>
                  <a:cubicBezTo>
                    <a:pt x="0" y="51214"/>
                    <a:pt x="51214" y="0"/>
                    <a:pt x="114296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855" y="2205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7" name="Shape 5"/>
            <p:cNvSpPr/>
            <p:nvPr/>
          </p:nvSpPr>
          <p:spPr>
            <a:xfrm>
              <a:off x="1013" y="2385"/>
              <a:ext cx="405" cy="36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139750" y="38933"/>
                  </a:moveTo>
                  <a:cubicBezTo>
                    <a:pt x="143857" y="35674"/>
                    <a:pt x="146447" y="30629"/>
                    <a:pt x="146447" y="25003"/>
                  </a:cubicBezTo>
                  <a:cubicBezTo>
                    <a:pt x="146447" y="15136"/>
                    <a:pt x="138455" y="7144"/>
                    <a:pt x="128588" y="7144"/>
                  </a:cubicBezTo>
                  <a:cubicBezTo>
                    <a:pt x="118720" y="7144"/>
                    <a:pt x="110728" y="15136"/>
                    <a:pt x="110728" y="25003"/>
                  </a:cubicBezTo>
                  <a:cubicBezTo>
                    <a:pt x="110728" y="30629"/>
                    <a:pt x="113362" y="35674"/>
                    <a:pt x="117425" y="38933"/>
                  </a:cubicBezTo>
                  <a:lnTo>
                    <a:pt x="86886" y="86975"/>
                  </a:lnTo>
                  <a:cubicBezTo>
                    <a:pt x="82421" y="93985"/>
                    <a:pt x="72911" y="95726"/>
                    <a:pt x="66258" y="90726"/>
                  </a:cubicBezTo>
                  <a:lnTo>
                    <a:pt x="39692" y="70857"/>
                  </a:lnTo>
                  <a:cubicBezTo>
                    <a:pt x="41702" y="68000"/>
                    <a:pt x="42863" y="64472"/>
                    <a:pt x="42863" y="60722"/>
                  </a:cubicBezTo>
                  <a:cubicBezTo>
                    <a:pt x="42863" y="50855"/>
                    <a:pt x="34870" y="42863"/>
                    <a:pt x="25003" y="42863"/>
                  </a:cubicBezTo>
                  <a:cubicBezTo>
                    <a:pt x="15136" y="42863"/>
                    <a:pt x="7144" y="50855"/>
                    <a:pt x="7144" y="60722"/>
                  </a:cubicBezTo>
                  <a:cubicBezTo>
                    <a:pt x="7144" y="70455"/>
                    <a:pt x="14957" y="78403"/>
                    <a:pt x="24646" y="78581"/>
                  </a:cubicBezTo>
                  <a:lnTo>
                    <a:pt x="39201" y="175692"/>
                  </a:lnTo>
                  <a:cubicBezTo>
                    <a:pt x="41300" y="189667"/>
                    <a:pt x="53310" y="200025"/>
                    <a:pt x="67464" y="200025"/>
                  </a:cubicBezTo>
                  <a:lnTo>
                    <a:pt x="189711" y="200025"/>
                  </a:lnTo>
                  <a:cubicBezTo>
                    <a:pt x="203865" y="200025"/>
                    <a:pt x="215875" y="189667"/>
                    <a:pt x="217974" y="175692"/>
                  </a:cubicBezTo>
                  <a:lnTo>
                    <a:pt x="232529" y="78581"/>
                  </a:lnTo>
                  <a:cubicBezTo>
                    <a:pt x="242218" y="78403"/>
                    <a:pt x="250031" y="70455"/>
                    <a:pt x="250031" y="60722"/>
                  </a:cubicBezTo>
                  <a:cubicBezTo>
                    <a:pt x="250031" y="50855"/>
                    <a:pt x="242039" y="42863"/>
                    <a:pt x="232172" y="42863"/>
                  </a:cubicBezTo>
                  <a:cubicBezTo>
                    <a:pt x="222305" y="42863"/>
                    <a:pt x="214313" y="50855"/>
                    <a:pt x="214313" y="60722"/>
                  </a:cubicBezTo>
                  <a:cubicBezTo>
                    <a:pt x="214313" y="64472"/>
                    <a:pt x="215473" y="68000"/>
                    <a:pt x="217483" y="70857"/>
                  </a:cubicBezTo>
                  <a:lnTo>
                    <a:pt x="190961" y="90770"/>
                  </a:lnTo>
                  <a:cubicBezTo>
                    <a:pt x="184309" y="95771"/>
                    <a:pt x="174799" y="94030"/>
                    <a:pt x="170334" y="87020"/>
                  </a:cubicBezTo>
                  <a:lnTo>
                    <a:pt x="139750" y="38933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8" name="Text 6"/>
            <p:cNvSpPr/>
            <p:nvPr/>
          </p:nvSpPr>
          <p:spPr>
            <a:xfrm>
              <a:off x="1755" y="2176"/>
              <a:ext cx="2898" cy="47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一级市场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755" y="2655"/>
              <a:ext cx="154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核心客户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855" y="3435"/>
              <a:ext cx="8370" cy="192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76200" y="0"/>
                  </a:moveTo>
                  <a:lnTo>
                    <a:pt x="5238750" y="0"/>
                  </a:lnTo>
                  <a:cubicBezTo>
                    <a:pt x="5280806" y="0"/>
                    <a:pt x="5314950" y="34144"/>
                    <a:pt x="5314950" y="76200"/>
                  </a:cubicBezTo>
                  <a:lnTo>
                    <a:pt x="5314950" y="1143000"/>
                  </a:lnTo>
                  <a:cubicBezTo>
                    <a:pt x="5314950" y="1185056"/>
                    <a:pt x="5280806" y="1219200"/>
                    <a:pt x="5238750" y="1219200"/>
                  </a:cubicBezTo>
                  <a:lnTo>
                    <a:pt x="76200" y="1219200"/>
                  </a:lnTo>
                  <a:cubicBezTo>
                    <a:pt x="34144" y="1219200"/>
                    <a:pt x="0" y="1185056"/>
                    <a:pt x="0" y="11430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11" name="Shape 9"/>
            <p:cNvSpPr/>
            <p:nvPr/>
          </p:nvSpPr>
          <p:spPr>
            <a:xfrm>
              <a:off x="1035" y="3675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12" name="Shape 10"/>
            <p:cNvSpPr/>
            <p:nvPr/>
          </p:nvSpPr>
          <p:spPr>
            <a:xfrm>
              <a:off x="1221" y="3840"/>
              <a:ext cx="236" cy="270"/>
            </a:xfrm>
            <a:custGeom>
              <a:avLst/>
              <a:gdLst/>
              <a:ahLst/>
              <a:cxnLst/>
              <a:rect l="l" t="t" r="r" b="b"/>
              <a:pathLst>
                <a:path w="150019" h="171450">
                  <a:moveTo>
                    <a:pt x="75009" y="83046"/>
                  </a:moveTo>
                  <a:cubicBezTo>
                    <a:pt x="97187" y="83046"/>
                    <a:pt x="115193" y="65040"/>
                    <a:pt x="115193" y="42863"/>
                  </a:cubicBezTo>
                  <a:cubicBezTo>
                    <a:pt x="115193" y="20685"/>
                    <a:pt x="97187" y="2679"/>
                    <a:pt x="75009" y="2679"/>
                  </a:cubicBezTo>
                  <a:cubicBezTo>
                    <a:pt x="52831" y="2679"/>
                    <a:pt x="34826" y="20685"/>
                    <a:pt x="34826" y="42863"/>
                  </a:cubicBezTo>
                  <a:cubicBezTo>
                    <a:pt x="34826" y="65040"/>
                    <a:pt x="52831" y="83046"/>
                    <a:pt x="75009" y="83046"/>
                  </a:cubicBezTo>
                  <a:close/>
                  <a:moveTo>
                    <a:pt x="65064" y="101798"/>
                  </a:moveTo>
                  <a:cubicBezTo>
                    <a:pt x="32080" y="101798"/>
                    <a:pt x="5358" y="128521"/>
                    <a:pt x="5358" y="161505"/>
                  </a:cubicBezTo>
                  <a:cubicBezTo>
                    <a:pt x="5358" y="166996"/>
                    <a:pt x="9811" y="171450"/>
                    <a:pt x="15303" y="171450"/>
                  </a:cubicBezTo>
                  <a:lnTo>
                    <a:pt x="134715" y="171450"/>
                  </a:lnTo>
                  <a:cubicBezTo>
                    <a:pt x="140207" y="171450"/>
                    <a:pt x="144661" y="166996"/>
                    <a:pt x="144661" y="161505"/>
                  </a:cubicBezTo>
                  <a:cubicBezTo>
                    <a:pt x="144661" y="128521"/>
                    <a:pt x="117939" y="101798"/>
                    <a:pt x="84955" y="101798"/>
                  </a:cubicBezTo>
                  <a:lnTo>
                    <a:pt x="65064" y="101798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1815" y="3615"/>
              <a:ext cx="202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个人投资者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1814" y="4119"/>
              <a:ext cx="3101" cy="33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高净值、专业投资者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45" y="445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500万+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90" y="493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潜在用户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5010" y="445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500-5000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5055" y="493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元/年客单价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1" name="Shape 17"/>
            <p:cNvSpPr/>
            <p:nvPr/>
          </p:nvSpPr>
          <p:spPr>
            <a:xfrm>
              <a:off x="855" y="6075"/>
              <a:ext cx="8370" cy="192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76200" y="0"/>
                  </a:moveTo>
                  <a:lnTo>
                    <a:pt x="5238750" y="0"/>
                  </a:lnTo>
                  <a:cubicBezTo>
                    <a:pt x="5280806" y="0"/>
                    <a:pt x="5314950" y="34144"/>
                    <a:pt x="5314950" y="76200"/>
                  </a:cubicBezTo>
                  <a:lnTo>
                    <a:pt x="5314950" y="1143000"/>
                  </a:lnTo>
                  <a:cubicBezTo>
                    <a:pt x="5314950" y="1185056"/>
                    <a:pt x="5280806" y="1219200"/>
                    <a:pt x="5238750" y="1219200"/>
                  </a:cubicBezTo>
                  <a:lnTo>
                    <a:pt x="76200" y="1219200"/>
                  </a:lnTo>
                  <a:cubicBezTo>
                    <a:pt x="34144" y="1219200"/>
                    <a:pt x="0" y="1185056"/>
                    <a:pt x="0" y="11430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58" name="Shape 18"/>
            <p:cNvSpPr/>
            <p:nvPr/>
          </p:nvSpPr>
          <p:spPr>
            <a:xfrm>
              <a:off x="1035" y="6315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59" name="Shape 19"/>
            <p:cNvSpPr/>
            <p:nvPr/>
          </p:nvSpPr>
          <p:spPr>
            <a:xfrm>
              <a:off x="1238" y="6480"/>
              <a:ext cx="203" cy="270"/>
            </a:xfrm>
            <a:custGeom>
              <a:avLst/>
              <a:gdLst/>
              <a:ahLst/>
              <a:cxnLst/>
              <a:rect l="l" t="t" r="r" b="b"/>
              <a:pathLst>
                <a:path w="128588" h="171450">
                  <a:moveTo>
                    <a:pt x="21431" y="0"/>
                  </a:moveTo>
                  <a:cubicBezTo>
                    <a:pt x="9611" y="0"/>
                    <a:pt x="0" y="9611"/>
                    <a:pt x="0" y="21431"/>
                  </a:cubicBezTo>
                  <a:lnTo>
                    <a:pt x="0" y="150019"/>
                  </a:lnTo>
                  <a:cubicBezTo>
                    <a:pt x="0" y="161839"/>
                    <a:pt x="9611" y="171450"/>
                    <a:pt x="21431" y="171450"/>
                  </a:cubicBezTo>
                  <a:lnTo>
                    <a:pt x="107156" y="171450"/>
                  </a:lnTo>
                  <a:cubicBezTo>
                    <a:pt x="118977" y="171450"/>
                    <a:pt x="128588" y="161839"/>
                    <a:pt x="128588" y="150019"/>
                  </a:cubicBezTo>
                  <a:lnTo>
                    <a:pt x="128588" y="21431"/>
                  </a:lnTo>
                  <a:cubicBezTo>
                    <a:pt x="128588" y="9611"/>
                    <a:pt x="118977" y="0"/>
                    <a:pt x="107156" y="0"/>
                  </a:cubicBezTo>
                  <a:lnTo>
                    <a:pt x="21431" y="0"/>
                  </a:lnTo>
                  <a:close/>
                  <a:moveTo>
                    <a:pt x="58936" y="117872"/>
                  </a:moveTo>
                  <a:lnTo>
                    <a:pt x="69652" y="117872"/>
                  </a:lnTo>
                  <a:cubicBezTo>
                    <a:pt x="75579" y="117872"/>
                    <a:pt x="80367" y="122660"/>
                    <a:pt x="80367" y="128588"/>
                  </a:cubicBezTo>
                  <a:lnTo>
                    <a:pt x="80367" y="155377"/>
                  </a:lnTo>
                  <a:lnTo>
                    <a:pt x="48220" y="155377"/>
                  </a:lnTo>
                  <a:lnTo>
                    <a:pt x="48220" y="128588"/>
                  </a:lnTo>
                  <a:cubicBezTo>
                    <a:pt x="48220" y="122660"/>
                    <a:pt x="53009" y="117872"/>
                    <a:pt x="58936" y="117872"/>
                  </a:cubicBezTo>
                  <a:close/>
                  <a:moveTo>
                    <a:pt x="32147" y="37505"/>
                  </a:moveTo>
                  <a:cubicBezTo>
                    <a:pt x="32147" y="34558"/>
                    <a:pt x="34558" y="32147"/>
                    <a:pt x="37505" y="32147"/>
                  </a:cubicBezTo>
                  <a:lnTo>
                    <a:pt x="48220" y="32147"/>
                  </a:lnTo>
                  <a:cubicBezTo>
                    <a:pt x="51167" y="32147"/>
                    <a:pt x="53578" y="34558"/>
                    <a:pt x="53578" y="37505"/>
                  </a:cubicBezTo>
                  <a:lnTo>
                    <a:pt x="53578" y="48220"/>
                  </a:lnTo>
                  <a:cubicBezTo>
                    <a:pt x="53578" y="51167"/>
                    <a:pt x="51167" y="53578"/>
                    <a:pt x="48220" y="53578"/>
                  </a:cubicBezTo>
                  <a:lnTo>
                    <a:pt x="37505" y="53578"/>
                  </a:lnTo>
                  <a:cubicBezTo>
                    <a:pt x="34558" y="53578"/>
                    <a:pt x="32147" y="51167"/>
                    <a:pt x="32147" y="48220"/>
                  </a:cubicBezTo>
                  <a:lnTo>
                    <a:pt x="32147" y="37505"/>
                  </a:lnTo>
                  <a:close/>
                  <a:moveTo>
                    <a:pt x="80367" y="32147"/>
                  </a:moveTo>
                  <a:lnTo>
                    <a:pt x="91083" y="32147"/>
                  </a:lnTo>
                  <a:cubicBezTo>
                    <a:pt x="94030" y="32147"/>
                    <a:pt x="96441" y="34558"/>
                    <a:pt x="96441" y="37505"/>
                  </a:cubicBezTo>
                  <a:lnTo>
                    <a:pt x="96441" y="48220"/>
                  </a:lnTo>
                  <a:cubicBezTo>
                    <a:pt x="96441" y="51167"/>
                    <a:pt x="94030" y="53578"/>
                    <a:pt x="91083" y="53578"/>
                  </a:cubicBezTo>
                  <a:lnTo>
                    <a:pt x="80367" y="53578"/>
                  </a:lnTo>
                  <a:cubicBezTo>
                    <a:pt x="77420" y="53578"/>
                    <a:pt x="75009" y="51167"/>
                    <a:pt x="75009" y="48220"/>
                  </a:cubicBezTo>
                  <a:lnTo>
                    <a:pt x="75009" y="37505"/>
                  </a:lnTo>
                  <a:cubicBezTo>
                    <a:pt x="75009" y="34558"/>
                    <a:pt x="77420" y="32147"/>
                    <a:pt x="80367" y="32147"/>
                  </a:cubicBezTo>
                  <a:close/>
                  <a:moveTo>
                    <a:pt x="32147" y="80367"/>
                  </a:moveTo>
                  <a:cubicBezTo>
                    <a:pt x="32147" y="77420"/>
                    <a:pt x="34558" y="75009"/>
                    <a:pt x="37505" y="75009"/>
                  </a:cubicBezTo>
                  <a:lnTo>
                    <a:pt x="48220" y="75009"/>
                  </a:lnTo>
                  <a:cubicBezTo>
                    <a:pt x="51167" y="75009"/>
                    <a:pt x="53578" y="77420"/>
                    <a:pt x="53578" y="80367"/>
                  </a:cubicBezTo>
                  <a:lnTo>
                    <a:pt x="53578" y="91083"/>
                  </a:lnTo>
                  <a:cubicBezTo>
                    <a:pt x="53578" y="94030"/>
                    <a:pt x="51167" y="96441"/>
                    <a:pt x="48220" y="96441"/>
                  </a:cubicBezTo>
                  <a:lnTo>
                    <a:pt x="37505" y="96441"/>
                  </a:lnTo>
                  <a:cubicBezTo>
                    <a:pt x="34558" y="96441"/>
                    <a:pt x="32147" y="94030"/>
                    <a:pt x="32147" y="91083"/>
                  </a:cubicBezTo>
                  <a:lnTo>
                    <a:pt x="32147" y="80367"/>
                  </a:lnTo>
                  <a:close/>
                  <a:moveTo>
                    <a:pt x="80367" y="75009"/>
                  </a:moveTo>
                  <a:lnTo>
                    <a:pt x="91083" y="75009"/>
                  </a:lnTo>
                  <a:cubicBezTo>
                    <a:pt x="94030" y="75009"/>
                    <a:pt x="96441" y="77420"/>
                    <a:pt x="96441" y="80367"/>
                  </a:cubicBezTo>
                  <a:lnTo>
                    <a:pt x="96441" y="91083"/>
                  </a:lnTo>
                  <a:cubicBezTo>
                    <a:pt x="96441" y="94030"/>
                    <a:pt x="94030" y="96441"/>
                    <a:pt x="91083" y="96441"/>
                  </a:cubicBezTo>
                  <a:lnTo>
                    <a:pt x="80367" y="96441"/>
                  </a:lnTo>
                  <a:cubicBezTo>
                    <a:pt x="77420" y="96441"/>
                    <a:pt x="75009" y="94030"/>
                    <a:pt x="75009" y="91083"/>
                  </a:cubicBezTo>
                  <a:lnTo>
                    <a:pt x="75009" y="80367"/>
                  </a:lnTo>
                  <a:cubicBezTo>
                    <a:pt x="75009" y="77420"/>
                    <a:pt x="77420" y="75009"/>
                    <a:pt x="80367" y="75009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0" name="Text 20"/>
            <p:cNvSpPr/>
            <p:nvPr/>
          </p:nvSpPr>
          <p:spPr>
            <a:xfrm>
              <a:off x="1814" y="6255"/>
              <a:ext cx="3703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中小型投资机构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1" name="Text 21"/>
            <p:cNvSpPr/>
            <p:nvPr/>
          </p:nvSpPr>
          <p:spPr>
            <a:xfrm>
              <a:off x="1814" y="6676"/>
              <a:ext cx="2740" cy="2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私募基金、投资公司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2" name="Text 22"/>
            <p:cNvSpPr/>
            <p:nvPr/>
          </p:nvSpPr>
          <p:spPr>
            <a:xfrm>
              <a:off x="945" y="709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10,000+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3" name="Text 23"/>
            <p:cNvSpPr/>
            <p:nvPr/>
          </p:nvSpPr>
          <p:spPr>
            <a:xfrm>
              <a:off x="990" y="757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机构数量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4" name="Text 24"/>
            <p:cNvSpPr/>
            <p:nvPr/>
          </p:nvSpPr>
          <p:spPr>
            <a:xfrm>
              <a:off x="5010" y="709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5-50万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5" name="Text 25"/>
            <p:cNvSpPr/>
            <p:nvPr/>
          </p:nvSpPr>
          <p:spPr>
            <a:xfrm>
              <a:off x="5055" y="757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元/年客单价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6" name="Shape 26"/>
            <p:cNvSpPr/>
            <p:nvPr/>
          </p:nvSpPr>
          <p:spPr>
            <a:xfrm>
              <a:off x="9728" y="1928"/>
              <a:ext cx="8865" cy="6615"/>
            </a:xfrm>
            <a:custGeom>
              <a:avLst/>
              <a:gdLst/>
              <a:ahLst/>
              <a:cxnLst/>
              <a:rect l="l" t="t" r="r" b="b"/>
              <a:pathLst>
                <a:path w="5629275" h="4200525">
                  <a:moveTo>
                    <a:pt x="114296" y="0"/>
                  </a:moveTo>
                  <a:lnTo>
                    <a:pt x="5514979" y="0"/>
                  </a:lnTo>
                  <a:cubicBezTo>
                    <a:pt x="5578061" y="0"/>
                    <a:pt x="5629275" y="51214"/>
                    <a:pt x="5629275" y="114296"/>
                  </a:cubicBezTo>
                  <a:lnTo>
                    <a:pt x="5629275" y="4086229"/>
                  </a:lnTo>
                  <a:cubicBezTo>
                    <a:pt x="5629275" y="4149311"/>
                    <a:pt x="5578061" y="4200525"/>
                    <a:pt x="5514979" y="4200525"/>
                  </a:cubicBezTo>
                  <a:lnTo>
                    <a:pt x="114296" y="4200525"/>
                  </a:lnTo>
                  <a:cubicBezTo>
                    <a:pt x="51214" y="4200525"/>
                    <a:pt x="0" y="4149311"/>
                    <a:pt x="0" y="4086229"/>
                  </a:cubicBezTo>
                  <a:lnTo>
                    <a:pt x="0" y="114296"/>
                  </a:lnTo>
                  <a:cubicBezTo>
                    <a:pt x="0" y="51214"/>
                    <a:pt x="51214" y="0"/>
                    <a:pt x="114296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67" name="Shape 27"/>
            <p:cNvSpPr/>
            <p:nvPr/>
          </p:nvSpPr>
          <p:spPr>
            <a:xfrm>
              <a:off x="9975" y="2205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68" name="Shape 28"/>
            <p:cNvSpPr/>
            <p:nvPr/>
          </p:nvSpPr>
          <p:spPr>
            <a:xfrm>
              <a:off x="10178" y="2385"/>
              <a:ext cx="315" cy="36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75009" y="14288"/>
                  </a:moveTo>
                  <a:lnTo>
                    <a:pt x="10716" y="14288"/>
                  </a:lnTo>
                  <a:cubicBezTo>
                    <a:pt x="4777" y="14288"/>
                    <a:pt x="0" y="19065"/>
                    <a:pt x="0" y="25003"/>
                  </a:cubicBezTo>
                  <a:lnTo>
                    <a:pt x="0" y="89297"/>
                  </a:lnTo>
                  <a:cubicBezTo>
                    <a:pt x="0" y="93628"/>
                    <a:pt x="2590" y="97557"/>
                    <a:pt x="6608" y="99209"/>
                  </a:cubicBezTo>
                  <a:cubicBezTo>
                    <a:pt x="10626" y="100861"/>
                    <a:pt x="15225" y="99923"/>
                    <a:pt x="18306" y="96887"/>
                  </a:cubicBezTo>
                  <a:lnTo>
                    <a:pt x="36165" y="79028"/>
                  </a:lnTo>
                  <a:lnTo>
                    <a:pt x="71438" y="114300"/>
                  </a:lnTo>
                  <a:lnTo>
                    <a:pt x="36165" y="149572"/>
                  </a:lnTo>
                  <a:lnTo>
                    <a:pt x="18306" y="131713"/>
                  </a:lnTo>
                  <a:cubicBezTo>
                    <a:pt x="15225" y="128632"/>
                    <a:pt x="10626" y="127739"/>
                    <a:pt x="6608" y="129391"/>
                  </a:cubicBezTo>
                  <a:cubicBezTo>
                    <a:pt x="2590" y="131043"/>
                    <a:pt x="0" y="134972"/>
                    <a:pt x="0" y="139303"/>
                  </a:cubicBezTo>
                  <a:lnTo>
                    <a:pt x="0" y="203597"/>
                  </a:lnTo>
                  <a:cubicBezTo>
                    <a:pt x="0" y="209535"/>
                    <a:pt x="4777" y="214313"/>
                    <a:pt x="10716" y="214313"/>
                  </a:cubicBezTo>
                  <a:lnTo>
                    <a:pt x="75009" y="214313"/>
                  </a:lnTo>
                  <a:cubicBezTo>
                    <a:pt x="79340" y="214313"/>
                    <a:pt x="83269" y="211723"/>
                    <a:pt x="84921" y="207705"/>
                  </a:cubicBezTo>
                  <a:cubicBezTo>
                    <a:pt x="86573" y="203686"/>
                    <a:pt x="85680" y="199087"/>
                    <a:pt x="82600" y="196007"/>
                  </a:cubicBezTo>
                  <a:lnTo>
                    <a:pt x="64740" y="178147"/>
                  </a:lnTo>
                  <a:lnTo>
                    <a:pt x="100013" y="142875"/>
                  </a:lnTo>
                  <a:lnTo>
                    <a:pt x="135285" y="178147"/>
                  </a:lnTo>
                  <a:lnTo>
                    <a:pt x="117425" y="196007"/>
                  </a:lnTo>
                  <a:cubicBezTo>
                    <a:pt x="114345" y="199087"/>
                    <a:pt x="113452" y="203686"/>
                    <a:pt x="115104" y="207705"/>
                  </a:cubicBezTo>
                  <a:cubicBezTo>
                    <a:pt x="116756" y="211723"/>
                    <a:pt x="120685" y="214313"/>
                    <a:pt x="125016" y="214313"/>
                  </a:cubicBezTo>
                  <a:lnTo>
                    <a:pt x="189309" y="214313"/>
                  </a:lnTo>
                  <a:cubicBezTo>
                    <a:pt x="195248" y="214313"/>
                    <a:pt x="200025" y="209535"/>
                    <a:pt x="200025" y="203597"/>
                  </a:cubicBezTo>
                  <a:lnTo>
                    <a:pt x="200025" y="139303"/>
                  </a:lnTo>
                  <a:cubicBezTo>
                    <a:pt x="200025" y="134972"/>
                    <a:pt x="197435" y="131043"/>
                    <a:pt x="193417" y="129391"/>
                  </a:cubicBezTo>
                  <a:cubicBezTo>
                    <a:pt x="189399" y="127739"/>
                    <a:pt x="184800" y="128632"/>
                    <a:pt x="181719" y="131713"/>
                  </a:cubicBezTo>
                  <a:lnTo>
                    <a:pt x="163860" y="149572"/>
                  </a:lnTo>
                  <a:lnTo>
                    <a:pt x="128588" y="114300"/>
                  </a:lnTo>
                  <a:lnTo>
                    <a:pt x="163860" y="79028"/>
                  </a:lnTo>
                  <a:lnTo>
                    <a:pt x="181719" y="96887"/>
                  </a:lnTo>
                  <a:cubicBezTo>
                    <a:pt x="184800" y="99968"/>
                    <a:pt x="189399" y="100861"/>
                    <a:pt x="193417" y="99209"/>
                  </a:cubicBezTo>
                  <a:cubicBezTo>
                    <a:pt x="197435" y="97557"/>
                    <a:pt x="200025" y="93628"/>
                    <a:pt x="200025" y="89297"/>
                  </a:cubicBezTo>
                  <a:lnTo>
                    <a:pt x="200025" y="25003"/>
                  </a:lnTo>
                  <a:cubicBezTo>
                    <a:pt x="200025" y="19065"/>
                    <a:pt x="195248" y="14288"/>
                    <a:pt x="189309" y="14288"/>
                  </a:cubicBezTo>
                  <a:lnTo>
                    <a:pt x="125016" y="14288"/>
                  </a:lnTo>
                  <a:cubicBezTo>
                    <a:pt x="120685" y="14288"/>
                    <a:pt x="116756" y="16877"/>
                    <a:pt x="115104" y="20895"/>
                  </a:cubicBezTo>
                  <a:cubicBezTo>
                    <a:pt x="113452" y="24914"/>
                    <a:pt x="114389" y="29513"/>
                    <a:pt x="117425" y="32593"/>
                  </a:cubicBezTo>
                  <a:lnTo>
                    <a:pt x="135285" y="50453"/>
                  </a:lnTo>
                  <a:lnTo>
                    <a:pt x="100013" y="85725"/>
                  </a:lnTo>
                  <a:lnTo>
                    <a:pt x="64740" y="50453"/>
                  </a:lnTo>
                  <a:lnTo>
                    <a:pt x="82600" y="32593"/>
                  </a:lnTo>
                  <a:cubicBezTo>
                    <a:pt x="85680" y="29513"/>
                    <a:pt x="86573" y="24914"/>
                    <a:pt x="84921" y="20895"/>
                  </a:cubicBezTo>
                  <a:cubicBezTo>
                    <a:pt x="83269" y="16877"/>
                    <a:pt x="79340" y="14288"/>
                    <a:pt x="75009" y="14288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9" name="Text 29"/>
            <p:cNvSpPr/>
            <p:nvPr/>
          </p:nvSpPr>
          <p:spPr>
            <a:xfrm>
              <a:off x="10874" y="2176"/>
              <a:ext cx="3528" cy="47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二级市场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0" name="Text 30"/>
            <p:cNvSpPr/>
            <p:nvPr/>
          </p:nvSpPr>
          <p:spPr>
            <a:xfrm>
              <a:off x="10875" y="2655"/>
              <a:ext cx="154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扩展客户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1" name="Shape 31"/>
            <p:cNvSpPr/>
            <p:nvPr/>
          </p:nvSpPr>
          <p:spPr>
            <a:xfrm>
              <a:off x="9975" y="3435"/>
              <a:ext cx="8370" cy="192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76200" y="0"/>
                  </a:moveTo>
                  <a:lnTo>
                    <a:pt x="5238750" y="0"/>
                  </a:lnTo>
                  <a:cubicBezTo>
                    <a:pt x="5280806" y="0"/>
                    <a:pt x="5314950" y="34144"/>
                    <a:pt x="5314950" y="76200"/>
                  </a:cubicBezTo>
                  <a:lnTo>
                    <a:pt x="5314950" y="1143000"/>
                  </a:lnTo>
                  <a:cubicBezTo>
                    <a:pt x="5314950" y="1185056"/>
                    <a:pt x="5280806" y="1219200"/>
                    <a:pt x="5238750" y="1219200"/>
                  </a:cubicBezTo>
                  <a:lnTo>
                    <a:pt x="76200" y="1219200"/>
                  </a:lnTo>
                  <a:cubicBezTo>
                    <a:pt x="34144" y="1219200"/>
                    <a:pt x="0" y="1185056"/>
                    <a:pt x="0" y="11430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72" name="Shape 32"/>
            <p:cNvSpPr/>
            <p:nvPr/>
          </p:nvSpPr>
          <p:spPr>
            <a:xfrm>
              <a:off x="10155" y="3675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8D99AE">
                <a:alpha val="20000"/>
              </a:srgbClr>
            </a:solidFill>
          </p:spPr>
        </p:sp>
        <p:sp>
          <p:nvSpPr>
            <p:cNvPr id="73" name="Shape 33"/>
            <p:cNvSpPr/>
            <p:nvPr/>
          </p:nvSpPr>
          <p:spPr>
            <a:xfrm>
              <a:off x="10324" y="3840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91049" y="6764"/>
                  </a:moveTo>
                  <a:cubicBezTo>
                    <a:pt x="87768" y="4889"/>
                    <a:pt x="83716" y="4889"/>
                    <a:pt x="80401" y="6764"/>
                  </a:cubicBezTo>
                  <a:lnTo>
                    <a:pt x="5391" y="49627"/>
                  </a:lnTo>
                  <a:cubicBezTo>
                    <a:pt x="1172" y="52038"/>
                    <a:pt x="-904" y="56994"/>
                    <a:pt x="335" y="61682"/>
                  </a:cubicBezTo>
                  <a:cubicBezTo>
                    <a:pt x="1574" y="66370"/>
                    <a:pt x="5860" y="69652"/>
                    <a:pt x="10716" y="69652"/>
                  </a:cubicBezTo>
                  <a:lnTo>
                    <a:pt x="21431" y="69652"/>
                  </a:lnTo>
                  <a:lnTo>
                    <a:pt x="21431" y="139303"/>
                  </a:lnTo>
                  <a:lnTo>
                    <a:pt x="21431" y="139303"/>
                  </a:lnTo>
                  <a:lnTo>
                    <a:pt x="4286" y="152162"/>
                  </a:lnTo>
                  <a:cubicBezTo>
                    <a:pt x="1574" y="154171"/>
                    <a:pt x="0" y="157352"/>
                    <a:pt x="0" y="160734"/>
                  </a:cubicBezTo>
                  <a:cubicBezTo>
                    <a:pt x="0" y="166661"/>
                    <a:pt x="4789" y="171450"/>
                    <a:pt x="10716" y="171450"/>
                  </a:cubicBezTo>
                  <a:lnTo>
                    <a:pt x="160734" y="171450"/>
                  </a:lnTo>
                  <a:cubicBezTo>
                    <a:pt x="166661" y="171450"/>
                    <a:pt x="171450" y="166661"/>
                    <a:pt x="171450" y="160734"/>
                  </a:cubicBezTo>
                  <a:cubicBezTo>
                    <a:pt x="171450" y="157352"/>
                    <a:pt x="169876" y="154171"/>
                    <a:pt x="167164" y="152162"/>
                  </a:cubicBezTo>
                  <a:lnTo>
                    <a:pt x="150019" y="139303"/>
                  </a:lnTo>
                  <a:lnTo>
                    <a:pt x="150019" y="69652"/>
                  </a:lnTo>
                  <a:lnTo>
                    <a:pt x="160734" y="69652"/>
                  </a:lnTo>
                  <a:cubicBezTo>
                    <a:pt x="165590" y="69652"/>
                    <a:pt x="169843" y="66370"/>
                    <a:pt x="171082" y="61682"/>
                  </a:cubicBezTo>
                  <a:cubicBezTo>
                    <a:pt x="172321" y="56994"/>
                    <a:pt x="170244" y="52038"/>
                    <a:pt x="166025" y="49627"/>
                  </a:cubicBezTo>
                  <a:lnTo>
                    <a:pt x="91016" y="6764"/>
                  </a:lnTo>
                  <a:close/>
                  <a:moveTo>
                    <a:pt x="133945" y="69652"/>
                  </a:moveTo>
                  <a:lnTo>
                    <a:pt x="133945" y="139303"/>
                  </a:lnTo>
                  <a:lnTo>
                    <a:pt x="112514" y="139303"/>
                  </a:lnTo>
                  <a:lnTo>
                    <a:pt x="112514" y="69652"/>
                  </a:lnTo>
                  <a:lnTo>
                    <a:pt x="133945" y="69652"/>
                  </a:lnTo>
                  <a:close/>
                  <a:moveTo>
                    <a:pt x="96441" y="69652"/>
                  </a:moveTo>
                  <a:lnTo>
                    <a:pt x="96441" y="139303"/>
                  </a:lnTo>
                  <a:lnTo>
                    <a:pt x="75009" y="139303"/>
                  </a:lnTo>
                  <a:lnTo>
                    <a:pt x="75009" y="69652"/>
                  </a:lnTo>
                  <a:lnTo>
                    <a:pt x="96441" y="69652"/>
                  </a:lnTo>
                  <a:close/>
                  <a:moveTo>
                    <a:pt x="58936" y="69652"/>
                  </a:moveTo>
                  <a:lnTo>
                    <a:pt x="58936" y="139303"/>
                  </a:lnTo>
                  <a:lnTo>
                    <a:pt x="37505" y="139303"/>
                  </a:lnTo>
                  <a:lnTo>
                    <a:pt x="37505" y="69652"/>
                  </a:lnTo>
                  <a:lnTo>
                    <a:pt x="58936" y="69652"/>
                  </a:lnTo>
                  <a:close/>
                  <a:moveTo>
                    <a:pt x="85725" y="32147"/>
                  </a:moveTo>
                  <a:cubicBezTo>
                    <a:pt x="91639" y="32147"/>
                    <a:pt x="96441" y="36948"/>
                    <a:pt x="96441" y="42863"/>
                  </a:cubicBezTo>
                  <a:cubicBezTo>
                    <a:pt x="96441" y="48777"/>
                    <a:pt x="91639" y="53578"/>
                    <a:pt x="85725" y="53578"/>
                  </a:cubicBezTo>
                  <a:cubicBezTo>
                    <a:pt x="79811" y="53578"/>
                    <a:pt x="75009" y="48777"/>
                    <a:pt x="75009" y="42863"/>
                  </a:cubicBezTo>
                  <a:cubicBezTo>
                    <a:pt x="75009" y="36948"/>
                    <a:pt x="79811" y="32147"/>
                    <a:pt x="85725" y="32147"/>
                  </a:cubicBezTo>
                  <a:close/>
                </a:path>
              </a:pathLst>
            </a:custGeom>
            <a:solidFill>
              <a:srgbClr val="8D99AE"/>
            </a:solidFill>
          </p:spPr>
        </p:sp>
        <p:sp>
          <p:nvSpPr>
            <p:cNvPr id="74" name="Text 34"/>
            <p:cNvSpPr/>
            <p:nvPr/>
          </p:nvSpPr>
          <p:spPr>
            <a:xfrm>
              <a:off x="10935" y="3615"/>
              <a:ext cx="223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大型金融机构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5" name="Text 35"/>
            <p:cNvSpPr/>
            <p:nvPr/>
          </p:nvSpPr>
          <p:spPr>
            <a:xfrm>
              <a:off x="10935" y="4110"/>
              <a:ext cx="3605" cy="2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银行、券商、基金公司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6" name="Text 36"/>
            <p:cNvSpPr/>
            <p:nvPr/>
          </p:nvSpPr>
          <p:spPr>
            <a:xfrm>
              <a:off x="10065" y="445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1000+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7" name="Text 37"/>
            <p:cNvSpPr/>
            <p:nvPr/>
          </p:nvSpPr>
          <p:spPr>
            <a:xfrm>
              <a:off x="10110" y="493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机构数量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8" name="Text 38"/>
            <p:cNvSpPr/>
            <p:nvPr/>
          </p:nvSpPr>
          <p:spPr>
            <a:xfrm>
              <a:off x="14130" y="445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50-500万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9" name="Text 39"/>
            <p:cNvSpPr/>
            <p:nvPr/>
          </p:nvSpPr>
          <p:spPr>
            <a:xfrm>
              <a:off x="14175" y="493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元/年客单价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0" name="Shape 40"/>
            <p:cNvSpPr/>
            <p:nvPr/>
          </p:nvSpPr>
          <p:spPr>
            <a:xfrm>
              <a:off x="9975" y="6075"/>
              <a:ext cx="8370" cy="192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76200" y="0"/>
                  </a:moveTo>
                  <a:lnTo>
                    <a:pt x="5238750" y="0"/>
                  </a:lnTo>
                  <a:cubicBezTo>
                    <a:pt x="5280806" y="0"/>
                    <a:pt x="5314950" y="34144"/>
                    <a:pt x="5314950" y="76200"/>
                  </a:cubicBezTo>
                  <a:lnTo>
                    <a:pt x="5314950" y="1143000"/>
                  </a:lnTo>
                  <a:cubicBezTo>
                    <a:pt x="5314950" y="1185056"/>
                    <a:pt x="5280806" y="1219200"/>
                    <a:pt x="5238750" y="1219200"/>
                  </a:cubicBezTo>
                  <a:lnTo>
                    <a:pt x="76200" y="1219200"/>
                  </a:lnTo>
                  <a:cubicBezTo>
                    <a:pt x="34144" y="1219200"/>
                    <a:pt x="0" y="1185056"/>
                    <a:pt x="0" y="11430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81" name="Shape 41"/>
            <p:cNvSpPr/>
            <p:nvPr/>
          </p:nvSpPr>
          <p:spPr>
            <a:xfrm>
              <a:off x="10155" y="6315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82" name="Shape 42"/>
            <p:cNvSpPr/>
            <p:nvPr/>
          </p:nvSpPr>
          <p:spPr>
            <a:xfrm>
              <a:off x="10307" y="6480"/>
              <a:ext cx="304" cy="270"/>
            </a:xfrm>
            <a:custGeom>
              <a:avLst/>
              <a:gdLst/>
              <a:ahLst/>
              <a:cxnLst/>
              <a:rect l="l" t="t" r="r" b="b"/>
              <a:pathLst>
                <a:path w="192881" h="171450">
                  <a:moveTo>
                    <a:pt x="16073" y="65566"/>
                  </a:moveTo>
                  <a:lnTo>
                    <a:pt x="86127" y="94398"/>
                  </a:lnTo>
                  <a:cubicBezTo>
                    <a:pt x="89408" y="95737"/>
                    <a:pt x="92891" y="96441"/>
                    <a:pt x="96441" y="96441"/>
                  </a:cubicBezTo>
                  <a:cubicBezTo>
                    <a:pt x="99990" y="96441"/>
                    <a:pt x="103473" y="95737"/>
                    <a:pt x="106754" y="94398"/>
                  </a:cubicBezTo>
                  <a:lnTo>
                    <a:pt x="187925" y="60979"/>
                  </a:lnTo>
                  <a:cubicBezTo>
                    <a:pt x="190939" y="59740"/>
                    <a:pt x="192881" y="56826"/>
                    <a:pt x="192881" y="53578"/>
                  </a:cubicBezTo>
                  <a:cubicBezTo>
                    <a:pt x="192881" y="50330"/>
                    <a:pt x="190939" y="47417"/>
                    <a:pt x="187925" y="46178"/>
                  </a:cubicBezTo>
                  <a:lnTo>
                    <a:pt x="106754" y="12758"/>
                  </a:lnTo>
                  <a:cubicBezTo>
                    <a:pt x="103473" y="11419"/>
                    <a:pt x="99990" y="10716"/>
                    <a:pt x="96441" y="10716"/>
                  </a:cubicBezTo>
                  <a:cubicBezTo>
                    <a:pt x="92891" y="10716"/>
                    <a:pt x="89408" y="11419"/>
                    <a:pt x="86127" y="12758"/>
                  </a:cubicBezTo>
                  <a:lnTo>
                    <a:pt x="4956" y="46178"/>
                  </a:lnTo>
                  <a:cubicBezTo>
                    <a:pt x="1942" y="47417"/>
                    <a:pt x="0" y="50330"/>
                    <a:pt x="0" y="53578"/>
                  </a:cubicBezTo>
                  <a:lnTo>
                    <a:pt x="0" y="152698"/>
                  </a:lnTo>
                  <a:cubicBezTo>
                    <a:pt x="0" y="157151"/>
                    <a:pt x="3583" y="160734"/>
                    <a:pt x="8037" y="160734"/>
                  </a:cubicBezTo>
                  <a:cubicBezTo>
                    <a:pt x="12490" y="160734"/>
                    <a:pt x="16073" y="157151"/>
                    <a:pt x="16073" y="152698"/>
                  </a:cubicBezTo>
                  <a:lnTo>
                    <a:pt x="16073" y="65566"/>
                  </a:lnTo>
                  <a:close/>
                  <a:moveTo>
                    <a:pt x="32147" y="89576"/>
                  </a:moveTo>
                  <a:lnTo>
                    <a:pt x="32147" y="128588"/>
                  </a:lnTo>
                  <a:cubicBezTo>
                    <a:pt x="32147" y="146335"/>
                    <a:pt x="60945" y="160734"/>
                    <a:pt x="96441" y="160734"/>
                  </a:cubicBezTo>
                  <a:cubicBezTo>
                    <a:pt x="131936" y="160734"/>
                    <a:pt x="160734" y="146335"/>
                    <a:pt x="160734" y="128588"/>
                  </a:cubicBezTo>
                  <a:lnTo>
                    <a:pt x="160734" y="89542"/>
                  </a:lnTo>
                  <a:lnTo>
                    <a:pt x="112882" y="109266"/>
                  </a:lnTo>
                  <a:cubicBezTo>
                    <a:pt x="107659" y="111409"/>
                    <a:pt x="102100" y="112514"/>
                    <a:pt x="96441" y="112514"/>
                  </a:cubicBezTo>
                  <a:cubicBezTo>
                    <a:pt x="90781" y="112514"/>
                    <a:pt x="85223" y="111409"/>
                    <a:pt x="79999" y="109266"/>
                  </a:cubicBezTo>
                  <a:lnTo>
                    <a:pt x="32147" y="89542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83" name="Text 43"/>
            <p:cNvSpPr/>
            <p:nvPr/>
          </p:nvSpPr>
          <p:spPr>
            <a:xfrm>
              <a:off x="10935" y="6255"/>
              <a:ext cx="3103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教育培训机构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4" name="Text 44"/>
            <p:cNvSpPr/>
            <p:nvPr/>
          </p:nvSpPr>
          <p:spPr>
            <a:xfrm>
              <a:off x="10935" y="6674"/>
              <a:ext cx="325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金融院校、培训机构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5" name="Text 45"/>
            <p:cNvSpPr/>
            <p:nvPr/>
          </p:nvSpPr>
          <p:spPr>
            <a:xfrm>
              <a:off x="10065" y="709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5000+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6" name="Text 46"/>
            <p:cNvSpPr/>
            <p:nvPr/>
          </p:nvSpPr>
          <p:spPr>
            <a:xfrm>
              <a:off x="10110" y="757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机构数量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7" name="Text 47"/>
            <p:cNvSpPr/>
            <p:nvPr/>
          </p:nvSpPr>
          <p:spPr>
            <a:xfrm>
              <a:off x="14130" y="709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1-10万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8" name="Text 48"/>
            <p:cNvSpPr/>
            <p:nvPr/>
          </p:nvSpPr>
          <p:spPr>
            <a:xfrm>
              <a:off x="14175" y="757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元/年客单价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9" name="Shape 49"/>
            <p:cNvSpPr/>
            <p:nvPr/>
          </p:nvSpPr>
          <p:spPr>
            <a:xfrm>
              <a:off x="608" y="8718"/>
              <a:ext cx="17985" cy="1395"/>
            </a:xfrm>
            <a:custGeom>
              <a:avLst/>
              <a:gdLst/>
              <a:ahLst/>
              <a:cxnLst/>
              <a:rect l="l" t="t" r="r" b="b"/>
              <a:pathLst>
                <a:path w="11420475" h="885825">
                  <a:moveTo>
                    <a:pt x="114298" y="0"/>
                  </a:moveTo>
                  <a:lnTo>
                    <a:pt x="11306177" y="0"/>
                  </a:lnTo>
                  <a:cubicBezTo>
                    <a:pt x="11369260" y="0"/>
                    <a:pt x="11420475" y="51215"/>
                    <a:pt x="11420475" y="114298"/>
                  </a:cubicBezTo>
                  <a:lnTo>
                    <a:pt x="11420475" y="771527"/>
                  </a:lnTo>
                  <a:cubicBezTo>
                    <a:pt x="11420475" y="834610"/>
                    <a:pt x="11369260" y="885825"/>
                    <a:pt x="11306177" y="885825"/>
                  </a:cubicBezTo>
                  <a:lnTo>
                    <a:pt x="114298" y="885825"/>
                  </a:lnTo>
                  <a:cubicBezTo>
                    <a:pt x="51215" y="885825"/>
                    <a:pt x="0" y="834610"/>
                    <a:pt x="0" y="771527"/>
                  </a:cubicBezTo>
                  <a:lnTo>
                    <a:pt x="0" y="114298"/>
                  </a:lnTo>
                  <a:cubicBezTo>
                    <a:pt x="0" y="51215"/>
                    <a:pt x="51215" y="0"/>
                    <a:pt x="11429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D4A373">
                    <a:alpha val="20000"/>
                  </a:srgbClr>
                </a:gs>
                <a:gs pos="50000">
                  <a:srgbClr val="4A6C8C">
                    <a:alpha val="20000"/>
                  </a:srgbClr>
                </a:gs>
                <a:gs pos="100000">
                  <a:srgbClr val="8D99AE">
                    <a:alpha val="20000"/>
                  </a:srgbClr>
                </a:gs>
              </a:gsLst>
              <a:lin ang="0" scaled="1"/>
            </a:gra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90" name="Text 50"/>
            <p:cNvSpPr/>
            <p:nvPr/>
          </p:nvSpPr>
          <p:spPr>
            <a:xfrm>
              <a:off x="2271" y="8952"/>
              <a:ext cx="1275" cy="5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2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2亿+</a:t>
              </a:r>
              <a:endParaRPr lang="en-US" sz="22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1" name="Text 51"/>
            <p:cNvSpPr/>
            <p:nvPr/>
          </p:nvSpPr>
          <p:spPr>
            <a:xfrm>
              <a:off x="2131" y="9645"/>
              <a:ext cx="179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个人投资者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2" name="Shape 52"/>
            <p:cNvSpPr/>
            <p:nvPr/>
          </p:nvSpPr>
          <p:spPr>
            <a:xfrm>
              <a:off x="5891" y="9135"/>
              <a:ext cx="15" cy="72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9525" y="0"/>
                  </a:lnTo>
                  <a:lnTo>
                    <a:pt x="9525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6C8C">
                <a:alpha val="30196"/>
              </a:srgbClr>
            </a:solidFill>
          </p:spPr>
        </p:sp>
        <p:sp>
          <p:nvSpPr>
            <p:cNvPr id="93" name="Text 53"/>
            <p:cNvSpPr/>
            <p:nvPr/>
          </p:nvSpPr>
          <p:spPr>
            <a:xfrm>
              <a:off x="8350" y="8952"/>
              <a:ext cx="2244" cy="5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2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1.6万+</a:t>
              </a:r>
              <a:endParaRPr lang="en-US" sz="22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4" name="Text 54"/>
            <p:cNvSpPr/>
            <p:nvPr/>
          </p:nvSpPr>
          <p:spPr>
            <a:xfrm>
              <a:off x="8511" y="9645"/>
              <a:ext cx="139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机构客户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5" name="Shape 55"/>
            <p:cNvSpPr/>
            <p:nvPr/>
          </p:nvSpPr>
          <p:spPr>
            <a:xfrm>
              <a:off x="12508" y="9135"/>
              <a:ext cx="15" cy="72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9525" y="0"/>
                  </a:lnTo>
                  <a:lnTo>
                    <a:pt x="9525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6C8C">
                <a:alpha val="30196"/>
              </a:srgbClr>
            </a:solidFill>
          </p:spPr>
        </p:sp>
        <p:sp>
          <p:nvSpPr>
            <p:cNvPr id="96" name="Text 56"/>
            <p:cNvSpPr/>
            <p:nvPr/>
          </p:nvSpPr>
          <p:spPr>
            <a:xfrm>
              <a:off x="15129" y="8952"/>
              <a:ext cx="2055" cy="5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2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5000+</a:t>
              </a:r>
              <a:endParaRPr lang="en-US" sz="22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7" name="Text 57"/>
            <p:cNvSpPr/>
            <p:nvPr/>
          </p:nvSpPr>
          <p:spPr>
            <a:xfrm>
              <a:off x="15128" y="9645"/>
              <a:ext cx="19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市场规模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48" name="Text 1"/>
          <p:cNvSpPr/>
          <p:nvPr/>
        </p:nvSpPr>
        <p:spPr>
          <a:xfrm>
            <a:off x="3371850" y="342900"/>
            <a:ext cx="22288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核心竞争优势</a:t>
            </a:r>
            <a:endParaRPr lang="en-US" sz="2700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-46990" y="1056640"/>
            <a:ext cx="5546725" cy="3919220"/>
          </a:xfrm>
          <a:custGeom>
            <a:avLst/>
            <a:gdLst/>
            <a:ahLst/>
            <a:cxnLst/>
            <a:rect l="l" t="t" r="r" b="b"/>
            <a:pathLst>
              <a:path w="6886575" h="5248275">
                <a:moveTo>
                  <a:pt x="114307" y="0"/>
                </a:moveTo>
                <a:lnTo>
                  <a:pt x="6772268" y="0"/>
                </a:lnTo>
                <a:cubicBezTo>
                  <a:pt x="6835398" y="0"/>
                  <a:pt x="6886575" y="51177"/>
                  <a:pt x="6886575" y="114307"/>
                </a:cubicBezTo>
                <a:lnTo>
                  <a:pt x="6886575" y="5133968"/>
                </a:lnTo>
                <a:cubicBezTo>
                  <a:pt x="6886575" y="5197098"/>
                  <a:pt x="6835398" y="5248275"/>
                  <a:pt x="6772268" y="5248275"/>
                </a:cubicBezTo>
                <a:lnTo>
                  <a:pt x="114307" y="5248275"/>
                </a:lnTo>
                <a:cubicBezTo>
                  <a:pt x="51177" y="5248275"/>
                  <a:pt x="0" y="5197098"/>
                  <a:pt x="0" y="51339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1" name="Text 4"/>
          <p:cNvSpPr/>
          <p:nvPr/>
        </p:nvSpPr>
        <p:spPr>
          <a:xfrm>
            <a:off x="62230" y="1213485"/>
            <a:ext cx="5370195" cy="19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竞争优势对比</a:t>
            </a:r>
            <a:endParaRPr lang="en-US" sz="1500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5506458" y="1056403"/>
            <a:ext cx="3606689" cy="3919575"/>
            <a:chOff x="11708" y="1928"/>
            <a:chExt cx="6885" cy="8269"/>
          </a:xfrm>
        </p:grpSpPr>
        <p:sp>
          <p:nvSpPr>
            <p:cNvPr id="53" name="Shape 5"/>
            <p:cNvSpPr/>
            <p:nvPr/>
          </p:nvSpPr>
          <p:spPr>
            <a:xfrm>
              <a:off x="11708" y="1928"/>
              <a:ext cx="6885" cy="6690"/>
            </a:xfrm>
            <a:custGeom>
              <a:avLst/>
              <a:gdLst/>
              <a:ahLst/>
              <a:cxnLst/>
              <a:rect l="l" t="t" r="r" b="b"/>
              <a:pathLst>
                <a:path w="4371975" h="4248150">
                  <a:moveTo>
                    <a:pt x="114318" y="0"/>
                  </a:moveTo>
                  <a:lnTo>
                    <a:pt x="4257657" y="0"/>
                  </a:lnTo>
                  <a:cubicBezTo>
                    <a:pt x="4320793" y="0"/>
                    <a:pt x="4371975" y="51182"/>
                    <a:pt x="4371975" y="114318"/>
                  </a:cubicBezTo>
                  <a:lnTo>
                    <a:pt x="4371975" y="4133832"/>
                  </a:lnTo>
                  <a:cubicBezTo>
                    <a:pt x="4371975" y="4196968"/>
                    <a:pt x="4320793" y="4248150"/>
                    <a:pt x="4257657" y="4248150"/>
                  </a:cubicBezTo>
                  <a:lnTo>
                    <a:pt x="114318" y="4248150"/>
                  </a:lnTo>
                  <a:cubicBezTo>
                    <a:pt x="51182" y="4248150"/>
                    <a:pt x="0" y="4196968"/>
                    <a:pt x="0" y="4133832"/>
                  </a:cubicBezTo>
                  <a:lnTo>
                    <a:pt x="0" y="114318"/>
                  </a:lnTo>
                  <a:cubicBezTo>
                    <a:pt x="0" y="51182"/>
                    <a:pt x="51182" y="0"/>
                    <a:pt x="114318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10000"/>
              </a:scheme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54" name="Shape 6"/>
            <p:cNvSpPr/>
            <p:nvPr/>
          </p:nvSpPr>
          <p:spPr>
            <a:xfrm>
              <a:off x="11974" y="2235"/>
              <a:ext cx="338" cy="300"/>
            </a:xfrm>
            <a:custGeom>
              <a:avLst/>
              <a:gdLst/>
              <a:ahLst/>
              <a:cxnLst/>
              <a:rect l="l" t="t" r="r" b="b"/>
              <a:pathLst>
                <a:path w="214313" h="190500">
                  <a:moveTo>
                    <a:pt x="115156" y="-7032"/>
                  </a:moveTo>
                  <a:cubicBezTo>
                    <a:pt x="113630" y="-10009"/>
                    <a:pt x="110542" y="-11906"/>
                    <a:pt x="107193" y="-11906"/>
                  </a:cubicBezTo>
                  <a:cubicBezTo>
                    <a:pt x="103845" y="-11906"/>
                    <a:pt x="100757" y="-10009"/>
                    <a:pt x="99231" y="-7032"/>
                  </a:cubicBezTo>
                  <a:lnTo>
                    <a:pt x="71847" y="46620"/>
                  </a:lnTo>
                  <a:lnTo>
                    <a:pt x="12353" y="56071"/>
                  </a:lnTo>
                  <a:cubicBezTo>
                    <a:pt x="9041" y="56592"/>
                    <a:pt x="6288" y="58936"/>
                    <a:pt x="5246" y="62136"/>
                  </a:cubicBezTo>
                  <a:cubicBezTo>
                    <a:pt x="4204" y="65336"/>
                    <a:pt x="5060" y="68833"/>
                    <a:pt x="7404" y="71214"/>
                  </a:cubicBezTo>
                  <a:lnTo>
                    <a:pt x="49969" y="113816"/>
                  </a:lnTo>
                  <a:lnTo>
                    <a:pt x="40593" y="173310"/>
                  </a:lnTo>
                  <a:cubicBezTo>
                    <a:pt x="40072" y="176622"/>
                    <a:pt x="41449" y="179970"/>
                    <a:pt x="44165" y="181942"/>
                  </a:cubicBezTo>
                  <a:cubicBezTo>
                    <a:pt x="46881" y="183914"/>
                    <a:pt x="50453" y="184212"/>
                    <a:pt x="53467" y="182687"/>
                  </a:cubicBezTo>
                  <a:lnTo>
                    <a:pt x="107193" y="155377"/>
                  </a:lnTo>
                  <a:lnTo>
                    <a:pt x="160883" y="182687"/>
                  </a:lnTo>
                  <a:cubicBezTo>
                    <a:pt x="163860" y="184212"/>
                    <a:pt x="167469" y="183914"/>
                    <a:pt x="170185" y="181942"/>
                  </a:cubicBezTo>
                  <a:cubicBezTo>
                    <a:pt x="172901" y="179970"/>
                    <a:pt x="174278" y="176659"/>
                    <a:pt x="173757" y="173310"/>
                  </a:cubicBezTo>
                  <a:lnTo>
                    <a:pt x="164343" y="113816"/>
                  </a:lnTo>
                  <a:lnTo>
                    <a:pt x="206908" y="71214"/>
                  </a:lnTo>
                  <a:cubicBezTo>
                    <a:pt x="209290" y="68833"/>
                    <a:pt x="210108" y="65336"/>
                    <a:pt x="209066" y="62136"/>
                  </a:cubicBezTo>
                  <a:cubicBezTo>
                    <a:pt x="208025" y="58936"/>
                    <a:pt x="205308" y="56592"/>
                    <a:pt x="201960" y="56071"/>
                  </a:cubicBezTo>
                  <a:lnTo>
                    <a:pt x="142503" y="46620"/>
                  </a:lnTo>
                  <a:lnTo>
                    <a:pt x="115156" y="-7032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55" name="Text 7"/>
            <p:cNvSpPr/>
            <p:nvPr/>
          </p:nvSpPr>
          <p:spPr>
            <a:xfrm>
              <a:off x="12330" y="2175"/>
              <a:ext cx="616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核心差异化优势</a:t>
              </a:r>
              <a:endParaRPr lang="en-US" sz="15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6" name="Shape 8"/>
            <p:cNvSpPr/>
            <p:nvPr/>
          </p:nvSpPr>
          <p:spPr>
            <a:xfrm>
              <a:off x="11955" y="2775"/>
              <a:ext cx="6390" cy="1140"/>
            </a:xfrm>
            <a:custGeom>
              <a:avLst/>
              <a:gdLst/>
              <a:ahLst/>
              <a:cxnLst/>
              <a:rect l="l" t="t" r="r" b="b"/>
              <a:pathLst>
                <a:path w="4057650" h="723900">
                  <a:moveTo>
                    <a:pt x="76198" y="0"/>
                  </a:moveTo>
                  <a:lnTo>
                    <a:pt x="3981452" y="0"/>
                  </a:lnTo>
                  <a:cubicBezTo>
                    <a:pt x="4023507" y="0"/>
                    <a:pt x="4057650" y="34143"/>
                    <a:pt x="4057650" y="76198"/>
                  </a:cubicBezTo>
                  <a:lnTo>
                    <a:pt x="4057650" y="647702"/>
                  </a:lnTo>
                  <a:cubicBezTo>
                    <a:pt x="4057650" y="689757"/>
                    <a:pt x="4023507" y="723900"/>
                    <a:pt x="398145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57" name="Shape 9"/>
            <p:cNvSpPr/>
            <p:nvPr/>
          </p:nvSpPr>
          <p:spPr>
            <a:xfrm>
              <a:off x="12135" y="3015"/>
              <a:ext cx="300" cy="24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95250" y="66675"/>
                  </a:moveTo>
                  <a:cubicBezTo>
                    <a:pt x="112335" y="66675"/>
                    <a:pt x="126206" y="52804"/>
                    <a:pt x="126206" y="35719"/>
                  </a:cubicBezTo>
                  <a:cubicBezTo>
                    <a:pt x="126206" y="18634"/>
                    <a:pt x="112335" y="4763"/>
                    <a:pt x="95250" y="4763"/>
                  </a:cubicBezTo>
                  <a:cubicBezTo>
                    <a:pt x="78165" y="4763"/>
                    <a:pt x="64294" y="18634"/>
                    <a:pt x="64294" y="35719"/>
                  </a:cubicBezTo>
                  <a:cubicBezTo>
                    <a:pt x="64294" y="52804"/>
                    <a:pt x="78165" y="66675"/>
                    <a:pt x="95250" y="66675"/>
                  </a:cubicBezTo>
                  <a:close/>
                  <a:moveTo>
                    <a:pt x="28575" y="69056"/>
                  </a:moveTo>
                  <a:cubicBezTo>
                    <a:pt x="40403" y="69056"/>
                    <a:pt x="50006" y="59453"/>
                    <a:pt x="50006" y="47625"/>
                  </a:cubicBezTo>
                  <a:cubicBezTo>
                    <a:pt x="50006" y="35797"/>
                    <a:pt x="40403" y="26194"/>
                    <a:pt x="28575" y="26194"/>
                  </a:cubicBezTo>
                  <a:cubicBezTo>
                    <a:pt x="16747" y="26194"/>
                    <a:pt x="7144" y="35797"/>
                    <a:pt x="7144" y="47625"/>
                  </a:cubicBezTo>
                  <a:cubicBezTo>
                    <a:pt x="7144" y="59453"/>
                    <a:pt x="16747" y="69056"/>
                    <a:pt x="28575" y="69056"/>
                  </a:cubicBezTo>
                  <a:close/>
                  <a:moveTo>
                    <a:pt x="0" y="123825"/>
                  </a:moveTo>
                  <a:lnTo>
                    <a:pt x="0" y="133350"/>
                  </a:lnTo>
                  <a:cubicBezTo>
                    <a:pt x="0" y="138619"/>
                    <a:pt x="4256" y="142875"/>
                    <a:pt x="9525" y="142875"/>
                  </a:cubicBezTo>
                  <a:lnTo>
                    <a:pt x="35332" y="142875"/>
                  </a:lnTo>
                  <a:cubicBezTo>
                    <a:pt x="34052" y="139958"/>
                    <a:pt x="33338" y="136743"/>
                    <a:pt x="33338" y="133350"/>
                  </a:cubicBezTo>
                  <a:lnTo>
                    <a:pt x="33338" y="128588"/>
                  </a:lnTo>
                  <a:cubicBezTo>
                    <a:pt x="33338" y="112752"/>
                    <a:pt x="39291" y="98286"/>
                    <a:pt x="49084" y="87332"/>
                  </a:cubicBezTo>
                  <a:cubicBezTo>
                    <a:pt x="45601" y="86291"/>
                    <a:pt x="41910" y="85725"/>
                    <a:pt x="38100" y="85725"/>
                  </a:cubicBezTo>
                  <a:cubicBezTo>
                    <a:pt x="17056" y="85725"/>
                    <a:pt x="0" y="102781"/>
                    <a:pt x="0" y="123825"/>
                  </a:cubicBezTo>
                  <a:close/>
                  <a:moveTo>
                    <a:pt x="183356" y="47625"/>
                  </a:moveTo>
                  <a:cubicBezTo>
                    <a:pt x="183356" y="35797"/>
                    <a:pt x="173753" y="26194"/>
                    <a:pt x="161925" y="26194"/>
                  </a:cubicBezTo>
                  <a:cubicBezTo>
                    <a:pt x="150097" y="26194"/>
                    <a:pt x="140494" y="35797"/>
                    <a:pt x="140494" y="47625"/>
                  </a:cubicBezTo>
                  <a:cubicBezTo>
                    <a:pt x="140494" y="59453"/>
                    <a:pt x="150097" y="69056"/>
                    <a:pt x="161925" y="69056"/>
                  </a:cubicBezTo>
                  <a:cubicBezTo>
                    <a:pt x="173753" y="69056"/>
                    <a:pt x="183356" y="59453"/>
                    <a:pt x="183356" y="47625"/>
                  </a:cubicBezTo>
                  <a:close/>
                  <a:moveTo>
                    <a:pt x="47625" y="128588"/>
                  </a:moveTo>
                  <a:lnTo>
                    <a:pt x="47625" y="133350"/>
                  </a:lnTo>
                  <a:cubicBezTo>
                    <a:pt x="47625" y="138619"/>
                    <a:pt x="51881" y="142875"/>
                    <a:pt x="57150" y="142875"/>
                  </a:cubicBezTo>
                  <a:lnTo>
                    <a:pt x="103823" y="142875"/>
                  </a:lnTo>
                  <a:cubicBezTo>
                    <a:pt x="101709" y="136446"/>
                    <a:pt x="101947" y="129659"/>
                    <a:pt x="107007" y="123825"/>
                  </a:cubicBezTo>
                  <a:cubicBezTo>
                    <a:pt x="102840" y="119003"/>
                    <a:pt x="100905" y="112008"/>
                    <a:pt x="103614" y="104983"/>
                  </a:cubicBezTo>
                  <a:cubicBezTo>
                    <a:pt x="105579" y="99893"/>
                    <a:pt x="108347" y="95131"/>
                    <a:pt x="111770" y="90904"/>
                  </a:cubicBezTo>
                  <a:cubicBezTo>
                    <a:pt x="113377" y="88940"/>
                    <a:pt x="115223" y="87422"/>
                    <a:pt x="117217" y="86320"/>
                  </a:cubicBezTo>
                  <a:cubicBezTo>
                    <a:pt x="110639" y="82897"/>
                    <a:pt x="103168" y="80962"/>
                    <a:pt x="95250" y="80962"/>
                  </a:cubicBezTo>
                  <a:cubicBezTo>
                    <a:pt x="68937" y="80962"/>
                    <a:pt x="47625" y="102275"/>
                    <a:pt x="47625" y="128588"/>
                  </a:cubicBezTo>
                  <a:close/>
                  <a:moveTo>
                    <a:pt x="185916" y="115461"/>
                  </a:moveTo>
                  <a:cubicBezTo>
                    <a:pt x="187791" y="114389"/>
                    <a:pt x="188744" y="112157"/>
                    <a:pt x="187940" y="110103"/>
                  </a:cubicBezTo>
                  <a:cubicBezTo>
                    <a:pt x="186511" y="106412"/>
                    <a:pt x="184517" y="102930"/>
                    <a:pt x="182017" y="99864"/>
                  </a:cubicBezTo>
                  <a:cubicBezTo>
                    <a:pt x="180648" y="98167"/>
                    <a:pt x="178237" y="97869"/>
                    <a:pt x="176361" y="98971"/>
                  </a:cubicBezTo>
                  <a:cubicBezTo>
                    <a:pt x="169872" y="102721"/>
                    <a:pt x="161895" y="98137"/>
                    <a:pt x="161895" y="90607"/>
                  </a:cubicBezTo>
                  <a:cubicBezTo>
                    <a:pt x="161895" y="88434"/>
                    <a:pt x="160437" y="86499"/>
                    <a:pt x="158294" y="86171"/>
                  </a:cubicBezTo>
                  <a:cubicBezTo>
                    <a:pt x="154454" y="85576"/>
                    <a:pt x="150316" y="85576"/>
                    <a:pt x="146477" y="86171"/>
                  </a:cubicBezTo>
                  <a:cubicBezTo>
                    <a:pt x="144334" y="86499"/>
                    <a:pt x="142875" y="88434"/>
                    <a:pt x="142875" y="90607"/>
                  </a:cubicBezTo>
                  <a:cubicBezTo>
                    <a:pt x="142875" y="98108"/>
                    <a:pt x="134898" y="102721"/>
                    <a:pt x="128409" y="98971"/>
                  </a:cubicBezTo>
                  <a:cubicBezTo>
                    <a:pt x="126534" y="97899"/>
                    <a:pt x="124123" y="98197"/>
                    <a:pt x="122753" y="99864"/>
                  </a:cubicBezTo>
                  <a:cubicBezTo>
                    <a:pt x="120253" y="102930"/>
                    <a:pt x="118259" y="106412"/>
                    <a:pt x="116830" y="110103"/>
                  </a:cubicBezTo>
                  <a:cubicBezTo>
                    <a:pt x="116056" y="112127"/>
                    <a:pt x="116979" y="114360"/>
                    <a:pt x="118854" y="115431"/>
                  </a:cubicBezTo>
                  <a:cubicBezTo>
                    <a:pt x="125373" y="119182"/>
                    <a:pt x="125373" y="128379"/>
                    <a:pt x="118854" y="132159"/>
                  </a:cubicBezTo>
                  <a:cubicBezTo>
                    <a:pt x="116979" y="133231"/>
                    <a:pt x="116026" y="135463"/>
                    <a:pt x="116830" y="137487"/>
                  </a:cubicBezTo>
                  <a:cubicBezTo>
                    <a:pt x="118259" y="141178"/>
                    <a:pt x="120253" y="144661"/>
                    <a:pt x="122753" y="147727"/>
                  </a:cubicBezTo>
                  <a:cubicBezTo>
                    <a:pt x="124123" y="149423"/>
                    <a:pt x="126534" y="149721"/>
                    <a:pt x="128409" y="148620"/>
                  </a:cubicBezTo>
                  <a:cubicBezTo>
                    <a:pt x="134898" y="144869"/>
                    <a:pt x="142875" y="149483"/>
                    <a:pt x="142875" y="156984"/>
                  </a:cubicBezTo>
                  <a:cubicBezTo>
                    <a:pt x="142875" y="159157"/>
                    <a:pt x="144334" y="161092"/>
                    <a:pt x="146477" y="161419"/>
                  </a:cubicBezTo>
                  <a:cubicBezTo>
                    <a:pt x="150316" y="162014"/>
                    <a:pt x="154454" y="162014"/>
                    <a:pt x="158294" y="161419"/>
                  </a:cubicBezTo>
                  <a:cubicBezTo>
                    <a:pt x="160437" y="161092"/>
                    <a:pt x="161895" y="159157"/>
                    <a:pt x="161895" y="156984"/>
                  </a:cubicBezTo>
                  <a:cubicBezTo>
                    <a:pt x="161895" y="149483"/>
                    <a:pt x="169872" y="144869"/>
                    <a:pt x="176361" y="148620"/>
                  </a:cubicBezTo>
                  <a:cubicBezTo>
                    <a:pt x="178237" y="149691"/>
                    <a:pt x="180648" y="149394"/>
                    <a:pt x="182017" y="147727"/>
                  </a:cubicBezTo>
                  <a:cubicBezTo>
                    <a:pt x="184517" y="144661"/>
                    <a:pt x="186511" y="141178"/>
                    <a:pt x="187940" y="137487"/>
                  </a:cubicBezTo>
                  <a:cubicBezTo>
                    <a:pt x="188714" y="135463"/>
                    <a:pt x="187791" y="133231"/>
                    <a:pt x="185916" y="132159"/>
                  </a:cubicBezTo>
                  <a:cubicBezTo>
                    <a:pt x="179397" y="128409"/>
                    <a:pt x="179397" y="119211"/>
                    <a:pt x="185916" y="115431"/>
                  </a:cubicBezTo>
                  <a:close/>
                  <a:moveTo>
                    <a:pt x="140494" y="123825"/>
                  </a:moveTo>
                  <a:cubicBezTo>
                    <a:pt x="140494" y="117254"/>
                    <a:pt x="145829" y="111919"/>
                    <a:pt x="152400" y="111919"/>
                  </a:cubicBezTo>
                  <a:cubicBezTo>
                    <a:pt x="158971" y="111919"/>
                    <a:pt x="164306" y="117254"/>
                    <a:pt x="164306" y="123825"/>
                  </a:cubicBezTo>
                  <a:cubicBezTo>
                    <a:pt x="164306" y="130396"/>
                    <a:pt x="158971" y="135731"/>
                    <a:pt x="152400" y="135731"/>
                  </a:cubicBezTo>
                  <a:cubicBezTo>
                    <a:pt x="145829" y="135731"/>
                    <a:pt x="140494" y="130396"/>
                    <a:pt x="140494" y="123825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99" name="Text 10"/>
            <p:cNvSpPr/>
            <p:nvPr/>
          </p:nvSpPr>
          <p:spPr>
            <a:xfrm>
              <a:off x="12555" y="2955"/>
              <a:ext cx="2731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多智能体协作机制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0" name="Text 11"/>
            <p:cNvSpPr/>
            <p:nvPr/>
          </p:nvSpPr>
          <p:spPr>
            <a:xfrm>
              <a:off x="12135" y="3435"/>
              <a:ext cx="61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行业首创,3-5年技术领先优势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1" name="Shape 12"/>
            <p:cNvSpPr/>
            <p:nvPr/>
          </p:nvSpPr>
          <p:spPr>
            <a:xfrm>
              <a:off x="11955" y="4261"/>
              <a:ext cx="6390" cy="1140"/>
            </a:xfrm>
            <a:custGeom>
              <a:avLst/>
              <a:gdLst/>
              <a:ahLst/>
              <a:cxnLst/>
              <a:rect l="l" t="t" r="r" b="b"/>
              <a:pathLst>
                <a:path w="4057650" h="723900">
                  <a:moveTo>
                    <a:pt x="76198" y="0"/>
                  </a:moveTo>
                  <a:lnTo>
                    <a:pt x="3981452" y="0"/>
                  </a:lnTo>
                  <a:cubicBezTo>
                    <a:pt x="4023507" y="0"/>
                    <a:pt x="4057650" y="34143"/>
                    <a:pt x="4057650" y="76198"/>
                  </a:cubicBezTo>
                  <a:lnTo>
                    <a:pt x="4057650" y="647702"/>
                  </a:lnTo>
                  <a:cubicBezTo>
                    <a:pt x="4057650" y="689757"/>
                    <a:pt x="4023507" y="723900"/>
                    <a:pt x="398145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102" name="Shape 13"/>
            <p:cNvSpPr/>
            <p:nvPr/>
          </p:nvSpPr>
          <p:spPr>
            <a:xfrm>
              <a:off x="12165" y="4501"/>
              <a:ext cx="240" cy="24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5719" y="16669"/>
                  </a:moveTo>
                  <a:cubicBezTo>
                    <a:pt x="35719" y="7471"/>
                    <a:pt x="43190" y="0"/>
                    <a:pt x="52388" y="0"/>
                  </a:cubicBezTo>
                  <a:lnTo>
                    <a:pt x="59531" y="0"/>
                  </a:lnTo>
                  <a:cubicBezTo>
                    <a:pt x="64800" y="0"/>
                    <a:pt x="69056" y="4256"/>
                    <a:pt x="69056" y="9525"/>
                  </a:cubicBezTo>
                  <a:lnTo>
                    <a:pt x="69056" y="142875"/>
                  </a:lnTo>
                  <a:cubicBezTo>
                    <a:pt x="69056" y="148144"/>
                    <a:pt x="64800" y="152400"/>
                    <a:pt x="59531" y="152400"/>
                  </a:cubicBezTo>
                  <a:lnTo>
                    <a:pt x="50006" y="152400"/>
                  </a:lnTo>
                  <a:cubicBezTo>
                    <a:pt x="41136" y="152400"/>
                    <a:pt x="33665" y="146328"/>
                    <a:pt x="31552" y="138113"/>
                  </a:cubicBezTo>
                  <a:cubicBezTo>
                    <a:pt x="31343" y="138113"/>
                    <a:pt x="31165" y="138113"/>
                    <a:pt x="30956" y="138113"/>
                  </a:cubicBezTo>
                  <a:cubicBezTo>
                    <a:pt x="17800" y="138113"/>
                    <a:pt x="7144" y="127456"/>
                    <a:pt x="7144" y="114300"/>
                  </a:cubicBezTo>
                  <a:cubicBezTo>
                    <a:pt x="7144" y="108942"/>
                    <a:pt x="8930" y="104001"/>
                    <a:pt x="11906" y="100013"/>
                  </a:cubicBezTo>
                  <a:cubicBezTo>
                    <a:pt x="6132" y="95667"/>
                    <a:pt x="2381" y="88761"/>
                    <a:pt x="2381" y="80962"/>
                  </a:cubicBezTo>
                  <a:cubicBezTo>
                    <a:pt x="2381" y="71765"/>
                    <a:pt x="7620" y="63758"/>
                    <a:pt x="15240" y="59799"/>
                  </a:cubicBezTo>
                  <a:cubicBezTo>
                    <a:pt x="13127" y="56227"/>
                    <a:pt x="11906" y="52060"/>
                    <a:pt x="11906" y="47625"/>
                  </a:cubicBezTo>
                  <a:cubicBezTo>
                    <a:pt x="11906" y="34469"/>
                    <a:pt x="22562" y="23813"/>
                    <a:pt x="35719" y="23813"/>
                  </a:cubicBezTo>
                  <a:lnTo>
                    <a:pt x="35719" y="16669"/>
                  </a:lnTo>
                  <a:close/>
                  <a:moveTo>
                    <a:pt x="116681" y="16669"/>
                  </a:moveTo>
                  <a:lnTo>
                    <a:pt x="116681" y="23813"/>
                  </a:lnTo>
                  <a:cubicBezTo>
                    <a:pt x="129838" y="23813"/>
                    <a:pt x="140494" y="34469"/>
                    <a:pt x="140494" y="47625"/>
                  </a:cubicBezTo>
                  <a:cubicBezTo>
                    <a:pt x="140494" y="52090"/>
                    <a:pt x="139273" y="56257"/>
                    <a:pt x="137160" y="59799"/>
                  </a:cubicBezTo>
                  <a:cubicBezTo>
                    <a:pt x="144810" y="63758"/>
                    <a:pt x="150019" y="71735"/>
                    <a:pt x="150019" y="80962"/>
                  </a:cubicBezTo>
                  <a:cubicBezTo>
                    <a:pt x="150019" y="88761"/>
                    <a:pt x="146268" y="95667"/>
                    <a:pt x="140494" y="100013"/>
                  </a:cubicBezTo>
                  <a:cubicBezTo>
                    <a:pt x="143470" y="104001"/>
                    <a:pt x="145256" y="108942"/>
                    <a:pt x="145256" y="114300"/>
                  </a:cubicBezTo>
                  <a:cubicBezTo>
                    <a:pt x="145256" y="127456"/>
                    <a:pt x="134600" y="138113"/>
                    <a:pt x="121444" y="138113"/>
                  </a:cubicBezTo>
                  <a:cubicBezTo>
                    <a:pt x="121235" y="138113"/>
                    <a:pt x="121057" y="138113"/>
                    <a:pt x="120848" y="138113"/>
                  </a:cubicBezTo>
                  <a:cubicBezTo>
                    <a:pt x="118735" y="146328"/>
                    <a:pt x="111264" y="152400"/>
                    <a:pt x="102394" y="152400"/>
                  </a:cubicBezTo>
                  <a:lnTo>
                    <a:pt x="92869" y="152400"/>
                  </a:lnTo>
                  <a:cubicBezTo>
                    <a:pt x="87600" y="152400"/>
                    <a:pt x="83344" y="148144"/>
                    <a:pt x="83344" y="142875"/>
                  </a:cubicBezTo>
                  <a:lnTo>
                    <a:pt x="83344" y="9525"/>
                  </a:lnTo>
                  <a:cubicBezTo>
                    <a:pt x="83344" y="4256"/>
                    <a:pt x="87600" y="0"/>
                    <a:pt x="92869" y="0"/>
                  </a:cubicBezTo>
                  <a:lnTo>
                    <a:pt x="100013" y="0"/>
                  </a:lnTo>
                  <a:cubicBezTo>
                    <a:pt x="109210" y="0"/>
                    <a:pt x="116681" y="7471"/>
                    <a:pt x="116681" y="16669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3" name="Text 14"/>
            <p:cNvSpPr/>
            <p:nvPr/>
          </p:nvSpPr>
          <p:spPr>
            <a:xfrm>
              <a:off x="12555" y="4441"/>
              <a:ext cx="285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自然语言理解能力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4" name="Text 15"/>
            <p:cNvSpPr/>
            <p:nvPr/>
          </p:nvSpPr>
          <p:spPr>
            <a:xfrm>
              <a:off x="12135" y="4921"/>
              <a:ext cx="61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处理非结构化数据,传统量化无法实现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5" name="Shape 16"/>
            <p:cNvSpPr/>
            <p:nvPr/>
          </p:nvSpPr>
          <p:spPr>
            <a:xfrm>
              <a:off x="11955" y="5747"/>
              <a:ext cx="6390" cy="1140"/>
            </a:xfrm>
            <a:custGeom>
              <a:avLst/>
              <a:gdLst/>
              <a:ahLst/>
              <a:cxnLst/>
              <a:rect l="l" t="t" r="r" b="b"/>
              <a:pathLst>
                <a:path w="4057650" h="723900">
                  <a:moveTo>
                    <a:pt x="76198" y="0"/>
                  </a:moveTo>
                  <a:lnTo>
                    <a:pt x="3981452" y="0"/>
                  </a:lnTo>
                  <a:cubicBezTo>
                    <a:pt x="4023507" y="0"/>
                    <a:pt x="4057650" y="34143"/>
                    <a:pt x="4057650" y="76198"/>
                  </a:cubicBezTo>
                  <a:lnTo>
                    <a:pt x="4057650" y="647702"/>
                  </a:lnTo>
                  <a:cubicBezTo>
                    <a:pt x="4057650" y="689757"/>
                    <a:pt x="4023507" y="723900"/>
                    <a:pt x="398145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106" name="Shape 17"/>
            <p:cNvSpPr/>
            <p:nvPr/>
          </p:nvSpPr>
          <p:spPr>
            <a:xfrm>
              <a:off x="12195" y="5987"/>
              <a:ext cx="180" cy="24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19050"/>
                  </a:moveTo>
                  <a:cubicBezTo>
                    <a:pt x="0" y="8543"/>
                    <a:pt x="8543" y="0"/>
                    <a:pt x="19050" y="0"/>
                  </a:cubicBezTo>
                  <a:lnTo>
                    <a:pt x="63550" y="0"/>
                  </a:lnTo>
                  <a:cubicBezTo>
                    <a:pt x="68610" y="0"/>
                    <a:pt x="73462" y="1994"/>
                    <a:pt x="77033" y="5566"/>
                  </a:cubicBezTo>
                  <a:lnTo>
                    <a:pt x="108734" y="37296"/>
                  </a:lnTo>
                  <a:cubicBezTo>
                    <a:pt x="112306" y="40868"/>
                    <a:pt x="114300" y="45720"/>
                    <a:pt x="114300" y="50780"/>
                  </a:cubicBezTo>
                  <a:lnTo>
                    <a:pt x="114300" y="133350"/>
                  </a:lnTo>
                  <a:cubicBezTo>
                    <a:pt x="114300" y="143857"/>
                    <a:pt x="105757" y="152400"/>
                    <a:pt x="95250" y="152400"/>
                  </a:cubicBezTo>
                  <a:lnTo>
                    <a:pt x="19050" y="152400"/>
                  </a:lnTo>
                  <a:cubicBezTo>
                    <a:pt x="8543" y="152400"/>
                    <a:pt x="0" y="143857"/>
                    <a:pt x="0" y="133350"/>
                  </a:cubicBezTo>
                  <a:lnTo>
                    <a:pt x="0" y="19050"/>
                  </a:lnTo>
                  <a:close/>
                  <a:moveTo>
                    <a:pt x="61912" y="17413"/>
                  </a:moveTo>
                  <a:lnTo>
                    <a:pt x="61912" y="45244"/>
                  </a:lnTo>
                  <a:cubicBezTo>
                    <a:pt x="61912" y="49203"/>
                    <a:pt x="65097" y="52388"/>
                    <a:pt x="69056" y="52388"/>
                  </a:cubicBezTo>
                  <a:lnTo>
                    <a:pt x="96887" y="52388"/>
                  </a:lnTo>
                  <a:lnTo>
                    <a:pt x="61912" y="17413"/>
                  </a:lnTo>
                  <a:close/>
                  <a:moveTo>
                    <a:pt x="35719" y="76200"/>
                  </a:moveTo>
                  <a:cubicBezTo>
                    <a:pt x="31760" y="76200"/>
                    <a:pt x="28575" y="79385"/>
                    <a:pt x="28575" y="83344"/>
                  </a:cubicBezTo>
                  <a:cubicBezTo>
                    <a:pt x="28575" y="87303"/>
                    <a:pt x="31760" y="90488"/>
                    <a:pt x="35719" y="90488"/>
                  </a:cubicBezTo>
                  <a:lnTo>
                    <a:pt x="78581" y="90488"/>
                  </a:lnTo>
                  <a:cubicBezTo>
                    <a:pt x="82540" y="90488"/>
                    <a:pt x="85725" y="87303"/>
                    <a:pt x="85725" y="83344"/>
                  </a:cubicBezTo>
                  <a:cubicBezTo>
                    <a:pt x="85725" y="79385"/>
                    <a:pt x="82540" y="76200"/>
                    <a:pt x="78581" y="76200"/>
                  </a:cubicBezTo>
                  <a:lnTo>
                    <a:pt x="35719" y="76200"/>
                  </a:lnTo>
                  <a:close/>
                  <a:moveTo>
                    <a:pt x="35719" y="104775"/>
                  </a:moveTo>
                  <a:cubicBezTo>
                    <a:pt x="31760" y="104775"/>
                    <a:pt x="28575" y="107960"/>
                    <a:pt x="28575" y="111919"/>
                  </a:cubicBezTo>
                  <a:cubicBezTo>
                    <a:pt x="28575" y="115878"/>
                    <a:pt x="31760" y="119062"/>
                    <a:pt x="35719" y="119062"/>
                  </a:cubicBezTo>
                  <a:lnTo>
                    <a:pt x="78581" y="119062"/>
                  </a:lnTo>
                  <a:cubicBezTo>
                    <a:pt x="82540" y="119062"/>
                    <a:pt x="85725" y="115878"/>
                    <a:pt x="85725" y="111919"/>
                  </a:cubicBezTo>
                  <a:cubicBezTo>
                    <a:pt x="85725" y="107960"/>
                    <a:pt x="82540" y="104775"/>
                    <a:pt x="78581" y="104775"/>
                  </a:cubicBezTo>
                  <a:lnTo>
                    <a:pt x="35719" y="104775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7" name="Text 18"/>
            <p:cNvSpPr/>
            <p:nvPr/>
          </p:nvSpPr>
          <p:spPr>
            <a:xfrm>
              <a:off x="12555" y="5928"/>
              <a:ext cx="2366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可解释的AI决策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8" name="Text 19"/>
            <p:cNvSpPr/>
            <p:nvPr/>
          </p:nvSpPr>
          <p:spPr>
            <a:xfrm>
              <a:off x="12135" y="6407"/>
              <a:ext cx="61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详细报告,满足监管要求,提升信任度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9" name="Shape 20"/>
            <p:cNvSpPr/>
            <p:nvPr/>
          </p:nvSpPr>
          <p:spPr>
            <a:xfrm>
              <a:off x="11955" y="7234"/>
              <a:ext cx="6390" cy="1140"/>
            </a:xfrm>
            <a:custGeom>
              <a:avLst/>
              <a:gdLst/>
              <a:ahLst/>
              <a:cxnLst/>
              <a:rect l="l" t="t" r="r" b="b"/>
              <a:pathLst>
                <a:path w="4057650" h="723900">
                  <a:moveTo>
                    <a:pt x="76198" y="0"/>
                  </a:moveTo>
                  <a:lnTo>
                    <a:pt x="3981452" y="0"/>
                  </a:lnTo>
                  <a:cubicBezTo>
                    <a:pt x="4023507" y="0"/>
                    <a:pt x="4057650" y="34143"/>
                    <a:pt x="4057650" y="76198"/>
                  </a:cubicBezTo>
                  <a:lnTo>
                    <a:pt x="4057650" y="647702"/>
                  </a:lnTo>
                  <a:cubicBezTo>
                    <a:pt x="4057650" y="689757"/>
                    <a:pt x="4023507" y="723900"/>
                    <a:pt x="398145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110" name="Shape 21"/>
            <p:cNvSpPr/>
            <p:nvPr/>
          </p:nvSpPr>
          <p:spPr>
            <a:xfrm>
              <a:off x="12180" y="7474"/>
              <a:ext cx="210" cy="24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38100" y="-9525"/>
                  </a:moveTo>
                  <a:cubicBezTo>
                    <a:pt x="43369" y="-9525"/>
                    <a:pt x="47625" y="-5269"/>
                    <a:pt x="47625" y="0"/>
                  </a:cubicBezTo>
                  <a:lnTo>
                    <a:pt x="47625" y="28575"/>
                  </a:lnTo>
                  <a:lnTo>
                    <a:pt x="85725" y="28575"/>
                  </a:lnTo>
                  <a:lnTo>
                    <a:pt x="85725" y="0"/>
                  </a:lnTo>
                  <a:cubicBezTo>
                    <a:pt x="85725" y="-5269"/>
                    <a:pt x="89981" y="-9525"/>
                    <a:pt x="95250" y="-9525"/>
                  </a:cubicBezTo>
                  <a:cubicBezTo>
                    <a:pt x="100519" y="-9525"/>
                    <a:pt x="104775" y="-5269"/>
                    <a:pt x="104775" y="0"/>
                  </a:cubicBezTo>
                  <a:lnTo>
                    <a:pt x="104775" y="28575"/>
                  </a:lnTo>
                  <a:lnTo>
                    <a:pt x="123825" y="28575"/>
                  </a:lnTo>
                  <a:cubicBezTo>
                    <a:pt x="129094" y="28575"/>
                    <a:pt x="133350" y="32831"/>
                    <a:pt x="133350" y="38100"/>
                  </a:cubicBezTo>
                  <a:cubicBezTo>
                    <a:pt x="133350" y="43369"/>
                    <a:pt x="129094" y="47625"/>
                    <a:pt x="123825" y="47625"/>
                  </a:cubicBezTo>
                  <a:lnTo>
                    <a:pt x="123825" y="66675"/>
                  </a:lnTo>
                  <a:cubicBezTo>
                    <a:pt x="123825" y="94982"/>
                    <a:pt x="103227" y="118497"/>
                    <a:pt x="76200" y="123021"/>
                  </a:cubicBezTo>
                  <a:lnTo>
                    <a:pt x="76200" y="142875"/>
                  </a:lnTo>
                  <a:cubicBezTo>
                    <a:pt x="76200" y="148144"/>
                    <a:pt x="71944" y="152400"/>
                    <a:pt x="66675" y="152400"/>
                  </a:cubicBezTo>
                  <a:cubicBezTo>
                    <a:pt x="61406" y="152400"/>
                    <a:pt x="57150" y="148144"/>
                    <a:pt x="57150" y="142875"/>
                  </a:cubicBezTo>
                  <a:lnTo>
                    <a:pt x="57150" y="123021"/>
                  </a:lnTo>
                  <a:cubicBezTo>
                    <a:pt x="30123" y="118497"/>
                    <a:pt x="9525" y="94982"/>
                    <a:pt x="9525" y="66675"/>
                  </a:cubicBezTo>
                  <a:lnTo>
                    <a:pt x="9525" y="47625"/>
                  </a:lnTo>
                  <a:cubicBezTo>
                    <a:pt x="4256" y="47625"/>
                    <a:pt x="0" y="43369"/>
                    <a:pt x="0" y="38100"/>
                  </a:cubicBezTo>
                  <a:cubicBezTo>
                    <a:pt x="0" y="32831"/>
                    <a:pt x="4256" y="28575"/>
                    <a:pt x="9525" y="28575"/>
                  </a:cubicBezTo>
                  <a:lnTo>
                    <a:pt x="28575" y="28575"/>
                  </a:lnTo>
                  <a:lnTo>
                    <a:pt x="28575" y="0"/>
                  </a:lnTo>
                  <a:cubicBezTo>
                    <a:pt x="28575" y="-5269"/>
                    <a:pt x="32831" y="-9525"/>
                    <a:pt x="38100" y="-9525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11" name="Text 22"/>
            <p:cNvSpPr/>
            <p:nvPr/>
          </p:nvSpPr>
          <p:spPr>
            <a:xfrm>
              <a:off x="12555" y="7413"/>
              <a:ext cx="2032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开放生态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12" name="Text 23"/>
            <p:cNvSpPr/>
            <p:nvPr/>
          </p:nvSpPr>
          <p:spPr>
            <a:xfrm>
              <a:off x="12135" y="7894"/>
              <a:ext cx="61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API开放,模块化设计,多LLM支持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13" name="Shape 24"/>
            <p:cNvSpPr/>
            <p:nvPr/>
          </p:nvSpPr>
          <p:spPr>
            <a:xfrm>
              <a:off x="11708" y="8816"/>
              <a:ext cx="6885" cy="1380"/>
            </a:xfrm>
            <a:custGeom>
              <a:avLst/>
              <a:gdLst/>
              <a:ahLst/>
              <a:cxnLst/>
              <a:rect l="l" t="t" r="r" b="b"/>
              <a:pathLst>
                <a:path w="4371975" h="876300">
                  <a:moveTo>
                    <a:pt x="114296" y="0"/>
                  </a:moveTo>
                  <a:lnTo>
                    <a:pt x="4257679" y="0"/>
                  </a:lnTo>
                  <a:cubicBezTo>
                    <a:pt x="4320803" y="0"/>
                    <a:pt x="4371975" y="51172"/>
                    <a:pt x="4371975" y="114296"/>
                  </a:cubicBezTo>
                  <a:lnTo>
                    <a:pt x="4371975" y="762004"/>
                  </a:lnTo>
                  <a:cubicBezTo>
                    <a:pt x="4371975" y="825128"/>
                    <a:pt x="4320803" y="876300"/>
                    <a:pt x="4257679" y="876300"/>
                  </a:cubicBezTo>
                  <a:lnTo>
                    <a:pt x="114296" y="876300"/>
                  </a:lnTo>
                  <a:cubicBezTo>
                    <a:pt x="51172" y="876300"/>
                    <a:pt x="0" y="825128"/>
                    <a:pt x="0" y="762004"/>
                  </a:cubicBezTo>
                  <a:lnTo>
                    <a:pt x="0" y="114296"/>
                  </a:lnTo>
                  <a:cubicBezTo>
                    <a:pt x="0" y="51172"/>
                    <a:pt x="51172" y="0"/>
                    <a:pt x="11429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D4A373">
                    <a:alpha val="20000"/>
                  </a:srgbClr>
                </a:gs>
                <a:gs pos="100000">
                  <a:srgbClr val="4A6C8C">
                    <a:alpha val="20000"/>
                  </a:srgbClr>
                </a:gs>
              </a:gsLst>
              <a:lin ang="2700000" scaled="1"/>
            </a:gra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114" name="Text 25"/>
            <p:cNvSpPr/>
            <p:nvPr/>
          </p:nvSpPr>
          <p:spPr>
            <a:xfrm>
              <a:off x="11888" y="9064"/>
              <a:ext cx="652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市场定位优势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15" name="Text 26"/>
            <p:cNvSpPr/>
            <p:nvPr/>
          </p:nvSpPr>
          <p:spPr>
            <a:xfrm>
              <a:off x="11903" y="9604"/>
              <a:ext cx="6495" cy="34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4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Ares智能研报 = </a:t>
              </a:r>
              <a:r>
                <a:rPr lang="en-US" sz="10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人工投研的效率</a:t>
              </a: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 + </a:t>
              </a:r>
              <a:r>
                <a:rPr lang="en-US" sz="10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传统量化的速度</a:t>
              </a:r>
              <a:endParaRPr lang="en-US" sz="10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  <p:graphicFrame>
        <p:nvGraphicFramePr>
          <p:cNvPr id="119" name="Table 0"/>
          <p:cNvGraphicFramePr>
            <a:graphicFrameLocks noGrp="1"/>
          </p:cNvGraphicFramePr>
          <p:nvPr/>
        </p:nvGraphicFramePr>
        <p:xfrm>
          <a:off x="27940" y="1771015"/>
          <a:ext cx="5420360" cy="3088640"/>
        </p:xfrm>
        <a:graphic>
          <a:graphicData uri="http://schemas.openxmlformats.org/drawingml/2006/table">
            <a:tbl>
              <a:tblPr/>
              <a:tblGrid>
                <a:gridCol w="1098550"/>
                <a:gridCol w="1521460"/>
                <a:gridCol w="1262380"/>
                <a:gridCol w="1537970"/>
              </a:tblGrid>
              <a:tr h="386080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对比维度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传统量化系统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人工投研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Ares智能研报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分析速度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⚡ 快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🐌 慢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⚡ 快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分析深度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浅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📚 深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📚 深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覆盖维度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📈 单一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多维度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多维度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可解释性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❌ 低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成本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 中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💰💰💰 高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 低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扩展性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⚠️ 低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⚠️ 低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学习能力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❌ 无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有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有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四维收入模型：SaaS订阅、按量付费、私有化部署与数据服务协同发展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9435"/>
            <a:ext cx="8382000" cy="23710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630" y="3426460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SaaS订阅模式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630" y="367919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提供年费订阅服务，覆盖个人与机构用户，获取核心分析功能。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630" y="2660015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按量付费机制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630" y="291211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支持按调用次数计费，满足轻量或间歇性使用需求，提升使用灵活性。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630" y="1892935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私有化部署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630" y="2145665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为金融机构提供本地化部署方案，保障数据安全与系统稳定性。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86805" y="1892935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一次性授权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6805" y="2145665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私有化部署采用买断式授权，满足合规与定制化集成要求。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805" y="2660015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收入模式多元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805" y="291211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结合订阅、按量与授权收费，构建稳定且可扩展的收入结构。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805" y="3426460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兼顾灵活安全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805" y="367919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平衡灵活性、安全性与可扩展性，适应不同用户场景需求。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分层定价策略精准匹配个人投资者至大型金融机构的差异化需求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个人版订阅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年费500-2000元，提供基础分析功能，满足散户日常投资决策需求。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机构标准版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670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年费5万-50万元，支持批量分析、API接入，适配中小型投研团队。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企业定制化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50万-500万元私有化部署，深度集成内部系统，保障数据安全与合规。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按需付费模式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单次分析10-50元，灵活适用于临时研究需求，降低使用门槛。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三年财务预测显示规模化后利润率可达60%，具备强劲盈利能力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486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8215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80752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用户增长目标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04502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三年内将用户规模从1,000名扩展至20,000名。实现用户数量的指数级增长。奠定市场扩张基础。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452390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034927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收入提升规划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558677" y="1719263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推动年收入从500万元增长至2亿元。保持高速增长节奏。匹配用户规模扩张步伐。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706564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289102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成本控制策略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812852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依托规模效应抑制成本过快增长。优化运营效率。保障利润空间持续扩大。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60739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43276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盈利目标设定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067026" y="1719263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第三年实现1.2亿元净利润。达到60%的高利润率水平。体现强盈利能力。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14914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797451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ARPU值提升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321201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将每用户平均收入提升至10,000元。反映价值挖掘能力增强。支持收入与利润双增长。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469088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7051625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可持续增长模型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575375" y="1719263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构建可复制、可扩展的业务模式。实现增长与盈利的良性循环。形成指数级发展动力。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341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8075" r="8075"/>
          <a:stretch>
            <a:fillRect/>
          </a:stretch>
        </p:blipFill>
        <p:spPr>
          <a:xfrm>
            <a:off x="0" y="0"/>
            <a:ext cx="9144000" cy="6134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三阶段用户增长路径：从种子用户培育到企业级生态平台演进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45148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09763" y="3543300"/>
            <a:ext cx="10763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可持续增长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33838" y="16954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初期获客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300663" y="146685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免费试用吸引用户，降低使用门槛。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300663" y="171450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积累千名种子用户，验证产品价值。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300663" y="196215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建立社区口碑，促进自然传播。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033838" y="25336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产品打磨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300663" y="230505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收集用户反馈，优化核心功能。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300663" y="255270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提升用户体验，增强用户粘性。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300663" y="280035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形成初步产品闭环，支撑后续扩展。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033838" y="33718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市场扩张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00663" y="3143250"/>
            <a:ext cx="23050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通过渠道合作触达更广用户群体。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300663" y="3390900"/>
            <a:ext cx="23050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内容营销建立专业形象与信任感。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300663" y="3638550"/>
            <a:ext cx="23050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实现五千名付费用户，验证商业模式。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033838" y="40862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企业服务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300663" y="3981450"/>
            <a:ext cx="24384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组建销售团队，对接企业客户需求。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300663" y="4229100"/>
            <a:ext cx="24384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推出行业定制方案，提升解决方案深度。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033838" y="46767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生态构建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300663" y="457200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打造开放平台，支持第三方集成。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300663" y="481965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吸引开发者与伙伴，丰富生态能力。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033838" y="53911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长期发展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300663" y="5162550"/>
            <a:ext cx="20383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以客户成功为核心，提升续费率。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300663" y="5410200"/>
            <a:ext cx="20383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持续功能迭代，保持产品竞争力。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5300663" y="5657850"/>
            <a:ext cx="20383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强化品牌建设，扩大行业影响力。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内容营销+渠道合作双轮驱动，联合券商、云厂商与数据服务商共建生态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847850"/>
            <a:ext cx="2085975" cy="2338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内容获客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19412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通过投资教育、技术博客和视频教程建立专业形象，吸引高价值用户持续关注并转化。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86025" y="1847850"/>
            <a:ext cx="2085975" cy="23383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渠道联动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2919412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与券商、云厂商及数据服务商合作，嵌入其服务体系，实现客户资源互补与联合推广。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72000" y="1847850"/>
            <a:ext cx="2085975" cy="23383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生态协同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2919412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接入Tushare、阿里云等平台生态，提升数据与技术可信度，增强产品整合竞争力。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57975" y="1847850"/>
            <a:ext cx="2085975" cy="23383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品牌共建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2919412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联合行业伙伴举办线上峰会、开发者大会，扩大影响力，打造AI金融分析领域标杆品牌。</a:t>
            </a:r>
            <a:endParaRPr lang="en-US" sz="10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2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3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4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5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6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7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8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9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0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1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2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3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4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5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6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7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8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9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20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21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22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3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4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5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6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7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8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9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0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1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2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3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4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5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6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7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8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9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40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41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42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43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6606</Words>
  <Application>WPS 演示</Application>
  <PresentationFormat>On-screen Show (16:9)</PresentationFormat>
  <Paragraphs>958</Paragraphs>
  <Slides>30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MiSans</vt:lpstr>
      <vt:lpstr>MiSans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杨琦</cp:lastModifiedBy>
  <cp:revision>11</cp:revision>
  <dcterms:created xsi:type="dcterms:W3CDTF">2026-02-13T11:27:00Z</dcterms:created>
  <dcterms:modified xsi:type="dcterms:W3CDTF">2026-03-07T06:34:09Z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C5D610A6EBFC406FA0E68DE3104DC9C5_13</vt:lpwstr>
  </property>
</Properties>
</file>
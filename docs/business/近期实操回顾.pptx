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206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30FB01-3C2D-ACA5-4B1A-8464D6B7B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597F8C-696F-EC2A-0F9E-B16DC6F19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856F34-0A44-B022-FE53-7B919F8DE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B5E5A8-ED5C-BC49-7F4B-957B1BC2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3F028-4C3D-D9B4-7AA8-6E13FDC2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96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CCC08-E592-1920-36AA-ADA67385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5E81D-7EB8-C6DC-5E27-CB63596F8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0E372B-7844-B29E-9A64-C01CBA36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F6494-7D13-DF4B-FD8B-CB2EC9F5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EF12F-F27D-B340-B1A9-D6AEB5D80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00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A6A04-6E36-04FA-E72D-F58A5F36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BD94B0-5B46-A3DA-EDE4-4D5064F98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46922B-C570-8992-D905-9C2FFE40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32AB92-0FFA-054A-1E89-C5008292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3296E7-E5EB-2962-32B6-60A65F529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38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5262D-8457-6926-B0E7-BB7A776C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BDE2DD-B815-D490-FA8F-3BE60A51C6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80B883-2057-67AF-4DDB-29B8587AC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AE743D-3EBC-5F84-053E-B2A16F0E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9E3496-92D1-B0DF-106B-6B6CC17E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D5384A-11FB-20E7-3EA1-721DEDC25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795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0CFF8-1226-F0B1-371E-92A0A568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F22390-2AF6-7379-445B-FFFAB8BE9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800D26-064B-6620-6AE2-FF0448646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7781C9-CEA0-209E-74E6-D36A590E9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4E31233-8E3E-FF59-1112-6C4617D80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959259-8192-C4DE-952F-B8EDB2C0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9E7B9C-F6C9-3767-3185-89AC12C3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EB6B3A-3E1B-A6BE-41BB-1A2F7DF3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78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C49657-E0D2-5581-7EA4-F9C2C379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7E97D1-8462-4A39-19A9-FDF018A2F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5598B9-BA5B-1BE8-1001-6FB691F0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E2DBA2-6C21-CF62-7DF9-35D4EA1F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28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740E9D5-D703-4791-ACE8-CCD932DA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2A01DA-AC65-4E79-EA5E-A56B1E90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11BAD-7D26-B35C-6CEE-B2E8F1B35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282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758B5D-3D51-E0C7-13A2-14F3937A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270B9D-0B9D-4A0B-6824-46D5EA20C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E57303-BA27-B27A-E440-F0D0F574A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544D03-C690-3F02-491B-4C2E1038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B614C3-56FC-52A3-3BDC-CE99186E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58AEFD-282C-C4C3-51A5-78C6CE39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40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175644-3280-86C1-82D7-F744B7D9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C280E-E774-CB56-4361-2A0F1BC8C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32B2DB-9A28-D1BC-0BEC-8BB7F3999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24A84B-E226-5A73-FAFB-33E0642B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F9E22-B22F-738D-BECE-0B8103C5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04393B-E61C-9CDD-E1DF-D2C5A6487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81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F48CC-FEAC-3989-EF5C-A6F36E4A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63A38B-0478-ADC8-E447-A134B5E9D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9BF6B-C396-E4C0-0DCA-B08D3D9C5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A069F2-A2C6-D255-3B8F-7C066723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5891B5-E567-BBF6-20B9-22A4DEF2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30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3574887-D9F3-2D68-5923-7F554F8C1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5A139B-B2D6-6F27-3B3E-9505F9DE4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4EA32A-9341-88B1-F1C9-DE194626D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FB3903-31E4-3100-9760-39994855A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C75330-9957-620D-6F8C-638F61FC3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9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D2EB8F-26A3-9AAE-BBD3-41000EF0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B422EF-1618-E973-7D58-F0E7E8AAE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98ECFE-B512-270C-7C2B-BC579A485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27947-4794-4B39-AAAE-026D683335F8}" type="datetimeFigureOut">
              <a:rPr lang="zh-CN" altLang="en-US" smtClean="0"/>
              <a:t>2026/2/13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4FD426-FD9B-6B84-54C2-9C689B237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E7D94-C259-76B7-7203-BB6089478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4A84E-BB3C-4479-BAA8-82006D9079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41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890FDB-024A-EF56-6BF3-EB4790451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8988"/>
            <a:ext cx="9144000" cy="2387600"/>
          </a:xfrm>
        </p:spPr>
        <p:txBody>
          <a:bodyPr/>
          <a:lstStyle/>
          <a:p>
            <a:r>
              <a:rPr lang="zh-CN" altLang="en-US" dirty="0"/>
              <a:t>近期实操回顾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CE9A84-DE24-46E7-A01C-328E69FF8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2026.02.13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8532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1085CF-CF3D-A699-8B67-17F6E6FE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1. </a:t>
            </a:r>
            <a:r>
              <a:rPr lang="zh-CN" altLang="en-US" sz="3600" b="1" dirty="0"/>
              <a:t>沃尔德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364C45-00D9-86F9-C839-EDFC185B3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2025.11.07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C9B334B-AE79-85EA-F914-C10C32B91944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DDCDD172-E0B7-DE39-1B4E-EE11B6414D0F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短线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3</a:t>
            </a:r>
            <a:r>
              <a:rPr lang="zh-CN" altLang="en-US" sz="1600" dirty="0"/>
              <a:t>天从</a:t>
            </a:r>
            <a:r>
              <a:rPr lang="en-US" altLang="zh-CN" sz="1600" dirty="0"/>
              <a:t>57</a:t>
            </a:r>
            <a:r>
              <a:rPr lang="zh-CN" altLang="en-US" sz="1600" dirty="0"/>
              <a:t>到</a:t>
            </a:r>
            <a:r>
              <a:rPr lang="en-US" altLang="zh-CN" sz="1600" dirty="0"/>
              <a:t>84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47.3%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57</a:t>
            </a:r>
            <a:r>
              <a:rPr lang="zh-CN" altLang="en-US" sz="1600" dirty="0"/>
              <a:t>到</a:t>
            </a:r>
            <a:r>
              <a:rPr lang="en-US" altLang="zh-CN" sz="1600" dirty="0"/>
              <a:t>108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89.5%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57</a:t>
            </a:r>
            <a:r>
              <a:rPr lang="zh-CN" altLang="en-US" sz="1600" dirty="0"/>
              <a:t>到</a:t>
            </a:r>
            <a:r>
              <a:rPr lang="en-US" altLang="zh-CN" sz="1600" dirty="0"/>
              <a:t>86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50.9%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047E9B-A01D-FBFF-EA03-117930932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82" y="2117311"/>
            <a:ext cx="2165548" cy="423458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97F6F80-CDF1-450C-21D5-0DA7F592F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67" y="1897311"/>
            <a:ext cx="2156729" cy="467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6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8BF2D-3356-C0B3-9100-FF597AB13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8DCE9-3003-12F2-0959-D3BED666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2. </a:t>
            </a:r>
            <a:r>
              <a:rPr lang="zh-CN" altLang="en-US" sz="3600" b="1" dirty="0"/>
              <a:t>长芯博创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EA3E3-A20C-B709-6D89-18EB406E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2025.11.11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CD046FC-785C-3C5E-4677-5FE35984E6F5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11BAB17-AA10-6143-641C-28B55A299E24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中线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40</a:t>
            </a:r>
            <a:r>
              <a:rPr lang="zh-CN" altLang="en-US" sz="1600" dirty="0"/>
              <a:t>天从</a:t>
            </a:r>
            <a:r>
              <a:rPr lang="en-US" altLang="zh-CN" sz="1600" dirty="0"/>
              <a:t>100</a:t>
            </a:r>
            <a:r>
              <a:rPr lang="zh-CN" altLang="en-US" sz="1600" dirty="0"/>
              <a:t>到</a:t>
            </a:r>
            <a:r>
              <a:rPr lang="en-US" altLang="zh-CN" sz="1600" dirty="0"/>
              <a:t>57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57%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100</a:t>
            </a:r>
            <a:r>
              <a:rPr lang="zh-CN" altLang="en-US" sz="1600" dirty="0"/>
              <a:t>到</a:t>
            </a:r>
            <a:r>
              <a:rPr lang="en-US" altLang="zh-CN" sz="1600" dirty="0"/>
              <a:t>177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77%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100</a:t>
            </a:r>
            <a:r>
              <a:rPr lang="zh-CN" altLang="en-US" sz="1600" dirty="0"/>
              <a:t>到</a:t>
            </a:r>
            <a:r>
              <a:rPr lang="en-US" altLang="zh-CN" sz="1600" dirty="0"/>
              <a:t>156.5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56.5%</a:t>
            </a:r>
            <a:endParaRPr lang="zh-CN" altLang="en-US" sz="1600" dirty="0"/>
          </a:p>
        </p:txBody>
      </p:sp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1005C70-DD57-85B9-5850-A70B06EAA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96" y="2045649"/>
            <a:ext cx="2156729" cy="468598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3A80C40-66C5-D3BD-2316-758119138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533" y="1933551"/>
            <a:ext cx="2047820" cy="443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1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6C23C-6BD4-2AEE-22F5-2B4EFAE3C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95E87-178A-C08A-9B35-C21A73633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3. </a:t>
            </a:r>
            <a:r>
              <a:rPr lang="zh-CN" altLang="en-US" sz="3600" b="1" dirty="0"/>
              <a:t>鼎泰高科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079AB-E733-D2C1-EBEE-C6AF4BCEF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2025.11.20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5AE4A8A5-1F83-7C40-926C-CA3D0F5486DE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9048D50-8D29-251D-F63E-5B9486B745AE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短期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zh-CN" altLang="en-US" sz="1600" dirty="0"/>
              <a:t>建仓短期震荡后一路上涨</a:t>
            </a:r>
            <a:endParaRPr lang="en-US" altLang="zh-CN" sz="16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110</a:t>
            </a:r>
            <a:r>
              <a:rPr lang="zh-CN" altLang="en-US" sz="1600" dirty="0"/>
              <a:t>到</a:t>
            </a:r>
            <a:r>
              <a:rPr lang="en-US" altLang="zh-CN" sz="1600" dirty="0"/>
              <a:t>192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74.6%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110</a:t>
            </a:r>
            <a:r>
              <a:rPr lang="zh-CN" altLang="en-US" sz="1600" dirty="0"/>
              <a:t>到</a:t>
            </a:r>
            <a:r>
              <a:rPr lang="en-US" altLang="zh-CN" sz="1600" dirty="0"/>
              <a:t>180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63.6%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4BA3F7B-A140-D6ED-4C9B-48970B0A6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60" y="2070561"/>
            <a:ext cx="2094488" cy="45391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B67919-482E-0440-EF6A-087A5B57B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125" y="1886626"/>
            <a:ext cx="2204349" cy="47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64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4A3F9-55C8-0ED1-BFAD-C34BBFAF3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C0447B-CD6A-ADB0-07D0-A74022ECF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4. </a:t>
            </a:r>
            <a:r>
              <a:rPr lang="zh-CN" altLang="en-US" sz="3600" b="1" dirty="0"/>
              <a:t>谷歌链</a:t>
            </a:r>
            <a:r>
              <a:rPr lang="en-US" altLang="zh-CN" sz="3600" b="1" dirty="0"/>
              <a:t>-</a:t>
            </a:r>
            <a:r>
              <a:rPr lang="zh-CN" altLang="en-US" sz="3600" b="1" dirty="0"/>
              <a:t>光库科技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06C0C1-1AA6-7367-FC9D-AC71548A9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2025.11.22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AE95897-9F83-3C11-B2A8-06F012F40957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96A14A1E-FCC1-73C0-C54F-D223F545583A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短期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3</a:t>
            </a:r>
            <a:r>
              <a:rPr lang="zh-CN" altLang="en-US" sz="1600" dirty="0"/>
              <a:t>天从</a:t>
            </a:r>
            <a:r>
              <a:rPr lang="en-US" altLang="zh-CN" sz="1600" dirty="0"/>
              <a:t>111</a:t>
            </a:r>
            <a:r>
              <a:rPr lang="zh-CN" altLang="en-US" sz="1600" dirty="0"/>
              <a:t>到</a:t>
            </a:r>
            <a:r>
              <a:rPr lang="en-US" altLang="zh-CN" sz="1600" dirty="0"/>
              <a:t>158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42.3%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111</a:t>
            </a:r>
            <a:r>
              <a:rPr lang="zh-CN" altLang="en-US" sz="1600" dirty="0"/>
              <a:t>到</a:t>
            </a:r>
            <a:r>
              <a:rPr lang="en-US" altLang="zh-CN" sz="1600" dirty="0"/>
              <a:t>196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76.6%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111</a:t>
            </a:r>
            <a:r>
              <a:rPr lang="zh-CN" altLang="en-US" sz="1600" dirty="0"/>
              <a:t>到</a:t>
            </a:r>
            <a:r>
              <a:rPr lang="en-US" altLang="zh-CN" sz="1600" dirty="0"/>
              <a:t>171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54%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42C2FE7-A8A6-3392-3228-3BD5533575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96" y="2110927"/>
            <a:ext cx="2204349" cy="4793037"/>
          </a:xfrm>
          <a:prstGeom prst="rect">
            <a:avLst/>
          </a:prstGeom>
        </p:spPr>
      </p:pic>
      <p:pic>
        <p:nvPicPr>
          <p:cNvPr id="11" name="图片 10" descr="图形用户界面, 图表&#10;&#10;AI 生成的内容可能不正确。">
            <a:extLst>
              <a:ext uri="{FF2B5EF4-FFF2-40B4-BE49-F238E27FC236}">
                <a16:creationId xmlns:a16="http://schemas.microsoft.com/office/drawing/2014/main" id="{C207D6D4-C171-162F-80AF-ABD0E34D4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751" y="1785752"/>
            <a:ext cx="2211380" cy="479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23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7F8BF-78EE-C4FC-87C1-5E8A94705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DE403-F56E-204C-9C84-0F71C7EC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5. </a:t>
            </a:r>
            <a:r>
              <a:rPr lang="zh-CN" altLang="en-US" sz="3600" b="1" dirty="0"/>
              <a:t>谷歌链</a:t>
            </a:r>
            <a:r>
              <a:rPr lang="en-US" altLang="zh-CN" sz="3600" b="1" dirty="0"/>
              <a:t>-</a:t>
            </a:r>
            <a:r>
              <a:rPr lang="zh-CN" altLang="en-US" sz="3600" b="1" dirty="0"/>
              <a:t>腾景科技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3691A6-58B2-3BC4-E8DF-13091C810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2025.11.22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AFAF830-5C65-BD49-F709-C09EFA47182E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83792D41-FDAA-F554-E4F9-3116E3CB47BA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短期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2</a:t>
            </a:r>
            <a:r>
              <a:rPr lang="zh-CN" altLang="en-US" sz="1600" dirty="0"/>
              <a:t>天从</a:t>
            </a:r>
            <a:r>
              <a:rPr lang="en-US" altLang="zh-CN" sz="1600" dirty="0"/>
              <a:t>152</a:t>
            </a:r>
            <a:r>
              <a:rPr lang="zh-CN" altLang="en-US" sz="1600" dirty="0"/>
              <a:t>到</a:t>
            </a:r>
            <a:r>
              <a:rPr lang="en-US" altLang="zh-CN" sz="1600" dirty="0"/>
              <a:t>188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23.7%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152</a:t>
            </a:r>
            <a:r>
              <a:rPr lang="zh-CN" altLang="en-US" sz="1600" dirty="0"/>
              <a:t>到</a:t>
            </a:r>
            <a:r>
              <a:rPr lang="en-US" altLang="zh-CN" sz="1600" dirty="0"/>
              <a:t>256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68.4%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152</a:t>
            </a:r>
            <a:r>
              <a:rPr lang="zh-CN" altLang="en-US" sz="1600" dirty="0"/>
              <a:t>到</a:t>
            </a:r>
            <a:r>
              <a:rPr lang="en-US" altLang="zh-CN" sz="1600" dirty="0"/>
              <a:t>212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39.5%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29ABB3-C5FA-04B3-6AE2-4333B0C3E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96" y="2110927"/>
            <a:ext cx="2204349" cy="47930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DF2C216-52A2-2311-D52A-C03139123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7451" y="1816100"/>
            <a:ext cx="2279323" cy="494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7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A960D-4104-C213-785B-8B9E9530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FBC4F-F740-3CB4-87E0-408C896F1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6. </a:t>
            </a:r>
            <a:r>
              <a:rPr lang="zh-CN" altLang="en-US" sz="3600" b="1" dirty="0"/>
              <a:t>谷歌链</a:t>
            </a:r>
            <a:r>
              <a:rPr lang="en-US" altLang="zh-CN" sz="3600" b="1" dirty="0"/>
              <a:t>-</a:t>
            </a:r>
            <a:r>
              <a:rPr lang="zh-CN" altLang="en-US" sz="3600" b="1" dirty="0"/>
              <a:t>德科立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64BEFF-B738-571B-948B-A6B14302A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2025.11.22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911D6AE-DD61-C350-BA59-9BE6C51D039F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EDF3BB1-99D1-00AD-7D23-8BD491EA309E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短期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zh-CN" altLang="en-US" sz="1600" dirty="0"/>
              <a:t>建仓短期震荡后一路上涨</a:t>
            </a:r>
            <a:endParaRPr lang="en-US" altLang="zh-CN" sz="16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110</a:t>
            </a:r>
            <a:r>
              <a:rPr lang="zh-CN" altLang="en-US" sz="1600" dirty="0"/>
              <a:t>到</a:t>
            </a:r>
            <a:r>
              <a:rPr lang="en-US" altLang="zh-CN" sz="1600" dirty="0"/>
              <a:t>192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74.6%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110</a:t>
            </a:r>
            <a:r>
              <a:rPr lang="zh-CN" altLang="en-US" sz="1600" dirty="0"/>
              <a:t>到</a:t>
            </a:r>
            <a:r>
              <a:rPr lang="en-US" altLang="zh-CN" sz="1600" dirty="0"/>
              <a:t>180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63.6%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D91C0C-9A62-D865-56F7-AFC382A6E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96" y="2110927"/>
            <a:ext cx="2204349" cy="4793037"/>
          </a:xfrm>
          <a:prstGeom prst="rect">
            <a:avLst/>
          </a:prstGeom>
        </p:spPr>
      </p:pic>
      <p:pic>
        <p:nvPicPr>
          <p:cNvPr id="11" name="图片 10" descr="图形用户界面, 图表&#10;&#10;AI 生成的内容可能不正确。">
            <a:extLst>
              <a:ext uri="{FF2B5EF4-FFF2-40B4-BE49-F238E27FC236}">
                <a16:creationId xmlns:a16="http://schemas.microsoft.com/office/drawing/2014/main" id="{E9AE32CA-88E8-01B6-D02A-5E2CBB75F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751" y="1785752"/>
            <a:ext cx="2211380" cy="479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42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8C43F-F9CF-97BB-2D4F-02F62FDC6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1C97C3-3C93-CFF4-6586-6F161618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7. </a:t>
            </a:r>
            <a:r>
              <a:rPr lang="zh-CN" altLang="en-US" sz="3600" b="1" dirty="0"/>
              <a:t>澜起科技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CD672C-2785-3E0A-C429-6C11D5377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2025.12.11</a:t>
            </a:r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A31B194-72FA-CED1-B3B9-A7E644090DA4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ACDC602-1A0F-EFB8-C3EA-A32ABD1CA05D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短期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zh-CN" altLang="en-US" sz="1600" dirty="0"/>
              <a:t>建仓短期震荡后一路上涨</a:t>
            </a:r>
            <a:endParaRPr lang="en-US" altLang="zh-CN" sz="16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120</a:t>
            </a:r>
            <a:r>
              <a:rPr lang="zh-CN" altLang="en-US" sz="1600" dirty="0"/>
              <a:t>到</a:t>
            </a:r>
            <a:r>
              <a:rPr lang="en-US" altLang="zh-CN" sz="1600" dirty="0"/>
              <a:t>188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56.7%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120</a:t>
            </a:r>
            <a:r>
              <a:rPr lang="zh-CN" altLang="en-US" sz="1600" dirty="0"/>
              <a:t>到</a:t>
            </a:r>
            <a:r>
              <a:rPr lang="en-US" altLang="zh-CN" sz="1600" dirty="0"/>
              <a:t>165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37.5%</a:t>
            </a:r>
            <a:endParaRPr lang="zh-CN" alt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9F1DC7D-9A8C-EC70-9695-4F8E4B516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236" y="2097471"/>
            <a:ext cx="2138038" cy="46335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4E1785-3FCC-7032-10E3-7B36C411D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751" y="1790700"/>
            <a:ext cx="2291311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36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A0E7-3BAE-F461-D169-3752C58FF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48D59-CCD1-7512-ADC9-70CFA2C2C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79211"/>
            <a:ext cx="10515600" cy="900257"/>
          </a:xfrm>
        </p:spPr>
        <p:txBody>
          <a:bodyPr>
            <a:normAutofit/>
          </a:bodyPr>
          <a:lstStyle/>
          <a:p>
            <a:r>
              <a:rPr lang="en-US" altLang="zh-CN" sz="3600" b="1" dirty="0"/>
              <a:t>8. </a:t>
            </a:r>
            <a:r>
              <a:rPr lang="zh-CN" altLang="en-US" sz="3600" b="1" dirty="0"/>
              <a:t>杭电股份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BB1535-E73E-083E-390B-A9A5C0A79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775" y="1343160"/>
            <a:ext cx="2976418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建仓时机</a:t>
            </a:r>
            <a:endParaRPr lang="en-US" altLang="zh-CN" sz="2400" dirty="0"/>
          </a:p>
          <a:p>
            <a:pPr lvl="1"/>
            <a:r>
              <a:rPr lang="en-US" altLang="zh-CN" sz="2000" dirty="0"/>
              <a:t>2025</a:t>
            </a:r>
            <a:r>
              <a:rPr lang="zh-CN" altLang="en-US" sz="2000" dirty="0"/>
              <a:t>年</a:t>
            </a:r>
            <a:r>
              <a:rPr lang="en-US" altLang="zh-CN" sz="2000" dirty="0"/>
              <a:t>11</a:t>
            </a:r>
            <a:r>
              <a:rPr lang="zh-CN" altLang="en-US" sz="2000" dirty="0"/>
              <a:t>月中旬，原贴信息在小红书，账号被封未能截图</a:t>
            </a:r>
            <a:endParaRPr lang="en-US" altLang="zh-CN" sz="2000" dirty="0"/>
          </a:p>
          <a:p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5659E2D-222E-EB6E-5193-C8C2D7E19366}"/>
              </a:ext>
            </a:extLst>
          </p:cNvPr>
          <p:cNvSpPr txBox="1">
            <a:spLocks/>
          </p:cNvSpPr>
          <p:nvPr/>
        </p:nvSpPr>
        <p:spPr>
          <a:xfrm>
            <a:off x="4204751" y="1361880"/>
            <a:ext cx="29764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K</a:t>
            </a:r>
            <a:r>
              <a:rPr lang="zh-CN" altLang="en-US" sz="2400" dirty="0"/>
              <a:t>线回顾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D2C54CC-74AD-18C2-60D4-D5C205AD588C}"/>
              </a:ext>
            </a:extLst>
          </p:cNvPr>
          <p:cNvSpPr txBox="1">
            <a:spLocks/>
          </p:cNvSpPr>
          <p:nvPr/>
        </p:nvSpPr>
        <p:spPr>
          <a:xfrm>
            <a:off x="7362486" y="1362015"/>
            <a:ext cx="38045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收益</a:t>
            </a:r>
            <a:endParaRPr lang="en-US" altLang="zh-CN" sz="24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短期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zh-CN" altLang="en-US" sz="1600" dirty="0"/>
              <a:t>建仓后长期震荡，然后开启快速翻倍行情</a:t>
            </a:r>
            <a:endParaRPr lang="en-US" altLang="zh-CN" sz="1600" dirty="0"/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最高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9</a:t>
            </a:r>
            <a:r>
              <a:rPr lang="zh-CN" altLang="en-US" sz="1600" dirty="0"/>
              <a:t>到</a:t>
            </a:r>
            <a:r>
              <a:rPr lang="en-US" altLang="zh-CN" sz="1600" dirty="0"/>
              <a:t>16.8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86.7%</a:t>
            </a:r>
          </a:p>
          <a:p>
            <a:pPr lvl="1"/>
            <a:endParaRPr lang="en-US" altLang="zh-CN" sz="2000" dirty="0"/>
          </a:p>
          <a:p>
            <a:pPr lvl="1"/>
            <a:r>
              <a:rPr lang="zh-CN" altLang="en-US" sz="2000" b="1" dirty="0"/>
              <a:t>至今</a:t>
            </a:r>
            <a:r>
              <a:rPr lang="zh-CN" altLang="en-US" sz="2000" dirty="0"/>
              <a:t>涨幅</a:t>
            </a:r>
            <a:endParaRPr lang="en-US" altLang="zh-CN" sz="2000" dirty="0"/>
          </a:p>
          <a:p>
            <a:pPr lvl="2"/>
            <a:r>
              <a:rPr lang="en-US" altLang="zh-CN" sz="1600" dirty="0"/>
              <a:t>9</a:t>
            </a:r>
            <a:r>
              <a:rPr lang="zh-CN" altLang="en-US" sz="1600" dirty="0"/>
              <a:t>到</a:t>
            </a:r>
            <a:r>
              <a:rPr lang="en-US" altLang="zh-CN" sz="1600" dirty="0"/>
              <a:t>14.5</a:t>
            </a:r>
            <a:r>
              <a:rPr lang="zh-CN" altLang="en-US" sz="1600" dirty="0"/>
              <a:t>，收益率</a:t>
            </a:r>
            <a:r>
              <a:rPr lang="en-US" altLang="zh-CN" sz="1600" dirty="0"/>
              <a:t>61%</a:t>
            </a:r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49AF37-E58D-1618-0778-9D4B46980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63" y="2692400"/>
            <a:ext cx="1875241" cy="4064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9FA2807-D7D0-8885-725A-01810F6D2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150" y="1841689"/>
            <a:ext cx="2184121" cy="47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57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12121E-9D27-1C30-94CF-BD61DE34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332"/>
            <a:ext cx="10515600" cy="1325563"/>
          </a:xfrm>
        </p:spPr>
        <p:txBody>
          <a:bodyPr/>
          <a:lstStyle/>
          <a:p>
            <a:r>
              <a:rPr lang="zh-CN" altLang="en-US" dirty="0"/>
              <a:t>特定用户策略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65321F-65A5-1395-E161-C50B0BCA7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9894"/>
            <a:ext cx="10515600" cy="5023773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12.19</a:t>
            </a:r>
            <a:r>
              <a:rPr lang="zh-CN" altLang="en-US" dirty="0"/>
              <a:t>面向特定用户提供的第一个组合策略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至今收益率（平均收益率</a:t>
            </a:r>
            <a:r>
              <a:rPr lang="en-US" altLang="zh-CN" dirty="0"/>
              <a:t>39%</a:t>
            </a:r>
            <a:r>
              <a:rPr lang="zh-CN" altLang="en-US" dirty="0"/>
              <a:t>，同期市场指数涨幅约</a:t>
            </a:r>
            <a:r>
              <a:rPr lang="en-US" altLang="zh-CN" dirty="0"/>
              <a:t>5%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五洲新春</a:t>
            </a:r>
            <a:r>
              <a:rPr lang="en-US" altLang="zh-CN" dirty="0"/>
              <a:t>81%</a:t>
            </a:r>
          </a:p>
          <a:p>
            <a:pPr lvl="1"/>
            <a:r>
              <a:rPr lang="zh-CN" altLang="en-US" dirty="0"/>
              <a:t>华丰科技</a:t>
            </a:r>
            <a:r>
              <a:rPr lang="en-US" altLang="zh-CN" dirty="0"/>
              <a:t>50%</a:t>
            </a:r>
          </a:p>
          <a:p>
            <a:pPr lvl="1"/>
            <a:r>
              <a:rPr lang="zh-CN" altLang="en-US" dirty="0"/>
              <a:t>澜起科技</a:t>
            </a:r>
            <a:r>
              <a:rPr lang="en-US" altLang="zh-CN" dirty="0"/>
              <a:t>44%</a:t>
            </a:r>
          </a:p>
          <a:p>
            <a:pPr lvl="1"/>
            <a:r>
              <a:rPr lang="zh-CN" altLang="en-US" dirty="0"/>
              <a:t>中石科技</a:t>
            </a:r>
            <a:r>
              <a:rPr lang="en-US" altLang="zh-CN" dirty="0"/>
              <a:t>25%</a:t>
            </a:r>
          </a:p>
          <a:p>
            <a:pPr lvl="1"/>
            <a:r>
              <a:rPr lang="zh-CN" altLang="en-US" dirty="0"/>
              <a:t>鹏辉能源</a:t>
            </a:r>
            <a:r>
              <a:rPr lang="en-US" altLang="zh-CN" dirty="0"/>
              <a:t>-6%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897B73-520D-FECD-A573-FFA0A7692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0" y="2036855"/>
            <a:ext cx="8293100" cy="246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2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414</Words>
  <Application>Microsoft Office PowerPoint</Application>
  <PresentationFormat>宽屏</PresentationFormat>
  <Paragraphs>129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近期实操回顾</vt:lpstr>
      <vt:lpstr>1. 沃尔德</vt:lpstr>
      <vt:lpstr>2. 长芯博创</vt:lpstr>
      <vt:lpstr>3. 鼎泰高科</vt:lpstr>
      <vt:lpstr>4. 谷歌链-光库科技</vt:lpstr>
      <vt:lpstr>5. 谷歌链-腾景科技</vt:lpstr>
      <vt:lpstr>6. 谷歌链-德科立</vt:lpstr>
      <vt:lpstr>7. 澜起科技</vt:lpstr>
      <vt:lpstr>8. 杭电股份</vt:lpstr>
      <vt:lpstr>特定用户策略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剑峰 吴</dc:creator>
  <cp:lastModifiedBy>剑峰 吴</cp:lastModifiedBy>
  <cp:revision>11</cp:revision>
  <dcterms:created xsi:type="dcterms:W3CDTF">2026-02-13T13:30:36Z</dcterms:created>
  <dcterms:modified xsi:type="dcterms:W3CDTF">2026-02-13T15:39:45Z</dcterms:modified>
</cp:coreProperties>
</file>
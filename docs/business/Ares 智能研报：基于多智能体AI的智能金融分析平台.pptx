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58" r:id="rId14"/>
    <p:sldId id="259" r:id="rId15"/>
    <p:sldId id="288" r:id="rId16"/>
    <p:sldId id="263" r:id="rId17"/>
    <p:sldId id="265" r:id="rId18"/>
    <p:sldId id="260" r:id="rId19"/>
    <p:sldId id="261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4" r:id="rId3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7.png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image" Target="../media/image13.png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12.png"/><Relationship Id="rId2" Type="http://schemas.openxmlformats.org/officeDocument/2006/relationships/tags" Target="../tags/tag10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image" Target="../media/image15.png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image" Target="../media/image14.png"/><Relationship Id="rId10" Type="http://schemas.openxmlformats.org/officeDocument/2006/relationships/tags" Target="../tags/tag16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9.png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2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66813"/>
            <a:ext cx="80010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Ares 智能研报：</a:t>
            </a: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5250"/>
              </a:lnSpc>
              <a:buNone/>
            </a:pP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AI驱动的下一代金融分析平台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576513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" y="-118745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7540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252460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项目定位与核心价值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20731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3625" y="17540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6610350" y="20731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3826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18502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核心技术架构设计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7017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23826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539865" y="18508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数据流程与智能决策链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7017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0113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6539865" y="244459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市场竞争优势分析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3304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90975" y="313483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商业模式与盈利路径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33304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990975" y="39590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核心技术架构设计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/>
          <p:cNvSpPr/>
          <p:nvPr/>
        </p:nvSpPr>
        <p:spPr>
          <a:xfrm>
            <a:off x="3246769" y="8990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2625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5875" y="397476"/>
            <a:ext cx="5299572" cy="4497188"/>
            <a:chOff x="0" y="642"/>
            <a:chExt cx="10665" cy="7390"/>
          </a:xfrm>
        </p:grpSpPr>
        <p:sp>
          <p:nvSpPr>
            <p:cNvPr id="18" name="Shape 0"/>
            <p:cNvSpPr/>
            <p:nvPr/>
          </p:nvSpPr>
          <p:spPr>
            <a:xfrm>
              <a:off x="584" y="642"/>
              <a:ext cx="58" cy="467"/>
            </a:xfrm>
            <a:custGeom>
              <a:avLst/>
              <a:gdLst/>
              <a:ahLst/>
              <a:cxnLst/>
              <a:rect l="l" t="t" r="r" b="b"/>
              <a:pathLst>
                <a:path w="37058" h="296462">
                  <a:moveTo>
                    <a:pt x="0" y="0"/>
                  </a:moveTo>
                  <a:lnTo>
                    <a:pt x="37058" y="0"/>
                  </a:lnTo>
                  <a:lnTo>
                    <a:pt x="37058" y="296462"/>
                  </a:lnTo>
                  <a:lnTo>
                    <a:pt x="0" y="296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Shape 3"/>
            <p:cNvSpPr/>
            <p:nvPr/>
          </p:nvSpPr>
          <p:spPr>
            <a:xfrm>
              <a:off x="0" y="781"/>
              <a:ext cx="10665" cy="7156"/>
            </a:xfrm>
            <a:custGeom>
              <a:avLst/>
              <a:gdLst/>
              <a:ahLst/>
              <a:cxnLst/>
              <a:rect l="l" t="t" r="r" b="b"/>
              <a:pathLst>
                <a:path w="6772304" h="5660571">
                  <a:moveTo>
                    <a:pt x="111174" y="0"/>
                  </a:moveTo>
                  <a:lnTo>
                    <a:pt x="6661130" y="0"/>
                  </a:lnTo>
                  <a:cubicBezTo>
                    <a:pt x="6722530" y="0"/>
                    <a:pt x="6772304" y="49774"/>
                    <a:pt x="6772304" y="111174"/>
                  </a:cubicBezTo>
                  <a:lnTo>
                    <a:pt x="6772304" y="5549398"/>
                  </a:lnTo>
                  <a:cubicBezTo>
                    <a:pt x="6772304" y="5610797"/>
                    <a:pt x="6722530" y="5660571"/>
                    <a:pt x="6661130" y="5660571"/>
                  </a:cubicBezTo>
                  <a:lnTo>
                    <a:pt x="111174" y="5660571"/>
                  </a:lnTo>
                  <a:cubicBezTo>
                    <a:pt x="49774" y="5660571"/>
                    <a:pt x="0" y="5610797"/>
                    <a:pt x="0" y="5549398"/>
                  </a:cubicBezTo>
                  <a:lnTo>
                    <a:pt x="0" y="111174"/>
                  </a:lnTo>
                  <a:cubicBezTo>
                    <a:pt x="0" y="49815"/>
                    <a:pt x="49815" y="0"/>
                    <a:pt x="11117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2" name="Text 4"/>
            <p:cNvSpPr/>
            <p:nvPr/>
          </p:nvSpPr>
          <p:spPr>
            <a:xfrm>
              <a:off x="48" y="1387"/>
              <a:ext cx="10329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系统架构分层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3" name="Shape 5"/>
            <p:cNvSpPr/>
            <p:nvPr/>
          </p:nvSpPr>
          <p:spPr>
            <a:xfrm>
              <a:off x="128" y="1977"/>
              <a:ext cx="10169" cy="1707"/>
            </a:xfrm>
            <a:custGeom>
              <a:avLst/>
              <a:gdLst/>
              <a:ahLst/>
              <a:cxnLst/>
              <a:rect l="l" t="t" r="r" b="b"/>
              <a:pathLst>
                <a:path w="6457313" h="1083939">
                  <a:moveTo>
                    <a:pt x="74120" y="0"/>
                  </a:moveTo>
                  <a:lnTo>
                    <a:pt x="6383193" y="0"/>
                  </a:lnTo>
                  <a:cubicBezTo>
                    <a:pt x="6424129" y="0"/>
                    <a:pt x="6457313" y="33185"/>
                    <a:pt x="6457313" y="74120"/>
                  </a:cubicBezTo>
                  <a:lnTo>
                    <a:pt x="6457313" y="1009819"/>
                  </a:lnTo>
                  <a:cubicBezTo>
                    <a:pt x="6457313" y="1050755"/>
                    <a:pt x="6424129" y="1083939"/>
                    <a:pt x="6383193" y="1083939"/>
                  </a:cubicBezTo>
                  <a:lnTo>
                    <a:pt x="74120" y="1083939"/>
                  </a:lnTo>
                  <a:cubicBezTo>
                    <a:pt x="33185" y="1083939"/>
                    <a:pt x="0" y="1050755"/>
                    <a:pt x="0" y="1009819"/>
                  </a:cubicBezTo>
                  <a:lnTo>
                    <a:pt x="0" y="74120"/>
                  </a:lnTo>
                  <a:cubicBezTo>
                    <a:pt x="0" y="33212"/>
                    <a:pt x="33212" y="0"/>
                    <a:pt x="7412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24" name="Shape 6"/>
            <p:cNvSpPr/>
            <p:nvPr/>
          </p:nvSpPr>
          <p:spPr>
            <a:xfrm>
              <a:off x="310" y="2160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5" name="Text 7"/>
            <p:cNvSpPr/>
            <p:nvPr/>
          </p:nvSpPr>
          <p:spPr>
            <a:xfrm>
              <a:off x="259" y="2160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952" y="2188"/>
              <a:ext cx="2084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用户接入层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9"/>
            <p:cNvSpPr/>
            <p:nvPr/>
          </p:nvSpPr>
          <p:spPr>
            <a:xfrm>
              <a:off x="310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28" name="Text 10"/>
            <p:cNvSpPr/>
            <p:nvPr/>
          </p:nvSpPr>
          <p:spPr>
            <a:xfrm>
              <a:off x="376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Web前端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383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Shape 12"/>
            <p:cNvSpPr/>
            <p:nvPr/>
          </p:nvSpPr>
          <p:spPr>
            <a:xfrm>
              <a:off x="3616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1" name="Text 13"/>
            <p:cNvSpPr/>
            <p:nvPr/>
          </p:nvSpPr>
          <p:spPr>
            <a:xfrm>
              <a:off x="3682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移动端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3689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规划中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3" name="Shape 15"/>
            <p:cNvSpPr/>
            <p:nvPr/>
          </p:nvSpPr>
          <p:spPr>
            <a:xfrm>
              <a:off x="6922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4" name="Text 16"/>
            <p:cNvSpPr/>
            <p:nvPr/>
          </p:nvSpPr>
          <p:spPr>
            <a:xfrm>
              <a:off x="6987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API接口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6995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6" name="Shape 18"/>
            <p:cNvSpPr/>
            <p:nvPr/>
          </p:nvSpPr>
          <p:spPr>
            <a:xfrm>
              <a:off x="128" y="3816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37" name="Shape 19"/>
            <p:cNvSpPr/>
            <p:nvPr/>
          </p:nvSpPr>
          <p:spPr>
            <a:xfrm>
              <a:off x="310" y="3998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38" name="Text 20"/>
            <p:cNvSpPr/>
            <p:nvPr/>
          </p:nvSpPr>
          <p:spPr>
            <a:xfrm>
              <a:off x="259" y="3998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9" name="Text 21"/>
            <p:cNvSpPr/>
            <p:nvPr/>
          </p:nvSpPr>
          <p:spPr>
            <a:xfrm>
              <a:off x="952" y="4027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应用服务层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2"/>
            <p:cNvSpPr/>
            <p:nvPr/>
          </p:nvSpPr>
          <p:spPr>
            <a:xfrm>
              <a:off x="259" y="4582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FastAPI后端服务 | 认证授权 | 分析服务 | 数据服务 | 队列管理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3"/>
            <p:cNvSpPr/>
            <p:nvPr/>
          </p:nvSpPr>
          <p:spPr>
            <a:xfrm>
              <a:off x="128" y="5187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rgbClr val="8D99AE">
                  <a:alpha val="40000"/>
                </a:srgbClr>
              </a:solidFill>
              <a:prstDash val="solid"/>
            </a:ln>
          </p:spPr>
        </p:sp>
        <p:sp>
          <p:nvSpPr>
            <p:cNvPr id="42" name="Shape 24"/>
            <p:cNvSpPr/>
            <p:nvPr/>
          </p:nvSpPr>
          <p:spPr>
            <a:xfrm>
              <a:off x="310" y="5369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43" name="Text 25"/>
            <p:cNvSpPr/>
            <p:nvPr/>
          </p:nvSpPr>
          <p:spPr>
            <a:xfrm>
              <a:off x="259" y="5369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4" name="Text 26"/>
            <p:cNvSpPr/>
            <p:nvPr/>
          </p:nvSpPr>
          <p:spPr>
            <a:xfrm>
              <a:off x="952" y="5398"/>
              <a:ext cx="2875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rgbClr val="615C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智能决策引擎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7"/>
            <p:cNvSpPr/>
            <p:nvPr/>
          </p:nvSpPr>
          <p:spPr>
            <a:xfrm>
              <a:off x="259" y="5953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TradingAgents多智能体框架 | 分析师 | 研究员 | 交易员 | 风险管理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8"/>
            <p:cNvSpPr/>
            <p:nvPr/>
          </p:nvSpPr>
          <p:spPr>
            <a:xfrm>
              <a:off x="128" y="6559"/>
              <a:ext cx="10169" cy="1474"/>
            </a:xfrm>
            <a:custGeom>
              <a:avLst/>
              <a:gdLst/>
              <a:ahLst/>
              <a:cxnLst/>
              <a:rect l="l" t="t" r="r" b="b"/>
              <a:pathLst>
                <a:path w="6457313" h="935708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4"/>
                    <a:pt x="6457313" y="74117"/>
                  </a:cubicBezTo>
                  <a:lnTo>
                    <a:pt x="6457313" y="861591"/>
                  </a:lnTo>
                  <a:cubicBezTo>
                    <a:pt x="6457313" y="902525"/>
                    <a:pt x="6424130" y="935708"/>
                    <a:pt x="6383196" y="935708"/>
                  </a:cubicBezTo>
                  <a:lnTo>
                    <a:pt x="74117" y="935708"/>
                  </a:lnTo>
                  <a:cubicBezTo>
                    <a:pt x="33184" y="935708"/>
                    <a:pt x="0" y="902525"/>
                    <a:pt x="0" y="861591"/>
                  </a:cubicBezTo>
                  <a:lnTo>
                    <a:pt x="0" y="74117"/>
                  </a:lnTo>
                  <a:cubicBezTo>
                    <a:pt x="0" y="33184"/>
                    <a:pt x="33184" y="0"/>
                    <a:pt x="74117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47" name="Shape 29"/>
            <p:cNvSpPr/>
            <p:nvPr/>
          </p:nvSpPr>
          <p:spPr>
            <a:xfrm>
              <a:off x="310" y="6741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8" name="Text 30"/>
            <p:cNvSpPr/>
            <p:nvPr/>
          </p:nvSpPr>
          <p:spPr>
            <a:xfrm>
              <a:off x="259" y="6741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1"/>
            <p:cNvSpPr/>
            <p:nvPr/>
          </p:nvSpPr>
          <p:spPr>
            <a:xfrm>
              <a:off x="952" y="6770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基础设施层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2"/>
            <p:cNvSpPr/>
            <p:nvPr/>
          </p:nvSpPr>
          <p:spPr>
            <a:xfrm>
              <a:off x="310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1" name="Text 33"/>
            <p:cNvSpPr/>
            <p:nvPr/>
          </p:nvSpPr>
          <p:spPr>
            <a:xfrm>
              <a:off x="376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Shape 34"/>
            <p:cNvSpPr/>
            <p:nvPr/>
          </p:nvSpPr>
          <p:spPr>
            <a:xfrm>
              <a:off x="3616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3" name="Text 35"/>
            <p:cNvSpPr/>
            <p:nvPr/>
          </p:nvSpPr>
          <p:spPr>
            <a:xfrm>
              <a:off x="3682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6"/>
            <p:cNvSpPr/>
            <p:nvPr/>
          </p:nvSpPr>
          <p:spPr>
            <a:xfrm>
              <a:off x="6922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5" name="Text 37"/>
            <p:cNvSpPr/>
            <p:nvPr/>
          </p:nvSpPr>
          <p:spPr>
            <a:xfrm>
              <a:off x="6987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文件系统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331500" y="471687"/>
            <a:ext cx="3782046" cy="4619138"/>
            <a:chOff x="11500" y="1875"/>
            <a:chExt cx="7105" cy="8914"/>
          </a:xfrm>
        </p:grpSpPr>
        <p:sp>
          <p:nvSpPr>
            <p:cNvPr id="56" name="Shape 38"/>
            <p:cNvSpPr/>
            <p:nvPr/>
          </p:nvSpPr>
          <p:spPr>
            <a:xfrm>
              <a:off x="11500" y="1875"/>
              <a:ext cx="7105" cy="5850"/>
            </a:xfrm>
            <a:custGeom>
              <a:avLst/>
              <a:gdLst/>
              <a:ahLst/>
              <a:cxnLst/>
              <a:rect l="l" t="t" r="r" b="b"/>
              <a:pathLst>
                <a:path w="4511781" h="3715040">
                  <a:moveTo>
                    <a:pt x="111191" y="0"/>
                  </a:moveTo>
                  <a:lnTo>
                    <a:pt x="4400590" y="0"/>
                  </a:lnTo>
                  <a:cubicBezTo>
                    <a:pt x="4461999" y="0"/>
                    <a:pt x="4511781" y="49782"/>
                    <a:pt x="4511781" y="111191"/>
                  </a:cubicBezTo>
                  <a:lnTo>
                    <a:pt x="4511781" y="3603848"/>
                  </a:lnTo>
                  <a:cubicBezTo>
                    <a:pt x="4511781" y="3665258"/>
                    <a:pt x="4461999" y="3715040"/>
                    <a:pt x="4400590" y="3715040"/>
                  </a:cubicBezTo>
                  <a:lnTo>
                    <a:pt x="111191" y="3715040"/>
                  </a:lnTo>
                  <a:cubicBezTo>
                    <a:pt x="49782" y="3715040"/>
                    <a:pt x="0" y="3665258"/>
                    <a:pt x="0" y="3603848"/>
                  </a:cubicBezTo>
                  <a:lnTo>
                    <a:pt x="0" y="111191"/>
                  </a:lnTo>
                  <a:cubicBezTo>
                    <a:pt x="0" y="49782"/>
                    <a:pt x="49782" y="0"/>
                    <a:pt x="111191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7" name="Shape 39"/>
            <p:cNvSpPr/>
            <p:nvPr/>
          </p:nvSpPr>
          <p:spPr>
            <a:xfrm>
              <a:off x="11796" y="2174"/>
              <a:ext cx="255" cy="292"/>
            </a:xfrm>
            <a:custGeom>
              <a:avLst/>
              <a:gdLst/>
              <a:ahLst/>
              <a:cxnLst/>
              <a:rect l="l" t="t" r="r" b="b"/>
              <a:pathLst>
                <a:path w="162128" h="185289">
                  <a:moveTo>
                    <a:pt x="162128" y="74477"/>
                  </a:moveTo>
                  <a:cubicBezTo>
                    <a:pt x="156772" y="78024"/>
                    <a:pt x="150619" y="80883"/>
                    <a:pt x="144214" y="83163"/>
                  </a:cubicBezTo>
                  <a:cubicBezTo>
                    <a:pt x="127205" y="89243"/>
                    <a:pt x="104876" y="92644"/>
                    <a:pt x="81064" y="92644"/>
                  </a:cubicBezTo>
                  <a:cubicBezTo>
                    <a:pt x="57251" y="92644"/>
                    <a:pt x="34886" y="89206"/>
                    <a:pt x="17914" y="83163"/>
                  </a:cubicBezTo>
                  <a:cubicBezTo>
                    <a:pt x="11544" y="80883"/>
                    <a:pt x="5356" y="78024"/>
                    <a:pt x="0" y="74477"/>
                  </a:cubicBezTo>
                  <a:lnTo>
                    <a:pt x="0" y="104225"/>
                  </a:lnTo>
                  <a:cubicBezTo>
                    <a:pt x="0" y="120221"/>
                    <a:pt x="36298" y="133176"/>
                    <a:pt x="81064" y="133176"/>
                  </a:cubicBezTo>
                  <a:cubicBezTo>
                    <a:pt x="125830" y="133176"/>
                    <a:pt x="162128" y="120221"/>
                    <a:pt x="162128" y="104225"/>
                  </a:cubicBezTo>
                  <a:lnTo>
                    <a:pt x="162128" y="74477"/>
                  </a:lnTo>
                  <a:close/>
                  <a:moveTo>
                    <a:pt x="162128" y="46322"/>
                  </a:moveTo>
                  <a:lnTo>
                    <a:pt x="162128" y="28951"/>
                  </a:lnTo>
                  <a:cubicBezTo>
                    <a:pt x="162128" y="12956"/>
                    <a:pt x="125830" y="0"/>
                    <a:pt x="81064" y="0"/>
                  </a:cubicBezTo>
                  <a:cubicBezTo>
                    <a:pt x="36298" y="0"/>
                    <a:pt x="0" y="12956"/>
                    <a:pt x="0" y="28951"/>
                  </a:cubicBezTo>
                  <a:lnTo>
                    <a:pt x="0" y="46322"/>
                  </a:lnTo>
                  <a:cubicBezTo>
                    <a:pt x="0" y="62318"/>
                    <a:pt x="36298" y="75274"/>
                    <a:pt x="81064" y="75274"/>
                  </a:cubicBezTo>
                  <a:cubicBezTo>
                    <a:pt x="125830" y="75274"/>
                    <a:pt x="162128" y="62318"/>
                    <a:pt x="162128" y="46322"/>
                  </a:cubicBezTo>
                  <a:close/>
                  <a:moveTo>
                    <a:pt x="144214" y="141066"/>
                  </a:moveTo>
                  <a:cubicBezTo>
                    <a:pt x="127241" y="147109"/>
                    <a:pt x="104913" y="150547"/>
                    <a:pt x="81064" y="150547"/>
                  </a:cubicBezTo>
                  <a:cubicBezTo>
                    <a:pt x="57215" y="150547"/>
                    <a:pt x="34886" y="147109"/>
                    <a:pt x="17914" y="141066"/>
                  </a:cubicBezTo>
                  <a:cubicBezTo>
                    <a:pt x="11544" y="138786"/>
                    <a:pt x="5356" y="135927"/>
                    <a:pt x="0" y="132380"/>
                  </a:cubicBezTo>
                  <a:lnTo>
                    <a:pt x="0" y="156337"/>
                  </a:lnTo>
                  <a:cubicBezTo>
                    <a:pt x="0" y="172333"/>
                    <a:pt x="36298" y="185289"/>
                    <a:pt x="81064" y="185289"/>
                  </a:cubicBezTo>
                  <a:cubicBezTo>
                    <a:pt x="125830" y="185289"/>
                    <a:pt x="162128" y="172333"/>
                    <a:pt x="162128" y="156337"/>
                  </a:cubicBezTo>
                  <a:lnTo>
                    <a:pt x="162128" y="132380"/>
                  </a:lnTo>
                  <a:cubicBezTo>
                    <a:pt x="156772" y="135927"/>
                    <a:pt x="150619" y="138786"/>
                    <a:pt x="144214" y="1410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8" name="Text 40"/>
            <p:cNvSpPr/>
            <p:nvPr/>
          </p:nvSpPr>
          <p:spPr>
            <a:xfrm>
              <a:off x="12106" y="2116"/>
              <a:ext cx="640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数据流程设计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9" name="Shape 41"/>
            <p:cNvSpPr/>
            <p:nvPr/>
          </p:nvSpPr>
          <p:spPr>
            <a:xfrm>
              <a:off x="11741" y="2699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0" name="Shape 42"/>
            <p:cNvSpPr/>
            <p:nvPr/>
          </p:nvSpPr>
          <p:spPr>
            <a:xfrm>
              <a:off x="11945" y="2933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67312" y="1505"/>
                  </a:moveTo>
                  <a:cubicBezTo>
                    <a:pt x="71626" y="-492"/>
                    <a:pt x="76605" y="-492"/>
                    <a:pt x="80919" y="1505"/>
                  </a:cubicBezTo>
                  <a:lnTo>
                    <a:pt x="144207" y="30746"/>
                  </a:lnTo>
                  <a:cubicBezTo>
                    <a:pt x="146668" y="31875"/>
                    <a:pt x="148231" y="34336"/>
                    <a:pt x="148231" y="37058"/>
                  </a:cubicBezTo>
                  <a:cubicBezTo>
                    <a:pt x="148231" y="39779"/>
                    <a:pt x="146668" y="42240"/>
                    <a:pt x="144207" y="43369"/>
                  </a:cubicBezTo>
                  <a:lnTo>
                    <a:pt x="80919" y="72610"/>
                  </a:lnTo>
                  <a:cubicBezTo>
                    <a:pt x="76605" y="74608"/>
                    <a:pt x="71626" y="74608"/>
                    <a:pt x="67312" y="72610"/>
                  </a:cubicBezTo>
                  <a:lnTo>
                    <a:pt x="4024" y="43369"/>
                  </a:lnTo>
                  <a:cubicBezTo>
                    <a:pt x="1563" y="42211"/>
                    <a:pt x="0" y="39750"/>
                    <a:pt x="0" y="37058"/>
                  </a:cubicBezTo>
                  <a:cubicBezTo>
                    <a:pt x="0" y="34365"/>
                    <a:pt x="1563" y="31875"/>
                    <a:pt x="4024" y="30746"/>
                  </a:cubicBezTo>
                  <a:lnTo>
                    <a:pt x="67312" y="1505"/>
                  </a:lnTo>
                  <a:close/>
                  <a:moveTo>
                    <a:pt x="13926" y="63230"/>
                  </a:moveTo>
                  <a:lnTo>
                    <a:pt x="61493" y="85204"/>
                  </a:lnTo>
                  <a:cubicBezTo>
                    <a:pt x="69512" y="88910"/>
                    <a:pt x="78748" y="88910"/>
                    <a:pt x="86767" y="85204"/>
                  </a:cubicBezTo>
                  <a:lnTo>
                    <a:pt x="134334" y="63230"/>
                  </a:lnTo>
                  <a:lnTo>
                    <a:pt x="144207" y="67804"/>
                  </a:lnTo>
                  <a:cubicBezTo>
                    <a:pt x="146668" y="68933"/>
                    <a:pt x="148231" y="71394"/>
                    <a:pt x="148231" y="74116"/>
                  </a:cubicBezTo>
                  <a:cubicBezTo>
                    <a:pt x="148231" y="76837"/>
                    <a:pt x="146668" y="79298"/>
                    <a:pt x="144207" y="80427"/>
                  </a:cubicBezTo>
                  <a:lnTo>
                    <a:pt x="80919" y="109668"/>
                  </a:lnTo>
                  <a:cubicBezTo>
                    <a:pt x="76605" y="111665"/>
                    <a:pt x="71626" y="111665"/>
                    <a:pt x="67312" y="109668"/>
                  </a:cubicBezTo>
                  <a:lnTo>
                    <a:pt x="4024" y="80427"/>
                  </a:lnTo>
                  <a:cubicBezTo>
                    <a:pt x="1563" y="79269"/>
                    <a:pt x="0" y="76808"/>
                    <a:pt x="0" y="74116"/>
                  </a:cubicBezTo>
                  <a:cubicBezTo>
                    <a:pt x="0" y="71423"/>
                    <a:pt x="1563" y="68933"/>
                    <a:pt x="4024" y="67804"/>
                  </a:cubicBezTo>
                  <a:lnTo>
                    <a:pt x="13897" y="63230"/>
                  </a:lnTo>
                  <a:close/>
                  <a:moveTo>
                    <a:pt x="4024" y="104862"/>
                  </a:moveTo>
                  <a:lnTo>
                    <a:pt x="13897" y="100288"/>
                  </a:lnTo>
                  <a:lnTo>
                    <a:pt x="61464" y="122262"/>
                  </a:lnTo>
                  <a:cubicBezTo>
                    <a:pt x="69483" y="125967"/>
                    <a:pt x="78719" y="125967"/>
                    <a:pt x="86738" y="122262"/>
                  </a:cubicBezTo>
                  <a:lnTo>
                    <a:pt x="134305" y="100288"/>
                  </a:lnTo>
                  <a:lnTo>
                    <a:pt x="144178" y="104862"/>
                  </a:lnTo>
                  <a:cubicBezTo>
                    <a:pt x="146639" y="105991"/>
                    <a:pt x="148202" y="108452"/>
                    <a:pt x="148202" y="111173"/>
                  </a:cubicBezTo>
                  <a:cubicBezTo>
                    <a:pt x="148202" y="113895"/>
                    <a:pt x="146639" y="116356"/>
                    <a:pt x="144178" y="117485"/>
                  </a:cubicBezTo>
                  <a:lnTo>
                    <a:pt x="80890" y="146726"/>
                  </a:lnTo>
                  <a:cubicBezTo>
                    <a:pt x="76576" y="148723"/>
                    <a:pt x="71597" y="148723"/>
                    <a:pt x="67283" y="146726"/>
                  </a:cubicBezTo>
                  <a:lnTo>
                    <a:pt x="4024" y="117485"/>
                  </a:lnTo>
                  <a:cubicBezTo>
                    <a:pt x="1563" y="116327"/>
                    <a:pt x="0" y="113866"/>
                    <a:pt x="0" y="111173"/>
                  </a:cubicBezTo>
                  <a:cubicBezTo>
                    <a:pt x="0" y="108481"/>
                    <a:pt x="1563" y="105991"/>
                    <a:pt x="4024" y="104862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1" name="Text 43"/>
            <p:cNvSpPr/>
            <p:nvPr/>
          </p:nvSpPr>
          <p:spPr>
            <a:xfrm>
              <a:off x="12324" y="2874"/>
              <a:ext cx="1962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多级缓存机制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44"/>
            <p:cNvSpPr/>
            <p:nvPr/>
          </p:nvSpPr>
          <p:spPr>
            <a:xfrm>
              <a:off x="11916" y="3341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L1内存→L2 Redis→L3 MongoDB,性能提升10倍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Shape 45"/>
            <p:cNvSpPr/>
            <p:nvPr/>
          </p:nvSpPr>
          <p:spPr>
            <a:xfrm>
              <a:off x="11741" y="3925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4" name="Shape 46"/>
            <p:cNvSpPr/>
            <p:nvPr/>
          </p:nvSpPr>
          <p:spPr>
            <a:xfrm>
              <a:off x="11945" y="4158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38737" y="10509"/>
                  </a:moveTo>
                  <a:cubicBezTo>
                    <a:pt x="41893" y="12710"/>
                    <a:pt x="42645" y="17052"/>
                    <a:pt x="40445" y="20179"/>
                  </a:cubicBezTo>
                  <a:lnTo>
                    <a:pt x="24232" y="43340"/>
                  </a:lnTo>
                  <a:cubicBezTo>
                    <a:pt x="23045" y="45019"/>
                    <a:pt x="21192" y="46091"/>
                    <a:pt x="19137" y="46264"/>
                  </a:cubicBezTo>
                  <a:cubicBezTo>
                    <a:pt x="17081" y="46438"/>
                    <a:pt x="15055" y="45743"/>
                    <a:pt x="13607" y="44296"/>
                  </a:cubicBezTo>
                  <a:lnTo>
                    <a:pt x="2027" y="32715"/>
                  </a:lnTo>
                  <a:cubicBezTo>
                    <a:pt x="-666" y="29994"/>
                    <a:pt x="-666" y="25593"/>
                    <a:pt x="2027" y="22872"/>
                  </a:cubicBezTo>
                  <a:cubicBezTo>
                    <a:pt x="4719" y="20150"/>
                    <a:pt x="9149" y="20179"/>
                    <a:pt x="11870" y="22872"/>
                  </a:cubicBezTo>
                  <a:lnTo>
                    <a:pt x="17602" y="28604"/>
                  </a:lnTo>
                  <a:lnTo>
                    <a:pt x="29067" y="12217"/>
                  </a:lnTo>
                  <a:cubicBezTo>
                    <a:pt x="31267" y="9062"/>
                    <a:pt x="35610" y="8309"/>
                    <a:pt x="38737" y="10509"/>
                  </a:cubicBezTo>
                  <a:close/>
                  <a:moveTo>
                    <a:pt x="38737" y="56832"/>
                  </a:moveTo>
                  <a:cubicBezTo>
                    <a:pt x="41893" y="59032"/>
                    <a:pt x="42645" y="63375"/>
                    <a:pt x="40445" y="66501"/>
                  </a:cubicBezTo>
                  <a:lnTo>
                    <a:pt x="24232" y="89662"/>
                  </a:lnTo>
                  <a:cubicBezTo>
                    <a:pt x="23045" y="91342"/>
                    <a:pt x="21192" y="92413"/>
                    <a:pt x="19137" y="92586"/>
                  </a:cubicBezTo>
                  <a:cubicBezTo>
                    <a:pt x="17081" y="92760"/>
                    <a:pt x="15055" y="92065"/>
                    <a:pt x="13607" y="90618"/>
                  </a:cubicBezTo>
                  <a:lnTo>
                    <a:pt x="2027" y="79037"/>
                  </a:lnTo>
                  <a:cubicBezTo>
                    <a:pt x="-695" y="76316"/>
                    <a:pt x="-695" y="71915"/>
                    <a:pt x="2027" y="69223"/>
                  </a:cubicBezTo>
                  <a:cubicBezTo>
                    <a:pt x="4748" y="66530"/>
                    <a:pt x="9149" y="66501"/>
                    <a:pt x="11841" y="69223"/>
                  </a:cubicBezTo>
                  <a:lnTo>
                    <a:pt x="17573" y="74955"/>
                  </a:lnTo>
                  <a:lnTo>
                    <a:pt x="29038" y="58569"/>
                  </a:lnTo>
                  <a:cubicBezTo>
                    <a:pt x="31239" y="55413"/>
                    <a:pt x="35581" y="54660"/>
                    <a:pt x="38708" y="56860"/>
                  </a:cubicBezTo>
                  <a:close/>
                  <a:moveTo>
                    <a:pt x="64851" y="27793"/>
                  </a:moveTo>
                  <a:cubicBezTo>
                    <a:pt x="64851" y="22669"/>
                    <a:pt x="68991" y="18529"/>
                    <a:pt x="74116" y="18529"/>
                  </a:cubicBezTo>
                  <a:lnTo>
                    <a:pt x="138967" y="18529"/>
                  </a:lnTo>
                  <a:cubicBezTo>
                    <a:pt x="144091" y="18529"/>
                    <a:pt x="148231" y="22669"/>
                    <a:pt x="148231" y="27793"/>
                  </a:cubicBezTo>
                  <a:cubicBezTo>
                    <a:pt x="148231" y="32918"/>
                    <a:pt x="144091" y="37058"/>
                    <a:pt x="138967" y="37058"/>
                  </a:cubicBezTo>
                  <a:lnTo>
                    <a:pt x="74116" y="37058"/>
                  </a:lnTo>
                  <a:cubicBezTo>
                    <a:pt x="68991" y="37058"/>
                    <a:pt x="64851" y="32918"/>
                    <a:pt x="64851" y="27793"/>
                  </a:cubicBezTo>
                  <a:close/>
                  <a:moveTo>
                    <a:pt x="64851" y="74116"/>
                  </a:moveTo>
                  <a:cubicBezTo>
                    <a:pt x="64851" y="68991"/>
                    <a:pt x="68991" y="64851"/>
                    <a:pt x="74116" y="64851"/>
                  </a:cubicBezTo>
                  <a:lnTo>
                    <a:pt x="138967" y="64851"/>
                  </a:lnTo>
                  <a:cubicBezTo>
                    <a:pt x="144091" y="64851"/>
                    <a:pt x="148231" y="68991"/>
                    <a:pt x="148231" y="74116"/>
                  </a:cubicBezTo>
                  <a:cubicBezTo>
                    <a:pt x="148231" y="79240"/>
                    <a:pt x="144091" y="83380"/>
                    <a:pt x="138967" y="83380"/>
                  </a:cubicBezTo>
                  <a:lnTo>
                    <a:pt x="74116" y="83380"/>
                  </a:lnTo>
                  <a:cubicBezTo>
                    <a:pt x="68991" y="83380"/>
                    <a:pt x="64851" y="79240"/>
                    <a:pt x="64851" y="74116"/>
                  </a:cubicBezTo>
                  <a:close/>
                  <a:moveTo>
                    <a:pt x="46322" y="120438"/>
                  </a:moveTo>
                  <a:cubicBezTo>
                    <a:pt x="46322" y="115313"/>
                    <a:pt x="50462" y="111173"/>
                    <a:pt x="55587" y="111173"/>
                  </a:cubicBezTo>
                  <a:lnTo>
                    <a:pt x="138967" y="111173"/>
                  </a:lnTo>
                  <a:cubicBezTo>
                    <a:pt x="144091" y="111173"/>
                    <a:pt x="148231" y="115313"/>
                    <a:pt x="148231" y="120438"/>
                  </a:cubicBezTo>
                  <a:cubicBezTo>
                    <a:pt x="148231" y="125562"/>
                    <a:pt x="144091" y="129702"/>
                    <a:pt x="138967" y="129702"/>
                  </a:cubicBezTo>
                  <a:lnTo>
                    <a:pt x="55587" y="129702"/>
                  </a:lnTo>
                  <a:cubicBezTo>
                    <a:pt x="50462" y="129702"/>
                    <a:pt x="46322" y="125562"/>
                    <a:pt x="46322" y="120438"/>
                  </a:cubicBezTo>
                  <a:close/>
                  <a:moveTo>
                    <a:pt x="18529" y="108857"/>
                  </a:moveTo>
                  <a:cubicBezTo>
                    <a:pt x="24920" y="108857"/>
                    <a:pt x="30109" y="114046"/>
                    <a:pt x="30109" y="120438"/>
                  </a:cubicBezTo>
                  <a:cubicBezTo>
                    <a:pt x="30109" y="126829"/>
                    <a:pt x="24920" y="132018"/>
                    <a:pt x="18529" y="132018"/>
                  </a:cubicBezTo>
                  <a:cubicBezTo>
                    <a:pt x="12137" y="132018"/>
                    <a:pt x="6948" y="126829"/>
                    <a:pt x="6948" y="120438"/>
                  </a:cubicBezTo>
                  <a:cubicBezTo>
                    <a:pt x="6948" y="114046"/>
                    <a:pt x="12137" y="108857"/>
                    <a:pt x="18529" y="10885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5" name="Text 47"/>
            <p:cNvSpPr/>
            <p:nvPr/>
          </p:nvSpPr>
          <p:spPr>
            <a:xfrm>
              <a:off x="12324" y="4100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任务队列管理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Text 48"/>
            <p:cNvSpPr/>
            <p:nvPr/>
          </p:nvSpPr>
          <p:spPr>
            <a:xfrm>
              <a:off x="11916" y="4567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Redis队列+Worker进程,支持高并发处理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7" name="Shape 49"/>
            <p:cNvSpPr/>
            <p:nvPr/>
          </p:nvSpPr>
          <p:spPr>
            <a:xfrm>
              <a:off x="11741" y="5150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8" name="Shape 50"/>
            <p:cNvSpPr/>
            <p:nvPr/>
          </p:nvSpPr>
          <p:spPr>
            <a:xfrm>
              <a:off x="11945" y="5384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74116" y="0"/>
                  </a:moveTo>
                  <a:cubicBezTo>
                    <a:pt x="75447" y="0"/>
                    <a:pt x="76779" y="290"/>
                    <a:pt x="77995" y="840"/>
                  </a:cubicBezTo>
                  <a:lnTo>
                    <a:pt x="132539" y="23972"/>
                  </a:lnTo>
                  <a:cubicBezTo>
                    <a:pt x="138909" y="26664"/>
                    <a:pt x="143657" y="32947"/>
                    <a:pt x="143628" y="40532"/>
                  </a:cubicBezTo>
                  <a:cubicBezTo>
                    <a:pt x="143483" y="69252"/>
                    <a:pt x="131671" y="121798"/>
                    <a:pt x="81788" y="145683"/>
                  </a:cubicBezTo>
                  <a:cubicBezTo>
                    <a:pt x="76953" y="147999"/>
                    <a:pt x="71336" y="147999"/>
                    <a:pt x="66501" y="145683"/>
                  </a:cubicBezTo>
                  <a:cubicBezTo>
                    <a:pt x="16589" y="121798"/>
                    <a:pt x="4806" y="69252"/>
                    <a:pt x="4661" y="40532"/>
                  </a:cubicBezTo>
                  <a:cubicBezTo>
                    <a:pt x="4632" y="32947"/>
                    <a:pt x="9380" y="26664"/>
                    <a:pt x="15750" y="23972"/>
                  </a:cubicBezTo>
                  <a:lnTo>
                    <a:pt x="70265" y="840"/>
                  </a:lnTo>
                  <a:cubicBezTo>
                    <a:pt x="71481" y="290"/>
                    <a:pt x="72784" y="0"/>
                    <a:pt x="74116" y="0"/>
                  </a:cubicBezTo>
                  <a:close/>
                  <a:moveTo>
                    <a:pt x="74116" y="19340"/>
                  </a:moveTo>
                  <a:lnTo>
                    <a:pt x="74116" y="128805"/>
                  </a:lnTo>
                  <a:cubicBezTo>
                    <a:pt x="114068" y="109465"/>
                    <a:pt x="124809" y="66617"/>
                    <a:pt x="125070" y="40966"/>
                  </a:cubicBezTo>
                  <a:lnTo>
                    <a:pt x="74116" y="19368"/>
                  </a:lnTo>
                  <a:lnTo>
                    <a:pt x="74116" y="1936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9" name="Text 51"/>
            <p:cNvSpPr/>
            <p:nvPr/>
          </p:nvSpPr>
          <p:spPr>
            <a:xfrm>
              <a:off x="12324" y="5326"/>
              <a:ext cx="218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数据质量保障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52"/>
            <p:cNvSpPr/>
            <p:nvPr/>
          </p:nvSpPr>
          <p:spPr>
            <a:xfrm>
              <a:off x="11916" y="5792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验证→清洗→标准化,降级策略保障可用性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53"/>
            <p:cNvSpPr/>
            <p:nvPr/>
          </p:nvSpPr>
          <p:spPr>
            <a:xfrm>
              <a:off x="11741" y="6376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72" name="Shape 54"/>
            <p:cNvSpPr/>
            <p:nvPr/>
          </p:nvSpPr>
          <p:spPr>
            <a:xfrm>
              <a:off x="11960" y="6609"/>
              <a:ext cx="204" cy="233"/>
            </a:xfrm>
            <a:custGeom>
              <a:avLst/>
              <a:gdLst/>
              <a:ahLst/>
              <a:cxnLst/>
              <a:rect l="l" t="t" r="r" b="b"/>
              <a:pathLst>
                <a:path w="129702" h="148231">
                  <a:moveTo>
                    <a:pt x="98087" y="-2866"/>
                  </a:moveTo>
                  <a:cubicBezTo>
                    <a:pt x="101532" y="-376"/>
                    <a:pt x="102806" y="4140"/>
                    <a:pt x="101243" y="8077"/>
                  </a:cubicBezTo>
                  <a:lnTo>
                    <a:pt x="78545" y="64851"/>
                  </a:lnTo>
                  <a:lnTo>
                    <a:pt x="120438" y="64851"/>
                  </a:lnTo>
                  <a:cubicBezTo>
                    <a:pt x="124346" y="64851"/>
                    <a:pt x="127820" y="67283"/>
                    <a:pt x="129152" y="70960"/>
                  </a:cubicBezTo>
                  <a:cubicBezTo>
                    <a:pt x="130484" y="74637"/>
                    <a:pt x="129355" y="78748"/>
                    <a:pt x="126373" y="81238"/>
                  </a:cubicBezTo>
                  <a:lnTo>
                    <a:pt x="42993" y="150721"/>
                  </a:lnTo>
                  <a:cubicBezTo>
                    <a:pt x="39721" y="153442"/>
                    <a:pt x="35060" y="153587"/>
                    <a:pt x="31615" y="151097"/>
                  </a:cubicBezTo>
                  <a:cubicBezTo>
                    <a:pt x="28170" y="148607"/>
                    <a:pt x="26896" y="144091"/>
                    <a:pt x="28459" y="140154"/>
                  </a:cubicBezTo>
                  <a:lnTo>
                    <a:pt x="51157" y="83380"/>
                  </a:lnTo>
                  <a:lnTo>
                    <a:pt x="9264" y="83380"/>
                  </a:lnTo>
                  <a:cubicBezTo>
                    <a:pt x="5356" y="83380"/>
                    <a:pt x="1882" y="80948"/>
                    <a:pt x="550" y="77271"/>
                  </a:cubicBezTo>
                  <a:cubicBezTo>
                    <a:pt x="-782" y="73594"/>
                    <a:pt x="347" y="69483"/>
                    <a:pt x="3329" y="66993"/>
                  </a:cubicBezTo>
                  <a:lnTo>
                    <a:pt x="86709" y="-2490"/>
                  </a:lnTo>
                  <a:cubicBezTo>
                    <a:pt x="89981" y="-5211"/>
                    <a:pt x="94642" y="-5356"/>
                    <a:pt x="98087" y="-28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73" name="Text 55"/>
            <p:cNvSpPr/>
            <p:nvPr/>
          </p:nvSpPr>
          <p:spPr>
            <a:xfrm>
              <a:off x="12324" y="6551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实时推送机制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Text 56"/>
            <p:cNvSpPr/>
            <p:nvPr/>
          </p:nvSpPr>
          <p:spPr>
            <a:xfrm>
              <a:off x="11916" y="7018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SSE/WebSocket实时推送分析进度和结果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Shape 57"/>
            <p:cNvSpPr/>
            <p:nvPr/>
          </p:nvSpPr>
          <p:spPr>
            <a:xfrm>
              <a:off x="11500" y="7915"/>
              <a:ext cx="7105" cy="2874"/>
            </a:xfrm>
            <a:custGeom>
              <a:avLst/>
              <a:gdLst/>
              <a:ahLst/>
              <a:cxnLst/>
              <a:rect l="l" t="t" r="r" b="b"/>
              <a:pathLst>
                <a:path w="4511781" h="1825094">
                  <a:moveTo>
                    <a:pt x="111166" y="0"/>
                  </a:moveTo>
                  <a:lnTo>
                    <a:pt x="4400615" y="0"/>
                  </a:lnTo>
                  <a:cubicBezTo>
                    <a:pt x="4462010" y="0"/>
                    <a:pt x="4511781" y="49771"/>
                    <a:pt x="4511781" y="111166"/>
                  </a:cubicBezTo>
                  <a:lnTo>
                    <a:pt x="4511781" y="1713928"/>
                  </a:lnTo>
                  <a:cubicBezTo>
                    <a:pt x="4511781" y="1775323"/>
                    <a:pt x="4462010" y="1825094"/>
                    <a:pt x="4400615" y="1825094"/>
                  </a:cubicBezTo>
                  <a:lnTo>
                    <a:pt x="111166" y="1825094"/>
                  </a:lnTo>
                  <a:cubicBezTo>
                    <a:pt x="49771" y="1825094"/>
                    <a:pt x="0" y="1775323"/>
                    <a:pt x="0" y="1713928"/>
                  </a:cubicBezTo>
                  <a:lnTo>
                    <a:pt x="0" y="111166"/>
                  </a:lnTo>
                  <a:cubicBezTo>
                    <a:pt x="0" y="49771"/>
                    <a:pt x="49771" y="0"/>
                    <a:pt x="1111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76" name="Text 58"/>
            <p:cNvSpPr/>
            <p:nvPr/>
          </p:nvSpPr>
          <p:spPr>
            <a:xfrm>
              <a:off x="11675" y="8156"/>
              <a:ext cx="675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技术栈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59"/>
            <p:cNvSpPr/>
            <p:nvPr/>
          </p:nvSpPr>
          <p:spPr>
            <a:xfrm>
              <a:off x="11690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60"/>
            <p:cNvSpPr/>
            <p:nvPr/>
          </p:nvSpPr>
          <p:spPr>
            <a:xfrm>
              <a:off x="11697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前端框架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61"/>
            <p:cNvSpPr/>
            <p:nvPr/>
          </p:nvSpPr>
          <p:spPr>
            <a:xfrm>
              <a:off x="15059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Text 62"/>
            <p:cNvSpPr/>
            <p:nvPr/>
          </p:nvSpPr>
          <p:spPr>
            <a:xfrm>
              <a:off x="15066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后端框架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3"/>
            <p:cNvSpPr/>
            <p:nvPr/>
          </p:nvSpPr>
          <p:spPr>
            <a:xfrm>
              <a:off x="11690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Text 64"/>
            <p:cNvSpPr/>
            <p:nvPr/>
          </p:nvSpPr>
          <p:spPr>
            <a:xfrm>
              <a:off x="11697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主数据库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3" name="Text 65"/>
            <p:cNvSpPr/>
            <p:nvPr/>
          </p:nvSpPr>
          <p:spPr>
            <a:xfrm>
              <a:off x="15059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66"/>
            <p:cNvSpPr/>
            <p:nvPr/>
          </p:nvSpPr>
          <p:spPr>
            <a:xfrm>
              <a:off x="15066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缓存队列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67"/>
            <p:cNvSpPr/>
            <p:nvPr/>
          </p:nvSpPr>
          <p:spPr>
            <a:xfrm>
              <a:off x="11690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LangGraph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68"/>
            <p:cNvSpPr/>
            <p:nvPr/>
          </p:nvSpPr>
          <p:spPr>
            <a:xfrm>
              <a:off x="11697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智能体框架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69"/>
            <p:cNvSpPr/>
            <p:nvPr/>
          </p:nvSpPr>
          <p:spPr>
            <a:xfrm>
              <a:off x="15059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LangChain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70"/>
            <p:cNvSpPr/>
            <p:nvPr/>
          </p:nvSpPr>
          <p:spPr>
            <a:xfrm>
              <a:off x="15066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LLM集成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核心引擎基于TradingAgents框架，集成LangGraph工作流实现智能体协同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228600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智能决策引擎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模块化架构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6770" y="3857625"/>
            <a:ext cx="118300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支持多智能体分工协作，各模块独立运行并协同处理任务。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6770" y="4733925"/>
            <a:ext cx="118681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可扩展设计便于集成新功能组件，适应多样化业务需求。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9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09800" y="3862070"/>
            <a:ext cx="1133475" cy="6623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根据任务优先级与资源状态实时调整执行顺序。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530725"/>
            <a:ext cx="1133475" cy="869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实现负载均衡与高效响应，提升系统整体吞吐能力。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43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可视化流程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3300" y="38576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基于LangGraph展示工作流结构，直观呈现节点关系。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339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精确控制信息传递路径与执行时序，减少逻辑错误。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6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角色交互机制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76800" y="3857625"/>
            <a:ext cx="1146810" cy="878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图结构定义分析师、研究员、风险官等角色的协作规则。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33925"/>
            <a:ext cx="1146810" cy="6686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推动结构化辩论与意见融合，增强决策合理性。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10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并行处理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0300" y="37433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多个分析任务同时执行，显著缩短整体决策周期。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6196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支持异步结果汇聚与冲突检测，保障数据一致性。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43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过程留痕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43800" y="37376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完整记录每一步推理与决策依据，实现全程可追溯。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6139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支持归因分析，快速定位关键影响因素与逻辑节点。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多LLM兼容架构支持OpenAI、DeepSeek、百炼等主流模型灵活切换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39875" y="213741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72796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多模型支持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集成OpenAI、DeepSeek、阿里百炼等主流大模型.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按场景智能调度，兼顾性能与成本。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33875" y="21145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365500" y="27051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动态切换机制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402965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支持运行时动态切换LLM，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适配不同市场与任务需求，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保障分析连续性与稳定性。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127875" y="216598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159500" y="275653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标准化接口设计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652260" y="3138170"/>
            <a:ext cx="2413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抽象统一LLM交互层，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降低耦合度，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便于快速接入新模型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私有化部署环境。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数据流程与智能决策链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聚合Tushare、AKShare、FinnHub等多源数据，构建统一金融知识图谱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多源异构集成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整合Tushare、AKShare、BaoStock等A股数据，Yahoo Finance、FinnHub等美股港股源，实现跨市场统一接入。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数据融合建模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通过标准化清洗与实体对齐，将财务、行情、新闻等多源数据构建为统一金融知识图谱。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智能缓存架构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采用Redis→MongoDB→API三级缓存机制，保障数据实时性与系统高并发下的稳定响应能力。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通过NLP实现新闻事件抽取与社交媒体情绪建模，捕捉非结构化信息价值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事件智能识别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基于NLP技术自动抽取财经新闻中的关键事件，如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并购、政策变动、财报发布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，构建结构化事件知识库。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572000" y="184785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多源情绪聚合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微博、雪球、股吧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等社交平台文本，利用情感分析模型生成实时投资者情绪指数。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影响量化评估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历史市场反应，量化新闻与情绪对股价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波动的潜在影响，识别短期驱动因子。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4572000" y="325755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59721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动态权重融合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59721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在决策链中动态加权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消息面与情绪面信号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，提升对市场拐点和热点轮动的响应能力。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决策层融合分析师观点、风险评估与市场信号，生成可追溯的自然语言报告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987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观点融合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整合多智能体并行分析结果，加权汇总看涨与看跌观点，形成平衡判断。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387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风险校准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引入激进、中性、保守三重风险评估模型，动态调整建议的风险等级。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787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报告生成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基于自然语言生成技术输出结构化报告，支持决策过程全程追溯与解释。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项目定位与核心价值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9144000" cy="56673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4622" r="4622"/>
          <a:stretch>
            <a:fillRect/>
          </a:stretch>
        </p:blipFill>
        <p:spPr>
          <a:xfrm>
            <a:off x="0" y="-114300"/>
            <a:ext cx="9144000" cy="566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3630" y="111125"/>
            <a:ext cx="4350385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定位为AI原生金融分析平台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563880" y="1440180"/>
            <a:ext cx="8382000" cy="36480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963930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AI原生定位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84200" y="1854835"/>
            <a:ext cx="2073910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基于多智能体大语言模型构建AI原生定位，推动金融分析底层架构革新。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该范式融合智能体协同与自然语言理解能力。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实现从技术架构到应用逻辑的全面智能化转型。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2940368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范式智能革新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940685" y="1854835"/>
            <a:ext cx="1706880" cy="13608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推动金融分析从传统模式向智能化范式跃迁。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重构投研流程的底层逻辑与执行效率。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实现系统自主演进与动态优化能力。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4916805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量化人工融合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4916805" y="1854835"/>
            <a:ext cx="1857375" cy="13919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结合量化系统的高效执行与人工投研的深度洞察。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形成优势互补的混合增强智能。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提升策略生成的质量与适应性。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893243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可解释中间路径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043420" y="1818005"/>
            <a:ext cx="1826260" cy="13417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开创兼具智能水平与可解释性的分析路径。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填补规则驱动与经验驱动间的空白。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增强模型决策的透明性与可信度。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963930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智能协同机制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2940368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4916805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打破黑箱局限</a:t>
            </a:r>
            <a:endParaRPr lang="en-US" sz="12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6893243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决策透明升级</a:t>
            </a:r>
            <a:endParaRPr lang="en-US" sz="1200" dirty="0"/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7042785" y="3869055"/>
            <a:ext cx="177609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全面提升投研决策的可追溯性与可控性。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强化人机协同中的主导权与监督力。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推动金融AI向负责任方向发展。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2"/>
          <p:cNvSpPr/>
          <p:nvPr>
            <p:custDataLst>
              <p:tags r:id="rId20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14"/>
          <p:cNvSpPr/>
          <p:nvPr>
            <p:custDataLst>
              <p:tags r:id="rId21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16"/>
          <p:cNvSpPr/>
          <p:nvPr>
            <p:custDataLst>
              <p:tags r:id="rId22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24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3895" y="709295"/>
            <a:ext cx="7024370" cy="495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填补传统量化与人工投研之间的能力鸿沟</a:t>
            </a:r>
            <a:endParaRPr lang="en-US" alt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342941" y="167567"/>
            <a:ext cx="8801370" cy="5047123"/>
            <a:chOff x="540" y="286"/>
            <a:chExt cx="18115" cy="10205"/>
          </a:xfrm>
        </p:grpSpPr>
        <p:sp>
          <p:nvSpPr>
            <p:cNvPr id="15" name="Shape 0"/>
            <p:cNvSpPr/>
            <p:nvPr/>
          </p:nvSpPr>
          <p:spPr>
            <a:xfrm>
              <a:off x="540" y="594"/>
              <a:ext cx="54" cy="432"/>
            </a:xfrm>
            <a:custGeom>
              <a:avLst/>
              <a:gdLst/>
              <a:ahLst/>
              <a:cxnLst/>
              <a:rect l="l" t="t" r="r" b="b"/>
              <a:pathLst>
                <a:path w="34295" h="274363">
                  <a:moveTo>
                    <a:pt x="0" y="0"/>
                  </a:moveTo>
                  <a:lnTo>
                    <a:pt x="34295" y="0"/>
                  </a:lnTo>
                  <a:lnTo>
                    <a:pt x="34295" y="274363"/>
                  </a:lnTo>
                  <a:lnTo>
                    <a:pt x="0" y="27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6" name="Text 1"/>
            <p:cNvSpPr/>
            <p:nvPr/>
          </p:nvSpPr>
          <p:spPr>
            <a:xfrm>
              <a:off x="6324" y="286"/>
              <a:ext cx="6481" cy="5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43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四大核心业务能力</a:t>
              </a:r>
              <a:endParaRPr lang="en-US" sz="243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Shape 3"/>
            <p:cNvSpPr/>
            <p:nvPr/>
          </p:nvSpPr>
          <p:spPr>
            <a:xfrm>
              <a:off x="547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19" name="Shape 4"/>
            <p:cNvSpPr/>
            <p:nvPr/>
          </p:nvSpPr>
          <p:spPr>
            <a:xfrm>
              <a:off x="770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20" name="Shape 5"/>
            <p:cNvSpPr/>
            <p:nvPr/>
          </p:nvSpPr>
          <p:spPr>
            <a:xfrm>
              <a:off x="932" y="2120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12861" y="12861"/>
                  </a:moveTo>
                  <a:cubicBezTo>
                    <a:pt x="19974" y="12861"/>
                    <a:pt x="25722" y="18608"/>
                    <a:pt x="25722" y="25722"/>
                  </a:cubicBezTo>
                  <a:lnTo>
                    <a:pt x="25722" y="160759"/>
                  </a:lnTo>
                  <a:cubicBezTo>
                    <a:pt x="25722" y="164296"/>
                    <a:pt x="28615" y="167190"/>
                    <a:pt x="32152" y="167190"/>
                  </a:cubicBezTo>
                  <a:lnTo>
                    <a:pt x="192911" y="167190"/>
                  </a:lnTo>
                  <a:cubicBezTo>
                    <a:pt x="200025" y="167190"/>
                    <a:pt x="205772" y="172937"/>
                    <a:pt x="205772" y="180051"/>
                  </a:cubicBezTo>
                  <a:cubicBezTo>
                    <a:pt x="205772" y="187164"/>
                    <a:pt x="200025" y="192911"/>
                    <a:pt x="192911" y="192911"/>
                  </a:cubicBezTo>
                  <a:lnTo>
                    <a:pt x="32152" y="192911"/>
                  </a:lnTo>
                  <a:cubicBezTo>
                    <a:pt x="14388" y="192911"/>
                    <a:pt x="0" y="178523"/>
                    <a:pt x="0" y="160759"/>
                  </a:cubicBezTo>
                  <a:lnTo>
                    <a:pt x="0" y="25722"/>
                  </a:lnTo>
                  <a:cubicBezTo>
                    <a:pt x="0" y="18608"/>
                    <a:pt x="5747" y="12861"/>
                    <a:pt x="12861" y="12861"/>
                  </a:cubicBezTo>
                  <a:close/>
                  <a:moveTo>
                    <a:pt x="51443" y="38582"/>
                  </a:moveTo>
                  <a:cubicBezTo>
                    <a:pt x="51443" y="31469"/>
                    <a:pt x="57190" y="25722"/>
                    <a:pt x="64304" y="25722"/>
                  </a:cubicBezTo>
                  <a:lnTo>
                    <a:pt x="141468" y="25722"/>
                  </a:lnTo>
                  <a:cubicBezTo>
                    <a:pt x="148582" y="25722"/>
                    <a:pt x="154329" y="31469"/>
                    <a:pt x="154329" y="38582"/>
                  </a:cubicBezTo>
                  <a:cubicBezTo>
                    <a:pt x="154329" y="45696"/>
                    <a:pt x="148582" y="51443"/>
                    <a:pt x="141468" y="51443"/>
                  </a:cubicBezTo>
                  <a:lnTo>
                    <a:pt x="64304" y="51443"/>
                  </a:lnTo>
                  <a:cubicBezTo>
                    <a:pt x="57190" y="51443"/>
                    <a:pt x="51443" y="45696"/>
                    <a:pt x="51443" y="38582"/>
                  </a:cubicBezTo>
                  <a:close/>
                  <a:moveTo>
                    <a:pt x="64304" y="70734"/>
                  </a:moveTo>
                  <a:lnTo>
                    <a:pt x="115747" y="70734"/>
                  </a:lnTo>
                  <a:cubicBezTo>
                    <a:pt x="122860" y="70734"/>
                    <a:pt x="128608" y="76481"/>
                    <a:pt x="128608" y="83595"/>
                  </a:cubicBezTo>
                  <a:cubicBezTo>
                    <a:pt x="128608" y="90709"/>
                    <a:pt x="122860" y="96456"/>
                    <a:pt x="115747" y="96456"/>
                  </a:cubicBezTo>
                  <a:lnTo>
                    <a:pt x="64304" y="96456"/>
                  </a:lnTo>
                  <a:cubicBezTo>
                    <a:pt x="57190" y="96456"/>
                    <a:pt x="51443" y="90709"/>
                    <a:pt x="51443" y="83595"/>
                  </a:cubicBezTo>
                  <a:cubicBezTo>
                    <a:pt x="51443" y="76481"/>
                    <a:pt x="57190" y="70734"/>
                    <a:pt x="64304" y="70734"/>
                  </a:cubicBezTo>
                  <a:close/>
                  <a:moveTo>
                    <a:pt x="64304" y="115747"/>
                  </a:moveTo>
                  <a:lnTo>
                    <a:pt x="167190" y="115747"/>
                  </a:lnTo>
                  <a:cubicBezTo>
                    <a:pt x="174303" y="115747"/>
                    <a:pt x="180051" y="121494"/>
                    <a:pt x="180051" y="128608"/>
                  </a:cubicBezTo>
                  <a:cubicBezTo>
                    <a:pt x="180051" y="135721"/>
                    <a:pt x="174303" y="141468"/>
                    <a:pt x="167190" y="141468"/>
                  </a:cubicBezTo>
                  <a:lnTo>
                    <a:pt x="64304" y="141468"/>
                  </a:lnTo>
                  <a:cubicBezTo>
                    <a:pt x="57190" y="141468"/>
                    <a:pt x="51443" y="135721"/>
                    <a:pt x="51443" y="128608"/>
                  </a:cubicBezTo>
                  <a:cubicBezTo>
                    <a:pt x="51443" y="121494"/>
                    <a:pt x="57190" y="115747"/>
                    <a:pt x="64304" y="11574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Text 6"/>
            <p:cNvSpPr/>
            <p:nvPr/>
          </p:nvSpPr>
          <p:spPr>
            <a:xfrm>
              <a:off x="1580" y="2093"/>
              <a:ext cx="2896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智能分析能力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7"/>
            <p:cNvSpPr/>
            <p:nvPr/>
          </p:nvSpPr>
          <p:spPr>
            <a:xfrm>
              <a:off x="770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23" name="Shape 8"/>
            <p:cNvSpPr/>
            <p:nvPr/>
          </p:nvSpPr>
          <p:spPr>
            <a:xfrm>
              <a:off x="1013" y="2876"/>
              <a:ext cx="162" cy="216"/>
            </a:xfrm>
            <a:custGeom>
              <a:avLst/>
              <a:gdLst/>
              <a:ahLst/>
              <a:cxnLst/>
              <a:rect l="l" t="t" r="r" b="b"/>
              <a:pathLst>
                <a:path w="102886" h="137181">
                  <a:moveTo>
                    <a:pt x="17148" y="0"/>
                  </a:moveTo>
                  <a:cubicBezTo>
                    <a:pt x="7690" y="0"/>
                    <a:pt x="0" y="7690"/>
                    <a:pt x="0" y="17148"/>
                  </a:cubicBezTo>
                  <a:lnTo>
                    <a:pt x="0" y="120034"/>
                  </a:lnTo>
                  <a:cubicBezTo>
                    <a:pt x="0" y="129492"/>
                    <a:pt x="7690" y="137181"/>
                    <a:pt x="17148" y="137181"/>
                  </a:cubicBezTo>
                  <a:lnTo>
                    <a:pt x="85738" y="137181"/>
                  </a:lnTo>
                  <a:cubicBezTo>
                    <a:pt x="95196" y="137181"/>
                    <a:pt x="102886" y="129492"/>
                    <a:pt x="102886" y="120034"/>
                  </a:cubicBezTo>
                  <a:lnTo>
                    <a:pt x="102886" y="17148"/>
                  </a:lnTo>
                  <a:cubicBezTo>
                    <a:pt x="102886" y="7690"/>
                    <a:pt x="95196" y="0"/>
                    <a:pt x="85738" y="0"/>
                  </a:cubicBezTo>
                  <a:lnTo>
                    <a:pt x="17148" y="0"/>
                  </a:lnTo>
                  <a:close/>
                  <a:moveTo>
                    <a:pt x="47156" y="94312"/>
                  </a:moveTo>
                  <a:lnTo>
                    <a:pt x="55730" y="94312"/>
                  </a:lnTo>
                  <a:cubicBezTo>
                    <a:pt x="60472" y="94312"/>
                    <a:pt x="64304" y="98144"/>
                    <a:pt x="64304" y="102886"/>
                  </a:cubicBezTo>
                  <a:lnTo>
                    <a:pt x="64304" y="124321"/>
                  </a:lnTo>
                  <a:lnTo>
                    <a:pt x="38582" y="124321"/>
                  </a:lnTo>
                  <a:lnTo>
                    <a:pt x="38582" y="102886"/>
                  </a:lnTo>
                  <a:cubicBezTo>
                    <a:pt x="38582" y="98144"/>
                    <a:pt x="42414" y="94312"/>
                    <a:pt x="47156" y="94312"/>
                  </a:cubicBezTo>
                  <a:close/>
                  <a:moveTo>
                    <a:pt x="25722" y="30008"/>
                  </a:moveTo>
                  <a:cubicBezTo>
                    <a:pt x="25722" y="27651"/>
                    <a:pt x="27651" y="25722"/>
                    <a:pt x="30008" y="25722"/>
                  </a:cubicBezTo>
                  <a:lnTo>
                    <a:pt x="38582" y="25722"/>
                  </a:lnTo>
                  <a:cubicBezTo>
                    <a:pt x="40940" y="25722"/>
                    <a:pt x="42869" y="27651"/>
                    <a:pt x="42869" y="30008"/>
                  </a:cubicBezTo>
                  <a:lnTo>
                    <a:pt x="42869" y="38582"/>
                  </a:lnTo>
                  <a:cubicBezTo>
                    <a:pt x="42869" y="40940"/>
                    <a:pt x="40940" y="42869"/>
                    <a:pt x="38582" y="42869"/>
                  </a:cubicBezTo>
                  <a:lnTo>
                    <a:pt x="30008" y="42869"/>
                  </a:lnTo>
                  <a:cubicBezTo>
                    <a:pt x="27651" y="42869"/>
                    <a:pt x="25722" y="40940"/>
                    <a:pt x="25722" y="38582"/>
                  </a:cubicBezTo>
                  <a:lnTo>
                    <a:pt x="25722" y="30008"/>
                  </a:lnTo>
                  <a:close/>
                  <a:moveTo>
                    <a:pt x="64304" y="25722"/>
                  </a:moveTo>
                  <a:lnTo>
                    <a:pt x="72878" y="25722"/>
                  </a:lnTo>
                  <a:cubicBezTo>
                    <a:pt x="75235" y="25722"/>
                    <a:pt x="77165" y="27651"/>
                    <a:pt x="77165" y="30008"/>
                  </a:cubicBezTo>
                  <a:lnTo>
                    <a:pt x="77165" y="38582"/>
                  </a:lnTo>
                  <a:cubicBezTo>
                    <a:pt x="77165" y="40940"/>
                    <a:pt x="75235" y="42869"/>
                    <a:pt x="72878" y="42869"/>
                  </a:cubicBezTo>
                  <a:lnTo>
                    <a:pt x="64304" y="42869"/>
                  </a:lnTo>
                  <a:cubicBezTo>
                    <a:pt x="61946" y="42869"/>
                    <a:pt x="60017" y="40940"/>
                    <a:pt x="60017" y="38582"/>
                  </a:cubicBezTo>
                  <a:lnTo>
                    <a:pt x="60017" y="30008"/>
                  </a:lnTo>
                  <a:cubicBezTo>
                    <a:pt x="60017" y="27651"/>
                    <a:pt x="61946" y="25722"/>
                    <a:pt x="64304" y="25722"/>
                  </a:cubicBezTo>
                  <a:close/>
                  <a:moveTo>
                    <a:pt x="25722" y="64304"/>
                  </a:moveTo>
                  <a:cubicBezTo>
                    <a:pt x="25722" y="61946"/>
                    <a:pt x="27651" y="60017"/>
                    <a:pt x="30008" y="60017"/>
                  </a:cubicBezTo>
                  <a:lnTo>
                    <a:pt x="38582" y="60017"/>
                  </a:lnTo>
                  <a:cubicBezTo>
                    <a:pt x="40940" y="60017"/>
                    <a:pt x="42869" y="61946"/>
                    <a:pt x="42869" y="64304"/>
                  </a:cubicBezTo>
                  <a:lnTo>
                    <a:pt x="42869" y="72878"/>
                  </a:lnTo>
                  <a:cubicBezTo>
                    <a:pt x="42869" y="75235"/>
                    <a:pt x="40940" y="77165"/>
                    <a:pt x="38582" y="77165"/>
                  </a:cubicBezTo>
                  <a:lnTo>
                    <a:pt x="30008" y="77165"/>
                  </a:lnTo>
                  <a:cubicBezTo>
                    <a:pt x="27651" y="77165"/>
                    <a:pt x="25722" y="75235"/>
                    <a:pt x="25722" y="72878"/>
                  </a:cubicBezTo>
                  <a:lnTo>
                    <a:pt x="25722" y="64304"/>
                  </a:lnTo>
                  <a:close/>
                  <a:moveTo>
                    <a:pt x="64304" y="60017"/>
                  </a:moveTo>
                  <a:lnTo>
                    <a:pt x="72878" y="60017"/>
                  </a:lnTo>
                  <a:cubicBezTo>
                    <a:pt x="75235" y="60017"/>
                    <a:pt x="77165" y="61946"/>
                    <a:pt x="77165" y="64304"/>
                  </a:cubicBezTo>
                  <a:lnTo>
                    <a:pt x="77165" y="72878"/>
                  </a:lnTo>
                  <a:cubicBezTo>
                    <a:pt x="77165" y="75235"/>
                    <a:pt x="75235" y="77165"/>
                    <a:pt x="72878" y="77165"/>
                  </a:cubicBezTo>
                  <a:lnTo>
                    <a:pt x="64304" y="77165"/>
                  </a:lnTo>
                  <a:cubicBezTo>
                    <a:pt x="61946" y="77165"/>
                    <a:pt x="60017" y="75235"/>
                    <a:pt x="60017" y="72878"/>
                  </a:cubicBezTo>
                  <a:lnTo>
                    <a:pt x="60017" y="64304"/>
                  </a:lnTo>
                  <a:cubicBezTo>
                    <a:pt x="60017" y="61946"/>
                    <a:pt x="61946" y="60017"/>
                    <a:pt x="64304" y="6001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9"/>
            <p:cNvSpPr/>
            <p:nvPr/>
          </p:nvSpPr>
          <p:spPr>
            <a:xfrm>
              <a:off x="1256" y="2849"/>
              <a:ext cx="391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基本面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识别价值投资机会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5" name="Text 10"/>
            <p:cNvSpPr/>
            <p:nvPr/>
          </p:nvSpPr>
          <p:spPr>
            <a:xfrm>
              <a:off x="932" y="3362"/>
              <a:ext cx="3969" cy="4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财务数据深度分析、估值模型、盈利能力评估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11"/>
            <p:cNvSpPr/>
            <p:nvPr/>
          </p:nvSpPr>
          <p:spPr>
            <a:xfrm>
              <a:off x="932" y="396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12"/>
            <p:cNvSpPr/>
            <p:nvPr/>
          </p:nvSpPr>
          <p:spPr>
            <a:xfrm>
              <a:off x="5071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Shape 13"/>
            <p:cNvSpPr/>
            <p:nvPr/>
          </p:nvSpPr>
          <p:spPr>
            <a:xfrm>
              <a:off x="5260" y="2984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17148" y="17148"/>
                  </a:moveTo>
                  <a:cubicBezTo>
                    <a:pt x="17148" y="12405"/>
                    <a:pt x="13316" y="8574"/>
                    <a:pt x="8574" y="8574"/>
                  </a:cubicBezTo>
                  <a:cubicBezTo>
                    <a:pt x="3831" y="8574"/>
                    <a:pt x="0" y="12405"/>
                    <a:pt x="0" y="17148"/>
                  </a:cubicBezTo>
                  <a:lnTo>
                    <a:pt x="0" y="107173"/>
                  </a:lnTo>
                  <a:cubicBezTo>
                    <a:pt x="0" y="119016"/>
                    <a:pt x="9592" y="128608"/>
                    <a:pt x="21435" y="128608"/>
                  </a:cubicBezTo>
                  <a:lnTo>
                    <a:pt x="128608" y="128608"/>
                  </a:lnTo>
                  <a:cubicBezTo>
                    <a:pt x="133350" y="128608"/>
                    <a:pt x="137181" y="124776"/>
                    <a:pt x="137181" y="120034"/>
                  </a:cubicBezTo>
                  <a:cubicBezTo>
                    <a:pt x="137181" y="115291"/>
                    <a:pt x="133350" y="111460"/>
                    <a:pt x="128608" y="111460"/>
                  </a:cubicBezTo>
                  <a:lnTo>
                    <a:pt x="21435" y="111460"/>
                  </a:lnTo>
                  <a:cubicBezTo>
                    <a:pt x="19077" y="111460"/>
                    <a:pt x="17148" y="109531"/>
                    <a:pt x="17148" y="107173"/>
                  </a:cubicBezTo>
                  <a:lnTo>
                    <a:pt x="17148" y="17148"/>
                  </a:lnTo>
                  <a:close/>
                  <a:moveTo>
                    <a:pt x="126089" y="40351"/>
                  </a:moveTo>
                  <a:cubicBezTo>
                    <a:pt x="129438" y="37001"/>
                    <a:pt x="129438" y="31562"/>
                    <a:pt x="126089" y="28213"/>
                  </a:cubicBezTo>
                  <a:cubicBezTo>
                    <a:pt x="122740" y="24864"/>
                    <a:pt x="117301" y="24864"/>
                    <a:pt x="113952" y="28213"/>
                  </a:cubicBezTo>
                  <a:lnTo>
                    <a:pt x="85738" y="56453"/>
                  </a:lnTo>
                  <a:lnTo>
                    <a:pt x="70359" y="41101"/>
                  </a:lnTo>
                  <a:cubicBezTo>
                    <a:pt x="67010" y="37752"/>
                    <a:pt x="61571" y="37752"/>
                    <a:pt x="58222" y="41101"/>
                  </a:cubicBezTo>
                  <a:lnTo>
                    <a:pt x="32500" y="66822"/>
                  </a:lnTo>
                  <a:cubicBezTo>
                    <a:pt x="29151" y="70172"/>
                    <a:pt x="29151" y="75611"/>
                    <a:pt x="32500" y="78960"/>
                  </a:cubicBezTo>
                  <a:cubicBezTo>
                    <a:pt x="35849" y="82309"/>
                    <a:pt x="41288" y="82309"/>
                    <a:pt x="44638" y="78960"/>
                  </a:cubicBezTo>
                  <a:lnTo>
                    <a:pt x="64304" y="59293"/>
                  </a:lnTo>
                  <a:lnTo>
                    <a:pt x="79683" y="74673"/>
                  </a:lnTo>
                  <a:cubicBezTo>
                    <a:pt x="83032" y="78022"/>
                    <a:pt x="88471" y="78022"/>
                    <a:pt x="91820" y="74673"/>
                  </a:cubicBezTo>
                  <a:lnTo>
                    <a:pt x="126116" y="403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29" name="Text 14"/>
            <p:cNvSpPr/>
            <p:nvPr/>
          </p:nvSpPr>
          <p:spPr>
            <a:xfrm>
              <a:off x="5611" y="2930"/>
              <a:ext cx="373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把握买卖时机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Text 15"/>
            <p:cNvSpPr/>
            <p:nvPr/>
          </p:nvSpPr>
          <p:spPr>
            <a:xfrm>
              <a:off x="5233" y="3362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技术指标计算、趋势识别、交易信号生成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6"/>
            <p:cNvSpPr/>
            <p:nvPr/>
          </p:nvSpPr>
          <p:spPr>
            <a:xfrm>
              <a:off x="5246" y="394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7"/>
            <p:cNvSpPr/>
            <p:nvPr/>
          </p:nvSpPr>
          <p:spPr>
            <a:xfrm>
              <a:off x="770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3" name="Shape 18"/>
            <p:cNvSpPr/>
            <p:nvPr/>
          </p:nvSpPr>
          <p:spPr>
            <a:xfrm>
              <a:off x="959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0" y="111460"/>
                  </a:moveTo>
                  <a:lnTo>
                    <a:pt x="0" y="32152"/>
                  </a:lnTo>
                  <a:cubicBezTo>
                    <a:pt x="0" y="28588"/>
                    <a:pt x="2867" y="25722"/>
                    <a:pt x="6430" y="25722"/>
                  </a:cubicBezTo>
                  <a:cubicBezTo>
                    <a:pt x="9994" y="25722"/>
                    <a:pt x="12861" y="28588"/>
                    <a:pt x="12861" y="32152"/>
                  </a:cubicBezTo>
                  <a:lnTo>
                    <a:pt x="12861" y="109316"/>
                  </a:lnTo>
                  <a:cubicBezTo>
                    <a:pt x="12861" y="112880"/>
                    <a:pt x="15728" y="115747"/>
                    <a:pt x="19291" y="115747"/>
                  </a:cubicBezTo>
                  <a:cubicBezTo>
                    <a:pt x="22855" y="115747"/>
                    <a:pt x="25722" y="112880"/>
                    <a:pt x="25722" y="109316"/>
                  </a:cubicBezTo>
                  <a:lnTo>
                    <a:pt x="25722" y="25722"/>
                  </a:lnTo>
                  <a:cubicBezTo>
                    <a:pt x="25722" y="16264"/>
                    <a:pt x="33411" y="8574"/>
                    <a:pt x="42869" y="8574"/>
                  </a:cubicBezTo>
                  <a:lnTo>
                    <a:pt x="120034" y="8574"/>
                  </a:lnTo>
                  <a:cubicBezTo>
                    <a:pt x="129492" y="8574"/>
                    <a:pt x="137181" y="16264"/>
                    <a:pt x="137181" y="25722"/>
                  </a:cubicBezTo>
                  <a:lnTo>
                    <a:pt x="137181" y="111460"/>
                  </a:lnTo>
                  <a:cubicBezTo>
                    <a:pt x="137181" y="120918"/>
                    <a:pt x="129492" y="128608"/>
                    <a:pt x="120034" y="128608"/>
                  </a:cubicBezTo>
                  <a:lnTo>
                    <a:pt x="17148" y="128608"/>
                  </a:lnTo>
                  <a:cubicBezTo>
                    <a:pt x="7690" y="128608"/>
                    <a:pt x="0" y="120918"/>
                    <a:pt x="0" y="111460"/>
                  </a:cubicBezTo>
                  <a:close/>
                  <a:moveTo>
                    <a:pt x="42869" y="34295"/>
                  </a:moveTo>
                  <a:lnTo>
                    <a:pt x="42869" y="51443"/>
                  </a:lnTo>
                  <a:cubicBezTo>
                    <a:pt x="42869" y="56185"/>
                    <a:pt x="46701" y="60017"/>
                    <a:pt x="51443" y="60017"/>
                  </a:cubicBezTo>
                  <a:lnTo>
                    <a:pt x="68591" y="60017"/>
                  </a:lnTo>
                  <a:cubicBezTo>
                    <a:pt x="73333" y="60017"/>
                    <a:pt x="77165" y="56185"/>
                    <a:pt x="77165" y="51443"/>
                  </a:cubicBezTo>
                  <a:lnTo>
                    <a:pt x="77165" y="34295"/>
                  </a:lnTo>
                  <a:cubicBezTo>
                    <a:pt x="77165" y="29553"/>
                    <a:pt x="73333" y="25722"/>
                    <a:pt x="68591" y="25722"/>
                  </a:cubicBezTo>
                  <a:lnTo>
                    <a:pt x="51443" y="25722"/>
                  </a:lnTo>
                  <a:cubicBezTo>
                    <a:pt x="46701" y="25722"/>
                    <a:pt x="42869" y="29553"/>
                    <a:pt x="42869" y="34295"/>
                  </a:cubicBezTo>
                  <a:close/>
                  <a:moveTo>
                    <a:pt x="49300" y="98599"/>
                  </a:moveTo>
                  <a:cubicBezTo>
                    <a:pt x="45736" y="98599"/>
                    <a:pt x="42869" y="101466"/>
                    <a:pt x="42869" y="105030"/>
                  </a:cubicBezTo>
                  <a:cubicBezTo>
                    <a:pt x="42869" y="108593"/>
                    <a:pt x="45736" y="111460"/>
                    <a:pt x="49300" y="111460"/>
                  </a:cubicBezTo>
                  <a:lnTo>
                    <a:pt x="113603" y="111460"/>
                  </a:lnTo>
                  <a:cubicBezTo>
                    <a:pt x="117167" y="111460"/>
                    <a:pt x="120034" y="108593"/>
                    <a:pt x="120034" y="105030"/>
                  </a:cubicBezTo>
                  <a:cubicBezTo>
                    <a:pt x="120034" y="101466"/>
                    <a:pt x="117167" y="98599"/>
                    <a:pt x="113603" y="98599"/>
                  </a:cubicBezTo>
                  <a:lnTo>
                    <a:pt x="49300" y="98599"/>
                  </a:lnTo>
                  <a:close/>
                  <a:moveTo>
                    <a:pt x="42869" y="79308"/>
                  </a:moveTo>
                  <a:cubicBezTo>
                    <a:pt x="42869" y="82872"/>
                    <a:pt x="45736" y="85738"/>
                    <a:pt x="49300" y="85738"/>
                  </a:cubicBezTo>
                  <a:lnTo>
                    <a:pt x="113603" y="85738"/>
                  </a:lnTo>
                  <a:cubicBezTo>
                    <a:pt x="117167" y="85738"/>
                    <a:pt x="120034" y="82872"/>
                    <a:pt x="120034" y="79308"/>
                  </a:cubicBezTo>
                  <a:cubicBezTo>
                    <a:pt x="120034" y="75745"/>
                    <a:pt x="117167" y="72878"/>
                    <a:pt x="113603" y="72878"/>
                  </a:cubicBezTo>
                  <a:lnTo>
                    <a:pt x="49300" y="72878"/>
                  </a:lnTo>
                  <a:cubicBezTo>
                    <a:pt x="45736" y="72878"/>
                    <a:pt x="42869" y="75745"/>
                    <a:pt x="42869" y="79308"/>
                  </a:cubicBezTo>
                  <a:close/>
                  <a:moveTo>
                    <a:pt x="96456" y="47156"/>
                  </a:moveTo>
                  <a:cubicBezTo>
                    <a:pt x="92892" y="47156"/>
                    <a:pt x="90025" y="50023"/>
                    <a:pt x="90025" y="53586"/>
                  </a:cubicBezTo>
                  <a:cubicBezTo>
                    <a:pt x="90025" y="57150"/>
                    <a:pt x="92892" y="60017"/>
                    <a:pt x="96456" y="60017"/>
                  </a:cubicBezTo>
                  <a:lnTo>
                    <a:pt x="113603" y="60017"/>
                  </a:lnTo>
                  <a:cubicBezTo>
                    <a:pt x="117167" y="60017"/>
                    <a:pt x="120034" y="57150"/>
                    <a:pt x="120034" y="53586"/>
                  </a:cubicBezTo>
                  <a:cubicBezTo>
                    <a:pt x="120034" y="50023"/>
                    <a:pt x="117167" y="47156"/>
                    <a:pt x="113603" y="47156"/>
                  </a:cubicBezTo>
                  <a:lnTo>
                    <a:pt x="96456" y="47156"/>
                  </a:ln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34" name="Text 19"/>
            <p:cNvSpPr/>
            <p:nvPr/>
          </p:nvSpPr>
          <p:spPr>
            <a:xfrm>
              <a:off x="1310" y="4425"/>
              <a:ext cx="3505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消息面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捕捉市场热点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20"/>
            <p:cNvSpPr/>
            <p:nvPr/>
          </p:nvSpPr>
          <p:spPr>
            <a:xfrm>
              <a:off x="932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新闻事件监控、情绪分析、影响评估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7" name="Shape 22"/>
            <p:cNvSpPr/>
            <p:nvPr/>
          </p:nvSpPr>
          <p:spPr>
            <a:xfrm>
              <a:off x="5071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8" name="Shape 23"/>
            <p:cNvSpPr/>
            <p:nvPr/>
          </p:nvSpPr>
          <p:spPr>
            <a:xfrm>
              <a:off x="5260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68591" y="137181"/>
                  </a:moveTo>
                  <a:cubicBezTo>
                    <a:pt x="106447" y="137181"/>
                    <a:pt x="137181" y="106447"/>
                    <a:pt x="137181" y="68591"/>
                  </a:cubicBezTo>
                  <a:cubicBezTo>
                    <a:pt x="137181" y="30734"/>
                    <a:pt x="106447" y="0"/>
                    <a:pt x="68591" y="0"/>
                  </a:cubicBezTo>
                  <a:cubicBezTo>
                    <a:pt x="30734" y="0"/>
                    <a:pt x="0" y="30734"/>
                    <a:pt x="0" y="68591"/>
                  </a:cubicBezTo>
                  <a:cubicBezTo>
                    <a:pt x="0" y="106447"/>
                    <a:pt x="30734" y="137181"/>
                    <a:pt x="68591" y="137181"/>
                  </a:cubicBezTo>
                  <a:close/>
                  <a:moveTo>
                    <a:pt x="44316" y="86247"/>
                  </a:moveTo>
                  <a:cubicBezTo>
                    <a:pt x="49782" y="93750"/>
                    <a:pt x="58624" y="98599"/>
                    <a:pt x="68591" y="98599"/>
                  </a:cubicBezTo>
                  <a:cubicBezTo>
                    <a:pt x="78558" y="98599"/>
                    <a:pt x="87400" y="93750"/>
                    <a:pt x="92865" y="86247"/>
                  </a:cubicBezTo>
                  <a:cubicBezTo>
                    <a:pt x="94955" y="83381"/>
                    <a:pt x="98974" y="82738"/>
                    <a:pt x="101841" y="84827"/>
                  </a:cubicBezTo>
                  <a:cubicBezTo>
                    <a:pt x="104708" y="86917"/>
                    <a:pt x="105351" y="90936"/>
                    <a:pt x="103261" y="93803"/>
                  </a:cubicBezTo>
                  <a:cubicBezTo>
                    <a:pt x="95464" y="104494"/>
                    <a:pt x="82845" y="111460"/>
                    <a:pt x="68591" y="111460"/>
                  </a:cubicBezTo>
                  <a:cubicBezTo>
                    <a:pt x="54337" y="111460"/>
                    <a:pt x="41717" y="104494"/>
                    <a:pt x="33920" y="93803"/>
                  </a:cubicBezTo>
                  <a:cubicBezTo>
                    <a:pt x="31830" y="90936"/>
                    <a:pt x="32473" y="86917"/>
                    <a:pt x="35340" y="84827"/>
                  </a:cubicBezTo>
                  <a:cubicBezTo>
                    <a:pt x="38207" y="82738"/>
                    <a:pt x="42226" y="83381"/>
                    <a:pt x="44316" y="86247"/>
                  </a:cubicBezTo>
                  <a:close/>
                  <a:moveTo>
                    <a:pt x="38582" y="55730"/>
                  </a:moveTo>
                  <a:cubicBezTo>
                    <a:pt x="38582" y="50998"/>
                    <a:pt x="42424" y="47156"/>
                    <a:pt x="47156" y="47156"/>
                  </a:cubicBezTo>
                  <a:cubicBezTo>
                    <a:pt x="51888" y="47156"/>
                    <a:pt x="55730" y="50998"/>
                    <a:pt x="55730" y="55730"/>
                  </a:cubicBezTo>
                  <a:cubicBezTo>
                    <a:pt x="55730" y="60462"/>
                    <a:pt x="51888" y="64304"/>
                    <a:pt x="47156" y="64304"/>
                  </a:cubicBezTo>
                  <a:cubicBezTo>
                    <a:pt x="42424" y="64304"/>
                    <a:pt x="38582" y="60462"/>
                    <a:pt x="38582" y="55730"/>
                  </a:cubicBezTo>
                  <a:close/>
                  <a:moveTo>
                    <a:pt x="90025" y="47156"/>
                  </a:moveTo>
                  <a:cubicBezTo>
                    <a:pt x="94757" y="47156"/>
                    <a:pt x="98599" y="50998"/>
                    <a:pt x="98599" y="55730"/>
                  </a:cubicBezTo>
                  <a:cubicBezTo>
                    <a:pt x="98599" y="60462"/>
                    <a:pt x="94757" y="64304"/>
                    <a:pt x="90025" y="64304"/>
                  </a:cubicBezTo>
                  <a:cubicBezTo>
                    <a:pt x="85293" y="64304"/>
                    <a:pt x="81451" y="60462"/>
                    <a:pt x="81451" y="55730"/>
                  </a:cubicBezTo>
                  <a:cubicBezTo>
                    <a:pt x="81451" y="50998"/>
                    <a:pt x="85293" y="47156"/>
                    <a:pt x="90025" y="4715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9" name="Text 24"/>
            <p:cNvSpPr/>
            <p:nvPr/>
          </p:nvSpPr>
          <p:spPr>
            <a:xfrm>
              <a:off x="5611" y="4425"/>
              <a:ext cx="394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情绪面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理解市场情绪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5"/>
            <p:cNvSpPr/>
            <p:nvPr/>
          </p:nvSpPr>
          <p:spPr>
            <a:xfrm>
              <a:off x="5233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社交媒体情绪、投资者情绪指数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2" name="Shape 27"/>
            <p:cNvSpPr/>
            <p:nvPr/>
          </p:nvSpPr>
          <p:spPr>
            <a:xfrm>
              <a:off x="9716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43" name="Shape 28"/>
            <p:cNvSpPr/>
            <p:nvPr/>
          </p:nvSpPr>
          <p:spPr>
            <a:xfrm>
              <a:off x="9939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4" name="Shape 29"/>
            <p:cNvSpPr/>
            <p:nvPr/>
          </p:nvSpPr>
          <p:spPr>
            <a:xfrm>
              <a:off x="10061" y="2120"/>
              <a:ext cx="405" cy="324"/>
            </a:xfrm>
            <a:custGeom>
              <a:avLst/>
              <a:gdLst/>
              <a:ahLst/>
              <a:cxnLst/>
              <a:rect l="l" t="t" r="r" b="b"/>
              <a:pathLst>
                <a:path w="257215" h="205772">
                  <a:moveTo>
                    <a:pt x="128608" y="90025"/>
                  </a:moveTo>
                  <a:cubicBezTo>
                    <a:pt x="151676" y="90025"/>
                    <a:pt x="170405" y="71296"/>
                    <a:pt x="170405" y="48228"/>
                  </a:cubicBezTo>
                  <a:cubicBezTo>
                    <a:pt x="170405" y="25159"/>
                    <a:pt x="151676" y="6430"/>
                    <a:pt x="128608" y="6430"/>
                  </a:cubicBezTo>
                  <a:cubicBezTo>
                    <a:pt x="105539" y="6430"/>
                    <a:pt x="86810" y="25159"/>
                    <a:pt x="86810" y="48228"/>
                  </a:cubicBezTo>
                  <a:cubicBezTo>
                    <a:pt x="86810" y="71296"/>
                    <a:pt x="105539" y="90025"/>
                    <a:pt x="128608" y="90025"/>
                  </a:cubicBezTo>
                  <a:close/>
                  <a:moveTo>
                    <a:pt x="38582" y="93241"/>
                  </a:moveTo>
                  <a:cubicBezTo>
                    <a:pt x="54553" y="93241"/>
                    <a:pt x="67519" y="80274"/>
                    <a:pt x="67519" y="64304"/>
                  </a:cubicBezTo>
                  <a:cubicBezTo>
                    <a:pt x="67519" y="48333"/>
                    <a:pt x="54553" y="35367"/>
                    <a:pt x="38582" y="35367"/>
                  </a:cubicBezTo>
                  <a:cubicBezTo>
                    <a:pt x="22612" y="35367"/>
                    <a:pt x="9646" y="48333"/>
                    <a:pt x="9646" y="64304"/>
                  </a:cubicBezTo>
                  <a:cubicBezTo>
                    <a:pt x="9646" y="80274"/>
                    <a:pt x="22612" y="93241"/>
                    <a:pt x="38582" y="93241"/>
                  </a:cubicBezTo>
                  <a:close/>
                  <a:moveTo>
                    <a:pt x="0" y="167190"/>
                  </a:moveTo>
                  <a:lnTo>
                    <a:pt x="0" y="180051"/>
                  </a:lnTo>
                  <a:cubicBezTo>
                    <a:pt x="0" y="187164"/>
                    <a:pt x="5747" y="192911"/>
                    <a:pt x="12861" y="192911"/>
                  </a:cubicBezTo>
                  <a:lnTo>
                    <a:pt x="47705" y="192911"/>
                  </a:lnTo>
                  <a:cubicBezTo>
                    <a:pt x="45977" y="188973"/>
                    <a:pt x="45013" y="184632"/>
                    <a:pt x="45013" y="180051"/>
                  </a:cubicBezTo>
                  <a:lnTo>
                    <a:pt x="45013" y="173620"/>
                  </a:lnTo>
                  <a:cubicBezTo>
                    <a:pt x="45013" y="152239"/>
                    <a:pt x="53051" y="132707"/>
                    <a:pt x="66273" y="117917"/>
                  </a:cubicBezTo>
                  <a:cubicBezTo>
                    <a:pt x="61571" y="116510"/>
                    <a:pt x="56587" y="115747"/>
                    <a:pt x="51443" y="115747"/>
                  </a:cubicBezTo>
                  <a:cubicBezTo>
                    <a:pt x="23029" y="115747"/>
                    <a:pt x="0" y="138776"/>
                    <a:pt x="0" y="167190"/>
                  </a:cubicBezTo>
                  <a:close/>
                  <a:moveTo>
                    <a:pt x="247570" y="64304"/>
                  </a:moveTo>
                  <a:cubicBezTo>
                    <a:pt x="247570" y="48333"/>
                    <a:pt x="234604" y="35367"/>
                    <a:pt x="218633" y="35367"/>
                  </a:cubicBezTo>
                  <a:cubicBezTo>
                    <a:pt x="202662" y="35367"/>
                    <a:pt x="189696" y="48333"/>
                    <a:pt x="189696" y="64304"/>
                  </a:cubicBezTo>
                  <a:cubicBezTo>
                    <a:pt x="189696" y="80274"/>
                    <a:pt x="202662" y="93241"/>
                    <a:pt x="218633" y="93241"/>
                  </a:cubicBezTo>
                  <a:cubicBezTo>
                    <a:pt x="234604" y="93241"/>
                    <a:pt x="247570" y="80274"/>
                    <a:pt x="247570" y="64304"/>
                  </a:cubicBezTo>
                  <a:close/>
                  <a:moveTo>
                    <a:pt x="64304" y="173620"/>
                  </a:moveTo>
                  <a:lnTo>
                    <a:pt x="64304" y="180051"/>
                  </a:lnTo>
                  <a:cubicBezTo>
                    <a:pt x="64304" y="187164"/>
                    <a:pt x="70051" y="192911"/>
                    <a:pt x="77165" y="192911"/>
                  </a:cubicBezTo>
                  <a:lnTo>
                    <a:pt x="140182" y="192911"/>
                  </a:lnTo>
                  <a:cubicBezTo>
                    <a:pt x="137329" y="184230"/>
                    <a:pt x="137650" y="175067"/>
                    <a:pt x="144483" y="167190"/>
                  </a:cubicBezTo>
                  <a:cubicBezTo>
                    <a:pt x="138856" y="160679"/>
                    <a:pt x="136244" y="151234"/>
                    <a:pt x="139901" y="141750"/>
                  </a:cubicBezTo>
                  <a:cubicBezTo>
                    <a:pt x="142553" y="134877"/>
                    <a:pt x="146291" y="128447"/>
                    <a:pt x="150913" y="122740"/>
                  </a:cubicBezTo>
                  <a:cubicBezTo>
                    <a:pt x="153083" y="120087"/>
                    <a:pt x="155575" y="118038"/>
                    <a:pt x="158268" y="116551"/>
                  </a:cubicBezTo>
                  <a:cubicBezTo>
                    <a:pt x="149386" y="111929"/>
                    <a:pt x="139298" y="109316"/>
                    <a:pt x="128608" y="109316"/>
                  </a:cubicBezTo>
                  <a:cubicBezTo>
                    <a:pt x="93080" y="109316"/>
                    <a:pt x="64304" y="138092"/>
                    <a:pt x="64304" y="173620"/>
                  </a:cubicBezTo>
                  <a:close/>
                  <a:moveTo>
                    <a:pt x="251026" y="155897"/>
                  </a:moveTo>
                  <a:cubicBezTo>
                    <a:pt x="253558" y="154450"/>
                    <a:pt x="254844" y="151435"/>
                    <a:pt x="253759" y="148662"/>
                  </a:cubicBezTo>
                  <a:cubicBezTo>
                    <a:pt x="251830" y="143679"/>
                    <a:pt x="249137" y="138977"/>
                    <a:pt x="245761" y="134837"/>
                  </a:cubicBezTo>
                  <a:cubicBezTo>
                    <a:pt x="243912" y="132546"/>
                    <a:pt x="240657" y="132144"/>
                    <a:pt x="238125" y="133631"/>
                  </a:cubicBezTo>
                  <a:cubicBezTo>
                    <a:pt x="229364" y="138695"/>
                    <a:pt x="218593" y="132506"/>
                    <a:pt x="218593" y="122338"/>
                  </a:cubicBezTo>
                  <a:cubicBezTo>
                    <a:pt x="218593" y="119404"/>
                    <a:pt x="216623" y="116792"/>
                    <a:pt x="213730" y="116350"/>
                  </a:cubicBezTo>
                  <a:cubicBezTo>
                    <a:pt x="208545" y="115546"/>
                    <a:pt x="202959" y="115546"/>
                    <a:pt x="197774" y="116350"/>
                  </a:cubicBezTo>
                  <a:cubicBezTo>
                    <a:pt x="194881" y="116792"/>
                    <a:pt x="192911" y="119404"/>
                    <a:pt x="192911" y="122338"/>
                  </a:cubicBezTo>
                  <a:cubicBezTo>
                    <a:pt x="192911" y="132466"/>
                    <a:pt x="182141" y="138695"/>
                    <a:pt x="173379" y="133631"/>
                  </a:cubicBezTo>
                  <a:cubicBezTo>
                    <a:pt x="170847" y="132184"/>
                    <a:pt x="167592" y="132586"/>
                    <a:pt x="165743" y="134837"/>
                  </a:cubicBezTo>
                  <a:cubicBezTo>
                    <a:pt x="162367" y="138977"/>
                    <a:pt x="159674" y="143679"/>
                    <a:pt x="157745" y="148662"/>
                  </a:cubicBezTo>
                  <a:cubicBezTo>
                    <a:pt x="156700" y="151395"/>
                    <a:pt x="157946" y="154409"/>
                    <a:pt x="160478" y="155856"/>
                  </a:cubicBezTo>
                  <a:cubicBezTo>
                    <a:pt x="169280" y="160920"/>
                    <a:pt x="169280" y="173339"/>
                    <a:pt x="160478" y="178443"/>
                  </a:cubicBezTo>
                  <a:cubicBezTo>
                    <a:pt x="157946" y="179890"/>
                    <a:pt x="156660" y="182904"/>
                    <a:pt x="157745" y="185637"/>
                  </a:cubicBezTo>
                  <a:cubicBezTo>
                    <a:pt x="159674" y="190621"/>
                    <a:pt x="162367" y="195323"/>
                    <a:pt x="165743" y="199462"/>
                  </a:cubicBezTo>
                  <a:cubicBezTo>
                    <a:pt x="167592" y="201753"/>
                    <a:pt x="170847" y="202155"/>
                    <a:pt x="173379" y="200668"/>
                  </a:cubicBezTo>
                  <a:cubicBezTo>
                    <a:pt x="182141" y="195604"/>
                    <a:pt x="192911" y="201834"/>
                    <a:pt x="192911" y="211961"/>
                  </a:cubicBezTo>
                  <a:cubicBezTo>
                    <a:pt x="192911" y="214895"/>
                    <a:pt x="194881" y="217508"/>
                    <a:pt x="197774" y="217950"/>
                  </a:cubicBezTo>
                  <a:cubicBezTo>
                    <a:pt x="202959" y="218753"/>
                    <a:pt x="208545" y="218753"/>
                    <a:pt x="213730" y="217950"/>
                  </a:cubicBezTo>
                  <a:cubicBezTo>
                    <a:pt x="216623" y="217508"/>
                    <a:pt x="218593" y="214895"/>
                    <a:pt x="218593" y="211961"/>
                  </a:cubicBezTo>
                  <a:cubicBezTo>
                    <a:pt x="218593" y="201834"/>
                    <a:pt x="229364" y="195604"/>
                    <a:pt x="238125" y="200668"/>
                  </a:cubicBezTo>
                  <a:cubicBezTo>
                    <a:pt x="240657" y="202115"/>
                    <a:pt x="243912" y="201713"/>
                    <a:pt x="245761" y="199462"/>
                  </a:cubicBezTo>
                  <a:cubicBezTo>
                    <a:pt x="249137" y="195323"/>
                    <a:pt x="251830" y="190621"/>
                    <a:pt x="253759" y="185637"/>
                  </a:cubicBezTo>
                  <a:cubicBezTo>
                    <a:pt x="254804" y="182904"/>
                    <a:pt x="253558" y="179890"/>
                    <a:pt x="251026" y="178443"/>
                  </a:cubicBezTo>
                  <a:cubicBezTo>
                    <a:pt x="242224" y="173379"/>
                    <a:pt x="242224" y="160960"/>
                    <a:pt x="251026" y="155856"/>
                  </a:cubicBezTo>
                  <a:close/>
                  <a:moveTo>
                    <a:pt x="189696" y="167190"/>
                  </a:moveTo>
                  <a:cubicBezTo>
                    <a:pt x="189696" y="158317"/>
                    <a:pt x="196900" y="151114"/>
                    <a:pt x="205772" y="151114"/>
                  </a:cubicBezTo>
                  <a:cubicBezTo>
                    <a:pt x="214645" y="151114"/>
                    <a:pt x="221848" y="158317"/>
                    <a:pt x="221848" y="167190"/>
                  </a:cubicBezTo>
                  <a:cubicBezTo>
                    <a:pt x="221848" y="176062"/>
                    <a:pt x="214645" y="183266"/>
                    <a:pt x="205772" y="183266"/>
                  </a:cubicBezTo>
                  <a:cubicBezTo>
                    <a:pt x="196900" y="183266"/>
                    <a:pt x="189696" y="176062"/>
                    <a:pt x="189696" y="16719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5" name="Text 30"/>
            <p:cNvSpPr/>
            <p:nvPr/>
          </p:nvSpPr>
          <p:spPr>
            <a:xfrm>
              <a:off x="10750" y="2093"/>
              <a:ext cx="248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31"/>
            <p:cNvSpPr/>
            <p:nvPr/>
          </p:nvSpPr>
          <p:spPr>
            <a:xfrm>
              <a:off x="9939" y="2768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7" name="Text 32"/>
            <p:cNvSpPr/>
            <p:nvPr/>
          </p:nvSpPr>
          <p:spPr>
            <a:xfrm>
              <a:off x="10059" y="2849"/>
              <a:ext cx="28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01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8" name="Text 33"/>
            <p:cNvSpPr/>
            <p:nvPr/>
          </p:nvSpPr>
          <p:spPr>
            <a:xfrm>
              <a:off x="10533" y="2768"/>
              <a:ext cx="367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分析师团队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4"/>
            <p:cNvSpPr/>
            <p:nvPr/>
          </p:nvSpPr>
          <p:spPr>
            <a:xfrm>
              <a:off x="10533" y="3206"/>
              <a:ext cx="5404" cy="1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4个专业分析师并行工作,提高分析效率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10倍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5"/>
            <p:cNvSpPr/>
            <p:nvPr/>
          </p:nvSpPr>
          <p:spPr>
            <a:xfrm>
              <a:off x="9939" y="3531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1" name="Text 36"/>
            <p:cNvSpPr/>
            <p:nvPr/>
          </p:nvSpPr>
          <p:spPr>
            <a:xfrm>
              <a:off x="10043" y="3612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02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7"/>
            <p:cNvSpPr/>
            <p:nvPr/>
          </p:nvSpPr>
          <p:spPr>
            <a:xfrm>
              <a:off x="10533" y="3531"/>
              <a:ext cx="32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研究员辩论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8"/>
            <p:cNvSpPr/>
            <p:nvPr/>
          </p:nvSpPr>
          <p:spPr>
            <a:xfrm>
              <a:off x="10533" y="3971"/>
              <a:ext cx="5092" cy="1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看涨/看跌观点交锋,减少决策偏差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9"/>
            <p:cNvSpPr/>
            <p:nvPr/>
          </p:nvSpPr>
          <p:spPr>
            <a:xfrm>
              <a:off x="9939" y="4294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5" name="Text 40"/>
            <p:cNvSpPr/>
            <p:nvPr/>
          </p:nvSpPr>
          <p:spPr>
            <a:xfrm>
              <a:off x="10040" y="4375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03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41"/>
            <p:cNvSpPr/>
            <p:nvPr/>
          </p:nvSpPr>
          <p:spPr>
            <a:xfrm>
              <a:off x="10533" y="4294"/>
              <a:ext cx="3322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风险管理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7" name="Text 42"/>
            <p:cNvSpPr/>
            <p:nvPr/>
          </p:nvSpPr>
          <p:spPr>
            <a:xfrm>
              <a:off x="10533" y="4726"/>
              <a:ext cx="5169" cy="1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激进/保守/中性三重评估,降低投资风险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8" name="Shape 43"/>
            <p:cNvSpPr/>
            <p:nvPr/>
          </p:nvSpPr>
          <p:spPr>
            <a:xfrm>
              <a:off x="9939" y="5057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9" name="Text 44"/>
            <p:cNvSpPr/>
            <p:nvPr/>
          </p:nvSpPr>
          <p:spPr>
            <a:xfrm>
              <a:off x="10040" y="5138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04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0" name="Text 45"/>
            <p:cNvSpPr/>
            <p:nvPr/>
          </p:nvSpPr>
          <p:spPr>
            <a:xfrm>
              <a:off x="10533" y="5057"/>
              <a:ext cx="2619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决策层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46"/>
            <p:cNvSpPr/>
            <p:nvPr/>
          </p:nvSpPr>
          <p:spPr>
            <a:xfrm>
              <a:off x="10533" y="5381"/>
              <a:ext cx="4726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多维度信息融合,提升决策质量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Shape 47"/>
            <p:cNvSpPr/>
            <p:nvPr/>
          </p:nvSpPr>
          <p:spPr>
            <a:xfrm>
              <a:off x="547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3" name="Shape 48"/>
            <p:cNvSpPr/>
            <p:nvPr/>
          </p:nvSpPr>
          <p:spPr>
            <a:xfrm>
              <a:off x="770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4" name="Shape 49"/>
            <p:cNvSpPr/>
            <p:nvPr/>
          </p:nvSpPr>
          <p:spPr>
            <a:xfrm>
              <a:off x="932" y="6488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80380" y="19291"/>
                  </a:moveTo>
                  <a:lnTo>
                    <a:pt x="125392" y="19291"/>
                  </a:lnTo>
                  <a:cubicBezTo>
                    <a:pt x="127161" y="19291"/>
                    <a:pt x="128608" y="20738"/>
                    <a:pt x="128608" y="22506"/>
                  </a:cubicBezTo>
                  <a:lnTo>
                    <a:pt x="128608" y="38582"/>
                  </a:lnTo>
                  <a:lnTo>
                    <a:pt x="77165" y="38582"/>
                  </a:lnTo>
                  <a:lnTo>
                    <a:pt x="77165" y="22506"/>
                  </a:lnTo>
                  <a:cubicBezTo>
                    <a:pt x="77165" y="20738"/>
                    <a:pt x="78611" y="19291"/>
                    <a:pt x="80380" y="19291"/>
                  </a:cubicBezTo>
                  <a:close/>
                  <a:moveTo>
                    <a:pt x="57873" y="22506"/>
                  </a:moveTo>
                  <a:lnTo>
                    <a:pt x="57873" y="38582"/>
                  </a:lnTo>
                  <a:lnTo>
                    <a:pt x="25722" y="38582"/>
                  </a:lnTo>
                  <a:cubicBezTo>
                    <a:pt x="11534" y="38582"/>
                    <a:pt x="0" y="50117"/>
                    <a:pt x="0" y="64304"/>
                  </a:cubicBezTo>
                  <a:lnTo>
                    <a:pt x="0" y="102886"/>
                  </a:lnTo>
                  <a:lnTo>
                    <a:pt x="205772" y="102886"/>
                  </a:lnTo>
                  <a:lnTo>
                    <a:pt x="205772" y="64304"/>
                  </a:lnTo>
                  <a:cubicBezTo>
                    <a:pt x="205772" y="50117"/>
                    <a:pt x="194238" y="38582"/>
                    <a:pt x="180051" y="38582"/>
                  </a:cubicBezTo>
                  <a:lnTo>
                    <a:pt x="147899" y="38582"/>
                  </a:lnTo>
                  <a:lnTo>
                    <a:pt x="147899" y="22506"/>
                  </a:lnTo>
                  <a:cubicBezTo>
                    <a:pt x="147899" y="10088"/>
                    <a:pt x="137811" y="0"/>
                    <a:pt x="125392" y="0"/>
                  </a:cubicBezTo>
                  <a:lnTo>
                    <a:pt x="80380" y="0"/>
                  </a:lnTo>
                  <a:cubicBezTo>
                    <a:pt x="67961" y="0"/>
                    <a:pt x="57873" y="10088"/>
                    <a:pt x="57873" y="22506"/>
                  </a:cubicBezTo>
                  <a:close/>
                  <a:moveTo>
                    <a:pt x="205772" y="122177"/>
                  </a:moveTo>
                  <a:lnTo>
                    <a:pt x="128608" y="122177"/>
                  </a:lnTo>
                  <a:lnTo>
                    <a:pt x="128608" y="128608"/>
                  </a:lnTo>
                  <a:cubicBezTo>
                    <a:pt x="128608" y="135721"/>
                    <a:pt x="122860" y="141468"/>
                    <a:pt x="115747" y="141468"/>
                  </a:cubicBezTo>
                  <a:lnTo>
                    <a:pt x="90025" y="141468"/>
                  </a:lnTo>
                  <a:cubicBezTo>
                    <a:pt x="82912" y="141468"/>
                    <a:pt x="77165" y="135721"/>
                    <a:pt x="77165" y="128608"/>
                  </a:cubicBezTo>
                  <a:lnTo>
                    <a:pt x="77165" y="122177"/>
                  </a:lnTo>
                  <a:lnTo>
                    <a:pt x="0" y="122177"/>
                  </a:lnTo>
                  <a:lnTo>
                    <a:pt x="0" y="167190"/>
                  </a:lnTo>
                  <a:cubicBezTo>
                    <a:pt x="0" y="181377"/>
                    <a:pt x="11534" y="192911"/>
                    <a:pt x="25722" y="192911"/>
                  </a:cubicBezTo>
                  <a:lnTo>
                    <a:pt x="180051" y="192911"/>
                  </a:lnTo>
                  <a:cubicBezTo>
                    <a:pt x="194238" y="192911"/>
                    <a:pt x="205772" y="181377"/>
                    <a:pt x="205772" y="167190"/>
                  </a:cubicBezTo>
                  <a:lnTo>
                    <a:pt x="205772" y="1221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5" name="Text 50"/>
            <p:cNvSpPr/>
            <p:nvPr/>
          </p:nvSpPr>
          <p:spPr>
            <a:xfrm>
              <a:off x="1580" y="6461"/>
              <a:ext cx="231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企业级功能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51"/>
            <p:cNvSpPr/>
            <p:nvPr/>
          </p:nvSpPr>
          <p:spPr>
            <a:xfrm>
              <a:off x="770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67" name="Shape 52"/>
            <p:cNvSpPr/>
            <p:nvPr/>
          </p:nvSpPr>
          <p:spPr>
            <a:xfrm>
              <a:off x="2014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77868" y="1742"/>
                  </a:moveTo>
                  <a:cubicBezTo>
                    <a:pt x="82858" y="-569"/>
                    <a:pt x="88619" y="-569"/>
                    <a:pt x="93609" y="1742"/>
                  </a:cubicBezTo>
                  <a:lnTo>
                    <a:pt x="166821" y="35568"/>
                  </a:lnTo>
                  <a:cubicBezTo>
                    <a:pt x="169668" y="36874"/>
                    <a:pt x="171477" y="39721"/>
                    <a:pt x="171477" y="42869"/>
                  </a:cubicBezTo>
                  <a:cubicBezTo>
                    <a:pt x="171477" y="46017"/>
                    <a:pt x="169668" y="48864"/>
                    <a:pt x="166821" y="50170"/>
                  </a:cubicBezTo>
                  <a:lnTo>
                    <a:pt x="93609" y="83997"/>
                  </a:lnTo>
                  <a:cubicBezTo>
                    <a:pt x="88619" y="86308"/>
                    <a:pt x="82858" y="86308"/>
                    <a:pt x="77868" y="83997"/>
                  </a:cubicBezTo>
                  <a:lnTo>
                    <a:pt x="4655" y="50170"/>
                  </a:lnTo>
                  <a:cubicBezTo>
                    <a:pt x="1809" y="48831"/>
                    <a:pt x="0" y="45984"/>
                    <a:pt x="0" y="42869"/>
                  </a:cubicBezTo>
                  <a:cubicBezTo>
                    <a:pt x="0" y="39754"/>
                    <a:pt x="1809" y="36874"/>
                    <a:pt x="4655" y="35568"/>
                  </a:cubicBezTo>
                  <a:lnTo>
                    <a:pt x="77868" y="1742"/>
                  </a:lnTo>
                  <a:close/>
                  <a:moveTo>
                    <a:pt x="16109" y="73146"/>
                  </a:moveTo>
                  <a:lnTo>
                    <a:pt x="71136" y="98566"/>
                  </a:lnTo>
                  <a:cubicBezTo>
                    <a:pt x="80413" y="102853"/>
                    <a:pt x="91097" y="102853"/>
                    <a:pt x="100374" y="98566"/>
                  </a:cubicBezTo>
                  <a:lnTo>
                    <a:pt x="155401" y="73146"/>
                  </a:lnTo>
                  <a:lnTo>
                    <a:pt x="166821" y="78437"/>
                  </a:lnTo>
                  <a:cubicBezTo>
                    <a:pt x="169668" y="79743"/>
                    <a:pt x="171477" y="82590"/>
                    <a:pt x="171477" y="85738"/>
                  </a:cubicBezTo>
                  <a:cubicBezTo>
                    <a:pt x="171477" y="88887"/>
                    <a:pt x="169668" y="91733"/>
                    <a:pt x="166821" y="93040"/>
                  </a:cubicBezTo>
                  <a:lnTo>
                    <a:pt x="93609" y="126866"/>
                  </a:lnTo>
                  <a:cubicBezTo>
                    <a:pt x="88619" y="129177"/>
                    <a:pt x="82858" y="129177"/>
                    <a:pt x="77868" y="126866"/>
                  </a:cubicBezTo>
                  <a:lnTo>
                    <a:pt x="4655" y="93040"/>
                  </a:lnTo>
                  <a:cubicBezTo>
                    <a:pt x="1809" y="91700"/>
                    <a:pt x="0" y="88853"/>
                    <a:pt x="0" y="85738"/>
                  </a:cubicBezTo>
                  <a:cubicBezTo>
                    <a:pt x="0" y="82624"/>
                    <a:pt x="1809" y="79743"/>
                    <a:pt x="4655" y="78437"/>
                  </a:cubicBezTo>
                  <a:lnTo>
                    <a:pt x="16076" y="73146"/>
                  </a:lnTo>
                  <a:close/>
                  <a:moveTo>
                    <a:pt x="4655" y="121306"/>
                  </a:moveTo>
                  <a:lnTo>
                    <a:pt x="16076" y="116015"/>
                  </a:lnTo>
                  <a:lnTo>
                    <a:pt x="71103" y="141435"/>
                  </a:lnTo>
                  <a:cubicBezTo>
                    <a:pt x="80380" y="145722"/>
                    <a:pt x="91064" y="145722"/>
                    <a:pt x="100341" y="141435"/>
                  </a:cubicBezTo>
                  <a:lnTo>
                    <a:pt x="155367" y="116015"/>
                  </a:lnTo>
                  <a:lnTo>
                    <a:pt x="166788" y="121306"/>
                  </a:lnTo>
                  <a:cubicBezTo>
                    <a:pt x="169635" y="122613"/>
                    <a:pt x="171443" y="125459"/>
                    <a:pt x="171443" y="128608"/>
                  </a:cubicBezTo>
                  <a:cubicBezTo>
                    <a:pt x="171443" y="131756"/>
                    <a:pt x="169635" y="134603"/>
                    <a:pt x="166788" y="135909"/>
                  </a:cubicBezTo>
                  <a:lnTo>
                    <a:pt x="93575" y="169735"/>
                  </a:lnTo>
                  <a:cubicBezTo>
                    <a:pt x="88585" y="172046"/>
                    <a:pt x="82825" y="172046"/>
                    <a:pt x="77834" y="169735"/>
                  </a:cubicBezTo>
                  <a:lnTo>
                    <a:pt x="4655" y="135909"/>
                  </a:lnTo>
                  <a:cubicBezTo>
                    <a:pt x="1809" y="134569"/>
                    <a:pt x="0" y="131722"/>
                    <a:pt x="0" y="128608"/>
                  </a:cubicBezTo>
                  <a:cubicBezTo>
                    <a:pt x="0" y="125493"/>
                    <a:pt x="1809" y="122613"/>
                    <a:pt x="4655" y="121306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8" name="Text 53"/>
            <p:cNvSpPr/>
            <p:nvPr/>
          </p:nvSpPr>
          <p:spPr>
            <a:xfrm>
              <a:off x="830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批量分析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9" name="Text 54"/>
            <p:cNvSpPr/>
            <p:nvPr/>
          </p:nvSpPr>
          <p:spPr>
            <a:xfrm>
              <a:off x="837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多股票并发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Shape 55"/>
            <p:cNvSpPr/>
            <p:nvPr/>
          </p:nvSpPr>
          <p:spPr>
            <a:xfrm>
              <a:off x="3637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1" name="Shape 56"/>
            <p:cNvSpPr/>
            <p:nvPr/>
          </p:nvSpPr>
          <p:spPr>
            <a:xfrm>
              <a:off x="4882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10717" y="21435"/>
                  </a:moveTo>
                  <a:cubicBezTo>
                    <a:pt x="6397" y="21435"/>
                    <a:pt x="2478" y="24047"/>
                    <a:pt x="804" y="28066"/>
                  </a:cubicBezTo>
                  <a:cubicBezTo>
                    <a:pt x="-871" y="32085"/>
                    <a:pt x="67" y="36673"/>
                    <a:pt x="3148" y="39721"/>
                  </a:cubicBezTo>
                  <a:lnTo>
                    <a:pt x="64304" y="100910"/>
                  </a:lnTo>
                  <a:lnTo>
                    <a:pt x="64304" y="139325"/>
                  </a:lnTo>
                  <a:cubicBezTo>
                    <a:pt x="64304" y="142172"/>
                    <a:pt x="65443" y="144884"/>
                    <a:pt x="67452" y="146894"/>
                  </a:cubicBezTo>
                  <a:lnTo>
                    <a:pt x="88887" y="168329"/>
                  </a:lnTo>
                  <a:cubicBezTo>
                    <a:pt x="91968" y="171410"/>
                    <a:pt x="96556" y="172314"/>
                    <a:pt x="100575" y="170640"/>
                  </a:cubicBezTo>
                  <a:cubicBezTo>
                    <a:pt x="104594" y="168965"/>
                    <a:pt x="107173" y="165080"/>
                    <a:pt x="107173" y="160759"/>
                  </a:cubicBezTo>
                  <a:lnTo>
                    <a:pt x="107173" y="100910"/>
                  </a:lnTo>
                  <a:lnTo>
                    <a:pt x="168329" y="39754"/>
                  </a:lnTo>
                  <a:cubicBezTo>
                    <a:pt x="171410" y="36673"/>
                    <a:pt x="172314" y="32085"/>
                    <a:pt x="170640" y="28066"/>
                  </a:cubicBezTo>
                  <a:cubicBezTo>
                    <a:pt x="168965" y="24047"/>
                    <a:pt x="165080" y="21435"/>
                    <a:pt x="160759" y="21435"/>
                  </a:cubicBezTo>
                  <a:lnTo>
                    <a:pt x="10717" y="21435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2" name="Text 57"/>
            <p:cNvSpPr/>
            <p:nvPr/>
          </p:nvSpPr>
          <p:spPr>
            <a:xfrm>
              <a:off x="3698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股票筛选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3" name="Text 58"/>
            <p:cNvSpPr/>
            <p:nvPr/>
          </p:nvSpPr>
          <p:spPr>
            <a:xfrm>
              <a:off x="3705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多维度指标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Shape 59"/>
            <p:cNvSpPr/>
            <p:nvPr/>
          </p:nvSpPr>
          <p:spPr>
            <a:xfrm>
              <a:off x="6504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5" name="Shape 60"/>
            <p:cNvSpPr/>
            <p:nvPr/>
          </p:nvSpPr>
          <p:spPr>
            <a:xfrm>
              <a:off x="7749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80715" y="29171"/>
                  </a:moveTo>
                  <a:lnTo>
                    <a:pt x="85738" y="36104"/>
                  </a:lnTo>
                  <a:lnTo>
                    <a:pt x="90762" y="29171"/>
                  </a:lnTo>
                  <a:cubicBezTo>
                    <a:pt x="99135" y="17583"/>
                    <a:pt x="112599" y="10717"/>
                    <a:pt x="126900" y="10717"/>
                  </a:cubicBezTo>
                  <a:cubicBezTo>
                    <a:pt x="151516" y="10717"/>
                    <a:pt x="171477" y="30678"/>
                    <a:pt x="171477" y="55295"/>
                  </a:cubicBezTo>
                  <a:lnTo>
                    <a:pt x="171477" y="56165"/>
                  </a:lnTo>
                  <a:cubicBezTo>
                    <a:pt x="171477" y="93743"/>
                    <a:pt x="124622" y="137382"/>
                    <a:pt x="100173" y="156037"/>
                  </a:cubicBezTo>
                  <a:cubicBezTo>
                    <a:pt x="96020" y="159185"/>
                    <a:pt x="90930" y="160759"/>
                    <a:pt x="85738" y="160759"/>
                  </a:cubicBezTo>
                  <a:cubicBezTo>
                    <a:pt x="80547" y="160759"/>
                    <a:pt x="75423" y="159219"/>
                    <a:pt x="71304" y="156037"/>
                  </a:cubicBezTo>
                  <a:cubicBezTo>
                    <a:pt x="46855" y="137382"/>
                    <a:pt x="0" y="93743"/>
                    <a:pt x="0" y="56165"/>
                  </a:cubicBezTo>
                  <a:lnTo>
                    <a:pt x="0" y="55295"/>
                  </a:lnTo>
                  <a:cubicBezTo>
                    <a:pt x="0" y="30678"/>
                    <a:pt x="19961" y="10717"/>
                    <a:pt x="44577" y="10717"/>
                  </a:cubicBezTo>
                  <a:cubicBezTo>
                    <a:pt x="58878" y="10717"/>
                    <a:pt x="72342" y="17583"/>
                    <a:pt x="80715" y="29171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6" name="Text 61"/>
            <p:cNvSpPr/>
            <p:nvPr/>
          </p:nvSpPr>
          <p:spPr>
            <a:xfrm>
              <a:off x="6565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自选股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62"/>
            <p:cNvSpPr/>
            <p:nvPr/>
          </p:nvSpPr>
          <p:spPr>
            <a:xfrm>
              <a:off x="6572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分组管理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Shape 63"/>
            <p:cNvSpPr/>
            <p:nvPr/>
          </p:nvSpPr>
          <p:spPr>
            <a:xfrm>
              <a:off x="770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9" name="Shape 64"/>
            <p:cNvSpPr/>
            <p:nvPr/>
          </p:nvSpPr>
          <p:spPr>
            <a:xfrm>
              <a:off x="1980" y="8864"/>
              <a:ext cx="338" cy="270"/>
            </a:xfrm>
            <a:custGeom>
              <a:avLst/>
              <a:gdLst/>
              <a:ahLst/>
              <a:cxnLst/>
              <a:rect l="l" t="t" r="r" b="b"/>
              <a:pathLst>
                <a:path w="214346" h="171477">
                  <a:moveTo>
                    <a:pt x="150042" y="21435"/>
                  </a:moveTo>
                  <a:cubicBezTo>
                    <a:pt x="185543" y="21435"/>
                    <a:pt x="214346" y="50237"/>
                    <a:pt x="214346" y="85738"/>
                  </a:cubicBezTo>
                  <a:cubicBezTo>
                    <a:pt x="214346" y="121239"/>
                    <a:pt x="185543" y="150042"/>
                    <a:pt x="150042" y="150042"/>
                  </a:cubicBezTo>
                  <a:lnTo>
                    <a:pt x="64304" y="150042"/>
                  </a:lnTo>
                  <a:cubicBezTo>
                    <a:pt x="28803" y="150042"/>
                    <a:pt x="0" y="121239"/>
                    <a:pt x="0" y="85738"/>
                  </a:cubicBezTo>
                  <a:cubicBezTo>
                    <a:pt x="0" y="50237"/>
                    <a:pt x="28803" y="21435"/>
                    <a:pt x="64304" y="21435"/>
                  </a:cubicBezTo>
                  <a:lnTo>
                    <a:pt x="150042" y="21435"/>
                  </a:lnTo>
                  <a:close/>
                  <a:moveTo>
                    <a:pt x="64304" y="58945"/>
                  </a:moveTo>
                  <a:cubicBezTo>
                    <a:pt x="59849" y="58945"/>
                    <a:pt x="56266" y="62529"/>
                    <a:pt x="56266" y="66983"/>
                  </a:cubicBezTo>
                  <a:lnTo>
                    <a:pt x="56266" y="77700"/>
                  </a:lnTo>
                  <a:lnTo>
                    <a:pt x="45549" y="77700"/>
                  </a:lnTo>
                  <a:cubicBezTo>
                    <a:pt x="41094" y="77700"/>
                    <a:pt x="37511" y="81284"/>
                    <a:pt x="37511" y="85738"/>
                  </a:cubicBezTo>
                  <a:cubicBezTo>
                    <a:pt x="37511" y="90193"/>
                    <a:pt x="41094" y="93776"/>
                    <a:pt x="45549" y="93776"/>
                  </a:cubicBezTo>
                  <a:lnTo>
                    <a:pt x="56266" y="93776"/>
                  </a:lnTo>
                  <a:lnTo>
                    <a:pt x="56266" y="104494"/>
                  </a:lnTo>
                  <a:cubicBezTo>
                    <a:pt x="56266" y="108948"/>
                    <a:pt x="59849" y="112532"/>
                    <a:pt x="64304" y="112532"/>
                  </a:cubicBezTo>
                  <a:cubicBezTo>
                    <a:pt x="68758" y="112532"/>
                    <a:pt x="72342" y="108948"/>
                    <a:pt x="72342" y="104494"/>
                  </a:cubicBezTo>
                  <a:lnTo>
                    <a:pt x="72342" y="93776"/>
                  </a:lnTo>
                  <a:lnTo>
                    <a:pt x="83059" y="93776"/>
                  </a:lnTo>
                  <a:cubicBezTo>
                    <a:pt x="87513" y="93776"/>
                    <a:pt x="91097" y="90193"/>
                    <a:pt x="91097" y="85738"/>
                  </a:cubicBezTo>
                  <a:cubicBezTo>
                    <a:pt x="91097" y="81284"/>
                    <a:pt x="87513" y="77700"/>
                    <a:pt x="83059" y="77700"/>
                  </a:cubicBezTo>
                  <a:lnTo>
                    <a:pt x="72342" y="77700"/>
                  </a:lnTo>
                  <a:lnTo>
                    <a:pt x="72342" y="66983"/>
                  </a:lnTo>
                  <a:cubicBezTo>
                    <a:pt x="72342" y="62529"/>
                    <a:pt x="68758" y="58945"/>
                    <a:pt x="64304" y="58945"/>
                  </a:cubicBezTo>
                  <a:close/>
                  <a:moveTo>
                    <a:pt x="144684" y="91097"/>
                  </a:moveTo>
                  <a:cubicBezTo>
                    <a:pt x="138769" y="91097"/>
                    <a:pt x="133966" y="95899"/>
                    <a:pt x="133966" y="101814"/>
                  </a:cubicBezTo>
                  <a:cubicBezTo>
                    <a:pt x="133966" y="107729"/>
                    <a:pt x="138769" y="112532"/>
                    <a:pt x="144684" y="112532"/>
                  </a:cubicBezTo>
                  <a:cubicBezTo>
                    <a:pt x="150599" y="112532"/>
                    <a:pt x="155401" y="107729"/>
                    <a:pt x="155401" y="101814"/>
                  </a:cubicBezTo>
                  <a:cubicBezTo>
                    <a:pt x="155401" y="95899"/>
                    <a:pt x="150599" y="91097"/>
                    <a:pt x="144684" y="91097"/>
                  </a:cubicBezTo>
                  <a:close/>
                  <a:moveTo>
                    <a:pt x="166118" y="58945"/>
                  </a:moveTo>
                  <a:cubicBezTo>
                    <a:pt x="160203" y="58945"/>
                    <a:pt x="155401" y="63747"/>
                    <a:pt x="155401" y="69662"/>
                  </a:cubicBezTo>
                  <a:cubicBezTo>
                    <a:pt x="155401" y="75577"/>
                    <a:pt x="160203" y="80380"/>
                    <a:pt x="166118" y="80380"/>
                  </a:cubicBezTo>
                  <a:cubicBezTo>
                    <a:pt x="172033" y="80380"/>
                    <a:pt x="176835" y="75577"/>
                    <a:pt x="176835" y="69662"/>
                  </a:cubicBezTo>
                  <a:cubicBezTo>
                    <a:pt x="176835" y="63747"/>
                    <a:pt x="172033" y="58945"/>
                    <a:pt x="166118" y="58945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0" name="Text 65"/>
            <p:cNvSpPr/>
            <p:nvPr/>
          </p:nvSpPr>
          <p:spPr>
            <a:xfrm>
              <a:off x="830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模拟交易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6"/>
            <p:cNvSpPr/>
            <p:nvPr/>
          </p:nvSpPr>
          <p:spPr>
            <a:xfrm>
              <a:off x="837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虚拟环境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Shape 67"/>
            <p:cNvSpPr/>
            <p:nvPr/>
          </p:nvSpPr>
          <p:spPr>
            <a:xfrm>
              <a:off x="3637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3" name="Shape 68"/>
            <p:cNvSpPr/>
            <p:nvPr/>
          </p:nvSpPr>
          <p:spPr>
            <a:xfrm>
              <a:off x="4865" y="8864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911" h="171477">
                  <a:moveTo>
                    <a:pt x="32319" y="0"/>
                  </a:moveTo>
                  <a:cubicBezTo>
                    <a:pt x="20497" y="0"/>
                    <a:pt x="10885" y="9612"/>
                    <a:pt x="10885" y="21435"/>
                  </a:cubicBezTo>
                  <a:lnTo>
                    <a:pt x="10885" y="150042"/>
                  </a:lnTo>
                  <a:cubicBezTo>
                    <a:pt x="10885" y="161865"/>
                    <a:pt x="20497" y="171477"/>
                    <a:pt x="32319" y="171477"/>
                  </a:cubicBezTo>
                  <a:lnTo>
                    <a:pt x="118058" y="171477"/>
                  </a:lnTo>
                  <a:cubicBezTo>
                    <a:pt x="129880" y="171477"/>
                    <a:pt x="139492" y="161865"/>
                    <a:pt x="139492" y="150042"/>
                  </a:cubicBezTo>
                  <a:lnTo>
                    <a:pt x="139492" y="117890"/>
                  </a:lnTo>
                  <a:lnTo>
                    <a:pt x="165649" y="117890"/>
                  </a:lnTo>
                  <a:lnTo>
                    <a:pt x="155267" y="128273"/>
                  </a:lnTo>
                  <a:cubicBezTo>
                    <a:pt x="152119" y="131421"/>
                    <a:pt x="152119" y="136512"/>
                    <a:pt x="155267" y="139626"/>
                  </a:cubicBezTo>
                  <a:cubicBezTo>
                    <a:pt x="158415" y="142741"/>
                    <a:pt x="163506" y="142775"/>
                    <a:pt x="166621" y="139626"/>
                  </a:cubicBezTo>
                  <a:lnTo>
                    <a:pt x="190734" y="115512"/>
                  </a:lnTo>
                  <a:cubicBezTo>
                    <a:pt x="193883" y="112364"/>
                    <a:pt x="193883" y="107273"/>
                    <a:pt x="190734" y="104159"/>
                  </a:cubicBezTo>
                  <a:lnTo>
                    <a:pt x="166621" y="80045"/>
                  </a:lnTo>
                  <a:cubicBezTo>
                    <a:pt x="163472" y="76897"/>
                    <a:pt x="158382" y="76897"/>
                    <a:pt x="155267" y="80045"/>
                  </a:cubicBezTo>
                  <a:cubicBezTo>
                    <a:pt x="152152" y="83193"/>
                    <a:pt x="152119" y="88284"/>
                    <a:pt x="155267" y="91398"/>
                  </a:cubicBezTo>
                  <a:lnTo>
                    <a:pt x="165649" y="101781"/>
                  </a:lnTo>
                  <a:lnTo>
                    <a:pt x="139492" y="101781"/>
                  </a:lnTo>
                  <a:lnTo>
                    <a:pt x="139492" y="57070"/>
                  </a:lnTo>
                  <a:cubicBezTo>
                    <a:pt x="139492" y="51376"/>
                    <a:pt x="137248" y="45917"/>
                    <a:pt x="133229" y="41898"/>
                  </a:cubicBezTo>
                  <a:lnTo>
                    <a:pt x="97527" y="6263"/>
                  </a:lnTo>
                  <a:cubicBezTo>
                    <a:pt x="93508" y="2244"/>
                    <a:pt x="88083" y="0"/>
                    <a:pt x="82389" y="0"/>
                  </a:cubicBezTo>
                  <a:lnTo>
                    <a:pt x="32319" y="0"/>
                  </a:lnTo>
                  <a:close/>
                  <a:moveTo>
                    <a:pt x="119900" y="58945"/>
                  </a:moveTo>
                  <a:lnTo>
                    <a:pt x="88585" y="58945"/>
                  </a:lnTo>
                  <a:cubicBezTo>
                    <a:pt x="84131" y="58945"/>
                    <a:pt x="80547" y="55362"/>
                    <a:pt x="80547" y="50907"/>
                  </a:cubicBezTo>
                  <a:lnTo>
                    <a:pt x="80547" y="19593"/>
                  </a:lnTo>
                  <a:lnTo>
                    <a:pt x="119900" y="58945"/>
                  </a:lnTo>
                  <a:close/>
                  <a:moveTo>
                    <a:pt x="75189" y="109852"/>
                  </a:moveTo>
                  <a:cubicBezTo>
                    <a:pt x="75189" y="105398"/>
                    <a:pt x="78772" y="101814"/>
                    <a:pt x="83227" y="101814"/>
                  </a:cubicBezTo>
                  <a:lnTo>
                    <a:pt x="118058" y="101814"/>
                  </a:lnTo>
                  <a:lnTo>
                    <a:pt x="118058" y="117890"/>
                  </a:lnTo>
                  <a:lnTo>
                    <a:pt x="83227" y="117890"/>
                  </a:lnTo>
                  <a:cubicBezTo>
                    <a:pt x="78772" y="117890"/>
                    <a:pt x="75189" y="114307"/>
                    <a:pt x="75189" y="109852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4" name="Text 69"/>
            <p:cNvSpPr/>
            <p:nvPr/>
          </p:nvSpPr>
          <p:spPr>
            <a:xfrm>
              <a:off x="3698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报告导出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70"/>
            <p:cNvSpPr/>
            <p:nvPr/>
          </p:nvSpPr>
          <p:spPr>
            <a:xfrm>
              <a:off x="3705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多格式支持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Shape 71"/>
            <p:cNvSpPr/>
            <p:nvPr/>
          </p:nvSpPr>
          <p:spPr>
            <a:xfrm>
              <a:off x="6504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7" name="Shape 72"/>
            <p:cNvSpPr/>
            <p:nvPr/>
          </p:nvSpPr>
          <p:spPr>
            <a:xfrm>
              <a:off x="7766" y="8864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42" h="171477">
                  <a:moveTo>
                    <a:pt x="75021" y="0"/>
                  </a:moveTo>
                  <a:cubicBezTo>
                    <a:pt x="69093" y="0"/>
                    <a:pt x="64304" y="4789"/>
                    <a:pt x="64304" y="10717"/>
                  </a:cubicBezTo>
                  <a:lnTo>
                    <a:pt x="64304" y="11789"/>
                  </a:lnTo>
                  <a:cubicBezTo>
                    <a:pt x="39855" y="16746"/>
                    <a:pt x="21435" y="38381"/>
                    <a:pt x="21435" y="64304"/>
                  </a:cubicBezTo>
                  <a:lnTo>
                    <a:pt x="21435" y="71571"/>
                  </a:lnTo>
                  <a:cubicBezTo>
                    <a:pt x="21435" y="87681"/>
                    <a:pt x="15942" y="103321"/>
                    <a:pt x="5895" y="115914"/>
                  </a:cubicBezTo>
                  <a:lnTo>
                    <a:pt x="2612" y="120000"/>
                  </a:lnTo>
                  <a:cubicBezTo>
                    <a:pt x="904" y="122110"/>
                    <a:pt x="0" y="124723"/>
                    <a:pt x="0" y="127435"/>
                  </a:cubicBezTo>
                  <a:cubicBezTo>
                    <a:pt x="0" y="134000"/>
                    <a:pt x="5325" y="139325"/>
                    <a:pt x="11890" y="139325"/>
                  </a:cubicBezTo>
                  <a:lnTo>
                    <a:pt x="138119" y="139325"/>
                  </a:lnTo>
                  <a:cubicBezTo>
                    <a:pt x="144684" y="139325"/>
                    <a:pt x="150009" y="134000"/>
                    <a:pt x="150009" y="127435"/>
                  </a:cubicBezTo>
                  <a:cubicBezTo>
                    <a:pt x="150009" y="124723"/>
                    <a:pt x="149104" y="122110"/>
                    <a:pt x="147396" y="120000"/>
                  </a:cubicBezTo>
                  <a:lnTo>
                    <a:pt x="144114" y="115914"/>
                  </a:lnTo>
                  <a:cubicBezTo>
                    <a:pt x="134100" y="103321"/>
                    <a:pt x="128608" y="87681"/>
                    <a:pt x="128608" y="71571"/>
                  </a:cubicBezTo>
                  <a:lnTo>
                    <a:pt x="128608" y="64304"/>
                  </a:lnTo>
                  <a:cubicBezTo>
                    <a:pt x="128608" y="38381"/>
                    <a:pt x="110187" y="16746"/>
                    <a:pt x="85738" y="11789"/>
                  </a:cubicBezTo>
                  <a:lnTo>
                    <a:pt x="85738" y="10717"/>
                  </a:lnTo>
                  <a:cubicBezTo>
                    <a:pt x="85738" y="4789"/>
                    <a:pt x="80949" y="0"/>
                    <a:pt x="75021" y="0"/>
                  </a:cubicBezTo>
                  <a:close/>
                  <a:moveTo>
                    <a:pt x="54256" y="155401"/>
                  </a:moveTo>
                  <a:cubicBezTo>
                    <a:pt x="56634" y="164645"/>
                    <a:pt x="65041" y="171477"/>
                    <a:pt x="75021" y="171477"/>
                  </a:cubicBezTo>
                  <a:cubicBezTo>
                    <a:pt x="85002" y="171477"/>
                    <a:pt x="93408" y="164645"/>
                    <a:pt x="95786" y="155401"/>
                  </a:cubicBezTo>
                  <a:lnTo>
                    <a:pt x="54256" y="155401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8" name="Text 73"/>
            <p:cNvSpPr/>
            <p:nvPr/>
          </p:nvSpPr>
          <p:spPr>
            <a:xfrm>
              <a:off x="6565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实时监控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Text 74"/>
            <p:cNvSpPr/>
            <p:nvPr/>
          </p:nvSpPr>
          <p:spPr>
            <a:xfrm>
              <a:off x="6572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推送通知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0" name="Shape 75"/>
            <p:cNvSpPr/>
            <p:nvPr/>
          </p:nvSpPr>
          <p:spPr>
            <a:xfrm>
              <a:off x="9716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91" name="Shape 76"/>
            <p:cNvSpPr/>
            <p:nvPr/>
          </p:nvSpPr>
          <p:spPr>
            <a:xfrm>
              <a:off x="9939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92" name="Shape 77"/>
            <p:cNvSpPr/>
            <p:nvPr/>
          </p:nvSpPr>
          <p:spPr>
            <a:xfrm>
              <a:off x="10121" y="6488"/>
              <a:ext cx="284" cy="324"/>
            </a:xfrm>
            <a:custGeom>
              <a:avLst/>
              <a:gdLst/>
              <a:ahLst/>
              <a:cxnLst/>
              <a:rect l="l" t="t" r="r" b="b"/>
              <a:pathLst>
                <a:path w="180051" h="205772">
                  <a:moveTo>
                    <a:pt x="51443" y="-12861"/>
                  </a:moveTo>
                  <a:cubicBezTo>
                    <a:pt x="58557" y="-12861"/>
                    <a:pt x="64304" y="-7114"/>
                    <a:pt x="64304" y="0"/>
                  </a:cubicBezTo>
                  <a:lnTo>
                    <a:pt x="64304" y="38582"/>
                  </a:lnTo>
                  <a:lnTo>
                    <a:pt x="115747" y="38582"/>
                  </a:lnTo>
                  <a:lnTo>
                    <a:pt x="115747" y="0"/>
                  </a:lnTo>
                  <a:cubicBezTo>
                    <a:pt x="115747" y="-7114"/>
                    <a:pt x="121494" y="-12861"/>
                    <a:pt x="128608" y="-12861"/>
                  </a:cubicBezTo>
                  <a:cubicBezTo>
                    <a:pt x="135721" y="-12861"/>
                    <a:pt x="141468" y="-7114"/>
                    <a:pt x="141468" y="0"/>
                  </a:cubicBezTo>
                  <a:lnTo>
                    <a:pt x="141468" y="38582"/>
                  </a:lnTo>
                  <a:lnTo>
                    <a:pt x="167190" y="38582"/>
                  </a:lnTo>
                  <a:cubicBezTo>
                    <a:pt x="174303" y="38582"/>
                    <a:pt x="180051" y="44329"/>
                    <a:pt x="180051" y="51443"/>
                  </a:cubicBezTo>
                  <a:cubicBezTo>
                    <a:pt x="180051" y="58557"/>
                    <a:pt x="174303" y="64304"/>
                    <a:pt x="167190" y="64304"/>
                  </a:cubicBezTo>
                  <a:lnTo>
                    <a:pt x="167190" y="90025"/>
                  </a:lnTo>
                  <a:cubicBezTo>
                    <a:pt x="167190" y="128246"/>
                    <a:pt x="139378" y="159996"/>
                    <a:pt x="102886" y="166105"/>
                  </a:cubicBezTo>
                  <a:lnTo>
                    <a:pt x="102886" y="192911"/>
                  </a:lnTo>
                  <a:cubicBezTo>
                    <a:pt x="102886" y="200025"/>
                    <a:pt x="97139" y="205772"/>
                    <a:pt x="90025" y="205772"/>
                  </a:cubicBezTo>
                  <a:cubicBezTo>
                    <a:pt x="82912" y="205772"/>
                    <a:pt x="77165" y="200025"/>
                    <a:pt x="77165" y="192911"/>
                  </a:cubicBezTo>
                  <a:lnTo>
                    <a:pt x="77165" y="166105"/>
                  </a:lnTo>
                  <a:cubicBezTo>
                    <a:pt x="40672" y="159996"/>
                    <a:pt x="12861" y="128246"/>
                    <a:pt x="12861" y="90025"/>
                  </a:cubicBezTo>
                  <a:lnTo>
                    <a:pt x="12861" y="64304"/>
                  </a:lnTo>
                  <a:cubicBezTo>
                    <a:pt x="5747" y="64304"/>
                    <a:pt x="0" y="58557"/>
                    <a:pt x="0" y="51443"/>
                  </a:cubicBezTo>
                  <a:cubicBezTo>
                    <a:pt x="0" y="44329"/>
                    <a:pt x="5747" y="38582"/>
                    <a:pt x="12861" y="38582"/>
                  </a:cubicBezTo>
                  <a:lnTo>
                    <a:pt x="38582" y="38582"/>
                  </a:lnTo>
                  <a:lnTo>
                    <a:pt x="38582" y="0"/>
                  </a:lnTo>
                  <a:cubicBezTo>
                    <a:pt x="38582" y="-7114"/>
                    <a:pt x="44329" y="-12861"/>
                    <a:pt x="51443" y="-12861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3" name="Text 78"/>
            <p:cNvSpPr/>
            <p:nvPr/>
          </p:nvSpPr>
          <p:spPr>
            <a:xfrm>
              <a:off x="10750" y="6461"/>
              <a:ext cx="1665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Shape 79"/>
            <p:cNvSpPr/>
            <p:nvPr/>
          </p:nvSpPr>
          <p:spPr>
            <a:xfrm>
              <a:off x="9939" y="713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5" name="Shape 80"/>
            <p:cNvSpPr/>
            <p:nvPr/>
          </p:nvSpPr>
          <p:spPr>
            <a:xfrm>
              <a:off x="10115" y="7352"/>
              <a:ext cx="243" cy="216"/>
            </a:xfrm>
            <a:custGeom>
              <a:avLst/>
              <a:gdLst/>
              <a:ahLst/>
              <a:cxnLst/>
              <a:rect l="l" t="t" r="r" b="b"/>
              <a:pathLst>
                <a:path w="154329" h="137181">
                  <a:moveTo>
                    <a:pt x="96670" y="322"/>
                  </a:moveTo>
                  <a:cubicBezTo>
                    <a:pt x="92115" y="-991"/>
                    <a:pt x="87373" y="1661"/>
                    <a:pt x="86060" y="6216"/>
                  </a:cubicBezTo>
                  <a:lnTo>
                    <a:pt x="51765" y="126250"/>
                  </a:lnTo>
                  <a:cubicBezTo>
                    <a:pt x="50452" y="130805"/>
                    <a:pt x="53104" y="135547"/>
                    <a:pt x="57659" y="136860"/>
                  </a:cubicBezTo>
                  <a:cubicBezTo>
                    <a:pt x="62214" y="138173"/>
                    <a:pt x="66956" y="135520"/>
                    <a:pt x="68269" y="130965"/>
                  </a:cubicBezTo>
                  <a:lnTo>
                    <a:pt x="102565" y="10932"/>
                  </a:lnTo>
                  <a:cubicBezTo>
                    <a:pt x="103877" y="6377"/>
                    <a:pt x="101225" y="1634"/>
                    <a:pt x="96670" y="322"/>
                  </a:cubicBezTo>
                  <a:close/>
                  <a:moveTo>
                    <a:pt x="113978" y="36787"/>
                  </a:moveTo>
                  <a:cubicBezTo>
                    <a:pt x="110629" y="40136"/>
                    <a:pt x="110629" y="45575"/>
                    <a:pt x="113978" y="48924"/>
                  </a:cubicBezTo>
                  <a:lnTo>
                    <a:pt x="133645" y="68591"/>
                  </a:lnTo>
                  <a:lnTo>
                    <a:pt x="113978" y="88257"/>
                  </a:lnTo>
                  <a:cubicBezTo>
                    <a:pt x="110629" y="91606"/>
                    <a:pt x="110629" y="97045"/>
                    <a:pt x="113978" y="100394"/>
                  </a:cubicBezTo>
                  <a:cubicBezTo>
                    <a:pt x="117328" y="103743"/>
                    <a:pt x="122767" y="103743"/>
                    <a:pt x="126116" y="100394"/>
                  </a:cubicBezTo>
                  <a:lnTo>
                    <a:pt x="151837" y="74673"/>
                  </a:lnTo>
                  <a:cubicBezTo>
                    <a:pt x="155186" y="71324"/>
                    <a:pt x="155186" y="65885"/>
                    <a:pt x="151837" y="62535"/>
                  </a:cubicBezTo>
                  <a:lnTo>
                    <a:pt x="126116" y="36814"/>
                  </a:lnTo>
                  <a:cubicBezTo>
                    <a:pt x="122767" y="33465"/>
                    <a:pt x="117328" y="33465"/>
                    <a:pt x="113978" y="36814"/>
                  </a:cubicBezTo>
                  <a:close/>
                  <a:moveTo>
                    <a:pt x="40377" y="36787"/>
                  </a:moveTo>
                  <a:cubicBezTo>
                    <a:pt x="37028" y="33438"/>
                    <a:pt x="31589" y="33438"/>
                    <a:pt x="28240" y="36787"/>
                  </a:cubicBezTo>
                  <a:lnTo>
                    <a:pt x="2519" y="62509"/>
                  </a:lnTo>
                  <a:cubicBezTo>
                    <a:pt x="-831" y="65858"/>
                    <a:pt x="-831" y="71297"/>
                    <a:pt x="2519" y="74646"/>
                  </a:cubicBezTo>
                  <a:lnTo>
                    <a:pt x="28240" y="100368"/>
                  </a:lnTo>
                  <a:cubicBezTo>
                    <a:pt x="31589" y="103717"/>
                    <a:pt x="37028" y="103717"/>
                    <a:pt x="40377" y="100368"/>
                  </a:cubicBezTo>
                  <a:cubicBezTo>
                    <a:pt x="43727" y="97018"/>
                    <a:pt x="43727" y="91579"/>
                    <a:pt x="40377" y="88230"/>
                  </a:cubicBezTo>
                  <a:lnTo>
                    <a:pt x="20711" y="68591"/>
                  </a:lnTo>
                  <a:lnTo>
                    <a:pt x="40351" y="48924"/>
                  </a:lnTo>
                  <a:cubicBezTo>
                    <a:pt x="43700" y="45575"/>
                    <a:pt x="43700" y="40136"/>
                    <a:pt x="40351" y="3678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6" name="Text 81"/>
            <p:cNvSpPr/>
            <p:nvPr/>
          </p:nvSpPr>
          <p:spPr>
            <a:xfrm>
              <a:off x="10479" y="7298"/>
              <a:ext cx="162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82"/>
            <p:cNvSpPr/>
            <p:nvPr/>
          </p:nvSpPr>
          <p:spPr>
            <a:xfrm>
              <a:off x="10101" y="767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 API,支持第三方集成和定制开发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8" name="Shape 83"/>
            <p:cNvSpPr/>
            <p:nvPr/>
          </p:nvSpPr>
          <p:spPr>
            <a:xfrm>
              <a:off x="9939" y="821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9" name="Shape 84"/>
            <p:cNvSpPr/>
            <p:nvPr/>
          </p:nvSpPr>
          <p:spPr>
            <a:xfrm>
              <a:off x="10101" y="8432"/>
              <a:ext cx="270" cy="216"/>
            </a:xfrm>
            <a:custGeom>
              <a:avLst/>
              <a:gdLst/>
              <a:ahLst/>
              <a:cxnLst/>
              <a:rect l="l" t="t" r="r" b="b"/>
              <a:pathLst>
                <a:path w="171477" h="137181">
                  <a:moveTo>
                    <a:pt x="94312" y="0"/>
                  </a:moveTo>
                  <a:cubicBezTo>
                    <a:pt x="94312" y="-4742"/>
                    <a:pt x="90481" y="-8574"/>
                    <a:pt x="85738" y="-8574"/>
                  </a:cubicBezTo>
                  <a:cubicBezTo>
                    <a:pt x="80996" y="-8574"/>
                    <a:pt x="77165" y="-4742"/>
                    <a:pt x="77165" y="0"/>
                  </a:cubicBezTo>
                  <a:lnTo>
                    <a:pt x="77165" y="17148"/>
                  </a:lnTo>
                  <a:lnTo>
                    <a:pt x="51443" y="17148"/>
                  </a:lnTo>
                  <a:cubicBezTo>
                    <a:pt x="37243" y="17148"/>
                    <a:pt x="25722" y="28669"/>
                    <a:pt x="25722" y="42869"/>
                  </a:cubicBezTo>
                  <a:lnTo>
                    <a:pt x="25722" y="102886"/>
                  </a:lnTo>
                  <a:cubicBezTo>
                    <a:pt x="25722" y="117086"/>
                    <a:pt x="37243" y="128608"/>
                    <a:pt x="51443" y="128608"/>
                  </a:cubicBezTo>
                  <a:lnTo>
                    <a:pt x="120034" y="128608"/>
                  </a:lnTo>
                  <a:cubicBezTo>
                    <a:pt x="134234" y="128608"/>
                    <a:pt x="145755" y="117086"/>
                    <a:pt x="145755" y="102886"/>
                  </a:cubicBezTo>
                  <a:lnTo>
                    <a:pt x="145755" y="42869"/>
                  </a:lnTo>
                  <a:cubicBezTo>
                    <a:pt x="145755" y="28669"/>
                    <a:pt x="134234" y="17148"/>
                    <a:pt x="120034" y="17148"/>
                  </a:cubicBezTo>
                  <a:lnTo>
                    <a:pt x="94312" y="17148"/>
                  </a:lnTo>
                  <a:lnTo>
                    <a:pt x="94312" y="0"/>
                  </a:lnTo>
                  <a:close/>
                  <a:moveTo>
                    <a:pt x="42869" y="98599"/>
                  </a:moveTo>
                  <a:cubicBezTo>
                    <a:pt x="42869" y="95036"/>
                    <a:pt x="45736" y="92169"/>
                    <a:pt x="49300" y="92169"/>
                  </a:cubicBezTo>
                  <a:lnTo>
                    <a:pt x="57873" y="92169"/>
                  </a:lnTo>
                  <a:cubicBezTo>
                    <a:pt x="61437" y="92169"/>
                    <a:pt x="64304" y="95036"/>
                    <a:pt x="64304" y="98599"/>
                  </a:cubicBezTo>
                  <a:cubicBezTo>
                    <a:pt x="64304" y="102163"/>
                    <a:pt x="61437" y="105030"/>
                    <a:pt x="57873" y="105030"/>
                  </a:cubicBezTo>
                  <a:lnTo>
                    <a:pt x="49300" y="105030"/>
                  </a:lnTo>
                  <a:cubicBezTo>
                    <a:pt x="45736" y="105030"/>
                    <a:pt x="42869" y="102163"/>
                    <a:pt x="42869" y="98599"/>
                  </a:cubicBezTo>
                  <a:close/>
                  <a:moveTo>
                    <a:pt x="75021" y="98599"/>
                  </a:moveTo>
                  <a:cubicBezTo>
                    <a:pt x="75021" y="95036"/>
                    <a:pt x="77888" y="92169"/>
                    <a:pt x="81451" y="92169"/>
                  </a:cubicBezTo>
                  <a:lnTo>
                    <a:pt x="90025" y="92169"/>
                  </a:lnTo>
                  <a:cubicBezTo>
                    <a:pt x="93589" y="92169"/>
                    <a:pt x="96456" y="95036"/>
                    <a:pt x="96456" y="98599"/>
                  </a:cubicBezTo>
                  <a:cubicBezTo>
                    <a:pt x="96456" y="102163"/>
                    <a:pt x="93589" y="105030"/>
                    <a:pt x="90025" y="105030"/>
                  </a:cubicBezTo>
                  <a:lnTo>
                    <a:pt x="81451" y="105030"/>
                  </a:lnTo>
                  <a:cubicBezTo>
                    <a:pt x="77888" y="105030"/>
                    <a:pt x="75021" y="102163"/>
                    <a:pt x="75021" y="98599"/>
                  </a:cubicBezTo>
                  <a:close/>
                  <a:moveTo>
                    <a:pt x="107173" y="98599"/>
                  </a:moveTo>
                  <a:cubicBezTo>
                    <a:pt x="107173" y="95036"/>
                    <a:pt x="110040" y="92169"/>
                    <a:pt x="113603" y="92169"/>
                  </a:cubicBezTo>
                  <a:lnTo>
                    <a:pt x="122177" y="92169"/>
                  </a:lnTo>
                  <a:cubicBezTo>
                    <a:pt x="125741" y="92169"/>
                    <a:pt x="128608" y="95036"/>
                    <a:pt x="128608" y="98599"/>
                  </a:cubicBezTo>
                  <a:cubicBezTo>
                    <a:pt x="128608" y="102163"/>
                    <a:pt x="125741" y="105030"/>
                    <a:pt x="122177" y="105030"/>
                  </a:cubicBezTo>
                  <a:lnTo>
                    <a:pt x="113603" y="105030"/>
                  </a:lnTo>
                  <a:cubicBezTo>
                    <a:pt x="110040" y="105030"/>
                    <a:pt x="107173" y="102163"/>
                    <a:pt x="107173" y="98599"/>
                  </a:cubicBezTo>
                  <a:close/>
                  <a:moveTo>
                    <a:pt x="60017" y="47156"/>
                  </a:moveTo>
                  <a:cubicBezTo>
                    <a:pt x="67115" y="47156"/>
                    <a:pt x="72878" y="52919"/>
                    <a:pt x="72878" y="60017"/>
                  </a:cubicBezTo>
                  <a:cubicBezTo>
                    <a:pt x="72878" y="67115"/>
                    <a:pt x="67115" y="72878"/>
                    <a:pt x="60017" y="72878"/>
                  </a:cubicBezTo>
                  <a:cubicBezTo>
                    <a:pt x="52919" y="72878"/>
                    <a:pt x="47156" y="67115"/>
                    <a:pt x="47156" y="60017"/>
                  </a:cubicBezTo>
                  <a:cubicBezTo>
                    <a:pt x="47156" y="52919"/>
                    <a:pt x="52919" y="47156"/>
                    <a:pt x="60017" y="47156"/>
                  </a:cubicBezTo>
                  <a:close/>
                  <a:moveTo>
                    <a:pt x="98599" y="60017"/>
                  </a:moveTo>
                  <a:cubicBezTo>
                    <a:pt x="98599" y="52919"/>
                    <a:pt x="104362" y="47156"/>
                    <a:pt x="111460" y="47156"/>
                  </a:cubicBezTo>
                  <a:cubicBezTo>
                    <a:pt x="118558" y="47156"/>
                    <a:pt x="124321" y="52919"/>
                    <a:pt x="124321" y="60017"/>
                  </a:cubicBezTo>
                  <a:cubicBezTo>
                    <a:pt x="124321" y="67115"/>
                    <a:pt x="118558" y="72878"/>
                    <a:pt x="111460" y="72878"/>
                  </a:cubicBezTo>
                  <a:cubicBezTo>
                    <a:pt x="104362" y="72878"/>
                    <a:pt x="98599" y="67115"/>
                    <a:pt x="98599" y="60017"/>
                  </a:cubicBezTo>
                  <a:close/>
                  <a:moveTo>
                    <a:pt x="17148" y="60017"/>
                  </a:moveTo>
                  <a:cubicBezTo>
                    <a:pt x="17148" y="55274"/>
                    <a:pt x="13316" y="51443"/>
                    <a:pt x="8574" y="51443"/>
                  </a:cubicBezTo>
                  <a:cubicBezTo>
                    <a:pt x="3831" y="51443"/>
                    <a:pt x="0" y="55274"/>
                    <a:pt x="0" y="60017"/>
                  </a:cubicBezTo>
                  <a:lnTo>
                    <a:pt x="0" y="85738"/>
                  </a:lnTo>
                  <a:cubicBezTo>
                    <a:pt x="0" y="90481"/>
                    <a:pt x="3831" y="94312"/>
                    <a:pt x="8574" y="94312"/>
                  </a:cubicBezTo>
                  <a:cubicBezTo>
                    <a:pt x="13316" y="94312"/>
                    <a:pt x="17148" y="90481"/>
                    <a:pt x="17148" y="85738"/>
                  </a:cubicBezTo>
                  <a:lnTo>
                    <a:pt x="17148" y="60017"/>
                  </a:lnTo>
                  <a:close/>
                  <a:moveTo>
                    <a:pt x="162903" y="51443"/>
                  </a:moveTo>
                  <a:cubicBezTo>
                    <a:pt x="158161" y="51443"/>
                    <a:pt x="154329" y="55274"/>
                    <a:pt x="154329" y="60017"/>
                  </a:cubicBezTo>
                  <a:lnTo>
                    <a:pt x="154329" y="85738"/>
                  </a:lnTo>
                  <a:cubicBezTo>
                    <a:pt x="154329" y="90481"/>
                    <a:pt x="158161" y="94312"/>
                    <a:pt x="162903" y="94312"/>
                  </a:cubicBezTo>
                  <a:cubicBezTo>
                    <a:pt x="167645" y="94312"/>
                    <a:pt x="171477" y="90481"/>
                    <a:pt x="171477" y="85738"/>
                  </a:cubicBezTo>
                  <a:lnTo>
                    <a:pt x="171477" y="60017"/>
                  </a:lnTo>
                  <a:cubicBezTo>
                    <a:pt x="171477" y="55274"/>
                    <a:pt x="167645" y="51443"/>
                    <a:pt x="162903" y="51443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0" name="Text 85"/>
            <p:cNvSpPr/>
            <p:nvPr/>
          </p:nvSpPr>
          <p:spPr>
            <a:xfrm>
              <a:off x="10479" y="8395"/>
              <a:ext cx="1937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多LLM支持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Text 86"/>
            <p:cNvSpPr/>
            <p:nvPr/>
          </p:nvSpPr>
          <p:spPr>
            <a:xfrm>
              <a:off x="10101" y="875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OpenAI、Google AI、阿里百炼、DeepSeek等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2" name="Shape 87"/>
            <p:cNvSpPr/>
            <p:nvPr/>
          </p:nvSpPr>
          <p:spPr>
            <a:xfrm>
              <a:off x="9939" y="929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103" name="Shape 88"/>
            <p:cNvSpPr/>
            <p:nvPr/>
          </p:nvSpPr>
          <p:spPr>
            <a:xfrm>
              <a:off x="10142" y="9512"/>
              <a:ext cx="189" cy="216"/>
            </a:xfrm>
            <a:custGeom>
              <a:avLst/>
              <a:gdLst/>
              <a:ahLst/>
              <a:cxnLst/>
              <a:rect l="l" t="t" r="r" b="b"/>
              <a:pathLst>
                <a:path w="120034" h="137181">
                  <a:moveTo>
                    <a:pt x="120034" y="55141"/>
                  </a:moveTo>
                  <a:cubicBezTo>
                    <a:pt x="116068" y="57766"/>
                    <a:pt x="111514" y="59883"/>
                    <a:pt x="106771" y="61571"/>
                  </a:cubicBezTo>
                  <a:cubicBezTo>
                    <a:pt x="94178" y="66072"/>
                    <a:pt x="77647" y="68591"/>
                    <a:pt x="60017" y="68591"/>
                  </a:cubicBezTo>
                  <a:cubicBezTo>
                    <a:pt x="42387" y="68591"/>
                    <a:pt x="25829" y="66045"/>
                    <a:pt x="13263" y="61571"/>
                  </a:cubicBezTo>
                  <a:cubicBezTo>
                    <a:pt x="8547" y="59883"/>
                    <a:pt x="3965" y="57766"/>
                    <a:pt x="0" y="55141"/>
                  </a:cubicBezTo>
                  <a:lnTo>
                    <a:pt x="0" y="77165"/>
                  </a:lnTo>
                  <a:cubicBezTo>
                    <a:pt x="0" y="89007"/>
                    <a:pt x="26874" y="98599"/>
                    <a:pt x="60017" y="98599"/>
                  </a:cubicBezTo>
                  <a:cubicBezTo>
                    <a:pt x="93160" y="98599"/>
                    <a:pt x="120034" y="89007"/>
                    <a:pt x="120034" y="77165"/>
                  </a:cubicBezTo>
                  <a:lnTo>
                    <a:pt x="120034" y="55141"/>
                  </a:lnTo>
                  <a:close/>
                  <a:moveTo>
                    <a:pt x="120034" y="34295"/>
                  </a:moveTo>
                  <a:lnTo>
                    <a:pt x="120034" y="21435"/>
                  </a:lnTo>
                  <a:cubicBezTo>
                    <a:pt x="120034" y="9592"/>
                    <a:pt x="93160" y="0"/>
                    <a:pt x="60017" y="0"/>
                  </a:cubicBezTo>
                  <a:cubicBezTo>
                    <a:pt x="26874" y="0"/>
                    <a:pt x="0" y="9592"/>
                    <a:pt x="0" y="21435"/>
                  </a:cubicBezTo>
                  <a:lnTo>
                    <a:pt x="0" y="34295"/>
                  </a:lnTo>
                  <a:cubicBezTo>
                    <a:pt x="0" y="46138"/>
                    <a:pt x="26874" y="55730"/>
                    <a:pt x="60017" y="55730"/>
                  </a:cubicBezTo>
                  <a:cubicBezTo>
                    <a:pt x="93160" y="55730"/>
                    <a:pt x="120034" y="46138"/>
                    <a:pt x="120034" y="34295"/>
                  </a:cubicBezTo>
                  <a:close/>
                  <a:moveTo>
                    <a:pt x="106771" y="104440"/>
                  </a:moveTo>
                  <a:cubicBezTo>
                    <a:pt x="94205" y="108915"/>
                    <a:pt x="77674" y="111460"/>
                    <a:pt x="60017" y="111460"/>
                  </a:cubicBezTo>
                  <a:cubicBezTo>
                    <a:pt x="42360" y="111460"/>
                    <a:pt x="25829" y="108915"/>
                    <a:pt x="13263" y="104440"/>
                  </a:cubicBezTo>
                  <a:cubicBezTo>
                    <a:pt x="8547" y="102752"/>
                    <a:pt x="3965" y="100635"/>
                    <a:pt x="0" y="98010"/>
                  </a:cubicBezTo>
                  <a:lnTo>
                    <a:pt x="0" y="115747"/>
                  </a:lnTo>
                  <a:cubicBezTo>
                    <a:pt x="0" y="127589"/>
                    <a:pt x="26874" y="137181"/>
                    <a:pt x="60017" y="137181"/>
                  </a:cubicBezTo>
                  <a:cubicBezTo>
                    <a:pt x="93160" y="137181"/>
                    <a:pt x="120034" y="127589"/>
                    <a:pt x="120034" y="115747"/>
                  </a:cubicBezTo>
                  <a:lnTo>
                    <a:pt x="120034" y="98010"/>
                  </a:lnTo>
                  <a:cubicBezTo>
                    <a:pt x="116068" y="100635"/>
                    <a:pt x="111514" y="102752"/>
                    <a:pt x="106771" y="10444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4" name="Text 89"/>
            <p:cNvSpPr/>
            <p:nvPr/>
          </p:nvSpPr>
          <p:spPr>
            <a:xfrm>
              <a:off x="10479" y="9459"/>
              <a:ext cx="17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多数据源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Text 90"/>
            <p:cNvSpPr/>
            <p:nvPr/>
          </p:nvSpPr>
          <p:spPr>
            <a:xfrm>
              <a:off x="10101" y="983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Tushare、AKShare、BaoStock、FinnHub等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96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构建覆盖基本面、技术面、消息面与情绪面的四维智能分析引擎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276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4024313"/>
            <a:ext cx="8858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投资分析体系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基本面分析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财务数据解读，分析营收、利润、现金流等指标评估企业健康度。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9100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估值模型应用，使用PE、DCF等方法判断企业内在价值。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19100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盈利能力评估，衡量ROE、毛利率等指标预测长期收益能力。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81275" y="34671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技术面分析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9100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趋势识别，利用MA判断价格长期方向与支撑阻力位。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9100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动量指标分析，通过RSI探测超买超卖状态。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9100" y="47529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交易信号生成，结合MACD交叉点优化买卖时机决策。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81275" y="53816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消息面监测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9100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新闻动态追踪，实时获取政策、并购、财报等关键事件。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19100" y="62103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事件影响量化，评估外部消息对股价波动的潜在冲击。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76950" y="2009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情绪面分析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9338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社交媒体监控，抓取微博、雪球等平台用户情感倾向。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29338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群体行为识别，捕捉散户情绪高涨或恐慌抛售的前兆信号。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076950" y="3467100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多维研判整合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29338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策略协同优化，融合基本面与技术面提高决策置信度。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129338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热点驱动捕捉，结合情绪与消息面发现短期市场焦点。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076950" y="4924425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风险控制管理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29338" y="52959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回撤监控预警，设定最大亏损阈值保护投资本金安全。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129338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仓位动态调整，依据市场信号变化合理分配资产比例。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支持批量分析、自选股监控、模拟交易与报告导出的企业级功能闭环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105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多股批量分析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支持同时分析多只股票，提升研究覆盖范围，加快投研决策速度。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行业轮动研究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辅助识别行业间强弱变化，把握周期切换机会，优化资产配置方向。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自定义分组监控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用户可灵活创建股票组合，便于分类管理，提高监控针对性。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实时价格追踪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及时捕捉股价异常波动，快速响应市场变化，防范潜在风险。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风险信号预警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自动识别技术或基本面风险信号，提供前置化风险提示。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动态资产配置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根据市场变化调整持仓结构，增强组合适应性，提升收益稳定性。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模拟交易环境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提供虚拟交易场景，用于验证投资策略，减少实盘试错成本。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策略回测测试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支持历史数据回测，评估策略有效性，优化参数设置。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通过多智能体协作机制模拟专业投资团队，实现机构级分析平民化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4个专业分析师并行工作，覆盖基本面、技术面、消息面与情绪面，提升分析效率10倍。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0273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结构化辩论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09324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看涨与看跌研究员观点交锋，通过多角度论证减少决策偏差30%。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决策平民化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将机构级投研流程AI化，让个人投资者也能获得专业、客观的分析支持。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面向个人与机构用户提供可解释、多维度、高效率的投资决策支持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82880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可解释决策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每份报告均生成自然语言推理链，清晰展示分析逻辑与依据，确保决策过程透明可信。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82880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四维全覆盖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融合基本面、技术面、消息面、情绪面数据，提供全方位投资视角，避免单一维度盲区。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82880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分钟级响应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AI驱动并行分析，单只股票深度分析仅需数分钟，相较人工投研效率提升10倍以上。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市场竞争优势分析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292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相较传统量化系统：具备深度理解能力与高可解释性，避免黑箱决策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609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语义解析能力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利用大语言模型解析非结构化数据。精准提取财报、新闻等深层信号。实现对复杂文本的深度理解。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信息来源多样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整合财报、新闻及社交媒体数据。覆盖多渠道非结构化信息源。提升分析全面性与实时性。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多个智能体分工处理不同任务。通过协作增强推理逻辑性。降低单一模型带来的偏差风险。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智能体间相互验证分析结果。提高判断准确性与可靠性。增强系统整体决策稳健性。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推理过程透明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全程记录分析逻辑与依据。确保每一步推导可追溯可审计。提升系统可信度与合规性。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决策链条完整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从数据输入到输出结论闭环。清晰展现分析路径与演变过程。支持监管审查与用户理解。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自然语言生成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将AI推理结果转化为自然语言。生成人类可读的分析报告。提升结果传达效率与易懂性。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可解释性增强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明确展示关键判断依据。让决策过程不再黑箱化。加强用户对系统的信任感。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333" r="8333"/>
          <a:stretch>
            <a:fillRect/>
          </a:stretch>
        </p:blipFill>
        <p:spPr>
          <a:xfrm>
            <a:off x="0" y="0"/>
            <a:ext cx="9144000" cy="6172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相较人工投研：分析效率提升10倍以上，支持全球化市场同步覆盖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8145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智能高效分析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5067002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利用智能化技术将单只股票分析时间从小时级缩短至分钟级，效率提升超十倍。通过并行智能体架构大幅提升数据处理速度，实现快速响应与决策支持。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8320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四体并行加速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40844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依托四个并行智能体协同工作，显著提高计算与分析吞吐能力。各智能体分工明确，保障系统高效稳定运行。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84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全域市场覆盖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31018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全面覆盖A股、港股及美股三大市场，打破市场边界限制。支持跨市场对比分析，提升投资策略的广度与深度。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多语数据采集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实时采集多语言金融数据，消除地域信息壁垒。确保全球资讯无缝对接，增强信息获取的及时性与完整性。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全天候监控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2240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支持7×24小时不间断监控自选股动态，无遗漏捕捉关键变化。适用于全球不同时区市场，保障持续跟踪。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9542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事件自动追踪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206651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自动识别并追踪重大财经事件，快速关联影响个股。帮助用户第一时间掌握潜在风险与机会。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93680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情绪变化监测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4189214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实时分析市场情绪波动，识别舆论倾向转变。结合情绪数据优化交易策略，提升决策科学性。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91936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投资决策支持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517177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整合多维数据提供全天候决策支持，增强应对市场突变的能力。助力投资者实现更精准、高效的资产配置。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构建‘速度×深度×透明度’三位一体优势，确立新一代智能投研标准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极速分析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分钟级完成多维度股票分析，相较人工投研效率提升10倍以上，支持实时市场响应。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84785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深度洞察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通过多智能体辩论与融合分析，实现机构级研究深度，超越传统量化模型的规则局限。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全程可追溯的自然语言报告，清晰呈现分析逻辑与依据，满足合规与信任双重需求。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商业模式与盈利路径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四维收入模型：SaaS订阅、按量付费、私有化部署与数据服务协同发展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9435"/>
            <a:ext cx="8382000" cy="23710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630" y="3426460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SaaS订阅模式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630" y="367919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提供年费订阅服务，覆盖个人与机构用户，获取核心分析功能。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630" y="266001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按量付费机制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630" y="291211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支持按调用次数计费，满足轻量或间歇性使用需求，提升使用灵活性。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630" y="189293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630" y="214566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为金融机构提供本地化部署方案，保障数据安全与系统稳定性。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805" y="189293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一次性授权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805" y="214566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私有化部署采用买断式授权，满足合规与定制化集成要求。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805" y="266001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收入模式多元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805" y="291211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结合订阅、按量与授权收费，构建稳定且可扩展的收入结构。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805" y="3426460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兼顾灵活安全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805" y="367919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平衡灵活性、安全性与可扩展性，适应不同用户场景需求。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分层定价策略精准匹配个人投资者至大型金融机构的差异化需求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个人版订阅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年费500-2000元，提供基础分析功能，满足散户日常投资决策需求。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机构标准版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年费5万-50万元，支持批量分析、API接入，适配中小型投研团队。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企业定制化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50万-500万元私有化部署，深度集成内部系统，保障数据安全与合规。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按需付费模式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单次分析10-50元，灵活适用于临时研究需求，降低使用门槛。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三年财务预测显示规模化后利润率可达60%，具备强劲盈利能力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用户增长目标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三年内将用户规模从1,000名扩展至20,000名。实现用户数量的指数级增长。奠定市场扩张基础。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收入提升规划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推动年收入从500万元增长至2亿元。保持高速增长节奏。匹配用户规模扩张步伐。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成本控制策略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依托规模效应抑制成本过快增长。优化运营效率。保障利润空间持续扩大。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盈利目标设定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第三年实现1.2亿元净利润。达到60%的高利润率水平。体现强盈利能力。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ARPU值提升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将每用户平均收入提升至10,000元。反映价值挖掘能力增强。支持收入与利润双增长。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可持续增长模型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构建可复制、可扩展的业务模式。实现增长与盈利的良性循环。形成指数级发展动力。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34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075" r="8075"/>
          <a:stretch>
            <a:fillRect/>
          </a:stretch>
        </p:blipFill>
        <p:spPr>
          <a:xfrm>
            <a:off x="0" y="0"/>
            <a:ext cx="9144000" cy="6134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三阶段用户增长路径：从种子用户培育到企业级生态平台演进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514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9763" y="354330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33838" y="16954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初期获客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00663" y="14668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免费试用吸引用户，降低使用门槛。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00663" y="17145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积累千名种子用户，验证产品价值。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00663" y="19621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建立社区口碑，促进自然传播。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033838" y="25336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产品打磨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00663" y="23050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收集用户反馈，优化核心功能。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00663" y="25527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提升用户体验，增强用户粘性。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300663" y="28003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形成初步产品闭环，支撑后续扩展。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033838" y="33718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市场扩张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00663" y="31432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通过渠道合作触达更广用户群体。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300663" y="339090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内容营销建立专业形象与信任感。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300663" y="36385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实现五千名付费用户，验证商业模式。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033838" y="40862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企业服务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00663" y="39814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组建销售团队，对接企业客户需求。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00663" y="422910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推出行业定制方案，提升解决方案深度。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033838" y="4676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生态构建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00663" y="45720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打造开放平台，支持第三方集成。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300663" y="48196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吸引开发者与伙伴，丰富生态能力。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033838" y="53911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长期发展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300663" y="516255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以客户成功为核心，提升续费率。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300663" y="541020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持续功能迭代，保持产品竞争力。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300663" y="565785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强化品牌建设，扩大行业影响力。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内容营销+渠道合作双轮驱动，联合券商、云厂商与数据服务商共建生态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内容获客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通过投资教育、技术博客和视频教程建立专业形象，吸引高价值用户持续关注并转化。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84785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渠道联动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与券商、云厂商及数据服务商合作，嵌入其服务体系，实现客户资源互补与联合推广。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84785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生态协同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接入Tushare、阿里云等平台生态，提升数据与技术可信度，增强产品整合竞争力。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184785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品牌共建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联合行业伙伴举办线上峰会、开发者大会，扩大影响力，打造AI金融分析领域标杆品牌。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2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3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4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5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6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7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8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9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0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1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2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3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4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5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6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7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8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9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0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1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9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0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9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0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1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2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3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6014</Words>
  <Application>WPS 演示</Application>
  <PresentationFormat>On-screen Show (16:9)</PresentationFormat>
  <Paragraphs>758</Paragraphs>
  <Slides>27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MiSans</vt:lpstr>
      <vt:lpstr>MiSans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杨琦</cp:lastModifiedBy>
  <cp:revision>6</cp:revision>
  <dcterms:created xsi:type="dcterms:W3CDTF">2026-02-13T11:27:00Z</dcterms:created>
  <dcterms:modified xsi:type="dcterms:W3CDTF">2026-03-07T06:17:36Z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6E931FDF386841D8AE43F31308117083_12</vt:lpwstr>
  </property>
</Properties>
</file>
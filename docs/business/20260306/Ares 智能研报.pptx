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66" r:id="rId5"/>
    <p:sldId id="260" r:id="rId6"/>
    <p:sldId id="257" r:id="rId7"/>
    <p:sldId id="258" r:id="rId8"/>
    <p:sldId id="259" r:id="rId9"/>
    <p:sldId id="261" r:id="rId10"/>
    <p:sldId id="262" r:id="rId11"/>
    <p:sldId id="263" r:id="rId12"/>
    <p:sldId id="264" r:id="rId13"/>
    <p:sldId id="265" r:id="rId14"/>
    <p:sldId id="267" r:id="rId15"/>
  </p:sldIdLst>
  <p:sldSz cx="12192000" cy="6858000"/>
  <p:notesSz cx="6858000" cy="12192000"/>
  <p:embeddedFontLst>
    <p:embeddedFont>
      <p:font typeface="MiSans" pitchFamily="34" charset="-122"/>
      <p:regular r:id="rId19"/>
    </p:embeddedFont>
    <p:embeddedFont>
      <p:font typeface="MiSans" pitchFamily="34" charset="-120"/>
      <p:regular r:id="rId20"/>
    </p:embeddedFont>
    <p:embeddedFont>
      <p:font typeface="微软雅黑" panose="020B0503020204020204" pitchFamily="34" charset="-122"/>
      <p:regular r:id="rId21"/>
    </p:embeddedFont>
    <p:embeddedFont>
      <p:font typeface="微软雅黑" panose="020B0503020204020204" pitchFamily="34" charset="-120"/>
      <p:regular r:id="rId22"/>
    </p:embeddedFont>
    <p:embeddedFont>
      <p:font typeface="Calibri" panose="020F0502020204030204" charset="0"/>
      <p:regular r:id="rId23"/>
      <p:bold r:id="rId24"/>
      <p:italic r:id="rId25"/>
      <p:boldItalic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font" Target="fonts/font8.fntdata"/><Relationship Id="rId25" Type="http://schemas.openxmlformats.org/officeDocument/2006/relationships/font" Target="fonts/font7.fntdata"/><Relationship Id="rId24" Type="http://schemas.openxmlformats.org/officeDocument/2006/relationships/font" Target="fonts/font6.fntdata"/><Relationship Id="rId23" Type="http://schemas.openxmlformats.org/officeDocument/2006/relationships/font" Target="fonts/font5.fntdata"/><Relationship Id="rId22" Type="http://schemas.openxmlformats.org/officeDocument/2006/relationships/font" Target="fonts/font4.fntdata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presentationgo.com/e571232c06dfc03d533c300c9599ac5a728f4219.png"/>
          <p:cNvPicPr>
            <a:picLocks noChangeAspect="1"/>
          </p:cNvPicPr>
          <p:nvPr/>
        </p:nvPicPr>
        <p:blipFill>
          <a:blip r:embed="rId1">
            <a:alphaModFix amt="30000"/>
          </a:blip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>
                  <a:alpha val="80000"/>
                </a:srgbClr>
              </a:gs>
              <a:gs pos="50000">
                <a:srgbClr val="4A6C8C">
                  <a:alpha val="20000"/>
                </a:srgbClr>
              </a:gs>
              <a:gs pos="100000">
                <a:srgbClr val="1A1D24">
                  <a:alpha val="90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385763" y="966788"/>
            <a:ext cx="3400425" cy="428625"/>
          </a:xfrm>
          <a:custGeom>
            <a:avLst/>
            <a:gdLst/>
            <a:ahLst/>
            <a:cxnLst/>
            <a:rect l="l" t="t" r="r" b="b"/>
            <a:pathLst>
              <a:path w="3400425" h="428625">
                <a:moveTo>
                  <a:pt x="76201" y="0"/>
                </a:moveTo>
                <a:lnTo>
                  <a:pt x="3324224" y="0"/>
                </a:lnTo>
                <a:cubicBezTo>
                  <a:pt x="3366309" y="0"/>
                  <a:pt x="3400425" y="34116"/>
                  <a:pt x="3400425" y="76201"/>
                </a:cubicBezTo>
                <a:lnTo>
                  <a:pt x="3400425" y="352424"/>
                </a:lnTo>
                <a:cubicBezTo>
                  <a:pt x="3400425" y="394509"/>
                  <a:pt x="3366309" y="428625"/>
                  <a:pt x="3324224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 w="1270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925" y="1066800"/>
            <a:ext cx="316929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68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INTELLIGENT FINANCIAL ANALYSIS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857375"/>
            <a:ext cx="1188720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Ares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4A6C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智能研报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37197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D4A373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sp>
        <p:nvSpPr>
          <p:cNvPr id="8" name="Text 5"/>
          <p:cNvSpPr/>
          <p:nvPr/>
        </p:nvSpPr>
        <p:spPr>
          <a:xfrm>
            <a:off x="381000" y="4714875"/>
            <a:ext cx="115728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基于多智能体AI的智能金融分析平台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5210175"/>
            <a:ext cx="11525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D99AE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让AI成为您的专业投资顾问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04813" y="61722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11" name="Text 8"/>
          <p:cNvSpPr/>
          <p:nvPr/>
        </p:nvSpPr>
        <p:spPr>
          <a:xfrm>
            <a:off x="695325" y="6153150"/>
            <a:ext cx="990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多智能体协作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938337" y="61722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13" name="Text 10"/>
          <p:cNvSpPr/>
          <p:nvPr/>
        </p:nvSpPr>
        <p:spPr>
          <a:xfrm>
            <a:off x="2228850" y="6153150"/>
            <a:ext cx="8191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AI驱动分析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303463" y="61722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15" name="Text 12"/>
          <p:cNvSpPr/>
          <p:nvPr/>
        </p:nvSpPr>
        <p:spPr>
          <a:xfrm>
            <a:off x="3593976" y="6153150"/>
            <a:ext cx="838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专业级决策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201400" y="6057900"/>
            <a:ext cx="60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2025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210925" y="6286500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商业演示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0578" y="407635"/>
            <a:ext cx="37058" cy="296462"/>
          </a:xfrm>
          <a:custGeom>
            <a:avLst/>
            <a:gdLst/>
            <a:ahLst/>
            <a:cxnLst/>
            <a:rect l="l" t="t" r="r" b="b"/>
            <a:pathLst>
              <a:path w="37058" h="296462">
                <a:moveTo>
                  <a:pt x="0" y="0"/>
                </a:moveTo>
                <a:lnTo>
                  <a:pt x="37058" y="0"/>
                </a:lnTo>
                <a:lnTo>
                  <a:pt x="37058" y="296462"/>
                </a:lnTo>
                <a:lnTo>
                  <a:pt x="0" y="296462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3" name="Text 1"/>
          <p:cNvSpPr/>
          <p:nvPr/>
        </p:nvSpPr>
        <p:spPr>
          <a:xfrm>
            <a:off x="518809" y="370578"/>
            <a:ext cx="3168438" cy="3705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2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技术架构与数据流程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18809" y="815271"/>
            <a:ext cx="11376729" cy="2223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Technical Architecture &amp; Data Flow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5210" y="1190480"/>
            <a:ext cx="6772304" cy="5660571"/>
          </a:xfrm>
          <a:custGeom>
            <a:avLst/>
            <a:gdLst/>
            <a:ahLst/>
            <a:cxnLst/>
            <a:rect l="l" t="t" r="r" b="b"/>
            <a:pathLst>
              <a:path w="6772304" h="5660571">
                <a:moveTo>
                  <a:pt x="111174" y="0"/>
                </a:moveTo>
                <a:lnTo>
                  <a:pt x="6661130" y="0"/>
                </a:lnTo>
                <a:cubicBezTo>
                  <a:pt x="6722530" y="0"/>
                  <a:pt x="6772304" y="49774"/>
                  <a:pt x="6772304" y="111174"/>
                </a:cubicBezTo>
                <a:lnTo>
                  <a:pt x="6772304" y="5549398"/>
                </a:lnTo>
                <a:cubicBezTo>
                  <a:pt x="6772304" y="5610797"/>
                  <a:pt x="6722530" y="5660571"/>
                  <a:pt x="6661130" y="5660571"/>
                </a:cubicBezTo>
                <a:lnTo>
                  <a:pt x="111174" y="5660571"/>
                </a:lnTo>
                <a:cubicBezTo>
                  <a:pt x="49774" y="5660571"/>
                  <a:pt x="0" y="5610797"/>
                  <a:pt x="0" y="5549398"/>
                </a:cubicBezTo>
                <a:lnTo>
                  <a:pt x="0" y="111174"/>
                </a:lnTo>
                <a:cubicBezTo>
                  <a:pt x="0" y="49815"/>
                  <a:pt x="49815" y="0"/>
                  <a:pt x="111174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1751" y="1343343"/>
            <a:ext cx="6559222" cy="2594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6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系统架构分层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2705" y="1718553"/>
            <a:ext cx="6457313" cy="1083939"/>
          </a:xfrm>
          <a:custGeom>
            <a:avLst/>
            <a:gdLst/>
            <a:ahLst/>
            <a:cxnLst/>
            <a:rect l="l" t="t" r="r" b="b"/>
            <a:pathLst>
              <a:path w="6457313" h="1083939">
                <a:moveTo>
                  <a:pt x="74120" y="0"/>
                </a:moveTo>
                <a:lnTo>
                  <a:pt x="6383193" y="0"/>
                </a:lnTo>
                <a:cubicBezTo>
                  <a:pt x="6424129" y="0"/>
                  <a:pt x="6457313" y="33185"/>
                  <a:pt x="6457313" y="74120"/>
                </a:cubicBezTo>
                <a:lnTo>
                  <a:pt x="6457313" y="1009819"/>
                </a:lnTo>
                <a:cubicBezTo>
                  <a:pt x="6457313" y="1050755"/>
                  <a:pt x="6424129" y="1083939"/>
                  <a:pt x="6383193" y="1083939"/>
                </a:cubicBezTo>
                <a:lnTo>
                  <a:pt x="74120" y="1083939"/>
                </a:lnTo>
                <a:cubicBezTo>
                  <a:pt x="33185" y="1083939"/>
                  <a:pt x="0" y="1050755"/>
                  <a:pt x="0" y="1009819"/>
                </a:cubicBezTo>
                <a:lnTo>
                  <a:pt x="0" y="74120"/>
                </a:lnTo>
                <a:cubicBezTo>
                  <a:pt x="0" y="33212"/>
                  <a:pt x="33212" y="0"/>
                  <a:pt x="7412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 w="1270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8511" y="1834359"/>
            <a:ext cx="296462" cy="296462"/>
          </a:xfrm>
          <a:custGeom>
            <a:avLst/>
            <a:gdLst/>
            <a:ahLst/>
            <a:cxnLst/>
            <a:rect l="l" t="t" r="r" b="b"/>
            <a:pathLst>
              <a:path w="296462" h="296462">
                <a:moveTo>
                  <a:pt x="74116" y="0"/>
                </a:moveTo>
                <a:lnTo>
                  <a:pt x="222347" y="0"/>
                </a:lnTo>
                <a:cubicBezTo>
                  <a:pt x="263279" y="0"/>
                  <a:pt x="296462" y="33183"/>
                  <a:pt x="296462" y="74116"/>
                </a:cubicBezTo>
                <a:lnTo>
                  <a:pt x="296462" y="222347"/>
                </a:lnTo>
                <a:cubicBezTo>
                  <a:pt x="296462" y="263279"/>
                  <a:pt x="263279" y="296462"/>
                  <a:pt x="222347" y="296462"/>
                </a:cubicBezTo>
                <a:lnTo>
                  <a:pt x="74116" y="296462"/>
                </a:lnTo>
                <a:cubicBezTo>
                  <a:pt x="33183" y="296462"/>
                  <a:pt x="0" y="263279"/>
                  <a:pt x="0" y="222347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9" name="Text 7"/>
          <p:cNvSpPr/>
          <p:nvPr/>
        </p:nvSpPr>
        <p:spPr>
          <a:xfrm>
            <a:off x="616085" y="1834359"/>
            <a:ext cx="361313" cy="2964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0" b="1" dirty="0">
                <a:solidFill>
                  <a:srgbClr val="1A1D2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6146" y="1852888"/>
            <a:ext cx="917179" cy="2594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用户接入层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8511" y="2204936"/>
            <a:ext cx="2028912" cy="481751"/>
          </a:xfrm>
          <a:custGeom>
            <a:avLst/>
            <a:gdLst/>
            <a:ahLst/>
            <a:cxnLst/>
            <a:rect l="l" t="t" r="r" b="b"/>
            <a:pathLst>
              <a:path w="2028912" h="481751">
                <a:moveTo>
                  <a:pt x="37056" y="0"/>
                </a:moveTo>
                <a:lnTo>
                  <a:pt x="1991856" y="0"/>
                </a:lnTo>
                <a:cubicBezTo>
                  <a:pt x="2012321" y="0"/>
                  <a:pt x="2028912" y="16591"/>
                  <a:pt x="2028912" y="37056"/>
                </a:cubicBezTo>
                <a:lnTo>
                  <a:pt x="2028912" y="444694"/>
                </a:lnTo>
                <a:cubicBezTo>
                  <a:pt x="2028912" y="465146"/>
                  <a:pt x="2012307" y="481751"/>
                  <a:pt x="1991856" y="481751"/>
                </a:cubicBezTo>
                <a:lnTo>
                  <a:pt x="37056" y="481751"/>
                </a:lnTo>
                <a:cubicBezTo>
                  <a:pt x="16591" y="481751"/>
                  <a:pt x="0" y="465160"/>
                  <a:pt x="0" y="444694"/>
                </a:cubicBezTo>
                <a:lnTo>
                  <a:pt x="0" y="37056"/>
                </a:lnTo>
                <a:cubicBezTo>
                  <a:pt x="0" y="16604"/>
                  <a:pt x="16604" y="0"/>
                  <a:pt x="37056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690201" y="2279052"/>
            <a:ext cx="1945532" cy="1852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Web前端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4833" y="2464340"/>
            <a:ext cx="1936267" cy="1482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Vue 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47630" y="2204936"/>
            <a:ext cx="2028912" cy="481751"/>
          </a:xfrm>
          <a:custGeom>
            <a:avLst/>
            <a:gdLst/>
            <a:ahLst/>
            <a:cxnLst/>
            <a:rect l="l" t="t" r="r" b="b"/>
            <a:pathLst>
              <a:path w="2028912" h="481751">
                <a:moveTo>
                  <a:pt x="37056" y="0"/>
                </a:moveTo>
                <a:lnTo>
                  <a:pt x="1991856" y="0"/>
                </a:lnTo>
                <a:cubicBezTo>
                  <a:pt x="2012321" y="0"/>
                  <a:pt x="2028912" y="16591"/>
                  <a:pt x="2028912" y="37056"/>
                </a:cubicBezTo>
                <a:lnTo>
                  <a:pt x="2028912" y="444694"/>
                </a:lnTo>
                <a:cubicBezTo>
                  <a:pt x="2028912" y="465146"/>
                  <a:pt x="2012307" y="481751"/>
                  <a:pt x="1991856" y="481751"/>
                </a:cubicBezTo>
                <a:lnTo>
                  <a:pt x="37056" y="481751"/>
                </a:lnTo>
                <a:cubicBezTo>
                  <a:pt x="16591" y="481751"/>
                  <a:pt x="0" y="465160"/>
                  <a:pt x="0" y="444694"/>
                </a:cubicBezTo>
                <a:lnTo>
                  <a:pt x="0" y="37056"/>
                </a:lnTo>
                <a:cubicBezTo>
                  <a:pt x="0" y="16604"/>
                  <a:pt x="16604" y="0"/>
                  <a:pt x="37056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2789320" y="2279052"/>
            <a:ext cx="1945532" cy="1852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移动端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793952" y="2464340"/>
            <a:ext cx="1936267" cy="1482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规划中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46748" y="2204936"/>
            <a:ext cx="2028912" cy="481751"/>
          </a:xfrm>
          <a:custGeom>
            <a:avLst/>
            <a:gdLst/>
            <a:ahLst/>
            <a:cxnLst/>
            <a:rect l="l" t="t" r="r" b="b"/>
            <a:pathLst>
              <a:path w="2028912" h="481751">
                <a:moveTo>
                  <a:pt x="37056" y="0"/>
                </a:moveTo>
                <a:lnTo>
                  <a:pt x="1991856" y="0"/>
                </a:lnTo>
                <a:cubicBezTo>
                  <a:pt x="2012321" y="0"/>
                  <a:pt x="2028912" y="16591"/>
                  <a:pt x="2028912" y="37056"/>
                </a:cubicBezTo>
                <a:lnTo>
                  <a:pt x="2028912" y="444694"/>
                </a:lnTo>
                <a:cubicBezTo>
                  <a:pt x="2028912" y="465146"/>
                  <a:pt x="2012307" y="481751"/>
                  <a:pt x="1991856" y="481751"/>
                </a:cubicBezTo>
                <a:lnTo>
                  <a:pt x="37056" y="481751"/>
                </a:lnTo>
                <a:cubicBezTo>
                  <a:pt x="16591" y="481751"/>
                  <a:pt x="0" y="465160"/>
                  <a:pt x="0" y="444694"/>
                </a:cubicBezTo>
                <a:lnTo>
                  <a:pt x="0" y="37056"/>
                </a:lnTo>
                <a:cubicBezTo>
                  <a:pt x="0" y="16604"/>
                  <a:pt x="16604" y="0"/>
                  <a:pt x="37056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18" name="Text 16"/>
          <p:cNvSpPr/>
          <p:nvPr/>
        </p:nvSpPr>
        <p:spPr>
          <a:xfrm>
            <a:off x="4888438" y="2279052"/>
            <a:ext cx="1945532" cy="1852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API接口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93071" y="2464340"/>
            <a:ext cx="1936267" cy="1482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RESTful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32705" y="2885872"/>
            <a:ext cx="6457313" cy="787477"/>
          </a:xfrm>
          <a:custGeom>
            <a:avLst/>
            <a:gdLst/>
            <a:ahLst/>
            <a:cxnLst/>
            <a:rect l="l" t="t" r="r" b="b"/>
            <a:pathLst>
              <a:path w="6457313" h="787477">
                <a:moveTo>
                  <a:pt x="74117" y="0"/>
                </a:moveTo>
                <a:lnTo>
                  <a:pt x="6383196" y="0"/>
                </a:lnTo>
                <a:cubicBezTo>
                  <a:pt x="6424130" y="0"/>
                  <a:pt x="6457313" y="33183"/>
                  <a:pt x="6457313" y="74117"/>
                </a:cubicBezTo>
                <a:lnTo>
                  <a:pt x="6457313" y="713360"/>
                </a:lnTo>
                <a:cubicBezTo>
                  <a:pt x="6457313" y="754294"/>
                  <a:pt x="6424130" y="787477"/>
                  <a:pt x="6383196" y="787477"/>
                </a:cubicBezTo>
                <a:lnTo>
                  <a:pt x="74117" y="787477"/>
                </a:lnTo>
                <a:cubicBezTo>
                  <a:pt x="33183" y="787477"/>
                  <a:pt x="0" y="754294"/>
                  <a:pt x="0" y="713360"/>
                </a:cubicBezTo>
                <a:lnTo>
                  <a:pt x="0" y="74117"/>
                </a:lnTo>
                <a:cubicBezTo>
                  <a:pt x="0" y="33211"/>
                  <a:pt x="33211" y="0"/>
                  <a:pt x="74117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8511" y="3001678"/>
            <a:ext cx="296462" cy="296462"/>
          </a:xfrm>
          <a:custGeom>
            <a:avLst/>
            <a:gdLst/>
            <a:ahLst/>
            <a:cxnLst/>
            <a:rect l="l" t="t" r="r" b="b"/>
            <a:pathLst>
              <a:path w="296462" h="296462">
                <a:moveTo>
                  <a:pt x="74116" y="0"/>
                </a:moveTo>
                <a:lnTo>
                  <a:pt x="222347" y="0"/>
                </a:lnTo>
                <a:cubicBezTo>
                  <a:pt x="263279" y="0"/>
                  <a:pt x="296462" y="33183"/>
                  <a:pt x="296462" y="74116"/>
                </a:cubicBezTo>
                <a:lnTo>
                  <a:pt x="296462" y="222347"/>
                </a:lnTo>
                <a:cubicBezTo>
                  <a:pt x="296462" y="263279"/>
                  <a:pt x="263279" y="296462"/>
                  <a:pt x="222347" y="296462"/>
                </a:cubicBezTo>
                <a:lnTo>
                  <a:pt x="74116" y="296462"/>
                </a:lnTo>
                <a:cubicBezTo>
                  <a:pt x="33183" y="296462"/>
                  <a:pt x="0" y="263279"/>
                  <a:pt x="0" y="222347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22" name="Text 20"/>
          <p:cNvSpPr/>
          <p:nvPr/>
        </p:nvSpPr>
        <p:spPr>
          <a:xfrm>
            <a:off x="616085" y="3001678"/>
            <a:ext cx="361313" cy="2964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56146" y="3020207"/>
            <a:ext cx="917179" cy="2594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应用服务层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6085" y="3372255"/>
            <a:ext cx="6290553" cy="1852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FastAPI后端服务 | 认证授权 | 分析服务 | 数据服务 | 队列管理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32705" y="3756729"/>
            <a:ext cx="6457313" cy="787477"/>
          </a:xfrm>
          <a:custGeom>
            <a:avLst/>
            <a:gdLst/>
            <a:ahLst/>
            <a:cxnLst/>
            <a:rect l="l" t="t" r="r" b="b"/>
            <a:pathLst>
              <a:path w="6457313" h="787477">
                <a:moveTo>
                  <a:pt x="74117" y="0"/>
                </a:moveTo>
                <a:lnTo>
                  <a:pt x="6383196" y="0"/>
                </a:lnTo>
                <a:cubicBezTo>
                  <a:pt x="6424130" y="0"/>
                  <a:pt x="6457313" y="33183"/>
                  <a:pt x="6457313" y="74117"/>
                </a:cubicBezTo>
                <a:lnTo>
                  <a:pt x="6457313" y="713360"/>
                </a:lnTo>
                <a:cubicBezTo>
                  <a:pt x="6457313" y="754294"/>
                  <a:pt x="6424130" y="787477"/>
                  <a:pt x="6383196" y="787477"/>
                </a:cubicBezTo>
                <a:lnTo>
                  <a:pt x="74117" y="787477"/>
                </a:lnTo>
                <a:cubicBezTo>
                  <a:pt x="33183" y="787477"/>
                  <a:pt x="0" y="754294"/>
                  <a:pt x="0" y="713360"/>
                </a:cubicBezTo>
                <a:lnTo>
                  <a:pt x="0" y="74117"/>
                </a:lnTo>
                <a:cubicBezTo>
                  <a:pt x="0" y="33211"/>
                  <a:pt x="33211" y="0"/>
                  <a:pt x="74117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 w="12700">
            <a:solidFill>
              <a:srgbClr val="8D99AE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8511" y="3872535"/>
            <a:ext cx="296462" cy="296462"/>
          </a:xfrm>
          <a:custGeom>
            <a:avLst/>
            <a:gdLst/>
            <a:ahLst/>
            <a:cxnLst/>
            <a:rect l="l" t="t" r="r" b="b"/>
            <a:pathLst>
              <a:path w="296462" h="296462">
                <a:moveTo>
                  <a:pt x="74116" y="0"/>
                </a:moveTo>
                <a:lnTo>
                  <a:pt x="222347" y="0"/>
                </a:lnTo>
                <a:cubicBezTo>
                  <a:pt x="263279" y="0"/>
                  <a:pt x="296462" y="33183"/>
                  <a:pt x="296462" y="74116"/>
                </a:cubicBezTo>
                <a:lnTo>
                  <a:pt x="296462" y="222347"/>
                </a:lnTo>
                <a:cubicBezTo>
                  <a:pt x="296462" y="263279"/>
                  <a:pt x="263279" y="296462"/>
                  <a:pt x="222347" y="296462"/>
                </a:cubicBezTo>
                <a:lnTo>
                  <a:pt x="74116" y="296462"/>
                </a:lnTo>
                <a:cubicBezTo>
                  <a:pt x="33183" y="296462"/>
                  <a:pt x="0" y="263279"/>
                  <a:pt x="0" y="222347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27" name="Text 25"/>
          <p:cNvSpPr/>
          <p:nvPr/>
        </p:nvSpPr>
        <p:spPr>
          <a:xfrm>
            <a:off x="616085" y="3872535"/>
            <a:ext cx="361313" cy="2964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0" b="1" dirty="0">
                <a:solidFill>
                  <a:srgbClr val="1A1D2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56146" y="3891064"/>
            <a:ext cx="1083939" cy="2594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核心分析引擎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16085" y="4243112"/>
            <a:ext cx="6290553" cy="1852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TradingAgents多智能体框架 | 分析师 | 研究员 | 交易员 | 风险管理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32705" y="4627587"/>
            <a:ext cx="6457313" cy="935708"/>
          </a:xfrm>
          <a:custGeom>
            <a:avLst/>
            <a:gdLst/>
            <a:ahLst/>
            <a:cxnLst/>
            <a:rect l="l" t="t" r="r" b="b"/>
            <a:pathLst>
              <a:path w="6457313" h="935708">
                <a:moveTo>
                  <a:pt x="74117" y="0"/>
                </a:moveTo>
                <a:lnTo>
                  <a:pt x="6383196" y="0"/>
                </a:lnTo>
                <a:cubicBezTo>
                  <a:pt x="6424130" y="0"/>
                  <a:pt x="6457313" y="33184"/>
                  <a:pt x="6457313" y="74117"/>
                </a:cubicBezTo>
                <a:lnTo>
                  <a:pt x="6457313" y="861591"/>
                </a:lnTo>
                <a:cubicBezTo>
                  <a:pt x="6457313" y="902525"/>
                  <a:pt x="6424130" y="935708"/>
                  <a:pt x="6383196" y="935708"/>
                </a:cubicBezTo>
                <a:lnTo>
                  <a:pt x="74117" y="935708"/>
                </a:lnTo>
                <a:cubicBezTo>
                  <a:pt x="33184" y="935708"/>
                  <a:pt x="0" y="902525"/>
                  <a:pt x="0" y="861591"/>
                </a:cubicBezTo>
                <a:lnTo>
                  <a:pt x="0" y="74117"/>
                </a:lnTo>
                <a:cubicBezTo>
                  <a:pt x="0" y="33184"/>
                  <a:pt x="33184" y="0"/>
                  <a:pt x="74117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 w="1270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8511" y="4743392"/>
            <a:ext cx="296462" cy="296462"/>
          </a:xfrm>
          <a:custGeom>
            <a:avLst/>
            <a:gdLst/>
            <a:ahLst/>
            <a:cxnLst/>
            <a:rect l="l" t="t" r="r" b="b"/>
            <a:pathLst>
              <a:path w="296462" h="296462">
                <a:moveTo>
                  <a:pt x="74116" y="0"/>
                </a:moveTo>
                <a:lnTo>
                  <a:pt x="222347" y="0"/>
                </a:lnTo>
                <a:cubicBezTo>
                  <a:pt x="263279" y="0"/>
                  <a:pt x="296462" y="33183"/>
                  <a:pt x="296462" y="74116"/>
                </a:cubicBezTo>
                <a:lnTo>
                  <a:pt x="296462" y="222347"/>
                </a:lnTo>
                <a:cubicBezTo>
                  <a:pt x="296462" y="263279"/>
                  <a:pt x="263279" y="296462"/>
                  <a:pt x="222347" y="296462"/>
                </a:cubicBezTo>
                <a:lnTo>
                  <a:pt x="74116" y="296462"/>
                </a:lnTo>
                <a:cubicBezTo>
                  <a:pt x="33183" y="296462"/>
                  <a:pt x="0" y="263279"/>
                  <a:pt x="0" y="222347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32" name="Text 30"/>
          <p:cNvSpPr/>
          <p:nvPr/>
        </p:nvSpPr>
        <p:spPr>
          <a:xfrm>
            <a:off x="616085" y="4743392"/>
            <a:ext cx="361313" cy="2964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0" b="1" dirty="0">
                <a:solidFill>
                  <a:srgbClr val="1A1D2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56146" y="4761921"/>
            <a:ext cx="917179" cy="2594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基础设施层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8511" y="5113970"/>
            <a:ext cx="2028912" cy="333520"/>
          </a:xfrm>
          <a:custGeom>
            <a:avLst/>
            <a:gdLst/>
            <a:ahLst/>
            <a:cxnLst/>
            <a:rect l="l" t="t" r="r" b="b"/>
            <a:pathLst>
              <a:path w="2028912" h="333520">
                <a:moveTo>
                  <a:pt x="37057" y="0"/>
                </a:moveTo>
                <a:lnTo>
                  <a:pt x="1991854" y="0"/>
                </a:lnTo>
                <a:cubicBezTo>
                  <a:pt x="2012321" y="0"/>
                  <a:pt x="2028912" y="16591"/>
                  <a:pt x="2028912" y="37057"/>
                </a:cubicBezTo>
                <a:lnTo>
                  <a:pt x="2028912" y="296462"/>
                </a:lnTo>
                <a:cubicBezTo>
                  <a:pt x="2028912" y="316929"/>
                  <a:pt x="2012321" y="333520"/>
                  <a:pt x="1991854" y="333520"/>
                </a:cubicBezTo>
                <a:lnTo>
                  <a:pt x="37057" y="333520"/>
                </a:lnTo>
                <a:cubicBezTo>
                  <a:pt x="16605" y="333520"/>
                  <a:pt x="0" y="316915"/>
                  <a:pt x="0" y="296462"/>
                </a:cubicBezTo>
                <a:lnTo>
                  <a:pt x="0" y="37057"/>
                </a:lnTo>
                <a:cubicBezTo>
                  <a:pt x="0" y="16605"/>
                  <a:pt x="16605" y="0"/>
                  <a:pt x="37057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35" name="Text 33"/>
          <p:cNvSpPr/>
          <p:nvPr/>
        </p:nvSpPr>
        <p:spPr>
          <a:xfrm>
            <a:off x="690201" y="5188085"/>
            <a:ext cx="1945532" cy="1852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MongoDB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2747630" y="5113970"/>
            <a:ext cx="2028912" cy="333520"/>
          </a:xfrm>
          <a:custGeom>
            <a:avLst/>
            <a:gdLst/>
            <a:ahLst/>
            <a:cxnLst/>
            <a:rect l="l" t="t" r="r" b="b"/>
            <a:pathLst>
              <a:path w="2028912" h="333520">
                <a:moveTo>
                  <a:pt x="37057" y="0"/>
                </a:moveTo>
                <a:lnTo>
                  <a:pt x="1991854" y="0"/>
                </a:lnTo>
                <a:cubicBezTo>
                  <a:pt x="2012321" y="0"/>
                  <a:pt x="2028912" y="16591"/>
                  <a:pt x="2028912" y="37057"/>
                </a:cubicBezTo>
                <a:lnTo>
                  <a:pt x="2028912" y="296462"/>
                </a:lnTo>
                <a:cubicBezTo>
                  <a:pt x="2028912" y="316929"/>
                  <a:pt x="2012321" y="333520"/>
                  <a:pt x="1991854" y="333520"/>
                </a:cubicBezTo>
                <a:lnTo>
                  <a:pt x="37057" y="333520"/>
                </a:lnTo>
                <a:cubicBezTo>
                  <a:pt x="16605" y="333520"/>
                  <a:pt x="0" y="316915"/>
                  <a:pt x="0" y="296462"/>
                </a:cubicBezTo>
                <a:lnTo>
                  <a:pt x="0" y="37057"/>
                </a:lnTo>
                <a:cubicBezTo>
                  <a:pt x="0" y="16605"/>
                  <a:pt x="16605" y="0"/>
                  <a:pt x="37057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37" name="Text 35"/>
          <p:cNvSpPr/>
          <p:nvPr/>
        </p:nvSpPr>
        <p:spPr>
          <a:xfrm>
            <a:off x="2789320" y="5188085"/>
            <a:ext cx="1945532" cy="1852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Redis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846748" y="5113970"/>
            <a:ext cx="2028912" cy="333520"/>
          </a:xfrm>
          <a:custGeom>
            <a:avLst/>
            <a:gdLst/>
            <a:ahLst/>
            <a:cxnLst/>
            <a:rect l="l" t="t" r="r" b="b"/>
            <a:pathLst>
              <a:path w="2028912" h="333520">
                <a:moveTo>
                  <a:pt x="37057" y="0"/>
                </a:moveTo>
                <a:lnTo>
                  <a:pt x="1991854" y="0"/>
                </a:lnTo>
                <a:cubicBezTo>
                  <a:pt x="2012321" y="0"/>
                  <a:pt x="2028912" y="16591"/>
                  <a:pt x="2028912" y="37057"/>
                </a:cubicBezTo>
                <a:lnTo>
                  <a:pt x="2028912" y="296462"/>
                </a:lnTo>
                <a:cubicBezTo>
                  <a:pt x="2028912" y="316929"/>
                  <a:pt x="2012321" y="333520"/>
                  <a:pt x="1991854" y="333520"/>
                </a:cubicBezTo>
                <a:lnTo>
                  <a:pt x="37057" y="333520"/>
                </a:lnTo>
                <a:cubicBezTo>
                  <a:pt x="16605" y="333520"/>
                  <a:pt x="0" y="316915"/>
                  <a:pt x="0" y="296462"/>
                </a:cubicBezTo>
                <a:lnTo>
                  <a:pt x="0" y="37057"/>
                </a:lnTo>
                <a:cubicBezTo>
                  <a:pt x="0" y="16605"/>
                  <a:pt x="16605" y="0"/>
                  <a:pt x="37057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39" name="Text 37"/>
          <p:cNvSpPr/>
          <p:nvPr/>
        </p:nvSpPr>
        <p:spPr>
          <a:xfrm>
            <a:off x="4888438" y="5188085"/>
            <a:ext cx="1945532" cy="1852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文件系统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302548" y="1190480"/>
            <a:ext cx="4511781" cy="3715040"/>
          </a:xfrm>
          <a:custGeom>
            <a:avLst/>
            <a:gdLst/>
            <a:ahLst/>
            <a:cxnLst/>
            <a:rect l="l" t="t" r="r" b="b"/>
            <a:pathLst>
              <a:path w="4511781" h="3715040">
                <a:moveTo>
                  <a:pt x="111191" y="0"/>
                </a:moveTo>
                <a:lnTo>
                  <a:pt x="4400590" y="0"/>
                </a:lnTo>
                <a:cubicBezTo>
                  <a:pt x="4461999" y="0"/>
                  <a:pt x="4511781" y="49782"/>
                  <a:pt x="4511781" y="111191"/>
                </a:cubicBezTo>
                <a:lnTo>
                  <a:pt x="4511781" y="3603848"/>
                </a:lnTo>
                <a:cubicBezTo>
                  <a:pt x="4511781" y="3665258"/>
                  <a:pt x="4461999" y="3715040"/>
                  <a:pt x="4400590" y="3715040"/>
                </a:cubicBezTo>
                <a:lnTo>
                  <a:pt x="111191" y="3715040"/>
                </a:lnTo>
                <a:cubicBezTo>
                  <a:pt x="49782" y="3715040"/>
                  <a:pt x="0" y="3665258"/>
                  <a:pt x="0" y="3603848"/>
                </a:cubicBezTo>
                <a:lnTo>
                  <a:pt x="0" y="111191"/>
                </a:lnTo>
                <a:cubicBezTo>
                  <a:pt x="0" y="49782"/>
                  <a:pt x="49782" y="0"/>
                  <a:pt x="111191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90153" y="1380401"/>
            <a:ext cx="162128" cy="185289"/>
          </a:xfrm>
          <a:custGeom>
            <a:avLst/>
            <a:gdLst/>
            <a:ahLst/>
            <a:cxnLst/>
            <a:rect l="l" t="t" r="r" b="b"/>
            <a:pathLst>
              <a:path w="162128" h="185289">
                <a:moveTo>
                  <a:pt x="162128" y="74477"/>
                </a:moveTo>
                <a:cubicBezTo>
                  <a:pt x="156772" y="78024"/>
                  <a:pt x="150619" y="80883"/>
                  <a:pt x="144214" y="83163"/>
                </a:cubicBezTo>
                <a:cubicBezTo>
                  <a:pt x="127205" y="89243"/>
                  <a:pt x="104876" y="92644"/>
                  <a:pt x="81064" y="92644"/>
                </a:cubicBezTo>
                <a:cubicBezTo>
                  <a:pt x="57251" y="92644"/>
                  <a:pt x="34886" y="89206"/>
                  <a:pt x="17914" y="83163"/>
                </a:cubicBezTo>
                <a:cubicBezTo>
                  <a:pt x="11544" y="80883"/>
                  <a:pt x="5356" y="78024"/>
                  <a:pt x="0" y="74477"/>
                </a:cubicBezTo>
                <a:lnTo>
                  <a:pt x="0" y="104225"/>
                </a:lnTo>
                <a:cubicBezTo>
                  <a:pt x="0" y="120221"/>
                  <a:pt x="36298" y="133176"/>
                  <a:pt x="81064" y="133176"/>
                </a:cubicBezTo>
                <a:cubicBezTo>
                  <a:pt x="125830" y="133176"/>
                  <a:pt x="162128" y="120221"/>
                  <a:pt x="162128" y="104225"/>
                </a:cubicBezTo>
                <a:lnTo>
                  <a:pt x="162128" y="74477"/>
                </a:lnTo>
                <a:close/>
                <a:moveTo>
                  <a:pt x="162128" y="46322"/>
                </a:moveTo>
                <a:lnTo>
                  <a:pt x="162128" y="28951"/>
                </a:lnTo>
                <a:cubicBezTo>
                  <a:pt x="162128" y="12956"/>
                  <a:pt x="125830" y="0"/>
                  <a:pt x="81064" y="0"/>
                </a:cubicBezTo>
                <a:cubicBezTo>
                  <a:pt x="36298" y="0"/>
                  <a:pt x="0" y="12956"/>
                  <a:pt x="0" y="28951"/>
                </a:cubicBezTo>
                <a:lnTo>
                  <a:pt x="0" y="46322"/>
                </a:lnTo>
                <a:cubicBezTo>
                  <a:pt x="0" y="62318"/>
                  <a:pt x="36298" y="75274"/>
                  <a:pt x="81064" y="75274"/>
                </a:cubicBezTo>
                <a:cubicBezTo>
                  <a:pt x="125830" y="75274"/>
                  <a:pt x="162128" y="62318"/>
                  <a:pt x="162128" y="46322"/>
                </a:cubicBezTo>
                <a:close/>
                <a:moveTo>
                  <a:pt x="144214" y="141066"/>
                </a:moveTo>
                <a:cubicBezTo>
                  <a:pt x="127241" y="147109"/>
                  <a:pt x="104913" y="150547"/>
                  <a:pt x="81064" y="150547"/>
                </a:cubicBezTo>
                <a:cubicBezTo>
                  <a:pt x="57215" y="150547"/>
                  <a:pt x="34886" y="147109"/>
                  <a:pt x="17914" y="141066"/>
                </a:cubicBezTo>
                <a:cubicBezTo>
                  <a:pt x="11544" y="138786"/>
                  <a:pt x="5356" y="135927"/>
                  <a:pt x="0" y="132380"/>
                </a:cubicBezTo>
                <a:lnTo>
                  <a:pt x="0" y="156337"/>
                </a:lnTo>
                <a:cubicBezTo>
                  <a:pt x="0" y="172333"/>
                  <a:pt x="36298" y="185289"/>
                  <a:pt x="81064" y="185289"/>
                </a:cubicBezTo>
                <a:cubicBezTo>
                  <a:pt x="125830" y="185289"/>
                  <a:pt x="162128" y="172333"/>
                  <a:pt x="162128" y="156337"/>
                </a:cubicBezTo>
                <a:lnTo>
                  <a:pt x="162128" y="132380"/>
                </a:lnTo>
                <a:cubicBezTo>
                  <a:pt x="156772" y="135927"/>
                  <a:pt x="150619" y="138786"/>
                  <a:pt x="144214" y="141066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42" name="Text 40"/>
          <p:cNvSpPr/>
          <p:nvPr/>
        </p:nvSpPr>
        <p:spPr>
          <a:xfrm>
            <a:off x="7687022" y="1343343"/>
            <a:ext cx="4067088" cy="2594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数据流程设计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455411" y="1713921"/>
            <a:ext cx="4206055" cy="704097"/>
          </a:xfrm>
          <a:custGeom>
            <a:avLst/>
            <a:gdLst/>
            <a:ahLst/>
            <a:cxnLst/>
            <a:rect l="l" t="t" r="r" b="b"/>
            <a:pathLst>
              <a:path w="4206055" h="704097">
                <a:moveTo>
                  <a:pt x="74113" y="0"/>
                </a:moveTo>
                <a:lnTo>
                  <a:pt x="4131941" y="0"/>
                </a:lnTo>
                <a:cubicBezTo>
                  <a:pt x="4172873" y="0"/>
                  <a:pt x="4206055" y="33182"/>
                  <a:pt x="4206055" y="74113"/>
                </a:cubicBezTo>
                <a:lnTo>
                  <a:pt x="4206055" y="629984"/>
                </a:lnTo>
                <a:cubicBezTo>
                  <a:pt x="4206055" y="670916"/>
                  <a:pt x="4172873" y="704097"/>
                  <a:pt x="4131941" y="704097"/>
                </a:cubicBezTo>
                <a:lnTo>
                  <a:pt x="74113" y="704097"/>
                </a:lnTo>
                <a:cubicBezTo>
                  <a:pt x="33209" y="704097"/>
                  <a:pt x="0" y="670888"/>
                  <a:pt x="0" y="629984"/>
                </a:cubicBezTo>
                <a:lnTo>
                  <a:pt x="0" y="74113"/>
                </a:lnTo>
                <a:cubicBezTo>
                  <a:pt x="0" y="33209"/>
                  <a:pt x="33209" y="0"/>
                  <a:pt x="7411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44" name="Shape 42"/>
          <p:cNvSpPr/>
          <p:nvPr/>
        </p:nvSpPr>
        <p:spPr>
          <a:xfrm>
            <a:off x="7585114" y="1862152"/>
            <a:ext cx="148231" cy="148231"/>
          </a:xfrm>
          <a:custGeom>
            <a:avLst/>
            <a:gdLst/>
            <a:ahLst/>
            <a:cxnLst/>
            <a:rect l="l" t="t" r="r" b="b"/>
            <a:pathLst>
              <a:path w="148231" h="148231">
                <a:moveTo>
                  <a:pt x="67312" y="1505"/>
                </a:moveTo>
                <a:cubicBezTo>
                  <a:pt x="71626" y="-492"/>
                  <a:pt x="76605" y="-492"/>
                  <a:pt x="80919" y="1505"/>
                </a:cubicBezTo>
                <a:lnTo>
                  <a:pt x="144207" y="30746"/>
                </a:lnTo>
                <a:cubicBezTo>
                  <a:pt x="146668" y="31875"/>
                  <a:pt x="148231" y="34336"/>
                  <a:pt x="148231" y="37058"/>
                </a:cubicBezTo>
                <a:cubicBezTo>
                  <a:pt x="148231" y="39779"/>
                  <a:pt x="146668" y="42240"/>
                  <a:pt x="144207" y="43369"/>
                </a:cubicBezTo>
                <a:lnTo>
                  <a:pt x="80919" y="72610"/>
                </a:lnTo>
                <a:cubicBezTo>
                  <a:pt x="76605" y="74608"/>
                  <a:pt x="71626" y="74608"/>
                  <a:pt x="67312" y="72610"/>
                </a:cubicBezTo>
                <a:lnTo>
                  <a:pt x="4024" y="43369"/>
                </a:lnTo>
                <a:cubicBezTo>
                  <a:pt x="1563" y="42211"/>
                  <a:pt x="0" y="39750"/>
                  <a:pt x="0" y="37058"/>
                </a:cubicBezTo>
                <a:cubicBezTo>
                  <a:pt x="0" y="34365"/>
                  <a:pt x="1563" y="31875"/>
                  <a:pt x="4024" y="30746"/>
                </a:cubicBezTo>
                <a:lnTo>
                  <a:pt x="67312" y="1505"/>
                </a:lnTo>
                <a:close/>
                <a:moveTo>
                  <a:pt x="13926" y="63230"/>
                </a:moveTo>
                <a:lnTo>
                  <a:pt x="61493" y="85204"/>
                </a:lnTo>
                <a:cubicBezTo>
                  <a:pt x="69512" y="88910"/>
                  <a:pt x="78748" y="88910"/>
                  <a:pt x="86767" y="85204"/>
                </a:cubicBezTo>
                <a:lnTo>
                  <a:pt x="134334" y="63230"/>
                </a:lnTo>
                <a:lnTo>
                  <a:pt x="144207" y="67804"/>
                </a:lnTo>
                <a:cubicBezTo>
                  <a:pt x="146668" y="68933"/>
                  <a:pt x="148231" y="71394"/>
                  <a:pt x="148231" y="74116"/>
                </a:cubicBezTo>
                <a:cubicBezTo>
                  <a:pt x="148231" y="76837"/>
                  <a:pt x="146668" y="79298"/>
                  <a:pt x="144207" y="80427"/>
                </a:cubicBezTo>
                <a:lnTo>
                  <a:pt x="80919" y="109668"/>
                </a:lnTo>
                <a:cubicBezTo>
                  <a:pt x="76605" y="111665"/>
                  <a:pt x="71626" y="111665"/>
                  <a:pt x="67312" y="109668"/>
                </a:cubicBezTo>
                <a:lnTo>
                  <a:pt x="4024" y="80427"/>
                </a:lnTo>
                <a:cubicBezTo>
                  <a:pt x="1563" y="79269"/>
                  <a:pt x="0" y="76808"/>
                  <a:pt x="0" y="74116"/>
                </a:cubicBezTo>
                <a:cubicBezTo>
                  <a:pt x="0" y="71423"/>
                  <a:pt x="1563" y="68933"/>
                  <a:pt x="4024" y="67804"/>
                </a:cubicBezTo>
                <a:lnTo>
                  <a:pt x="13897" y="63230"/>
                </a:lnTo>
                <a:close/>
                <a:moveTo>
                  <a:pt x="4024" y="104862"/>
                </a:moveTo>
                <a:lnTo>
                  <a:pt x="13897" y="100288"/>
                </a:lnTo>
                <a:lnTo>
                  <a:pt x="61464" y="122262"/>
                </a:lnTo>
                <a:cubicBezTo>
                  <a:pt x="69483" y="125967"/>
                  <a:pt x="78719" y="125967"/>
                  <a:pt x="86738" y="122262"/>
                </a:cubicBezTo>
                <a:lnTo>
                  <a:pt x="134305" y="100288"/>
                </a:lnTo>
                <a:lnTo>
                  <a:pt x="144178" y="104862"/>
                </a:lnTo>
                <a:cubicBezTo>
                  <a:pt x="146639" y="105991"/>
                  <a:pt x="148202" y="108452"/>
                  <a:pt x="148202" y="111173"/>
                </a:cubicBezTo>
                <a:cubicBezTo>
                  <a:pt x="148202" y="113895"/>
                  <a:pt x="146639" y="116356"/>
                  <a:pt x="144178" y="117485"/>
                </a:cubicBezTo>
                <a:lnTo>
                  <a:pt x="80890" y="146726"/>
                </a:lnTo>
                <a:cubicBezTo>
                  <a:pt x="76576" y="148723"/>
                  <a:pt x="71597" y="148723"/>
                  <a:pt x="67283" y="146726"/>
                </a:cubicBezTo>
                <a:lnTo>
                  <a:pt x="4024" y="117485"/>
                </a:lnTo>
                <a:cubicBezTo>
                  <a:pt x="1563" y="116327"/>
                  <a:pt x="0" y="113866"/>
                  <a:pt x="0" y="111173"/>
                </a:cubicBezTo>
                <a:cubicBezTo>
                  <a:pt x="0" y="108481"/>
                  <a:pt x="1563" y="105991"/>
                  <a:pt x="4024" y="104862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45" name="Text 43"/>
          <p:cNvSpPr/>
          <p:nvPr/>
        </p:nvSpPr>
        <p:spPr>
          <a:xfrm>
            <a:off x="7825989" y="1825094"/>
            <a:ext cx="963502" cy="2223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多级缓存机制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566585" y="2121556"/>
            <a:ext cx="4048559" cy="1852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L1内存→L2 Redis→L3 MongoDB,性能提升10倍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455411" y="2492134"/>
            <a:ext cx="4206055" cy="704097"/>
          </a:xfrm>
          <a:custGeom>
            <a:avLst/>
            <a:gdLst/>
            <a:ahLst/>
            <a:cxnLst/>
            <a:rect l="l" t="t" r="r" b="b"/>
            <a:pathLst>
              <a:path w="4206055" h="704097">
                <a:moveTo>
                  <a:pt x="74113" y="0"/>
                </a:moveTo>
                <a:lnTo>
                  <a:pt x="4131941" y="0"/>
                </a:lnTo>
                <a:cubicBezTo>
                  <a:pt x="4172873" y="0"/>
                  <a:pt x="4206055" y="33182"/>
                  <a:pt x="4206055" y="74113"/>
                </a:cubicBezTo>
                <a:lnTo>
                  <a:pt x="4206055" y="629984"/>
                </a:lnTo>
                <a:cubicBezTo>
                  <a:pt x="4206055" y="670916"/>
                  <a:pt x="4172873" y="704097"/>
                  <a:pt x="4131941" y="704097"/>
                </a:cubicBezTo>
                <a:lnTo>
                  <a:pt x="74113" y="704097"/>
                </a:lnTo>
                <a:cubicBezTo>
                  <a:pt x="33209" y="704097"/>
                  <a:pt x="0" y="670888"/>
                  <a:pt x="0" y="629984"/>
                </a:cubicBezTo>
                <a:lnTo>
                  <a:pt x="0" y="74113"/>
                </a:lnTo>
                <a:cubicBezTo>
                  <a:pt x="0" y="33209"/>
                  <a:pt x="33209" y="0"/>
                  <a:pt x="7411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48" name="Shape 46"/>
          <p:cNvSpPr/>
          <p:nvPr/>
        </p:nvSpPr>
        <p:spPr>
          <a:xfrm>
            <a:off x="7585114" y="2640365"/>
            <a:ext cx="148231" cy="148231"/>
          </a:xfrm>
          <a:custGeom>
            <a:avLst/>
            <a:gdLst/>
            <a:ahLst/>
            <a:cxnLst/>
            <a:rect l="l" t="t" r="r" b="b"/>
            <a:pathLst>
              <a:path w="148231" h="148231">
                <a:moveTo>
                  <a:pt x="38737" y="10509"/>
                </a:moveTo>
                <a:cubicBezTo>
                  <a:pt x="41893" y="12710"/>
                  <a:pt x="42645" y="17052"/>
                  <a:pt x="40445" y="20179"/>
                </a:cubicBezTo>
                <a:lnTo>
                  <a:pt x="24232" y="43340"/>
                </a:lnTo>
                <a:cubicBezTo>
                  <a:pt x="23045" y="45019"/>
                  <a:pt x="21192" y="46091"/>
                  <a:pt x="19137" y="46264"/>
                </a:cubicBezTo>
                <a:cubicBezTo>
                  <a:pt x="17081" y="46438"/>
                  <a:pt x="15055" y="45743"/>
                  <a:pt x="13607" y="44296"/>
                </a:cubicBezTo>
                <a:lnTo>
                  <a:pt x="2027" y="32715"/>
                </a:lnTo>
                <a:cubicBezTo>
                  <a:pt x="-666" y="29994"/>
                  <a:pt x="-666" y="25593"/>
                  <a:pt x="2027" y="22872"/>
                </a:cubicBezTo>
                <a:cubicBezTo>
                  <a:pt x="4719" y="20150"/>
                  <a:pt x="9149" y="20179"/>
                  <a:pt x="11870" y="22872"/>
                </a:cubicBezTo>
                <a:lnTo>
                  <a:pt x="17602" y="28604"/>
                </a:lnTo>
                <a:lnTo>
                  <a:pt x="29067" y="12217"/>
                </a:lnTo>
                <a:cubicBezTo>
                  <a:pt x="31267" y="9062"/>
                  <a:pt x="35610" y="8309"/>
                  <a:pt x="38737" y="10509"/>
                </a:cubicBezTo>
                <a:close/>
                <a:moveTo>
                  <a:pt x="38737" y="56832"/>
                </a:moveTo>
                <a:cubicBezTo>
                  <a:pt x="41893" y="59032"/>
                  <a:pt x="42645" y="63375"/>
                  <a:pt x="40445" y="66501"/>
                </a:cubicBezTo>
                <a:lnTo>
                  <a:pt x="24232" y="89662"/>
                </a:lnTo>
                <a:cubicBezTo>
                  <a:pt x="23045" y="91342"/>
                  <a:pt x="21192" y="92413"/>
                  <a:pt x="19137" y="92586"/>
                </a:cubicBezTo>
                <a:cubicBezTo>
                  <a:pt x="17081" y="92760"/>
                  <a:pt x="15055" y="92065"/>
                  <a:pt x="13607" y="90618"/>
                </a:cubicBezTo>
                <a:lnTo>
                  <a:pt x="2027" y="79037"/>
                </a:lnTo>
                <a:cubicBezTo>
                  <a:pt x="-695" y="76316"/>
                  <a:pt x="-695" y="71915"/>
                  <a:pt x="2027" y="69223"/>
                </a:cubicBezTo>
                <a:cubicBezTo>
                  <a:pt x="4748" y="66530"/>
                  <a:pt x="9149" y="66501"/>
                  <a:pt x="11841" y="69223"/>
                </a:cubicBezTo>
                <a:lnTo>
                  <a:pt x="17573" y="74955"/>
                </a:lnTo>
                <a:lnTo>
                  <a:pt x="29038" y="58569"/>
                </a:lnTo>
                <a:cubicBezTo>
                  <a:pt x="31239" y="55413"/>
                  <a:pt x="35581" y="54660"/>
                  <a:pt x="38708" y="56860"/>
                </a:cubicBezTo>
                <a:close/>
                <a:moveTo>
                  <a:pt x="64851" y="27793"/>
                </a:moveTo>
                <a:cubicBezTo>
                  <a:pt x="64851" y="22669"/>
                  <a:pt x="68991" y="18529"/>
                  <a:pt x="74116" y="18529"/>
                </a:cubicBezTo>
                <a:lnTo>
                  <a:pt x="138967" y="18529"/>
                </a:lnTo>
                <a:cubicBezTo>
                  <a:pt x="144091" y="18529"/>
                  <a:pt x="148231" y="22669"/>
                  <a:pt x="148231" y="27793"/>
                </a:cubicBezTo>
                <a:cubicBezTo>
                  <a:pt x="148231" y="32918"/>
                  <a:pt x="144091" y="37058"/>
                  <a:pt x="138967" y="37058"/>
                </a:cubicBezTo>
                <a:lnTo>
                  <a:pt x="74116" y="37058"/>
                </a:lnTo>
                <a:cubicBezTo>
                  <a:pt x="68991" y="37058"/>
                  <a:pt x="64851" y="32918"/>
                  <a:pt x="64851" y="27793"/>
                </a:cubicBezTo>
                <a:close/>
                <a:moveTo>
                  <a:pt x="64851" y="74116"/>
                </a:moveTo>
                <a:cubicBezTo>
                  <a:pt x="64851" y="68991"/>
                  <a:pt x="68991" y="64851"/>
                  <a:pt x="74116" y="64851"/>
                </a:cubicBezTo>
                <a:lnTo>
                  <a:pt x="138967" y="64851"/>
                </a:lnTo>
                <a:cubicBezTo>
                  <a:pt x="144091" y="64851"/>
                  <a:pt x="148231" y="68991"/>
                  <a:pt x="148231" y="74116"/>
                </a:cubicBezTo>
                <a:cubicBezTo>
                  <a:pt x="148231" y="79240"/>
                  <a:pt x="144091" y="83380"/>
                  <a:pt x="138967" y="83380"/>
                </a:cubicBezTo>
                <a:lnTo>
                  <a:pt x="74116" y="83380"/>
                </a:lnTo>
                <a:cubicBezTo>
                  <a:pt x="68991" y="83380"/>
                  <a:pt x="64851" y="79240"/>
                  <a:pt x="64851" y="74116"/>
                </a:cubicBezTo>
                <a:close/>
                <a:moveTo>
                  <a:pt x="46322" y="120438"/>
                </a:moveTo>
                <a:cubicBezTo>
                  <a:pt x="46322" y="115313"/>
                  <a:pt x="50462" y="111173"/>
                  <a:pt x="55587" y="111173"/>
                </a:cubicBezTo>
                <a:lnTo>
                  <a:pt x="138967" y="111173"/>
                </a:lnTo>
                <a:cubicBezTo>
                  <a:pt x="144091" y="111173"/>
                  <a:pt x="148231" y="115313"/>
                  <a:pt x="148231" y="120438"/>
                </a:cubicBezTo>
                <a:cubicBezTo>
                  <a:pt x="148231" y="125562"/>
                  <a:pt x="144091" y="129702"/>
                  <a:pt x="138967" y="129702"/>
                </a:cubicBezTo>
                <a:lnTo>
                  <a:pt x="55587" y="129702"/>
                </a:lnTo>
                <a:cubicBezTo>
                  <a:pt x="50462" y="129702"/>
                  <a:pt x="46322" y="125562"/>
                  <a:pt x="46322" y="120438"/>
                </a:cubicBezTo>
                <a:close/>
                <a:moveTo>
                  <a:pt x="18529" y="108857"/>
                </a:moveTo>
                <a:cubicBezTo>
                  <a:pt x="24920" y="108857"/>
                  <a:pt x="30109" y="114046"/>
                  <a:pt x="30109" y="120438"/>
                </a:cubicBezTo>
                <a:cubicBezTo>
                  <a:pt x="30109" y="126829"/>
                  <a:pt x="24920" y="132018"/>
                  <a:pt x="18529" y="132018"/>
                </a:cubicBezTo>
                <a:cubicBezTo>
                  <a:pt x="12137" y="132018"/>
                  <a:pt x="6948" y="126829"/>
                  <a:pt x="6948" y="120438"/>
                </a:cubicBezTo>
                <a:cubicBezTo>
                  <a:pt x="6948" y="114046"/>
                  <a:pt x="12137" y="108857"/>
                  <a:pt x="18529" y="108857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49" name="Text 47"/>
          <p:cNvSpPr/>
          <p:nvPr/>
        </p:nvSpPr>
        <p:spPr>
          <a:xfrm>
            <a:off x="7825989" y="2603307"/>
            <a:ext cx="963502" cy="2223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任务队列管理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566585" y="2899769"/>
            <a:ext cx="4048559" cy="1852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Redis队列+Worker进程,支持高并发处理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455411" y="3270347"/>
            <a:ext cx="4206055" cy="704097"/>
          </a:xfrm>
          <a:custGeom>
            <a:avLst/>
            <a:gdLst/>
            <a:ahLst/>
            <a:cxnLst/>
            <a:rect l="l" t="t" r="r" b="b"/>
            <a:pathLst>
              <a:path w="4206055" h="704097">
                <a:moveTo>
                  <a:pt x="74113" y="0"/>
                </a:moveTo>
                <a:lnTo>
                  <a:pt x="4131941" y="0"/>
                </a:lnTo>
                <a:cubicBezTo>
                  <a:pt x="4172873" y="0"/>
                  <a:pt x="4206055" y="33182"/>
                  <a:pt x="4206055" y="74113"/>
                </a:cubicBezTo>
                <a:lnTo>
                  <a:pt x="4206055" y="629984"/>
                </a:lnTo>
                <a:cubicBezTo>
                  <a:pt x="4206055" y="670916"/>
                  <a:pt x="4172873" y="704097"/>
                  <a:pt x="4131941" y="704097"/>
                </a:cubicBezTo>
                <a:lnTo>
                  <a:pt x="74113" y="704097"/>
                </a:lnTo>
                <a:cubicBezTo>
                  <a:pt x="33209" y="704097"/>
                  <a:pt x="0" y="670888"/>
                  <a:pt x="0" y="629984"/>
                </a:cubicBezTo>
                <a:lnTo>
                  <a:pt x="0" y="74113"/>
                </a:lnTo>
                <a:cubicBezTo>
                  <a:pt x="0" y="33209"/>
                  <a:pt x="33209" y="0"/>
                  <a:pt x="7411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52" name="Shape 50"/>
          <p:cNvSpPr/>
          <p:nvPr/>
        </p:nvSpPr>
        <p:spPr>
          <a:xfrm>
            <a:off x="7585114" y="3418578"/>
            <a:ext cx="148231" cy="148231"/>
          </a:xfrm>
          <a:custGeom>
            <a:avLst/>
            <a:gdLst/>
            <a:ahLst/>
            <a:cxnLst/>
            <a:rect l="l" t="t" r="r" b="b"/>
            <a:pathLst>
              <a:path w="148231" h="148231">
                <a:moveTo>
                  <a:pt x="74116" y="0"/>
                </a:moveTo>
                <a:cubicBezTo>
                  <a:pt x="75447" y="0"/>
                  <a:pt x="76779" y="290"/>
                  <a:pt x="77995" y="840"/>
                </a:cubicBezTo>
                <a:lnTo>
                  <a:pt x="132539" y="23972"/>
                </a:lnTo>
                <a:cubicBezTo>
                  <a:pt x="138909" y="26664"/>
                  <a:pt x="143657" y="32947"/>
                  <a:pt x="143628" y="40532"/>
                </a:cubicBezTo>
                <a:cubicBezTo>
                  <a:pt x="143483" y="69252"/>
                  <a:pt x="131671" y="121798"/>
                  <a:pt x="81788" y="145683"/>
                </a:cubicBezTo>
                <a:cubicBezTo>
                  <a:pt x="76953" y="147999"/>
                  <a:pt x="71336" y="147999"/>
                  <a:pt x="66501" y="145683"/>
                </a:cubicBezTo>
                <a:cubicBezTo>
                  <a:pt x="16589" y="121798"/>
                  <a:pt x="4806" y="69252"/>
                  <a:pt x="4661" y="40532"/>
                </a:cubicBezTo>
                <a:cubicBezTo>
                  <a:pt x="4632" y="32947"/>
                  <a:pt x="9380" y="26664"/>
                  <a:pt x="15750" y="23972"/>
                </a:cubicBezTo>
                <a:lnTo>
                  <a:pt x="70265" y="840"/>
                </a:lnTo>
                <a:cubicBezTo>
                  <a:pt x="71481" y="290"/>
                  <a:pt x="72784" y="0"/>
                  <a:pt x="74116" y="0"/>
                </a:cubicBezTo>
                <a:close/>
                <a:moveTo>
                  <a:pt x="74116" y="19340"/>
                </a:moveTo>
                <a:lnTo>
                  <a:pt x="74116" y="128805"/>
                </a:lnTo>
                <a:cubicBezTo>
                  <a:pt x="114068" y="109465"/>
                  <a:pt x="124809" y="66617"/>
                  <a:pt x="125070" y="40966"/>
                </a:cubicBezTo>
                <a:lnTo>
                  <a:pt x="74116" y="19368"/>
                </a:lnTo>
                <a:lnTo>
                  <a:pt x="74116" y="19368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53" name="Text 51"/>
          <p:cNvSpPr/>
          <p:nvPr/>
        </p:nvSpPr>
        <p:spPr>
          <a:xfrm>
            <a:off x="7825989" y="3381520"/>
            <a:ext cx="963502" cy="2223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数据质量保障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566585" y="3677982"/>
            <a:ext cx="4048559" cy="1852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验证→清洗→标准化,降级策略保障可用性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455411" y="4048559"/>
            <a:ext cx="4206055" cy="704097"/>
          </a:xfrm>
          <a:custGeom>
            <a:avLst/>
            <a:gdLst/>
            <a:ahLst/>
            <a:cxnLst/>
            <a:rect l="l" t="t" r="r" b="b"/>
            <a:pathLst>
              <a:path w="4206055" h="704097">
                <a:moveTo>
                  <a:pt x="74113" y="0"/>
                </a:moveTo>
                <a:lnTo>
                  <a:pt x="4131941" y="0"/>
                </a:lnTo>
                <a:cubicBezTo>
                  <a:pt x="4172873" y="0"/>
                  <a:pt x="4206055" y="33182"/>
                  <a:pt x="4206055" y="74113"/>
                </a:cubicBezTo>
                <a:lnTo>
                  <a:pt x="4206055" y="629984"/>
                </a:lnTo>
                <a:cubicBezTo>
                  <a:pt x="4206055" y="670916"/>
                  <a:pt x="4172873" y="704097"/>
                  <a:pt x="4131941" y="704097"/>
                </a:cubicBezTo>
                <a:lnTo>
                  <a:pt x="74113" y="704097"/>
                </a:lnTo>
                <a:cubicBezTo>
                  <a:pt x="33209" y="704097"/>
                  <a:pt x="0" y="670888"/>
                  <a:pt x="0" y="629984"/>
                </a:cubicBezTo>
                <a:lnTo>
                  <a:pt x="0" y="74113"/>
                </a:lnTo>
                <a:cubicBezTo>
                  <a:pt x="0" y="33209"/>
                  <a:pt x="33209" y="0"/>
                  <a:pt x="7411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56" name="Shape 54"/>
          <p:cNvSpPr/>
          <p:nvPr/>
        </p:nvSpPr>
        <p:spPr>
          <a:xfrm>
            <a:off x="7594378" y="4196790"/>
            <a:ext cx="129702" cy="148231"/>
          </a:xfrm>
          <a:custGeom>
            <a:avLst/>
            <a:gdLst/>
            <a:ahLst/>
            <a:cxnLst/>
            <a:rect l="l" t="t" r="r" b="b"/>
            <a:pathLst>
              <a:path w="129702" h="148231">
                <a:moveTo>
                  <a:pt x="98087" y="-2866"/>
                </a:moveTo>
                <a:cubicBezTo>
                  <a:pt x="101532" y="-376"/>
                  <a:pt x="102806" y="4140"/>
                  <a:pt x="101243" y="8077"/>
                </a:cubicBezTo>
                <a:lnTo>
                  <a:pt x="78545" y="64851"/>
                </a:lnTo>
                <a:lnTo>
                  <a:pt x="120438" y="64851"/>
                </a:lnTo>
                <a:cubicBezTo>
                  <a:pt x="124346" y="64851"/>
                  <a:pt x="127820" y="67283"/>
                  <a:pt x="129152" y="70960"/>
                </a:cubicBezTo>
                <a:cubicBezTo>
                  <a:pt x="130484" y="74637"/>
                  <a:pt x="129355" y="78748"/>
                  <a:pt x="126373" y="81238"/>
                </a:cubicBezTo>
                <a:lnTo>
                  <a:pt x="42993" y="150721"/>
                </a:lnTo>
                <a:cubicBezTo>
                  <a:pt x="39721" y="153442"/>
                  <a:pt x="35060" y="153587"/>
                  <a:pt x="31615" y="151097"/>
                </a:cubicBezTo>
                <a:cubicBezTo>
                  <a:pt x="28170" y="148607"/>
                  <a:pt x="26896" y="144091"/>
                  <a:pt x="28459" y="140154"/>
                </a:cubicBezTo>
                <a:lnTo>
                  <a:pt x="51157" y="83380"/>
                </a:lnTo>
                <a:lnTo>
                  <a:pt x="9264" y="83380"/>
                </a:lnTo>
                <a:cubicBezTo>
                  <a:pt x="5356" y="83380"/>
                  <a:pt x="1882" y="80948"/>
                  <a:pt x="550" y="77271"/>
                </a:cubicBezTo>
                <a:cubicBezTo>
                  <a:pt x="-782" y="73594"/>
                  <a:pt x="347" y="69483"/>
                  <a:pt x="3329" y="66993"/>
                </a:cubicBezTo>
                <a:lnTo>
                  <a:pt x="86709" y="-2490"/>
                </a:lnTo>
                <a:cubicBezTo>
                  <a:pt x="89981" y="-5211"/>
                  <a:pt x="94642" y="-5356"/>
                  <a:pt x="98087" y="-2866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57" name="Text 55"/>
          <p:cNvSpPr/>
          <p:nvPr/>
        </p:nvSpPr>
        <p:spPr>
          <a:xfrm>
            <a:off x="7825989" y="4159733"/>
            <a:ext cx="963502" cy="2223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实时推送机制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566585" y="4456195"/>
            <a:ext cx="4048559" cy="1852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SSE/WebSocket实时推送分析进度和结果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7302548" y="5025957"/>
            <a:ext cx="4511781" cy="1825094"/>
          </a:xfrm>
          <a:custGeom>
            <a:avLst/>
            <a:gdLst/>
            <a:ahLst/>
            <a:cxnLst/>
            <a:rect l="l" t="t" r="r" b="b"/>
            <a:pathLst>
              <a:path w="4511781" h="1825094">
                <a:moveTo>
                  <a:pt x="111166" y="0"/>
                </a:moveTo>
                <a:lnTo>
                  <a:pt x="4400615" y="0"/>
                </a:lnTo>
                <a:cubicBezTo>
                  <a:pt x="4462010" y="0"/>
                  <a:pt x="4511781" y="49771"/>
                  <a:pt x="4511781" y="111166"/>
                </a:cubicBezTo>
                <a:lnTo>
                  <a:pt x="4511781" y="1713928"/>
                </a:lnTo>
                <a:cubicBezTo>
                  <a:pt x="4511781" y="1775323"/>
                  <a:pt x="4462010" y="1825094"/>
                  <a:pt x="4400615" y="1825094"/>
                </a:cubicBezTo>
                <a:lnTo>
                  <a:pt x="111166" y="1825094"/>
                </a:lnTo>
                <a:cubicBezTo>
                  <a:pt x="49771" y="1825094"/>
                  <a:pt x="0" y="1775323"/>
                  <a:pt x="0" y="1713928"/>
                </a:cubicBezTo>
                <a:lnTo>
                  <a:pt x="0" y="111166"/>
                </a:lnTo>
                <a:cubicBezTo>
                  <a:pt x="0" y="49771"/>
                  <a:pt x="49771" y="0"/>
                  <a:pt x="111166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8D99AE">
                  <a:alpha val="20000"/>
                </a:srgbClr>
              </a:gs>
            </a:gsLst>
            <a:lin ang="2700000" scaled="1"/>
          </a:gra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413722" y="5178821"/>
            <a:ext cx="4289435" cy="2594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1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技术栈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7422986" y="5549398"/>
            <a:ext cx="2130821" cy="1852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Vue 3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7427618" y="5734687"/>
            <a:ext cx="2121556" cy="1482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前端框架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9562203" y="5549398"/>
            <a:ext cx="2130821" cy="1852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0" b="1" dirty="0">
                <a:solidFill>
                  <a:srgbClr val="4A6C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FastAPI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9566835" y="5734687"/>
            <a:ext cx="2121556" cy="1482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后端框架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7422986" y="5957033"/>
            <a:ext cx="2130821" cy="1852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0" b="1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MongoDB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7427618" y="6142322"/>
            <a:ext cx="2121556" cy="1482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主数据库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9562203" y="5957033"/>
            <a:ext cx="2130821" cy="1852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Redis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9566835" y="6142322"/>
            <a:ext cx="2121556" cy="1482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缓存队列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7422986" y="6364669"/>
            <a:ext cx="2130821" cy="1852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0" b="1" dirty="0">
                <a:solidFill>
                  <a:srgbClr val="4A6C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LangGraph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7427618" y="6549957"/>
            <a:ext cx="2121556" cy="1482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智能体框架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9562203" y="6364669"/>
            <a:ext cx="2130821" cy="1852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0" b="1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LangChain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9566835" y="6549957"/>
            <a:ext cx="2121556" cy="1482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LLM集成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2705" y="181610"/>
            <a:ext cx="31750" cy="254000"/>
          </a:xfrm>
          <a:custGeom>
            <a:avLst/>
            <a:gdLst/>
            <a:ahLst/>
            <a:cxnLst/>
            <a:rect l="l" t="t" r="r" b="b"/>
            <a:pathLst>
              <a:path w="31750" h="254000">
                <a:moveTo>
                  <a:pt x="0" y="0"/>
                </a:moveTo>
                <a:lnTo>
                  <a:pt x="31750" y="0"/>
                </a:lnTo>
                <a:lnTo>
                  <a:pt x="31750" y="254000"/>
                </a:lnTo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3" name="Text 1"/>
          <p:cNvSpPr/>
          <p:nvPr/>
        </p:nvSpPr>
        <p:spPr>
          <a:xfrm>
            <a:off x="74295" y="149860"/>
            <a:ext cx="2428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多智能体协作机制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4295" y="530860"/>
            <a:ext cx="11493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Multi-Agent Collaboration Mechanism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-48895" y="852170"/>
            <a:ext cx="6961505" cy="5890260"/>
          </a:xfrm>
          <a:custGeom>
            <a:avLst/>
            <a:gdLst/>
            <a:ahLst/>
            <a:cxnLst/>
            <a:rect l="l" t="t" r="r" b="b"/>
            <a:pathLst>
              <a:path w="6961188" h="6310313">
                <a:moveTo>
                  <a:pt x="95223" y="0"/>
                </a:moveTo>
                <a:lnTo>
                  <a:pt x="6865965" y="0"/>
                </a:lnTo>
                <a:cubicBezTo>
                  <a:pt x="6918555" y="0"/>
                  <a:pt x="6961188" y="42633"/>
                  <a:pt x="6961188" y="95223"/>
                </a:cubicBezTo>
                <a:lnTo>
                  <a:pt x="6961188" y="6215090"/>
                </a:lnTo>
                <a:cubicBezTo>
                  <a:pt x="6961188" y="6267680"/>
                  <a:pt x="6918555" y="6310313"/>
                  <a:pt x="6865965" y="6310313"/>
                </a:cubicBezTo>
                <a:lnTo>
                  <a:pt x="95223" y="6310313"/>
                </a:lnTo>
                <a:cubicBezTo>
                  <a:pt x="42633" y="6310313"/>
                  <a:pt x="0" y="6267680"/>
                  <a:pt x="0" y="6215090"/>
                </a:cubicBezTo>
                <a:lnTo>
                  <a:pt x="0" y="95223"/>
                </a:lnTo>
                <a:cubicBezTo>
                  <a:pt x="0" y="42668"/>
                  <a:pt x="42668" y="0"/>
                  <a:pt x="95223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545" y="983298"/>
            <a:ext cx="677862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智能体工作流程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386" y="1015206"/>
            <a:ext cx="6357938" cy="1658938"/>
          </a:xfrm>
          <a:custGeom>
            <a:avLst/>
            <a:gdLst/>
            <a:ahLst/>
            <a:cxnLst/>
            <a:rect l="l" t="t" r="r" b="b"/>
            <a:pathLst>
              <a:path w="6357938" h="1658938">
                <a:moveTo>
                  <a:pt x="63504" y="0"/>
                </a:moveTo>
                <a:lnTo>
                  <a:pt x="6294433" y="0"/>
                </a:lnTo>
                <a:cubicBezTo>
                  <a:pt x="6329506" y="0"/>
                  <a:pt x="6357938" y="28432"/>
                  <a:pt x="6357938" y="63504"/>
                </a:cubicBezTo>
                <a:lnTo>
                  <a:pt x="6357938" y="1595433"/>
                </a:lnTo>
                <a:cubicBezTo>
                  <a:pt x="6357938" y="1630506"/>
                  <a:pt x="6329506" y="1658938"/>
                  <a:pt x="6294433" y="1658938"/>
                </a:cubicBezTo>
                <a:lnTo>
                  <a:pt x="63504" y="1658938"/>
                </a:lnTo>
                <a:cubicBezTo>
                  <a:pt x="28432" y="1658938"/>
                  <a:pt x="0" y="1630506"/>
                  <a:pt x="0" y="1595433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 w="1270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5420" y="140398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9" name="Text 7"/>
          <p:cNvSpPr/>
          <p:nvPr/>
        </p:nvSpPr>
        <p:spPr>
          <a:xfrm>
            <a:off x="157639" y="1403985"/>
            <a:ext cx="30956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1A1D2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1419860"/>
            <a:ext cx="78581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分析师阶段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85420" y="1721485"/>
            <a:ext cx="3048000" cy="412750"/>
          </a:xfrm>
          <a:custGeom>
            <a:avLst/>
            <a:gdLst/>
            <a:ahLst/>
            <a:cxnLst/>
            <a:rect l="l" t="t" r="r" b="b"/>
            <a:pathLst>
              <a:path w="3048000" h="412750">
                <a:moveTo>
                  <a:pt x="31749" y="0"/>
                </a:moveTo>
                <a:lnTo>
                  <a:pt x="3016251" y="0"/>
                </a:lnTo>
                <a:cubicBezTo>
                  <a:pt x="3033786" y="0"/>
                  <a:pt x="3048000" y="14214"/>
                  <a:pt x="3048000" y="31749"/>
                </a:cubicBezTo>
                <a:lnTo>
                  <a:pt x="3048000" y="381001"/>
                </a:lnTo>
                <a:cubicBezTo>
                  <a:pt x="3048000" y="398536"/>
                  <a:pt x="3033786" y="412750"/>
                  <a:pt x="3016251" y="412750"/>
                </a:cubicBezTo>
                <a:lnTo>
                  <a:pt x="31749" y="412750"/>
                </a:lnTo>
                <a:cubicBezTo>
                  <a:pt x="14214" y="412750"/>
                  <a:pt x="0" y="398536"/>
                  <a:pt x="0" y="3810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221139" y="1784985"/>
            <a:ext cx="2976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基本面分析师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25108" y="1943735"/>
            <a:ext cx="2968625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财务数据分析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95308" y="1721485"/>
            <a:ext cx="3048000" cy="412750"/>
          </a:xfrm>
          <a:custGeom>
            <a:avLst/>
            <a:gdLst/>
            <a:ahLst/>
            <a:cxnLst/>
            <a:rect l="l" t="t" r="r" b="b"/>
            <a:pathLst>
              <a:path w="3048000" h="412750">
                <a:moveTo>
                  <a:pt x="31749" y="0"/>
                </a:moveTo>
                <a:lnTo>
                  <a:pt x="3016251" y="0"/>
                </a:lnTo>
                <a:cubicBezTo>
                  <a:pt x="3033786" y="0"/>
                  <a:pt x="3048000" y="14214"/>
                  <a:pt x="3048000" y="31749"/>
                </a:cubicBezTo>
                <a:lnTo>
                  <a:pt x="3048000" y="381001"/>
                </a:lnTo>
                <a:cubicBezTo>
                  <a:pt x="3048000" y="398536"/>
                  <a:pt x="3033786" y="412750"/>
                  <a:pt x="3016251" y="412750"/>
                </a:cubicBezTo>
                <a:lnTo>
                  <a:pt x="31749" y="412750"/>
                </a:lnTo>
                <a:cubicBezTo>
                  <a:pt x="14214" y="412750"/>
                  <a:pt x="0" y="398536"/>
                  <a:pt x="0" y="3810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3331026" y="1784985"/>
            <a:ext cx="2976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市场分析师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34995" y="1943735"/>
            <a:ext cx="2968625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技术指标分析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85420" y="2197735"/>
            <a:ext cx="3048000" cy="412750"/>
          </a:xfrm>
          <a:custGeom>
            <a:avLst/>
            <a:gdLst/>
            <a:ahLst/>
            <a:cxnLst/>
            <a:rect l="l" t="t" r="r" b="b"/>
            <a:pathLst>
              <a:path w="3048000" h="412750">
                <a:moveTo>
                  <a:pt x="31749" y="0"/>
                </a:moveTo>
                <a:lnTo>
                  <a:pt x="3016251" y="0"/>
                </a:lnTo>
                <a:cubicBezTo>
                  <a:pt x="3033786" y="0"/>
                  <a:pt x="3048000" y="14214"/>
                  <a:pt x="3048000" y="31749"/>
                </a:cubicBezTo>
                <a:lnTo>
                  <a:pt x="3048000" y="381001"/>
                </a:lnTo>
                <a:cubicBezTo>
                  <a:pt x="3048000" y="398536"/>
                  <a:pt x="3033786" y="412750"/>
                  <a:pt x="3016251" y="412750"/>
                </a:cubicBezTo>
                <a:lnTo>
                  <a:pt x="31749" y="412750"/>
                </a:lnTo>
                <a:cubicBezTo>
                  <a:pt x="14214" y="412750"/>
                  <a:pt x="0" y="398536"/>
                  <a:pt x="0" y="3810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18" name="Text 16"/>
          <p:cNvSpPr/>
          <p:nvPr/>
        </p:nvSpPr>
        <p:spPr>
          <a:xfrm>
            <a:off x="221139" y="2261235"/>
            <a:ext cx="2976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新闻分析师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25108" y="2419985"/>
            <a:ext cx="2968625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新闻获取分析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95308" y="2197735"/>
            <a:ext cx="3048000" cy="412750"/>
          </a:xfrm>
          <a:custGeom>
            <a:avLst/>
            <a:gdLst/>
            <a:ahLst/>
            <a:cxnLst/>
            <a:rect l="l" t="t" r="r" b="b"/>
            <a:pathLst>
              <a:path w="3048000" h="412750">
                <a:moveTo>
                  <a:pt x="31749" y="0"/>
                </a:moveTo>
                <a:lnTo>
                  <a:pt x="3016251" y="0"/>
                </a:lnTo>
                <a:cubicBezTo>
                  <a:pt x="3033786" y="0"/>
                  <a:pt x="3048000" y="14214"/>
                  <a:pt x="3048000" y="31749"/>
                </a:cubicBezTo>
                <a:lnTo>
                  <a:pt x="3048000" y="381001"/>
                </a:lnTo>
                <a:cubicBezTo>
                  <a:pt x="3048000" y="398536"/>
                  <a:pt x="3033786" y="412750"/>
                  <a:pt x="3016251" y="412750"/>
                </a:cubicBezTo>
                <a:lnTo>
                  <a:pt x="31749" y="412750"/>
                </a:lnTo>
                <a:cubicBezTo>
                  <a:pt x="14214" y="412750"/>
                  <a:pt x="0" y="398536"/>
                  <a:pt x="0" y="3810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3331026" y="2261235"/>
            <a:ext cx="2976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情绪分析师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334995" y="2419985"/>
            <a:ext cx="2968625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情绪分析工具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671532" y="2685891"/>
            <a:ext cx="1184114" cy="190500"/>
          </a:xfrm>
          <a:custGeom>
            <a:avLst/>
            <a:gdLst/>
            <a:ahLst/>
            <a:cxnLst/>
            <a:rect l="l" t="t" r="r" b="b"/>
            <a:pathLst>
              <a:path w="1184114" h="190500">
                <a:moveTo>
                  <a:pt x="31751" y="0"/>
                </a:moveTo>
                <a:lnTo>
                  <a:pt x="1152363" y="0"/>
                </a:lnTo>
                <a:cubicBezTo>
                  <a:pt x="1169899" y="0"/>
                  <a:pt x="1184114" y="14215"/>
                  <a:pt x="1184114" y="31751"/>
                </a:cubicBezTo>
                <a:lnTo>
                  <a:pt x="1184114" y="158749"/>
                </a:lnTo>
                <a:cubicBezTo>
                  <a:pt x="1184114" y="176285"/>
                  <a:pt x="1169899" y="190500"/>
                  <a:pt x="1152363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</p:spPr>
      </p:sp>
      <p:sp>
        <p:nvSpPr>
          <p:cNvPr id="24" name="Text 22"/>
          <p:cNvSpPr/>
          <p:nvPr/>
        </p:nvSpPr>
        <p:spPr>
          <a:xfrm>
            <a:off x="2647719" y="2685891"/>
            <a:ext cx="1231739" cy="190500"/>
          </a:xfrm>
          <a:prstGeom prst="rect">
            <a:avLst/>
          </a:prstGeom>
          <a:noFill/>
        </p:spPr>
        <p:txBody>
          <a:bodyPr wrap="square" lIns="63500" tIns="31750" rIns="63500" bIns="3175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并行执行 · 效率提升10倍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564007" y="203898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26" name="Shape 24"/>
          <p:cNvSpPr/>
          <p:nvPr/>
        </p:nvSpPr>
        <p:spPr>
          <a:xfrm>
            <a:off x="86201" y="3035141"/>
            <a:ext cx="6357938" cy="1476375"/>
          </a:xfrm>
          <a:custGeom>
            <a:avLst/>
            <a:gdLst/>
            <a:ahLst/>
            <a:cxnLst/>
            <a:rect l="l" t="t" r="r" b="b"/>
            <a:pathLst>
              <a:path w="6357938" h="1476375">
                <a:moveTo>
                  <a:pt x="63499" y="0"/>
                </a:moveTo>
                <a:lnTo>
                  <a:pt x="6294439" y="0"/>
                </a:lnTo>
                <a:cubicBezTo>
                  <a:pt x="6329508" y="0"/>
                  <a:pt x="6357938" y="28429"/>
                  <a:pt x="6357938" y="63499"/>
                </a:cubicBezTo>
                <a:lnTo>
                  <a:pt x="6357938" y="1412876"/>
                </a:lnTo>
                <a:cubicBezTo>
                  <a:pt x="6357938" y="1447946"/>
                  <a:pt x="6329508" y="1476375"/>
                  <a:pt x="6294439" y="1476375"/>
                </a:cubicBezTo>
                <a:lnTo>
                  <a:pt x="63499" y="1476375"/>
                </a:lnTo>
                <a:cubicBezTo>
                  <a:pt x="28429" y="1476375"/>
                  <a:pt x="0" y="1447946"/>
                  <a:pt x="0" y="1412876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5420" y="284099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28" name="Text 26"/>
          <p:cNvSpPr/>
          <p:nvPr/>
        </p:nvSpPr>
        <p:spPr>
          <a:xfrm>
            <a:off x="157639" y="2840990"/>
            <a:ext cx="30956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02920" y="2856865"/>
            <a:ext cx="78581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研究员阶段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160617" y="3158490"/>
            <a:ext cx="912813" cy="706438"/>
          </a:xfrm>
          <a:custGeom>
            <a:avLst/>
            <a:gdLst/>
            <a:ahLst/>
            <a:cxnLst/>
            <a:rect l="l" t="t" r="r" b="b"/>
            <a:pathLst>
              <a:path w="912813" h="706438">
                <a:moveTo>
                  <a:pt x="63502" y="0"/>
                </a:moveTo>
                <a:lnTo>
                  <a:pt x="849311" y="0"/>
                </a:lnTo>
                <a:cubicBezTo>
                  <a:pt x="884382" y="0"/>
                  <a:pt x="912813" y="28431"/>
                  <a:pt x="912813" y="63502"/>
                </a:cubicBezTo>
                <a:lnTo>
                  <a:pt x="912813" y="642936"/>
                </a:lnTo>
                <a:cubicBezTo>
                  <a:pt x="912813" y="678007"/>
                  <a:pt x="884382" y="706437"/>
                  <a:pt x="849311" y="706438"/>
                </a:cubicBezTo>
                <a:lnTo>
                  <a:pt x="63502" y="706438"/>
                </a:lnTo>
                <a:cubicBezTo>
                  <a:pt x="28431" y="706438"/>
                  <a:pt x="0" y="678007"/>
                  <a:pt x="0" y="642936"/>
                </a:cubicBezTo>
                <a:lnTo>
                  <a:pt x="0" y="63502"/>
                </a:lnTo>
                <a:cubicBezTo>
                  <a:pt x="0" y="28431"/>
                  <a:pt x="28431" y="0"/>
                  <a:pt x="6350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2510735" y="325374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42875" y="59531"/>
                </a:moveTo>
                <a:cubicBezTo>
                  <a:pt x="136289" y="59531"/>
                  <a:pt x="130969" y="54211"/>
                  <a:pt x="130969" y="47625"/>
                </a:cubicBezTo>
                <a:cubicBezTo>
                  <a:pt x="130969" y="41039"/>
                  <a:pt x="136289" y="35719"/>
                  <a:pt x="142875" y="35719"/>
                </a:cubicBezTo>
                <a:lnTo>
                  <a:pt x="202406" y="35719"/>
                </a:lnTo>
                <a:cubicBezTo>
                  <a:pt x="208992" y="35719"/>
                  <a:pt x="214313" y="41039"/>
                  <a:pt x="214313" y="47625"/>
                </a:cubicBezTo>
                <a:lnTo>
                  <a:pt x="214313" y="107156"/>
                </a:lnTo>
                <a:cubicBezTo>
                  <a:pt x="214313" y="113742"/>
                  <a:pt x="208992" y="119063"/>
                  <a:pt x="202406" y="119063"/>
                </a:cubicBezTo>
                <a:cubicBezTo>
                  <a:pt x="195821" y="119063"/>
                  <a:pt x="190500" y="113742"/>
                  <a:pt x="190500" y="107156"/>
                </a:cubicBezTo>
                <a:lnTo>
                  <a:pt x="190500" y="76386"/>
                </a:lnTo>
                <a:lnTo>
                  <a:pt x="127471" y="139415"/>
                </a:lnTo>
                <a:cubicBezTo>
                  <a:pt x="122820" y="144066"/>
                  <a:pt x="115267" y="144066"/>
                  <a:pt x="110617" y="139415"/>
                </a:cubicBezTo>
                <a:lnTo>
                  <a:pt x="71438" y="100199"/>
                </a:lnTo>
                <a:lnTo>
                  <a:pt x="20315" y="151284"/>
                </a:lnTo>
                <a:cubicBezTo>
                  <a:pt x="15664" y="155935"/>
                  <a:pt x="8111" y="155935"/>
                  <a:pt x="3460" y="151284"/>
                </a:cubicBezTo>
                <a:cubicBezTo>
                  <a:pt x="-1191" y="146633"/>
                  <a:pt x="-1191" y="139080"/>
                  <a:pt x="3460" y="134429"/>
                </a:cubicBezTo>
                <a:lnTo>
                  <a:pt x="62992" y="74898"/>
                </a:lnTo>
                <a:cubicBezTo>
                  <a:pt x="67642" y="70247"/>
                  <a:pt x="75195" y="70247"/>
                  <a:pt x="79846" y="74898"/>
                </a:cubicBezTo>
                <a:lnTo>
                  <a:pt x="119063" y="114114"/>
                </a:lnTo>
                <a:lnTo>
                  <a:pt x="173645" y="59531"/>
                </a:lnTo>
                <a:lnTo>
                  <a:pt x="142875" y="59531"/>
                </a:lnTo>
                <a:close/>
              </a:path>
            </a:pathLst>
          </a:custGeom>
          <a:solidFill>
            <a:srgbClr val="05DF72"/>
          </a:solidFill>
        </p:spPr>
      </p:sp>
      <p:sp>
        <p:nvSpPr>
          <p:cNvPr id="32" name="Text 30"/>
          <p:cNvSpPr/>
          <p:nvPr/>
        </p:nvSpPr>
        <p:spPr>
          <a:xfrm>
            <a:off x="2228086" y="3479959"/>
            <a:ext cx="77787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看涨研究员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2232055" y="3638709"/>
            <a:ext cx="769938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基于基本面+市场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202228" y="3398599"/>
            <a:ext cx="29368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⚔️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547199" y="3158490"/>
            <a:ext cx="817563" cy="706438"/>
          </a:xfrm>
          <a:custGeom>
            <a:avLst/>
            <a:gdLst/>
            <a:ahLst/>
            <a:cxnLst/>
            <a:rect l="l" t="t" r="r" b="b"/>
            <a:pathLst>
              <a:path w="817563" h="706438">
                <a:moveTo>
                  <a:pt x="63502" y="0"/>
                </a:moveTo>
                <a:lnTo>
                  <a:pt x="754061" y="0"/>
                </a:lnTo>
                <a:cubicBezTo>
                  <a:pt x="789132" y="0"/>
                  <a:pt x="817563" y="28431"/>
                  <a:pt x="817563" y="63502"/>
                </a:cubicBezTo>
                <a:lnTo>
                  <a:pt x="817563" y="642936"/>
                </a:lnTo>
                <a:cubicBezTo>
                  <a:pt x="817563" y="678007"/>
                  <a:pt x="789132" y="706438"/>
                  <a:pt x="754061" y="706438"/>
                </a:cubicBezTo>
                <a:lnTo>
                  <a:pt x="63502" y="706438"/>
                </a:lnTo>
                <a:cubicBezTo>
                  <a:pt x="28431" y="706438"/>
                  <a:pt x="0" y="678007"/>
                  <a:pt x="0" y="642936"/>
                </a:cubicBezTo>
                <a:lnTo>
                  <a:pt x="0" y="63502"/>
                </a:lnTo>
                <a:cubicBezTo>
                  <a:pt x="0" y="28431"/>
                  <a:pt x="28431" y="0"/>
                  <a:pt x="6350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36" name="Shape 34"/>
          <p:cNvSpPr/>
          <p:nvPr/>
        </p:nvSpPr>
        <p:spPr>
          <a:xfrm>
            <a:off x="3849692" y="325374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42875" y="130969"/>
                </a:moveTo>
                <a:cubicBezTo>
                  <a:pt x="136289" y="130969"/>
                  <a:pt x="130969" y="136289"/>
                  <a:pt x="130969" y="142875"/>
                </a:cubicBezTo>
                <a:cubicBezTo>
                  <a:pt x="130969" y="149461"/>
                  <a:pt x="136289" y="154781"/>
                  <a:pt x="142875" y="154781"/>
                </a:cubicBezTo>
                <a:lnTo>
                  <a:pt x="202406" y="154781"/>
                </a:lnTo>
                <a:cubicBezTo>
                  <a:pt x="208992" y="154781"/>
                  <a:pt x="214313" y="149461"/>
                  <a:pt x="214313" y="142875"/>
                </a:cubicBezTo>
                <a:lnTo>
                  <a:pt x="214313" y="83344"/>
                </a:lnTo>
                <a:cubicBezTo>
                  <a:pt x="214313" y="76758"/>
                  <a:pt x="208992" y="71438"/>
                  <a:pt x="202406" y="71438"/>
                </a:cubicBezTo>
                <a:cubicBezTo>
                  <a:pt x="195821" y="71438"/>
                  <a:pt x="190500" y="76758"/>
                  <a:pt x="190500" y="83344"/>
                </a:cubicBezTo>
                <a:lnTo>
                  <a:pt x="190500" y="114114"/>
                </a:lnTo>
                <a:lnTo>
                  <a:pt x="127471" y="51085"/>
                </a:lnTo>
                <a:cubicBezTo>
                  <a:pt x="122820" y="46434"/>
                  <a:pt x="115267" y="46434"/>
                  <a:pt x="110617" y="51085"/>
                </a:cubicBezTo>
                <a:lnTo>
                  <a:pt x="71438" y="90301"/>
                </a:lnTo>
                <a:lnTo>
                  <a:pt x="20315" y="39216"/>
                </a:lnTo>
                <a:cubicBezTo>
                  <a:pt x="15664" y="34565"/>
                  <a:pt x="8111" y="34565"/>
                  <a:pt x="3460" y="39216"/>
                </a:cubicBezTo>
                <a:cubicBezTo>
                  <a:pt x="-1191" y="43867"/>
                  <a:pt x="-1191" y="51420"/>
                  <a:pt x="3460" y="56071"/>
                </a:cubicBezTo>
                <a:lnTo>
                  <a:pt x="62992" y="115602"/>
                </a:lnTo>
                <a:cubicBezTo>
                  <a:pt x="67642" y="120253"/>
                  <a:pt x="75195" y="120253"/>
                  <a:pt x="79846" y="115602"/>
                </a:cubicBezTo>
                <a:lnTo>
                  <a:pt x="119063" y="76386"/>
                </a:lnTo>
                <a:lnTo>
                  <a:pt x="173645" y="130969"/>
                </a:lnTo>
                <a:lnTo>
                  <a:pt x="142875" y="130969"/>
                </a:lnTo>
                <a:close/>
              </a:path>
            </a:pathLst>
          </a:custGeom>
          <a:solidFill>
            <a:srgbClr val="FF6467"/>
          </a:solidFill>
        </p:spPr>
      </p:sp>
      <p:sp>
        <p:nvSpPr>
          <p:cNvPr id="37" name="Text 35"/>
          <p:cNvSpPr/>
          <p:nvPr/>
        </p:nvSpPr>
        <p:spPr>
          <a:xfrm>
            <a:off x="3614668" y="3479959"/>
            <a:ext cx="68262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看跌研究员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618637" y="3638709"/>
            <a:ext cx="674688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基于新闻+情绪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2670788" y="3936365"/>
            <a:ext cx="1185540" cy="190500"/>
          </a:xfrm>
          <a:custGeom>
            <a:avLst/>
            <a:gdLst/>
            <a:ahLst/>
            <a:cxnLst/>
            <a:rect l="l" t="t" r="r" b="b"/>
            <a:pathLst>
              <a:path w="1185540" h="190500">
                <a:moveTo>
                  <a:pt x="31751" y="0"/>
                </a:moveTo>
                <a:lnTo>
                  <a:pt x="1153789" y="0"/>
                </a:lnTo>
                <a:cubicBezTo>
                  <a:pt x="1171325" y="0"/>
                  <a:pt x="1185540" y="14215"/>
                  <a:pt x="1185540" y="31751"/>
                </a:cubicBezTo>
                <a:lnTo>
                  <a:pt x="1185540" y="158749"/>
                </a:lnTo>
                <a:cubicBezTo>
                  <a:pt x="1185540" y="176285"/>
                  <a:pt x="1171325" y="190500"/>
                  <a:pt x="1153789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</p:spPr>
      </p:sp>
      <p:sp>
        <p:nvSpPr>
          <p:cNvPr id="40" name="Text 38"/>
          <p:cNvSpPr/>
          <p:nvPr/>
        </p:nvSpPr>
        <p:spPr>
          <a:xfrm>
            <a:off x="2646975" y="3936365"/>
            <a:ext cx="1233165" cy="190500"/>
          </a:xfrm>
          <a:prstGeom prst="rect">
            <a:avLst/>
          </a:prstGeom>
          <a:noFill/>
        </p:spPr>
        <p:txBody>
          <a:bodyPr wrap="square" lIns="63500" tIns="31750" rIns="63500" bIns="3175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gradFill>
                  <a:gsLst>
                    <a:gs pos="25000">
                      <a:srgbClr val="FFD83A"/>
                    </a:gs>
                    <a:gs pos="75000">
                      <a:srgbClr val="FFFD6D"/>
                    </a:gs>
                    <a:gs pos="0">
                      <a:srgbClr val="F8C334"/>
                    </a:gs>
                    <a:gs pos="100000">
                      <a:srgbClr val="FFFEB8"/>
                    </a:gs>
                  </a:gsLst>
                  <a:lin ang="18900000" scaled="1"/>
                </a:gradFill>
                <a:latin typeface="MiSans" pitchFamily="34" charset="-122"/>
                <a:ea typeface="MiSans" pitchFamily="34" charset="-122"/>
                <a:cs typeface="MiSans" pitchFamily="34" charset="-120"/>
              </a:rPr>
              <a:t>观点交锋 · 减少偏差30%</a:t>
            </a:r>
            <a:endParaRPr lang="en-US" sz="750" dirty="0">
              <a:gradFill>
                <a:gsLst>
                  <a:gs pos="25000">
                    <a:srgbClr val="FFD83A"/>
                  </a:gs>
                  <a:gs pos="75000">
                    <a:srgbClr val="FFFD6D"/>
                  </a:gs>
                  <a:gs pos="0">
                    <a:srgbClr val="F8C334"/>
                  </a:gs>
                  <a:gs pos="100000">
                    <a:srgbClr val="FFFEB8"/>
                  </a:gs>
                </a:gsLst>
                <a:lin ang="18900000" scaled="1"/>
              </a:gra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564007" y="338272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42" name="Shape 40"/>
          <p:cNvSpPr/>
          <p:nvPr/>
        </p:nvSpPr>
        <p:spPr>
          <a:xfrm>
            <a:off x="86201" y="4186555"/>
            <a:ext cx="6357938" cy="1190625"/>
          </a:xfrm>
          <a:custGeom>
            <a:avLst/>
            <a:gdLst/>
            <a:ahLst/>
            <a:cxnLst/>
            <a:rect l="l" t="t" r="r" b="b"/>
            <a:pathLst>
              <a:path w="6357938" h="1190625">
                <a:moveTo>
                  <a:pt x="63496" y="0"/>
                </a:moveTo>
                <a:lnTo>
                  <a:pt x="6294441" y="0"/>
                </a:lnTo>
                <a:cubicBezTo>
                  <a:pt x="6329509" y="0"/>
                  <a:pt x="6357938" y="28428"/>
                  <a:pt x="6357938" y="63496"/>
                </a:cubicBezTo>
                <a:lnTo>
                  <a:pt x="6357938" y="1127129"/>
                </a:lnTo>
                <a:cubicBezTo>
                  <a:pt x="6357938" y="1162197"/>
                  <a:pt x="6329509" y="1190625"/>
                  <a:pt x="6294441" y="1190625"/>
                </a:cubicBezTo>
                <a:lnTo>
                  <a:pt x="63496" y="1190625"/>
                </a:lnTo>
                <a:cubicBezTo>
                  <a:pt x="28428" y="1190625"/>
                  <a:pt x="0" y="1162197"/>
                  <a:pt x="0" y="1127129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 w="12700">
            <a:solidFill>
              <a:srgbClr val="8D99AE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85420" y="4384834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44" name="Text 42"/>
          <p:cNvSpPr/>
          <p:nvPr/>
        </p:nvSpPr>
        <p:spPr>
          <a:xfrm>
            <a:off x="157639" y="4384834"/>
            <a:ext cx="30956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1A1D2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02920" y="4400709"/>
            <a:ext cx="64293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决策阶段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85420" y="4702334"/>
            <a:ext cx="3032125" cy="674688"/>
          </a:xfrm>
          <a:custGeom>
            <a:avLst/>
            <a:gdLst/>
            <a:ahLst/>
            <a:cxnLst/>
            <a:rect l="l" t="t" r="r" b="b"/>
            <a:pathLst>
              <a:path w="3032125" h="674688">
                <a:moveTo>
                  <a:pt x="63502" y="0"/>
                </a:moveTo>
                <a:lnTo>
                  <a:pt x="2968623" y="0"/>
                </a:lnTo>
                <a:cubicBezTo>
                  <a:pt x="3003694" y="0"/>
                  <a:pt x="3032125" y="28431"/>
                  <a:pt x="3032125" y="63502"/>
                </a:cubicBezTo>
                <a:lnTo>
                  <a:pt x="3032125" y="611186"/>
                </a:lnTo>
                <a:cubicBezTo>
                  <a:pt x="3032125" y="646257"/>
                  <a:pt x="3003694" y="674688"/>
                  <a:pt x="2968623" y="674688"/>
                </a:cubicBezTo>
                <a:lnTo>
                  <a:pt x="63502" y="674688"/>
                </a:lnTo>
                <a:cubicBezTo>
                  <a:pt x="28431" y="674688"/>
                  <a:pt x="0" y="646257"/>
                  <a:pt x="0" y="61118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47" name="Shape 45"/>
          <p:cNvSpPr/>
          <p:nvPr/>
        </p:nvSpPr>
        <p:spPr>
          <a:xfrm>
            <a:off x="1611379" y="4797584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89297" y="-4961"/>
                </a:moveTo>
                <a:cubicBezTo>
                  <a:pt x="85173" y="-4961"/>
                  <a:pt x="81855" y="-1643"/>
                  <a:pt x="81855" y="2480"/>
                </a:cubicBezTo>
                <a:lnTo>
                  <a:pt x="81855" y="6201"/>
                </a:lnTo>
                <a:lnTo>
                  <a:pt x="81297" y="6201"/>
                </a:lnTo>
                <a:cubicBezTo>
                  <a:pt x="69949" y="6201"/>
                  <a:pt x="60771" y="15410"/>
                  <a:pt x="60771" y="26727"/>
                </a:cubicBezTo>
                <a:cubicBezTo>
                  <a:pt x="60771" y="37083"/>
                  <a:pt x="68492" y="45827"/>
                  <a:pt x="78755" y="47098"/>
                </a:cubicBezTo>
                <a:lnTo>
                  <a:pt x="97668" y="49454"/>
                </a:lnTo>
                <a:cubicBezTo>
                  <a:pt x="99250" y="49640"/>
                  <a:pt x="100459" y="51005"/>
                  <a:pt x="100459" y="52617"/>
                </a:cubicBezTo>
                <a:cubicBezTo>
                  <a:pt x="100459" y="54384"/>
                  <a:pt x="99033" y="55780"/>
                  <a:pt x="97296" y="55780"/>
                </a:cubicBezTo>
                <a:lnTo>
                  <a:pt x="74414" y="55811"/>
                </a:lnTo>
                <a:cubicBezTo>
                  <a:pt x="69608" y="55811"/>
                  <a:pt x="65732" y="59686"/>
                  <a:pt x="65732" y="64492"/>
                </a:cubicBezTo>
                <a:cubicBezTo>
                  <a:pt x="65732" y="69298"/>
                  <a:pt x="69608" y="73174"/>
                  <a:pt x="74414" y="73174"/>
                </a:cubicBezTo>
                <a:lnTo>
                  <a:pt x="81855" y="73174"/>
                </a:lnTo>
                <a:lnTo>
                  <a:pt x="81855" y="76895"/>
                </a:lnTo>
                <a:cubicBezTo>
                  <a:pt x="81855" y="81018"/>
                  <a:pt x="85173" y="84336"/>
                  <a:pt x="89297" y="84336"/>
                </a:cubicBezTo>
                <a:cubicBezTo>
                  <a:pt x="93421" y="84336"/>
                  <a:pt x="96738" y="81018"/>
                  <a:pt x="96738" y="76895"/>
                </a:cubicBezTo>
                <a:lnTo>
                  <a:pt x="96738" y="73174"/>
                </a:lnTo>
                <a:lnTo>
                  <a:pt x="97296" y="73174"/>
                </a:lnTo>
                <a:cubicBezTo>
                  <a:pt x="108645" y="73174"/>
                  <a:pt x="117822" y="63965"/>
                  <a:pt x="117822" y="52648"/>
                </a:cubicBezTo>
                <a:cubicBezTo>
                  <a:pt x="117822" y="42292"/>
                  <a:pt x="110102" y="33548"/>
                  <a:pt x="99839" y="32277"/>
                </a:cubicBezTo>
                <a:lnTo>
                  <a:pt x="80925" y="29921"/>
                </a:lnTo>
                <a:cubicBezTo>
                  <a:pt x="79344" y="29735"/>
                  <a:pt x="78135" y="28370"/>
                  <a:pt x="78135" y="26758"/>
                </a:cubicBezTo>
                <a:cubicBezTo>
                  <a:pt x="78135" y="24991"/>
                  <a:pt x="79561" y="23595"/>
                  <a:pt x="81297" y="23595"/>
                </a:cubicBezTo>
                <a:lnTo>
                  <a:pt x="101699" y="23564"/>
                </a:lnTo>
                <a:cubicBezTo>
                  <a:pt x="106505" y="23564"/>
                  <a:pt x="110381" y="19689"/>
                  <a:pt x="110381" y="14883"/>
                </a:cubicBezTo>
                <a:cubicBezTo>
                  <a:pt x="110381" y="10077"/>
                  <a:pt x="106505" y="6201"/>
                  <a:pt x="101699" y="6201"/>
                </a:cubicBezTo>
                <a:lnTo>
                  <a:pt x="96738" y="6201"/>
                </a:lnTo>
                <a:lnTo>
                  <a:pt x="96738" y="2480"/>
                </a:lnTo>
                <a:cubicBezTo>
                  <a:pt x="96738" y="-1643"/>
                  <a:pt x="93421" y="-4961"/>
                  <a:pt x="89297" y="-4961"/>
                </a:cubicBezTo>
                <a:close/>
                <a:moveTo>
                  <a:pt x="33889" y="105885"/>
                </a:moveTo>
                <a:lnTo>
                  <a:pt x="20681" y="119062"/>
                </a:lnTo>
                <a:lnTo>
                  <a:pt x="9922" y="119062"/>
                </a:lnTo>
                <a:cubicBezTo>
                  <a:pt x="4434" y="119062"/>
                  <a:pt x="0" y="123496"/>
                  <a:pt x="0" y="128984"/>
                </a:cubicBezTo>
                <a:lnTo>
                  <a:pt x="0" y="148828"/>
                </a:lnTo>
                <a:cubicBezTo>
                  <a:pt x="0" y="154316"/>
                  <a:pt x="4434" y="158750"/>
                  <a:pt x="9922" y="158750"/>
                </a:cubicBezTo>
                <a:lnTo>
                  <a:pt x="109296" y="158750"/>
                </a:lnTo>
                <a:cubicBezTo>
                  <a:pt x="118287" y="158750"/>
                  <a:pt x="127062" y="155866"/>
                  <a:pt x="134317" y="150533"/>
                </a:cubicBezTo>
                <a:lnTo>
                  <a:pt x="173571" y="121605"/>
                </a:lnTo>
                <a:cubicBezTo>
                  <a:pt x="179090" y="117543"/>
                  <a:pt x="180268" y="109792"/>
                  <a:pt x="176206" y="104273"/>
                </a:cubicBezTo>
                <a:cubicBezTo>
                  <a:pt x="172145" y="98754"/>
                  <a:pt x="164393" y="97575"/>
                  <a:pt x="158874" y="101637"/>
                </a:cubicBezTo>
                <a:lnTo>
                  <a:pt x="121729" y="128984"/>
                </a:lnTo>
                <a:lnTo>
                  <a:pt x="86816" y="128984"/>
                </a:lnTo>
                <a:cubicBezTo>
                  <a:pt x="82693" y="128984"/>
                  <a:pt x="79375" y="125667"/>
                  <a:pt x="79375" y="121543"/>
                </a:cubicBezTo>
                <a:cubicBezTo>
                  <a:pt x="79375" y="117419"/>
                  <a:pt x="82693" y="114102"/>
                  <a:pt x="86816" y="114102"/>
                </a:cubicBezTo>
                <a:lnTo>
                  <a:pt x="109141" y="114102"/>
                </a:lnTo>
                <a:cubicBezTo>
                  <a:pt x="114629" y="114102"/>
                  <a:pt x="119062" y="109668"/>
                  <a:pt x="119062" y="104180"/>
                </a:cubicBezTo>
                <a:cubicBezTo>
                  <a:pt x="119062" y="98692"/>
                  <a:pt x="114629" y="94258"/>
                  <a:pt x="109141" y="94258"/>
                </a:cubicBezTo>
                <a:lnTo>
                  <a:pt x="61950" y="94258"/>
                </a:lnTo>
                <a:cubicBezTo>
                  <a:pt x="51439" y="94258"/>
                  <a:pt x="41331" y="98444"/>
                  <a:pt x="33889" y="105885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48" name="Text 46"/>
          <p:cNvSpPr/>
          <p:nvPr/>
        </p:nvSpPr>
        <p:spPr>
          <a:xfrm>
            <a:off x="252889" y="4992053"/>
            <a:ext cx="2897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交易员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256858" y="5150803"/>
            <a:ext cx="2889250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制定策略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311183" y="4702334"/>
            <a:ext cx="3032125" cy="674688"/>
          </a:xfrm>
          <a:custGeom>
            <a:avLst/>
            <a:gdLst/>
            <a:ahLst/>
            <a:cxnLst/>
            <a:rect l="l" t="t" r="r" b="b"/>
            <a:pathLst>
              <a:path w="3032125" h="674688">
                <a:moveTo>
                  <a:pt x="63502" y="0"/>
                </a:moveTo>
                <a:lnTo>
                  <a:pt x="2968623" y="0"/>
                </a:lnTo>
                <a:cubicBezTo>
                  <a:pt x="3003694" y="0"/>
                  <a:pt x="3032125" y="28431"/>
                  <a:pt x="3032125" y="63502"/>
                </a:cubicBezTo>
                <a:lnTo>
                  <a:pt x="3032125" y="611186"/>
                </a:lnTo>
                <a:cubicBezTo>
                  <a:pt x="3032125" y="646257"/>
                  <a:pt x="3003694" y="674688"/>
                  <a:pt x="2968623" y="674688"/>
                </a:cubicBezTo>
                <a:lnTo>
                  <a:pt x="63502" y="674688"/>
                </a:lnTo>
                <a:cubicBezTo>
                  <a:pt x="28431" y="674688"/>
                  <a:pt x="0" y="646257"/>
                  <a:pt x="0" y="61118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51" name="Shape 49"/>
          <p:cNvSpPr/>
          <p:nvPr/>
        </p:nvSpPr>
        <p:spPr>
          <a:xfrm>
            <a:off x="4747064" y="4797584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cubicBezTo>
                  <a:pt x="80801" y="0"/>
                  <a:pt x="82228" y="310"/>
                  <a:pt x="83530" y="899"/>
                </a:cubicBezTo>
                <a:lnTo>
                  <a:pt x="141945" y="25673"/>
                </a:lnTo>
                <a:cubicBezTo>
                  <a:pt x="148766" y="28556"/>
                  <a:pt x="153851" y="35285"/>
                  <a:pt x="153820" y="43408"/>
                </a:cubicBezTo>
                <a:cubicBezTo>
                  <a:pt x="153665" y="74166"/>
                  <a:pt x="141015" y="130442"/>
                  <a:pt x="87592" y="156021"/>
                </a:cubicBezTo>
                <a:cubicBezTo>
                  <a:pt x="82414" y="158502"/>
                  <a:pt x="76398" y="158502"/>
                  <a:pt x="71220" y="156021"/>
                </a:cubicBezTo>
                <a:cubicBezTo>
                  <a:pt x="17766" y="130442"/>
                  <a:pt x="5147" y="74166"/>
                  <a:pt x="4992" y="43408"/>
                </a:cubicBezTo>
                <a:cubicBezTo>
                  <a:pt x="4961" y="35285"/>
                  <a:pt x="10046" y="28556"/>
                  <a:pt x="16867" y="25673"/>
                </a:cubicBezTo>
                <a:lnTo>
                  <a:pt x="75251" y="899"/>
                </a:lnTo>
                <a:cubicBezTo>
                  <a:pt x="76553" y="310"/>
                  <a:pt x="77949" y="0"/>
                  <a:pt x="79375" y="0"/>
                </a:cubicBezTo>
                <a:close/>
                <a:moveTo>
                  <a:pt x="79375" y="20712"/>
                </a:moveTo>
                <a:lnTo>
                  <a:pt x="79375" y="137945"/>
                </a:lnTo>
                <a:cubicBezTo>
                  <a:pt x="122163" y="117233"/>
                  <a:pt x="133666" y="71344"/>
                  <a:pt x="133945" y="43873"/>
                </a:cubicBezTo>
                <a:lnTo>
                  <a:pt x="79375" y="20743"/>
                </a:lnTo>
                <a:lnTo>
                  <a:pt x="79375" y="20743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52" name="Text 50"/>
          <p:cNvSpPr/>
          <p:nvPr/>
        </p:nvSpPr>
        <p:spPr>
          <a:xfrm>
            <a:off x="3378651" y="4992053"/>
            <a:ext cx="2897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风险评估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3382620" y="5150803"/>
            <a:ext cx="2889250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三重评估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564007" y="478369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55" name="Shape 53"/>
          <p:cNvSpPr/>
          <p:nvPr/>
        </p:nvSpPr>
        <p:spPr>
          <a:xfrm>
            <a:off x="86201" y="5543709"/>
            <a:ext cx="6691313" cy="1190625"/>
          </a:xfrm>
          <a:custGeom>
            <a:avLst/>
            <a:gdLst/>
            <a:ahLst/>
            <a:cxnLst/>
            <a:rect l="l" t="t" r="r" b="b"/>
            <a:pathLst>
              <a:path w="6691313" h="1190625">
                <a:moveTo>
                  <a:pt x="63496" y="0"/>
                </a:moveTo>
                <a:lnTo>
                  <a:pt x="6627816" y="0"/>
                </a:lnTo>
                <a:cubicBezTo>
                  <a:pt x="6662884" y="0"/>
                  <a:pt x="6691313" y="28428"/>
                  <a:pt x="6691313" y="63496"/>
                </a:cubicBezTo>
                <a:lnTo>
                  <a:pt x="6691313" y="1127129"/>
                </a:lnTo>
                <a:cubicBezTo>
                  <a:pt x="6691313" y="1162197"/>
                  <a:pt x="6662884" y="1190625"/>
                  <a:pt x="6627816" y="1190625"/>
                </a:cubicBezTo>
                <a:lnTo>
                  <a:pt x="63496" y="1190625"/>
                </a:lnTo>
                <a:cubicBezTo>
                  <a:pt x="28428" y="1190625"/>
                  <a:pt x="0" y="1162197"/>
                  <a:pt x="0" y="1127129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 w="1270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85420" y="564292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57" name="Text 55"/>
          <p:cNvSpPr/>
          <p:nvPr/>
        </p:nvSpPr>
        <p:spPr>
          <a:xfrm>
            <a:off x="157639" y="5642928"/>
            <a:ext cx="30956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1A1D2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502920" y="5658803"/>
            <a:ext cx="64293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输出阶段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185420" y="5960428"/>
            <a:ext cx="2103438" cy="674688"/>
          </a:xfrm>
          <a:custGeom>
            <a:avLst/>
            <a:gdLst/>
            <a:ahLst/>
            <a:cxnLst/>
            <a:rect l="l" t="t" r="r" b="b"/>
            <a:pathLst>
              <a:path w="2103438" h="674688">
                <a:moveTo>
                  <a:pt x="63502" y="0"/>
                </a:moveTo>
                <a:lnTo>
                  <a:pt x="2039936" y="0"/>
                </a:lnTo>
                <a:cubicBezTo>
                  <a:pt x="2075007" y="0"/>
                  <a:pt x="2103437" y="28431"/>
                  <a:pt x="2103437" y="63502"/>
                </a:cubicBezTo>
                <a:lnTo>
                  <a:pt x="2103438" y="611186"/>
                </a:lnTo>
                <a:cubicBezTo>
                  <a:pt x="2103437" y="646257"/>
                  <a:pt x="2075007" y="674688"/>
                  <a:pt x="2039936" y="674688"/>
                </a:cubicBezTo>
                <a:lnTo>
                  <a:pt x="63502" y="674688"/>
                </a:lnTo>
                <a:cubicBezTo>
                  <a:pt x="28431" y="674688"/>
                  <a:pt x="0" y="646257"/>
                  <a:pt x="0" y="61118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60" name="Shape 58"/>
          <p:cNvSpPr/>
          <p:nvPr/>
        </p:nvSpPr>
        <p:spPr>
          <a:xfrm>
            <a:off x="1175747" y="6055678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0" y="19844"/>
                </a:moveTo>
                <a:cubicBezTo>
                  <a:pt x="0" y="8899"/>
                  <a:pt x="8899" y="0"/>
                  <a:pt x="19844" y="0"/>
                </a:cubicBezTo>
                <a:lnTo>
                  <a:pt x="66198" y="0"/>
                </a:lnTo>
                <a:cubicBezTo>
                  <a:pt x="71469" y="0"/>
                  <a:pt x="76522" y="2077"/>
                  <a:pt x="80243" y="5798"/>
                </a:cubicBezTo>
                <a:lnTo>
                  <a:pt x="113264" y="38850"/>
                </a:lnTo>
                <a:cubicBezTo>
                  <a:pt x="116985" y="42571"/>
                  <a:pt x="119062" y="47625"/>
                  <a:pt x="119062" y="52896"/>
                </a:cubicBezTo>
                <a:lnTo>
                  <a:pt x="119062" y="138906"/>
                </a:lnTo>
                <a:cubicBezTo>
                  <a:pt x="119062" y="149851"/>
                  <a:pt x="110164" y="158750"/>
                  <a:pt x="99219" y="158750"/>
                </a:cubicBezTo>
                <a:lnTo>
                  <a:pt x="19844" y="158750"/>
                </a:lnTo>
                <a:cubicBezTo>
                  <a:pt x="8899" y="158750"/>
                  <a:pt x="0" y="149851"/>
                  <a:pt x="0" y="138906"/>
                </a:cubicBezTo>
                <a:lnTo>
                  <a:pt x="0" y="19844"/>
                </a:lnTo>
                <a:close/>
                <a:moveTo>
                  <a:pt x="64492" y="18138"/>
                </a:moveTo>
                <a:lnTo>
                  <a:pt x="64492" y="47129"/>
                </a:lnTo>
                <a:cubicBezTo>
                  <a:pt x="64492" y="51253"/>
                  <a:pt x="67810" y="54570"/>
                  <a:pt x="71934" y="54570"/>
                </a:cubicBezTo>
                <a:lnTo>
                  <a:pt x="100924" y="54570"/>
                </a:lnTo>
                <a:lnTo>
                  <a:pt x="64492" y="18138"/>
                </a:lnTo>
                <a:close/>
                <a:moveTo>
                  <a:pt x="37207" y="79375"/>
                </a:moveTo>
                <a:cubicBezTo>
                  <a:pt x="33083" y="79375"/>
                  <a:pt x="29766" y="82693"/>
                  <a:pt x="29766" y="86816"/>
                </a:cubicBezTo>
                <a:cubicBezTo>
                  <a:pt x="29766" y="90940"/>
                  <a:pt x="33083" y="94258"/>
                  <a:pt x="37207" y="94258"/>
                </a:cubicBezTo>
                <a:lnTo>
                  <a:pt x="81855" y="94258"/>
                </a:lnTo>
                <a:cubicBezTo>
                  <a:pt x="85979" y="94258"/>
                  <a:pt x="89297" y="90940"/>
                  <a:pt x="89297" y="86816"/>
                </a:cubicBezTo>
                <a:cubicBezTo>
                  <a:pt x="89297" y="82693"/>
                  <a:pt x="85979" y="79375"/>
                  <a:pt x="81855" y="79375"/>
                </a:cubicBezTo>
                <a:lnTo>
                  <a:pt x="37207" y="79375"/>
                </a:lnTo>
                <a:close/>
                <a:moveTo>
                  <a:pt x="37207" y="109141"/>
                </a:moveTo>
                <a:cubicBezTo>
                  <a:pt x="33083" y="109141"/>
                  <a:pt x="29766" y="112458"/>
                  <a:pt x="29766" y="116582"/>
                </a:cubicBezTo>
                <a:cubicBezTo>
                  <a:pt x="29766" y="120706"/>
                  <a:pt x="33083" y="124023"/>
                  <a:pt x="37207" y="124023"/>
                </a:cubicBezTo>
                <a:lnTo>
                  <a:pt x="81855" y="124023"/>
                </a:lnTo>
                <a:cubicBezTo>
                  <a:pt x="85979" y="124023"/>
                  <a:pt x="89297" y="120706"/>
                  <a:pt x="89297" y="116582"/>
                </a:cubicBezTo>
                <a:cubicBezTo>
                  <a:pt x="89297" y="112458"/>
                  <a:pt x="85979" y="109141"/>
                  <a:pt x="81855" y="109141"/>
                </a:cubicBezTo>
                <a:lnTo>
                  <a:pt x="37207" y="109141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61" name="Text 59"/>
          <p:cNvSpPr/>
          <p:nvPr/>
        </p:nvSpPr>
        <p:spPr>
          <a:xfrm>
            <a:off x="252889" y="6250146"/>
            <a:ext cx="19685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风险经理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256858" y="6408896"/>
            <a:ext cx="1960563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最终评估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2380387" y="5960428"/>
            <a:ext cx="2103438" cy="674688"/>
          </a:xfrm>
          <a:custGeom>
            <a:avLst/>
            <a:gdLst/>
            <a:ahLst/>
            <a:cxnLst/>
            <a:rect l="l" t="t" r="r" b="b"/>
            <a:pathLst>
              <a:path w="2103438" h="674688">
                <a:moveTo>
                  <a:pt x="63502" y="0"/>
                </a:moveTo>
                <a:lnTo>
                  <a:pt x="2039936" y="0"/>
                </a:lnTo>
                <a:cubicBezTo>
                  <a:pt x="2075007" y="0"/>
                  <a:pt x="2103437" y="28431"/>
                  <a:pt x="2103437" y="63502"/>
                </a:cubicBezTo>
                <a:lnTo>
                  <a:pt x="2103438" y="611186"/>
                </a:lnTo>
                <a:cubicBezTo>
                  <a:pt x="2103437" y="646257"/>
                  <a:pt x="2075007" y="674688"/>
                  <a:pt x="2039936" y="674688"/>
                </a:cubicBezTo>
                <a:lnTo>
                  <a:pt x="63502" y="674688"/>
                </a:lnTo>
                <a:cubicBezTo>
                  <a:pt x="28431" y="674688"/>
                  <a:pt x="0" y="646257"/>
                  <a:pt x="0" y="61118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64" name="Shape 62"/>
          <p:cNvSpPr/>
          <p:nvPr/>
        </p:nvSpPr>
        <p:spPr>
          <a:xfrm>
            <a:off x="3350870" y="605567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51309" y="17363"/>
                </a:moveTo>
                <a:cubicBezTo>
                  <a:pt x="151309" y="13240"/>
                  <a:pt x="147991" y="9922"/>
                  <a:pt x="143867" y="9922"/>
                </a:cubicBezTo>
                <a:cubicBezTo>
                  <a:pt x="139743" y="9922"/>
                  <a:pt x="136426" y="13240"/>
                  <a:pt x="136426" y="17363"/>
                </a:cubicBezTo>
                <a:lnTo>
                  <a:pt x="136426" y="141387"/>
                </a:lnTo>
                <a:cubicBezTo>
                  <a:pt x="136426" y="145510"/>
                  <a:pt x="139743" y="148828"/>
                  <a:pt x="143867" y="148828"/>
                </a:cubicBezTo>
                <a:cubicBezTo>
                  <a:pt x="147991" y="148828"/>
                  <a:pt x="151309" y="145510"/>
                  <a:pt x="151309" y="141387"/>
                </a:cubicBezTo>
                <a:lnTo>
                  <a:pt x="151309" y="17363"/>
                </a:lnTo>
                <a:close/>
                <a:moveTo>
                  <a:pt x="111621" y="39688"/>
                </a:moveTo>
                <a:cubicBezTo>
                  <a:pt x="107497" y="39688"/>
                  <a:pt x="104180" y="43005"/>
                  <a:pt x="104180" y="47129"/>
                </a:cubicBezTo>
                <a:lnTo>
                  <a:pt x="104180" y="141387"/>
                </a:lnTo>
                <a:cubicBezTo>
                  <a:pt x="104180" y="145510"/>
                  <a:pt x="107497" y="148828"/>
                  <a:pt x="111621" y="148828"/>
                </a:cubicBezTo>
                <a:cubicBezTo>
                  <a:pt x="115745" y="148828"/>
                  <a:pt x="119062" y="145510"/>
                  <a:pt x="119062" y="141387"/>
                </a:cubicBezTo>
                <a:lnTo>
                  <a:pt x="119062" y="47129"/>
                </a:lnTo>
                <a:cubicBezTo>
                  <a:pt x="119062" y="43005"/>
                  <a:pt x="115745" y="39688"/>
                  <a:pt x="111621" y="39688"/>
                </a:cubicBezTo>
                <a:close/>
                <a:moveTo>
                  <a:pt x="86816" y="76895"/>
                </a:moveTo>
                <a:cubicBezTo>
                  <a:pt x="86816" y="72771"/>
                  <a:pt x="83499" y="69453"/>
                  <a:pt x="79375" y="69453"/>
                </a:cubicBezTo>
                <a:cubicBezTo>
                  <a:pt x="75251" y="69453"/>
                  <a:pt x="71934" y="72771"/>
                  <a:pt x="71934" y="76895"/>
                </a:cubicBezTo>
                <a:lnTo>
                  <a:pt x="71934" y="141387"/>
                </a:lnTo>
                <a:cubicBezTo>
                  <a:pt x="71934" y="145510"/>
                  <a:pt x="75251" y="148828"/>
                  <a:pt x="79375" y="148828"/>
                </a:cubicBezTo>
                <a:cubicBezTo>
                  <a:pt x="83499" y="148828"/>
                  <a:pt x="86816" y="145510"/>
                  <a:pt x="86816" y="141387"/>
                </a:cubicBezTo>
                <a:lnTo>
                  <a:pt x="86816" y="76895"/>
                </a:lnTo>
                <a:close/>
                <a:moveTo>
                  <a:pt x="47129" y="99219"/>
                </a:moveTo>
                <a:cubicBezTo>
                  <a:pt x="43005" y="99219"/>
                  <a:pt x="39688" y="102536"/>
                  <a:pt x="39688" y="106660"/>
                </a:cubicBezTo>
                <a:lnTo>
                  <a:pt x="39688" y="141387"/>
                </a:lnTo>
                <a:cubicBezTo>
                  <a:pt x="39688" y="145510"/>
                  <a:pt x="43005" y="148828"/>
                  <a:pt x="47129" y="148828"/>
                </a:cubicBezTo>
                <a:cubicBezTo>
                  <a:pt x="51253" y="148828"/>
                  <a:pt x="54570" y="145510"/>
                  <a:pt x="54570" y="141387"/>
                </a:cubicBezTo>
                <a:lnTo>
                  <a:pt x="54570" y="106660"/>
                </a:lnTo>
                <a:cubicBezTo>
                  <a:pt x="54570" y="102536"/>
                  <a:pt x="51253" y="99219"/>
                  <a:pt x="47129" y="99219"/>
                </a:cubicBezTo>
                <a:close/>
                <a:moveTo>
                  <a:pt x="14883" y="119062"/>
                </a:moveTo>
                <a:cubicBezTo>
                  <a:pt x="10759" y="119062"/>
                  <a:pt x="7441" y="122380"/>
                  <a:pt x="7441" y="126504"/>
                </a:cubicBezTo>
                <a:lnTo>
                  <a:pt x="7441" y="141387"/>
                </a:lnTo>
                <a:cubicBezTo>
                  <a:pt x="7441" y="145510"/>
                  <a:pt x="10759" y="148828"/>
                  <a:pt x="14883" y="148828"/>
                </a:cubicBezTo>
                <a:cubicBezTo>
                  <a:pt x="19007" y="148828"/>
                  <a:pt x="22324" y="145510"/>
                  <a:pt x="22324" y="141387"/>
                </a:cubicBezTo>
                <a:lnTo>
                  <a:pt x="22324" y="126504"/>
                </a:lnTo>
                <a:cubicBezTo>
                  <a:pt x="22324" y="122380"/>
                  <a:pt x="19007" y="119062"/>
                  <a:pt x="14883" y="119062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65" name="Text 63"/>
          <p:cNvSpPr/>
          <p:nvPr/>
        </p:nvSpPr>
        <p:spPr>
          <a:xfrm>
            <a:off x="2447856" y="6250146"/>
            <a:ext cx="19685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信号处理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2451824" y="6408896"/>
            <a:ext cx="1960563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交易信号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4575416" y="5960428"/>
            <a:ext cx="2103438" cy="674688"/>
          </a:xfrm>
          <a:custGeom>
            <a:avLst/>
            <a:gdLst/>
            <a:ahLst/>
            <a:cxnLst/>
            <a:rect l="l" t="t" r="r" b="b"/>
            <a:pathLst>
              <a:path w="2103438" h="674688">
                <a:moveTo>
                  <a:pt x="63502" y="0"/>
                </a:moveTo>
                <a:lnTo>
                  <a:pt x="2039936" y="0"/>
                </a:lnTo>
                <a:cubicBezTo>
                  <a:pt x="2075007" y="0"/>
                  <a:pt x="2103437" y="28431"/>
                  <a:pt x="2103437" y="63502"/>
                </a:cubicBezTo>
                <a:lnTo>
                  <a:pt x="2103438" y="611186"/>
                </a:lnTo>
                <a:cubicBezTo>
                  <a:pt x="2103437" y="646257"/>
                  <a:pt x="2075007" y="674688"/>
                  <a:pt x="2039936" y="674688"/>
                </a:cubicBezTo>
                <a:lnTo>
                  <a:pt x="63502" y="674688"/>
                </a:lnTo>
                <a:cubicBezTo>
                  <a:pt x="28431" y="674688"/>
                  <a:pt x="0" y="646257"/>
                  <a:pt x="0" y="61118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68" name="Shape 66"/>
          <p:cNvSpPr/>
          <p:nvPr/>
        </p:nvSpPr>
        <p:spPr>
          <a:xfrm>
            <a:off x="5565743" y="6055678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19844" y="0"/>
                </a:moveTo>
                <a:cubicBezTo>
                  <a:pt x="8899" y="0"/>
                  <a:pt x="0" y="8899"/>
                  <a:pt x="0" y="19844"/>
                </a:cubicBezTo>
                <a:lnTo>
                  <a:pt x="0" y="138906"/>
                </a:lnTo>
                <a:cubicBezTo>
                  <a:pt x="0" y="149851"/>
                  <a:pt x="8899" y="158750"/>
                  <a:pt x="19844" y="158750"/>
                </a:cubicBezTo>
                <a:lnTo>
                  <a:pt x="99219" y="158750"/>
                </a:lnTo>
                <a:cubicBezTo>
                  <a:pt x="110164" y="158750"/>
                  <a:pt x="119062" y="149851"/>
                  <a:pt x="119062" y="138906"/>
                </a:cubicBezTo>
                <a:lnTo>
                  <a:pt x="119062" y="52865"/>
                </a:lnTo>
                <a:cubicBezTo>
                  <a:pt x="119062" y="47594"/>
                  <a:pt x="116985" y="42540"/>
                  <a:pt x="113264" y="38819"/>
                </a:cubicBezTo>
                <a:lnTo>
                  <a:pt x="80212" y="5798"/>
                </a:lnTo>
                <a:cubicBezTo>
                  <a:pt x="76491" y="2077"/>
                  <a:pt x="71469" y="0"/>
                  <a:pt x="66198" y="0"/>
                </a:cubicBezTo>
                <a:lnTo>
                  <a:pt x="19844" y="0"/>
                </a:lnTo>
                <a:close/>
                <a:moveTo>
                  <a:pt x="100924" y="54570"/>
                </a:moveTo>
                <a:lnTo>
                  <a:pt x="71934" y="54570"/>
                </a:lnTo>
                <a:cubicBezTo>
                  <a:pt x="67810" y="54570"/>
                  <a:pt x="64492" y="51253"/>
                  <a:pt x="64492" y="47129"/>
                </a:cubicBezTo>
                <a:lnTo>
                  <a:pt x="64492" y="18138"/>
                </a:lnTo>
                <a:lnTo>
                  <a:pt x="100924" y="54570"/>
                </a:lnTo>
                <a:close/>
                <a:moveTo>
                  <a:pt x="19844" y="119062"/>
                </a:moveTo>
                <a:lnTo>
                  <a:pt x="19844" y="99219"/>
                </a:lnTo>
                <a:cubicBezTo>
                  <a:pt x="19844" y="93731"/>
                  <a:pt x="24278" y="89297"/>
                  <a:pt x="29766" y="89297"/>
                </a:cubicBezTo>
                <a:lnTo>
                  <a:pt x="89297" y="89297"/>
                </a:lnTo>
                <a:cubicBezTo>
                  <a:pt x="94785" y="89297"/>
                  <a:pt x="99219" y="93731"/>
                  <a:pt x="99219" y="99219"/>
                </a:cubicBezTo>
                <a:lnTo>
                  <a:pt x="99219" y="119062"/>
                </a:lnTo>
                <a:cubicBezTo>
                  <a:pt x="99219" y="124551"/>
                  <a:pt x="94785" y="128984"/>
                  <a:pt x="89297" y="128984"/>
                </a:cubicBezTo>
                <a:lnTo>
                  <a:pt x="29766" y="128984"/>
                </a:lnTo>
                <a:cubicBezTo>
                  <a:pt x="24278" y="128984"/>
                  <a:pt x="19844" y="124551"/>
                  <a:pt x="19844" y="119062"/>
                </a:cubicBezTo>
                <a:close/>
                <a:moveTo>
                  <a:pt x="27285" y="19844"/>
                </a:moveTo>
                <a:lnTo>
                  <a:pt x="42168" y="19844"/>
                </a:lnTo>
                <a:cubicBezTo>
                  <a:pt x="46292" y="19844"/>
                  <a:pt x="49609" y="23161"/>
                  <a:pt x="49609" y="27285"/>
                </a:cubicBezTo>
                <a:cubicBezTo>
                  <a:pt x="49609" y="31409"/>
                  <a:pt x="46292" y="34727"/>
                  <a:pt x="42168" y="34727"/>
                </a:cubicBezTo>
                <a:lnTo>
                  <a:pt x="27285" y="34727"/>
                </a:lnTo>
                <a:cubicBezTo>
                  <a:pt x="23161" y="34727"/>
                  <a:pt x="19844" y="31409"/>
                  <a:pt x="19844" y="27285"/>
                </a:cubicBezTo>
                <a:cubicBezTo>
                  <a:pt x="19844" y="23161"/>
                  <a:pt x="23161" y="19844"/>
                  <a:pt x="27285" y="19844"/>
                </a:cubicBezTo>
                <a:close/>
                <a:moveTo>
                  <a:pt x="27285" y="49609"/>
                </a:moveTo>
                <a:lnTo>
                  <a:pt x="42168" y="49609"/>
                </a:lnTo>
                <a:cubicBezTo>
                  <a:pt x="46292" y="49609"/>
                  <a:pt x="49609" y="52927"/>
                  <a:pt x="49609" y="57051"/>
                </a:cubicBezTo>
                <a:cubicBezTo>
                  <a:pt x="49609" y="61175"/>
                  <a:pt x="46292" y="64492"/>
                  <a:pt x="42168" y="64492"/>
                </a:cubicBezTo>
                <a:lnTo>
                  <a:pt x="27285" y="64492"/>
                </a:lnTo>
                <a:cubicBezTo>
                  <a:pt x="23161" y="64492"/>
                  <a:pt x="19844" y="61175"/>
                  <a:pt x="19844" y="57051"/>
                </a:cubicBezTo>
                <a:cubicBezTo>
                  <a:pt x="19844" y="52927"/>
                  <a:pt x="23161" y="49609"/>
                  <a:pt x="27285" y="49609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69" name="Text 67"/>
          <p:cNvSpPr/>
          <p:nvPr/>
        </p:nvSpPr>
        <p:spPr>
          <a:xfrm>
            <a:off x="4642884" y="6250146"/>
            <a:ext cx="19685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决策报告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4646853" y="6408896"/>
            <a:ext cx="1960563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完整分析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7044055" y="852170"/>
            <a:ext cx="4453255" cy="4051300"/>
          </a:xfrm>
          <a:custGeom>
            <a:avLst/>
            <a:gdLst/>
            <a:ahLst/>
            <a:cxnLst/>
            <a:rect l="l" t="t" r="r" b="b"/>
            <a:pathLst>
              <a:path w="4452938" h="4802188">
                <a:moveTo>
                  <a:pt x="95248" y="0"/>
                </a:moveTo>
                <a:lnTo>
                  <a:pt x="4357689" y="0"/>
                </a:lnTo>
                <a:cubicBezTo>
                  <a:pt x="4410293" y="0"/>
                  <a:pt x="4452938" y="42644"/>
                  <a:pt x="4452938" y="95248"/>
                </a:cubicBezTo>
                <a:lnTo>
                  <a:pt x="4452938" y="4706939"/>
                </a:lnTo>
                <a:cubicBezTo>
                  <a:pt x="4452938" y="4759543"/>
                  <a:pt x="4410293" y="4802188"/>
                  <a:pt x="4357689" y="4802188"/>
                </a:cubicBezTo>
                <a:lnTo>
                  <a:pt x="95248" y="4802188"/>
                </a:lnTo>
                <a:cubicBezTo>
                  <a:pt x="42644" y="4802188"/>
                  <a:pt x="0" y="4759543"/>
                  <a:pt x="0" y="4706939"/>
                </a:cubicBezTo>
                <a:lnTo>
                  <a:pt x="0" y="95248"/>
                </a:lnTo>
                <a:cubicBezTo>
                  <a:pt x="0" y="42679"/>
                  <a:pt x="42679" y="0"/>
                  <a:pt x="95248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214882" y="1015048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90816" y="119062"/>
                </a:moveTo>
                <a:cubicBezTo>
                  <a:pt x="93080" y="112148"/>
                  <a:pt x="97606" y="105885"/>
                  <a:pt x="102722" y="100490"/>
                </a:cubicBezTo>
                <a:cubicBezTo>
                  <a:pt x="112861" y="89824"/>
                  <a:pt x="119062" y="75406"/>
                  <a:pt x="119062" y="59531"/>
                </a:cubicBezTo>
                <a:cubicBezTo>
                  <a:pt x="119062" y="26665"/>
                  <a:pt x="92397" y="0"/>
                  <a:pt x="59531" y="0"/>
                </a:cubicBezTo>
                <a:cubicBezTo>
                  <a:pt x="26665" y="0"/>
                  <a:pt x="0" y="26665"/>
                  <a:pt x="0" y="59531"/>
                </a:cubicBezTo>
                <a:cubicBezTo>
                  <a:pt x="0" y="75406"/>
                  <a:pt x="6201" y="89824"/>
                  <a:pt x="16340" y="100490"/>
                </a:cubicBezTo>
                <a:cubicBezTo>
                  <a:pt x="21456" y="105885"/>
                  <a:pt x="26014" y="112148"/>
                  <a:pt x="28246" y="119062"/>
                </a:cubicBezTo>
                <a:lnTo>
                  <a:pt x="90785" y="119062"/>
                </a:lnTo>
                <a:close/>
                <a:moveTo>
                  <a:pt x="89297" y="133945"/>
                </a:moveTo>
                <a:lnTo>
                  <a:pt x="29766" y="133945"/>
                </a:lnTo>
                <a:lnTo>
                  <a:pt x="29766" y="138906"/>
                </a:lnTo>
                <a:cubicBezTo>
                  <a:pt x="29766" y="152611"/>
                  <a:pt x="40866" y="163711"/>
                  <a:pt x="54570" y="163711"/>
                </a:cubicBezTo>
                <a:lnTo>
                  <a:pt x="64492" y="163711"/>
                </a:lnTo>
                <a:cubicBezTo>
                  <a:pt x="78197" y="163711"/>
                  <a:pt x="89297" y="152611"/>
                  <a:pt x="89297" y="138906"/>
                </a:cubicBezTo>
                <a:lnTo>
                  <a:pt x="89297" y="133945"/>
                </a:lnTo>
                <a:close/>
                <a:moveTo>
                  <a:pt x="57051" y="34727"/>
                </a:moveTo>
                <a:cubicBezTo>
                  <a:pt x="44710" y="34727"/>
                  <a:pt x="34727" y="44710"/>
                  <a:pt x="34727" y="57051"/>
                </a:cubicBezTo>
                <a:cubicBezTo>
                  <a:pt x="34727" y="61175"/>
                  <a:pt x="31409" y="64492"/>
                  <a:pt x="27285" y="64492"/>
                </a:cubicBezTo>
                <a:cubicBezTo>
                  <a:pt x="23161" y="64492"/>
                  <a:pt x="19844" y="61175"/>
                  <a:pt x="19844" y="57051"/>
                </a:cubicBezTo>
                <a:cubicBezTo>
                  <a:pt x="19844" y="36494"/>
                  <a:pt x="36494" y="19844"/>
                  <a:pt x="57051" y="19844"/>
                </a:cubicBezTo>
                <a:cubicBezTo>
                  <a:pt x="61175" y="19844"/>
                  <a:pt x="64492" y="23161"/>
                  <a:pt x="64492" y="27285"/>
                </a:cubicBezTo>
                <a:cubicBezTo>
                  <a:pt x="64492" y="31409"/>
                  <a:pt x="61175" y="34727"/>
                  <a:pt x="57051" y="34727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73" name="Text 71"/>
          <p:cNvSpPr/>
          <p:nvPr/>
        </p:nvSpPr>
        <p:spPr>
          <a:xfrm>
            <a:off x="7373632" y="983298"/>
            <a:ext cx="407193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创新亮点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7175195" y="1300798"/>
            <a:ext cx="4191000" cy="571500"/>
          </a:xfrm>
          <a:custGeom>
            <a:avLst/>
            <a:gdLst/>
            <a:ahLst/>
            <a:cxnLst/>
            <a:rect l="l" t="t" r="r" b="b"/>
            <a:pathLst>
              <a:path w="4191000" h="571500">
                <a:moveTo>
                  <a:pt x="63499" y="0"/>
                </a:moveTo>
                <a:lnTo>
                  <a:pt x="4127501" y="0"/>
                </a:lnTo>
                <a:cubicBezTo>
                  <a:pt x="4162570" y="0"/>
                  <a:pt x="4191000" y="28430"/>
                  <a:pt x="4191000" y="63499"/>
                </a:cubicBezTo>
                <a:lnTo>
                  <a:pt x="4191000" y="508001"/>
                </a:lnTo>
                <a:cubicBezTo>
                  <a:pt x="4191000" y="543070"/>
                  <a:pt x="4162570" y="571500"/>
                  <a:pt x="412750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75" name="Shape 73"/>
          <p:cNvSpPr/>
          <p:nvPr/>
        </p:nvSpPr>
        <p:spPr>
          <a:xfrm>
            <a:off x="7286320" y="142779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31750" y="79375"/>
                </a:moveTo>
                <a:lnTo>
                  <a:pt x="6077" y="79375"/>
                </a:lnTo>
                <a:cubicBezTo>
                  <a:pt x="-99" y="79375"/>
                  <a:pt x="-3894" y="72653"/>
                  <a:pt x="-719" y="67345"/>
                </a:cubicBezTo>
                <a:lnTo>
                  <a:pt x="12402" y="45467"/>
                </a:lnTo>
                <a:cubicBezTo>
                  <a:pt x="14560" y="41870"/>
                  <a:pt x="18430" y="39688"/>
                  <a:pt x="22622" y="39688"/>
                </a:cubicBezTo>
                <a:lnTo>
                  <a:pt x="46186" y="39688"/>
                </a:lnTo>
                <a:cubicBezTo>
                  <a:pt x="65063" y="7714"/>
                  <a:pt x="93216" y="6102"/>
                  <a:pt x="112043" y="8855"/>
                </a:cubicBezTo>
                <a:cubicBezTo>
                  <a:pt x="115218" y="9327"/>
                  <a:pt x="117698" y="11807"/>
                  <a:pt x="118145" y="14957"/>
                </a:cubicBezTo>
                <a:cubicBezTo>
                  <a:pt x="120898" y="33784"/>
                  <a:pt x="119286" y="61937"/>
                  <a:pt x="87313" y="80814"/>
                </a:cubicBezTo>
                <a:lnTo>
                  <a:pt x="87313" y="104378"/>
                </a:lnTo>
                <a:cubicBezTo>
                  <a:pt x="87313" y="108570"/>
                  <a:pt x="85130" y="112440"/>
                  <a:pt x="81533" y="114598"/>
                </a:cubicBezTo>
                <a:lnTo>
                  <a:pt x="59655" y="127719"/>
                </a:lnTo>
                <a:cubicBezTo>
                  <a:pt x="54372" y="130894"/>
                  <a:pt x="47625" y="127074"/>
                  <a:pt x="47625" y="120923"/>
                </a:cubicBezTo>
                <a:lnTo>
                  <a:pt x="47625" y="95250"/>
                </a:lnTo>
                <a:cubicBezTo>
                  <a:pt x="47625" y="86494"/>
                  <a:pt x="40506" y="79375"/>
                  <a:pt x="31750" y="79375"/>
                </a:cubicBezTo>
                <a:lnTo>
                  <a:pt x="31725" y="79375"/>
                </a:lnTo>
                <a:close/>
                <a:moveTo>
                  <a:pt x="99219" y="39688"/>
                </a:moveTo>
                <a:cubicBezTo>
                  <a:pt x="99219" y="33116"/>
                  <a:pt x="93884" y="27781"/>
                  <a:pt x="87313" y="27781"/>
                </a:cubicBezTo>
                <a:cubicBezTo>
                  <a:pt x="80741" y="27781"/>
                  <a:pt x="75406" y="33116"/>
                  <a:pt x="75406" y="39688"/>
                </a:cubicBezTo>
                <a:cubicBezTo>
                  <a:pt x="75406" y="46259"/>
                  <a:pt x="80741" y="51594"/>
                  <a:pt x="87313" y="51594"/>
                </a:cubicBezTo>
                <a:cubicBezTo>
                  <a:pt x="93884" y="51594"/>
                  <a:pt x="99219" y="46259"/>
                  <a:pt x="99219" y="39688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76" name="Text 74"/>
          <p:cNvSpPr/>
          <p:nvPr/>
        </p:nvSpPr>
        <p:spPr>
          <a:xfrm>
            <a:off x="7492695" y="1396048"/>
            <a:ext cx="571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行业首创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7270750" y="1618615"/>
            <a:ext cx="4056380" cy="1066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dirty="0">
                <a:solidFill>
                  <a:srgbClr val="00B05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多智能体系统应用于金融分析领域</a:t>
            </a:r>
            <a:endParaRPr lang="en-US" sz="1600" dirty="0">
              <a:solidFill>
                <a:srgbClr val="00B05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7175500" y="3124200"/>
            <a:ext cx="4191000" cy="1466215"/>
          </a:xfrm>
          <a:custGeom>
            <a:avLst/>
            <a:gdLst/>
            <a:ahLst/>
            <a:cxnLst/>
            <a:rect l="l" t="t" r="r" b="b"/>
            <a:pathLst>
              <a:path w="4191000" h="571500">
                <a:moveTo>
                  <a:pt x="63499" y="0"/>
                </a:moveTo>
                <a:lnTo>
                  <a:pt x="4127501" y="0"/>
                </a:lnTo>
                <a:cubicBezTo>
                  <a:pt x="4162570" y="0"/>
                  <a:pt x="4191000" y="28430"/>
                  <a:pt x="4191000" y="63499"/>
                </a:cubicBezTo>
                <a:lnTo>
                  <a:pt x="4191000" y="508001"/>
                </a:lnTo>
                <a:cubicBezTo>
                  <a:pt x="4191000" y="543070"/>
                  <a:pt x="4162570" y="571500"/>
                  <a:pt x="412750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79" name="Shape 77"/>
          <p:cNvSpPr/>
          <p:nvPr/>
        </p:nvSpPr>
        <p:spPr>
          <a:xfrm>
            <a:off x="7302195" y="3251438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31750" y="23812"/>
                </a:moveTo>
                <a:lnTo>
                  <a:pt x="31750" y="39688"/>
                </a:lnTo>
                <a:lnTo>
                  <a:pt x="63500" y="39688"/>
                </a:lnTo>
                <a:lnTo>
                  <a:pt x="63500" y="23812"/>
                </a:lnTo>
                <a:cubicBezTo>
                  <a:pt x="63500" y="15056"/>
                  <a:pt x="56381" y="7938"/>
                  <a:pt x="47625" y="7938"/>
                </a:cubicBezTo>
                <a:cubicBezTo>
                  <a:pt x="38869" y="7938"/>
                  <a:pt x="31750" y="15056"/>
                  <a:pt x="31750" y="23812"/>
                </a:cubicBezTo>
                <a:close/>
                <a:moveTo>
                  <a:pt x="15875" y="39688"/>
                </a:moveTo>
                <a:lnTo>
                  <a:pt x="15875" y="23812"/>
                </a:lnTo>
                <a:cubicBezTo>
                  <a:pt x="15875" y="6276"/>
                  <a:pt x="30088" y="-7937"/>
                  <a:pt x="47625" y="-7937"/>
                </a:cubicBezTo>
                <a:cubicBezTo>
                  <a:pt x="65162" y="-7937"/>
                  <a:pt x="79375" y="6276"/>
                  <a:pt x="79375" y="23812"/>
                </a:cubicBezTo>
                <a:lnTo>
                  <a:pt x="79375" y="39688"/>
                </a:lnTo>
                <a:cubicBezTo>
                  <a:pt x="88131" y="39688"/>
                  <a:pt x="95250" y="46806"/>
                  <a:pt x="95250" y="55563"/>
                </a:cubicBezTo>
                <a:lnTo>
                  <a:pt x="95250" y="111125"/>
                </a:lnTo>
                <a:cubicBezTo>
                  <a:pt x="95250" y="119881"/>
                  <a:pt x="88131" y="127000"/>
                  <a:pt x="79375" y="127000"/>
                </a:cubicBezTo>
                <a:lnTo>
                  <a:pt x="15875" y="127000"/>
                </a:lnTo>
                <a:cubicBezTo>
                  <a:pt x="7119" y="127000"/>
                  <a:pt x="0" y="119881"/>
                  <a:pt x="0" y="111125"/>
                </a:cubicBezTo>
                <a:lnTo>
                  <a:pt x="0" y="55563"/>
                </a:lnTo>
                <a:cubicBezTo>
                  <a:pt x="0" y="46806"/>
                  <a:pt x="7119" y="39688"/>
                  <a:pt x="15875" y="39688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80" name="Text 78"/>
          <p:cNvSpPr/>
          <p:nvPr/>
        </p:nvSpPr>
        <p:spPr>
          <a:xfrm>
            <a:off x="7492695" y="3219688"/>
            <a:ext cx="571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技术壁垒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7270750" y="3441700"/>
            <a:ext cx="4056380" cy="7543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dirty="0">
                <a:solidFill>
                  <a:srgbClr val="00B05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深度理解金融业务和AI技术的结合</a:t>
            </a:r>
            <a:endParaRPr lang="en-US" sz="1600" dirty="0">
              <a:solidFill>
                <a:srgbClr val="00B05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82" name="Shape 80"/>
          <p:cNvSpPr/>
          <p:nvPr/>
        </p:nvSpPr>
        <p:spPr>
          <a:xfrm>
            <a:off x="7175195" y="4948079"/>
            <a:ext cx="4191000" cy="571500"/>
          </a:xfrm>
          <a:custGeom>
            <a:avLst/>
            <a:gdLst/>
            <a:ahLst/>
            <a:cxnLst/>
            <a:rect l="l" t="t" r="r" b="b"/>
            <a:pathLst>
              <a:path w="4191000" h="571500">
                <a:moveTo>
                  <a:pt x="63499" y="0"/>
                </a:moveTo>
                <a:lnTo>
                  <a:pt x="4127501" y="0"/>
                </a:lnTo>
                <a:cubicBezTo>
                  <a:pt x="4162570" y="0"/>
                  <a:pt x="4191000" y="28430"/>
                  <a:pt x="4191000" y="63499"/>
                </a:cubicBezTo>
                <a:lnTo>
                  <a:pt x="4191000" y="508001"/>
                </a:lnTo>
                <a:cubicBezTo>
                  <a:pt x="4191000" y="543070"/>
                  <a:pt x="4162570" y="571500"/>
                  <a:pt x="412750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83" name="Shape 81"/>
          <p:cNvSpPr/>
          <p:nvPr/>
        </p:nvSpPr>
        <p:spPr>
          <a:xfrm>
            <a:off x="7286320" y="507507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35793" y="0"/>
                </a:moveTo>
                <a:lnTo>
                  <a:pt x="91356" y="0"/>
                </a:lnTo>
                <a:cubicBezTo>
                  <a:pt x="97929" y="0"/>
                  <a:pt x="103287" y="5407"/>
                  <a:pt x="103039" y="11956"/>
                </a:cubicBezTo>
                <a:cubicBezTo>
                  <a:pt x="102989" y="13271"/>
                  <a:pt x="102939" y="14585"/>
                  <a:pt x="102865" y="15875"/>
                </a:cubicBezTo>
                <a:lnTo>
                  <a:pt x="115168" y="15875"/>
                </a:lnTo>
                <a:cubicBezTo>
                  <a:pt x="121642" y="15875"/>
                  <a:pt x="127347" y="21233"/>
                  <a:pt x="126851" y="28228"/>
                </a:cubicBezTo>
                <a:cubicBezTo>
                  <a:pt x="124991" y="53950"/>
                  <a:pt x="111844" y="68089"/>
                  <a:pt x="97582" y="75481"/>
                </a:cubicBezTo>
                <a:cubicBezTo>
                  <a:pt x="93663" y="77515"/>
                  <a:pt x="89669" y="79028"/>
                  <a:pt x="85874" y="80144"/>
                </a:cubicBezTo>
                <a:cubicBezTo>
                  <a:pt x="80863" y="87238"/>
                  <a:pt x="75654" y="90984"/>
                  <a:pt x="71512" y="92993"/>
                </a:cubicBezTo>
                <a:lnTo>
                  <a:pt x="71512" y="111125"/>
                </a:lnTo>
                <a:lnTo>
                  <a:pt x="87387" y="111125"/>
                </a:lnTo>
                <a:cubicBezTo>
                  <a:pt x="91777" y="111125"/>
                  <a:pt x="95324" y="114672"/>
                  <a:pt x="95324" y="119063"/>
                </a:cubicBezTo>
                <a:cubicBezTo>
                  <a:pt x="95324" y="123453"/>
                  <a:pt x="91777" y="127000"/>
                  <a:pt x="87387" y="127000"/>
                </a:cubicBezTo>
                <a:lnTo>
                  <a:pt x="39762" y="127000"/>
                </a:lnTo>
                <a:cubicBezTo>
                  <a:pt x="35371" y="127000"/>
                  <a:pt x="31824" y="123453"/>
                  <a:pt x="31824" y="119063"/>
                </a:cubicBezTo>
                <a:cubicBezTo>
                  <a:pt x="31824" y="114672"/>
                  <a:pt x="35371" y="111125"/>
                  <a:pt x="39762" y="111125"/>
                </a:cubicBezTo>
                <a:lnTo>
                  <a:pt x="55637" y="111125"/>
                </a:lnTo>
                <a:lnTo>
                  <a:pt x="55637" y="92993"/>
                </a:lnTo>
                <a:cubicBezTo>
                  <a:pt x="51668" y="91083"/>
                  <a:pt x="46732" y="87536"/>
                  <a:pt x="41920" y="81012"/>
                </a:cubicBezTo>
                <a:cubicBezTo>
                  <a:pt x="37356" y="79821"/>
                  <a:pt x="32395" y="78011"/>
                  <a:pt x="27558" y="75282"/>
                </a:cubicBezTo>
                <a:cubicBezTo>
                  <a:pt x="14139" y="67766"/>
                  <a:pt x="2034" y="53603"/>
                  <a:pt x="298" y="28178"/>
                </a:cubicBezTo>
                <a:cubicBezTo>
                  <a:pt x="-174" y="21208"/>
                  <a:pt x="5507" y="15850"/>
                  <a:pt x="11981" y="15850"/>
                </a:cubicBezTo>
                <a:lnTo>
                  <a:pt x="24284" y="15850"/>
                </a:lnTo>
                <a:cubicBezTo>
                  <a:pt x="24209" y="14560"/>
                  <a:pt x="24160" y="13271"/>
                  <a:pt x="24110" y="11931"/>
                </a:cubicBezTo>
                <a:cubicBezTo>
                  <a:pt x="23862" y="5358"/>
                  <a:pt x="29220" y="-25"/>
                  <a:pt x="35793" y="-25"/>
                </a:cubicBezTo>
                <a:close/>
                <a:moveTo>
                  <a:pt x="25177" y="27781"/>
                </a:moveTo>
                <a:lnTo>
                  <a:pt x="12179" y="27781"/>
                </a:lnTo>
                <a:cubicBezTo>
                  <a:pt x="13717" y="48791"/>
                  <a:pt x="23366" y="59308"/>
                  <a:pt x="33313" y="64889"/>
                </a:cubicBezTo>
                <a:cubicBezTo>
                  <a:pt x="29741" y="55637"/>
                  <a:pt x="26789" y="43557"/>
                  <a:pt x="25177" y="27781"/>
                </a:cubicBezTo>
                <a:close/>
                <a:moveTo>
                  <a:pt x="94258" y="63698"/>
                </a:moveTo>
                <a:cubicBezTo>
                  <a:pt x="104304" y="57795"/>
                  <a:pt x="113382" y="47303"/>
                  <a:pt x="114920" y="27781"/>
                </a:cubicBezTo>
                <a:lnTo>
                  <a:pt x="101947" y="27781"/>
                </a:lnTo>
                <a:cubicBezTo>
                  <a:pt x="100409" y="42887"/>
                  <a:pt x="97631" y="54620"/>
                  <a:pt x="94258" y="63698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84" name="Text 82"/>
          <p:cNvSpPr/>
          <p:nvPr/>
        </p:nvSpPr>
        <p:spPr>
          <a:xfrm>
            <a:off x="7492695" y="5043329"/>
            <a:ext cx="571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竞争优势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7270445" y="5265579"/>
            <a:ext cx="4056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3-5年技术领先优势</a:t>
            </a: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7044055" y="5444490"/>
            <a:ext cx="4453255" cy="1246505"/>
          </a:xfrm>
          <a:custGeom>
            <a:avLst/>
            <a:gdLst/>
            <a:ahLst/>
            <a:cxnLst/>
            <a:rect l="l" t="t" r="r" b="b"/>
            <a:pathLst>
              <a:path w="4452938" h="1404938">
                <a:moveTo>
                  <a:pt x="95255" y="0"/>
                </a:moveTo>
                <a:lnTo>
                  <a:pt x="4357683" y="0"/>
                </a:lnTo>
                <a:cubicBezTo>
                  <a:pt x="4410290" y="0"/>
                  <a:pt x="4452938" y="42647"/>
                  <a:pt x="4452938" y="95255"/>
                </a:cubicBezTo>
                <a:lnTo>
                  <a:pt x="4452938" y="1309683"/>
                </a:lnTo>
                <a:cubicBezTo>
                  <a:pt x="4452938" y="1362290"/>
                  <a:pt x="4410290" y="1404938"/>
                  <a:pt x="4357683" y="1404938"/>
                </a:cubicBezTo>
                <a:lnTo>
                  <a:pt x="95255" y="1404938"/>
                </a:lnTo>
                <a:cubicBezTo>
                  <a:pt x="42647" y="1404938"/>
                  <a:pt x="0" y="1362290"/>
                  <a:pt x="0" y="1309683"/>
                </a:cubicBezTo>
                <a:lnTo>
                  <a:pt x="0" y="95255"/>
                </a:lnTo>
                <a:cubicBezTo>
                  <a:pt x="0" y="42682"/>
                  <a:pt x="42682" y="0"/>
                  <a:pt x="95255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8D99AE">
                  <a:alpha val="20000"/>
                </a:srgbClr>
              </a:gs>
            </a:gsLst>
            <a:lin ang="2700000" scaled="1"/>
          </a:gra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763681" y="5837079"/>
            <a:ext cx="426243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技术实现</a:t>
            </a:r>
            <a:endParaRPr lang="en-US" sz="1600" dirty="0"/>
          </a:p>
        </p:txBody>
      </p:sp>
      <p:sp>
        <p:nvSpPr>
          <p:cNvPr id="88" name="Shape 86"/>
          <p:cNvSpPr/>
          <p:nvPr/>
        </p:nvSpPr>
        <p:spPr>
          <a:xfrm>
            <a:off x="7191070" y="5780564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89" name="Text 87"/>
          <p:cNvSpPr/>
          <p:nvPr/>
        </p:nvSpPr>
        <p:spPr>
          <a:xfrm>
            <a:off x="7397445" y="5764689"/>
            <a:ext cx="153987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LangGraph</a:t>
            </a: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构建智能体工作流</a:t>
            </a:r>
            <a:endParaRPr lang="en-US" sz="1600" dirty="0"/>
          </a:p>
        </p:txBody>
      </p:sp>
      <p:sp>
        <p:nvSpPr>
          <p:cNvPr id="90" name="Shape 88"/>
          <p:cNvSpPr/>
          <p:nvPr/>
        </p:nvSpPr>
        <p:spPr>
          <a:xfrm>
            <a:off x="7191070" y="6002814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91" name="Text 89"/>
          <p:cNvSpPr/>
          <p:nvPr/>
        </p:nvSpPr>
        <p:spPr>
          <a:xfrm>
            <a:off x="7397445" y="5986939"/>
            <a:ext cx="163512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LangChain</a:t>
            </a: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LLM调用和工具集成</a:t>
            </a:r>
            <a:endParaRPr lang="en-US" sz="1600" dirty="0"/>
          </a:p>
        </p:txBody>
      </p:sp>
      <p:sp>
        <p:nvSpPr>
          <p:cNvPr id="92" name="Shape 90"/>
          <p:cNvSpPr/>
          <p:nvPr/>
        </p:nvSpPr>
        <p:spPr>
          <a:xfrm>
            <a:off x="7191070" y="6225064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93" name="Text 91"/>
          <p:cNvSpPr/>
          <p:nvPr/>
        </p:nvSpPr>
        <p:spPr>
          <a:xfrm>
            <a:off x="7397445" y="6209189"/>
            <a:ext cx="13573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asyncio</a:t>
            </a: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多智能体并行分析</a:t>
            </a:r>
            <a:endParaRPr lang="en-US" sz="1600" dirty="0"/>
          </a:p>
        </p:txBody>
      </p:sp>
      <p:sp>
        <p:nvSpPr>
          <p:cNvPr id="94" name="Shape 92"/>
          <p:cNvSpPr/>
          <p:nvPr/>
        </p:nvSpPr>
        <p:spPr>
          <a:xfrm>
            <a:off x="7191070" y="6447314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95" name="Text 93"/>
          <p:cNvSpPr/>
          <p:nvPr/>
        </p:nvSpPr>
        <p:spPr>
          <a:xfrm>
            <a:off x="7397445" y="6431439"/>
            <a:ext cx="1198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记忆管理</a:t>
            </a: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独立记忆状态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3" name="Text 1"/>
          <p:cNvSpPr/>
          <p:nvPr/>
        </p:nvSpPr>
        <p:spPr>
          <a:xfrm>
            <a:off x="533400" y="381000"/>
            <a:ext cx="32575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项目定位与核心价值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838200"/>
            <a:ext cx="11353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Project Positioning &amp; Core Value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223963"/>
            <a:ext cx="6753225" cy="1476375"/>
          </a:xfrm>
          <a:custGeom>
            <a:avLst/>
            <a:gdLst/>
            <a:ahLst/>
            <a:cxnLst/>
            <a:rect l="l" t="t" r="r" b="b"/>
            <a:pathLst>
              <a:path w="6753225" h="1476375">
                <a:moveTo>
                  <a:pt x="114301" y="0"/>
                </a:moveTo>
                <a:lnTo>
                  <a:pt x="6638924" y="0"/>
                </a:lnTo>
                <a:cubicBezTo>
                  <a:pt x="6702051" y="0"/>
                  <a:pt x="6753225" y="51174"/>
                  <a:pt x="6753225" y="114301"/>
                </a:cubicBezTo>
                <a:lnTo>
                  <a:pt x="6753225" y="1362074"/>
                </a:lnTo>
                <a:cubicBezTo>
                  <a:pt x="6753225" y="1425201"/>
                  <a:pt x="6702051" y="1476375"/>
                  <a:pt x="6638924" y="1476375"/>
                </a:cubicBezTo>
                <a:lnTo>
                  <a:pt x="114301" y="1476375"/>
                </a:lnTo>
                <a:cubicBezTo>
                  <a:pt x="51174" y="1476375"/>
                  <a:pt x="0" y="1425201"/>
                  <a:pt x="0" y="1362074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2925" y="13811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676275" y="15144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8" name="Text 6"/>
          <p:cNvSpPr/>
          <p:nvPr/>
        </p:nvSpPr>
        <p:spPr>
          <a:xfrm>
            <a:off x="1114425" y="1381125"/>
            <a:ext cx="5962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项目定位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14425" y="1724025"/>
            <a:ext cx="5943600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Ares 智能研报是一个基于</a:t>
            </a:r>
            <a:r>
              <a:rPr lang="en-US" sz="120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多智能体大语言模型(LLM)</a:t>
            </a: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的智能金融分析决策平台,通过模拟真实投资机构的专业团队协作模式,为投资者提供</a:t>
            </a:r>
            <a:r>
              <a:rPr lang="en-US" sz="1200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全面、客观、专业</a:t>
            </a: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的股票投资分析服务。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5763" y="2824163"/>
            <a:ext cx="3314700" cy="3648075"/>
          </a:xfrm>
          <a:custGeom>
            <a:avLst/>
            <a:gdLst/>
            <a:ahLst/>
            <a:cxnLst/>
            <a:rect l="l" t="t" r="r" b="b"/>
            <a:pathLst>
              <a:path w="3314700" h="3648075">
                <a:moveTo>
                  <a:pt x="114291" y="0"/>
                </a:moveTo>
                <a:lnTo>
                  <a:pt x="3200409" y="0"/>
                </a:lnTo>
                <a:cubicBezTo>
                  <a:pt x="3263488" y="0"/>
                  <a:pt x="3314700" y="51212"/>
                  <a:pt x="3314700" y="114291"/>
                </a:cubicBezTo>
                <a:lnTo>
                  <a:pt x="3314700" y="3533784"/>
                </a:lnTo>
                <a:cubicBezTo>
                  <a:pt x="3314700" y="3596905"/>
                  <a:pt x="3263530" y="3648075"/>
                  <a:pt x="3200409" y="3648075"/>
                </a:cubicBezTo>
                <a:lnTo>
                  <a:pt x="114291" y="3648075"/>
                </a:lnTo>
                <a:cubicBezTo>
                  <a:pt x="51170" y="3648075"/>
                  <a:pt x="0" y="3596905"/>
                  <a:pt x="0" y="3533784"/>
                </a:cubicBezTo>
                <a:lnTo>
                  <a:pt x="0" y="114291"/>
                </a:lnTo>
                <a:cubicBezTo>
                  <a:pt x="0" y="51170"/>
                  <a:pt x="51170" y="0"/>
                  <a:pt x="114291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2925" y="29813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660797" y="308610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75009" y="83046"/>
                </a:moveTo>
                <a:cubicBezTo>
                  <a:pt x="97187" y="83046"/>
                  <a:pt x="115193" y="65040"/>
                  <a:pt x="115193" y="42863"/>
                </a:cubicBezTo>
                <a:cubicBezTo>
                  <a:pt x="115193" y="20685"/>
                  <a:pt x="97187" y="2679"/>
                  <a:pt x="75009" y="2679"/>
                </a:cubicBezTo>
                <a:cubicBezTo>
                  <a:pt x="52831" y="2679"/>
                  <a:pt x="34826" y="20685"/>
                  <a:pt x="34826" y="42863"/>
                </a:cubicBezTo>
                <a:cubicBezTo>
                  <a:pt x="34826" y="65040"/>
                  <a:pt x="52831" y="83046"/>
                  <a:pt x="75009" y="83046"/>
                </a:cubicBezTo>
                <a:close/>
                <a:moveTo>
                  <a:pt x="65064" y="101798"/>
                </a:moveTo>
                <a:cubicBezTo>
                  <a:pt x="32080" y="101798"/>
                  <a:pt x="5358" y="128521"/>
                  <a:pt x="5358" y="161505"/>
                </a:cubicBezTo>
                <a:cubicBezTo>
                  <a:pt x="5358" y="166996"/>
                  <a:pt x="9811" y="171450"/>
                  <a:pt x="15303" y="171450"/>
                </a:cubicBezTo>
                <a:lnTo>
                  <a:pt x="134715" y="171450"/>
                </a:lnTo>
                <a:cubicBezTo>
                  <a:pt x="140207" y="171450"/>
                  <a:pt x="144661" y="166996"/>
                  <a:pt x="144661" y="161505"/>
                </a:cubicBezTo>
                <a:cubicBezTo>
                  <a:pt x="144661" y="128521"/>
                  <a:pt x="117939" y="101798"/>
                  <a:pt x="84955" y="101798"/>
                </a:cubicBezTo>
                <a:lnTo>
                  <a:pt x="65064" y="101798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13" name="Text 11"/>
          <p:cNvSpPr/>
          <p:nvPr/>
        </p:nvSpPr>
        <p:spPr>
          <a:xfrm>
            <a:off x="1038225" y="3038475"/>
            <a:ext cx="1238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对个人投资者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1975" y="35147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15" name="Text 13"/>
          <p:cNvSpPr/>
          <p:nvPr/>
        </p:nvSpPr>
        <p:spPr>
          <a:xfrm>
            <a:off x="809625" y="3476625"/>
            <a:ext cx="280987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专业级分析能力</a:t>
            </a: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- 无需金融专业背景,即可获得机构级投资分析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1975" y="4308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17" name="Text 15"/>
          <p:cNvSpPr/>
          <p:nvPr/>
        </p:nvSpPr>
        <p:spPr>
          <a:xfrm>
            <a:off x="809625" y="4270400"/>
            <a:ext cx="280987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多维度决策支持</a:t>
            </a: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- 基本面、技术面、消息面、情绪面全方位分析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1975" y="5102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19" name="Text 17"/>
          <p:cNvSpPr/>
          <p:nvPr/>
        </p:nvSpPr>
        <p:spPr>
          <a:xfrm>
            <a:off x="809625" y="5064100"/>
            <a:ext cx="280987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降低投资门槛</a:t>
            </a: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- AI驱动的智能分析,让普通投资者也能做出专业决策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61975" y="58959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21" name="Text 19"/>
          <p:cNvSpPr/>
          <p:nvPr/>
        </p:nvSpPr>
        <p:spPr>
          <a:xfrm>
            <a:off x="809625" y="5857875"/>
            <a:ext cx="280987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风险控制</a:t>
            </a: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- 多层次风险评估,帮助投资者规避重大风险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26148" y="2824163"/>
            <a:ext cx="3314700" cy="3648075"/>
          </a:xfrm>
          <a:custGeom>
            <a:avLst/>
            <a:gdLst/>
            <a:ahLst/>
            <a:cxnLst/>
            <a:rect l="l" t="t" r="r" b="b"/>
            <a:pathLst>
              <a:path w="3314700" h="3648075">
                <a:moveTo>
                  <a:pt x="114291" y="0"/>
                </a:moveTo>
                <a:lnTo>
                  <a:pt x="3200409" y="0"/>
                </a:lnTo>
                <a:cubicBezTo>
                  <a:pt x="3263488" y="0"/>
                  <a:pt x="3314700" y="51212"/>
                  <a:pt x="3314700" y="114291"/>
                </a:cubicBezTo>
                <a:lnTo>
                  <a:pt x="3314700" y="3533784"/>
                </a:lnTo>
                <a:cubicBezTo>
                  <a:pt x="3314700" y="3596905"/>
                  <a:pt x="3263530" y="3648075"/>
                  <a:pt x="3200409" y="3648075"/>
                </a:cubicBezTo>
                <a:lnTo>
                  <a:pt x="114291" y="3648075"/>
                </a:lnTo>
                <a:cubicBezTo>
                  <a:pt x="51170" y="3648075"/>
                  <a:pt x="0" y="3596905"/>
                  <a:pt x="0" y="3533784"/>
                </a:cubicBezTo>
                <a:lnTo>
                  <a:pt x="0" y="114291"/>
                </a:lnTo>
                <a:cubicBezTo>
                  <a:pt x="0" y="51170"/>
                  <a:pt x="51170" y="0"/>
                  <a:pt x="11429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83310" y="29813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</p:spPr>
      </p:sp>
      <p:sp>
        <p:nvSpPr>
          <p:cNvPr id="24" name="Shape 22"/>
          <p:cNvSpPr/>
          <p:nvPr/>
        </p:nvSpPr>
        <p:spPr>
          <a:xfrm>
            <a:off x="4111898" y="3086100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21431" y="0"/>
                </a:moveTo>
                <a:cubicBezTo>
                  <a:pt x="9611" y="0"/>
                  <a:pt x="0" y="9611"/>
                  <a:pt x="0" y="21431"/>
                </a:cubicBezTo>
                <a:lnTo>
                  <a:pt x="0" y="150019"/>
                </a:lnTo>
                <a:cubicBezTo>
                  <a:pt x="0" y="161839"/>
                  <a:pt x="9611" y="171450"/>
                  <a:pt x="21431" y="171450"/>
                </a:cubicBezTo>
                <a:lnTo>
                  <a:pt x="107156" y="171450"/>
                </a:lnTo>
                <a:cubicBezTo>
                  <a:pt x="118977" y="171450"/>
                  <a:pt x="128588" y="161839"/>
                  <a:pt x="128588" y="150019"/>
                </a:cubicBezTo>
                <a:lnTo>
                  <a:pt x="128588" y="21431"/>
                </a:lnTo>
                <a:cubicBezTo>
                  <a:pt x="128588" y="9611"/>
                  <a:pt x="118977" y="0"/>
                  <a:pt x="107156" y="0"/>
                </a:cubicBezTo>
                <a:lnTo>
                  <a:pt x="21431" y="0"/>
                </a:lnTo>
                <a:close/>
                <a:moveTo>
                  <a:pt x="58936" y="117872"/>
                </a:moveTo>
                <a:lnTo>
                  <a:pt x="69652" y="117872"/>
                </a:lnTo>
                <a:cubicBezTo>
                  <a:pt x="75579" y="117872"/>
                  <a:pt x="80367" y="122660"/>
                  <a:pt x="80367" y="128588"/>
                </a:cubicBezTo>
                <a:lnTo>
                  <a:pt x="80367" y="155377"/>
                </a:lnTo>
                <a:lnTo>
                  <a:pt x="48220" y="155377"/>
                </a:lnTo>
                <a:lnTo>
                  <a:pt x="48220" y="128588"/>
                </a:lnTo>
                <a:cubicBezTo>
                  <a:pt x="48220" y="122660"/>
                  <a:pt x="53009" y="117872"/>
                  <a:pt x="58936" y="117872"/>
                </a:cubicBezTo>
                <a:close/>
                <a:moveTo>
                  <a:pt x="32147" y="37505"/>
                </a:moveTo>
                <a:cubicBezTo>
                  <a:pt x="32147" y="34558"/>
                  <a:pt x="34558" y="32147"/>
                  <a:pt x="37505" y="32147"/>
                </a:cubicBezTo>
                <a:lnTo>
                  <a:pt x="48220" y="32147"/>
                </a:lnTo>
                <a:cubicBezTo>
                  <a:pt x="51167" y="32147"/>
                  <a:pt x="53578" y="34558"/>
                  <a:pt x="53578" y="37505"/>
                </a:cubicBezTo>
                <a:lnTo>
                  <a:pt x="53578" y="48220"/>
                </a:lnTo>
                <a:cubicBezTo>
                  <a:pt x="53578" y="51167"/>
                  <a:pt x="51167" y="53578"/>
                  <a:pt x="48220" y="53578"/>
                </a:cubicBezTo>
                <a:lnTo>
                  <a:pt x="37505" y="53578"/>
                </a:lnTo>
                <a:cubicBezTo>
                  <a:pt x="34558" y="53578"/>
                  <a:pt x="32147" y="51167"/>
                  <a:pt x="32147" y="48220"/>
                </a:cubicBezTo>
                <a:lnTo>
                  <a:pt x="32147" y="37505"/>
                </a:lnTo>
                <a:close/>
                <a:moveTo>
                  <a:pt x="80367" y="32147"/>
                </a:moveTo>
                <a:lnTo>
                  <a:pt x="91083" y="32147"/>
                </a:lnTo>
                <a:cubicBezTo>
                  <a:pt x="94030" y="32147"/>
                  <a:pt x="96441" y="34558"/>
                  <a:pt x="96441" y="37505"/>
                </a:cubicBezTo>
                <a:lnTo>
                  <a:pt x="96441" y="48220"/>
                </a:lnTo>
                <a:cubicBezTo>
                  <a:pt x="96441" y="51167"/>
                  <a:pt x="94030" y="53578"/>
                  <a:pt x="91083" y="53578"/>
                </a:cubicBezTo>
                <a:lnTo>
                  <a:pt x="80367" y="53578"/>
                </a:lnTo>
                <a:cubicBezTo>
                  <a:pt x="77420" y="53578"/>
                  <a:pt x="75009" y="51167"/>
                  <a:pt x="75009" y="48220"/>
                </a:cubicBezTo>
                <a:lnTo>
                  <a:pt x="75009" y="37505"/>
                </a:lnTo>
                <a:cubicBezTo>
                  <a:pt x="75009" y="34558"/>
                  <a:pt x="77420" y="32147"/>
                  <a:pt x="80367" y="32147"/>
                </a:cubicBezTo>
                <a:close/>
                <a:moveTo>
                  <a:pt x="32147" y="80367"/>
                </a:moveTo>
                <a:cubicBezTo>
                  <a:pt x="32147" y="77420"/>
                  <a:pt x="34558" y="75009"/>
                  <a:pt x="37505" y="75009"/>
                </a:cubicBezTo>
                <a:lnTo>
                  <a:pt x="48220" y="75009"/>
                </a:lnTo>
                <a:cubicBezTo>
                  <a:pt x="51167" y="75009"/>
                  <a:pt x="53578" y="77420"/>
                  <a:pt x="53578" y="80367"/>
                </a:cubicBezTo>
                <a:lnTo>
                  <a:pt x="53578" y="91083"/>
                </a:lnTo>
                <a:cubicBezTo>
                  <a:pt x="53578" y="94030"/>
                  <a:pt x="51167" y="96441"/>
                  <a:pt x="48220" y="96441"/>
                </a:cubicBezTo>
                <a:lnTo>
                  <a:pt x="37505" y="96441"/>
                </a:lnTo>
                <a:cubicBezTo>
                  <a:pt x="34558" y="96441"/>
                  <a:pt x="32147" y="94030"/>
                  <a:pt x="32147" y="91083"/>
                </a:cubicBezTo>
                <a:lnTo>
                  <a:pt x="32147" y="80367"/>
                </a:lnTo>
                <a:close/>
                <a:moveTo>
                  <a:pt x="80367" y="75009"/>
                </a:moveTo>
                <a:lnTo>
                  <a:pt x="91083" y="75009"/>
                </a:lnTo>
                <a:cubicBezTo>
                  <a:pt x="94030" y="75009"/>
                  <a:pt x="96441" y="77420"/>
                  <a:pt x="96441" y="80367"/>
                </a:cubicBezTo>
                <a:lnTo>
                  <a:pt x="96441" y="91083"/>
                </a:lnTo>
                <a:cubicBezTo>
                  <a:pt x="96441" y="94030"/>
                  <a:pt x="94030" y="96441"/>
                  <a:pt x="91083" y="96441"/>
                </a:cubicBezTo>
                <a:lnTo>
                  <a:pt x="80367" y="96441"/>
                </a:lnTo>
                <a:cubicBezTo>
                  <a:pt x="77420" y="96441"/>
                  <a:pt x="75009" y="94030"/>
                  <a:pt x="75009" y="91083"/>
                </a:cubicBezTo>
                <a:lnTo>
                  <a:pt x="75009" y="80367"/>
                </a:lnTo>
                <a:cubicBezTo>
                  <a:pt x="75009" y="77420"/>
                  <a:pt x="77420" y="75009"/>
                  <a:pt x="80367" y="75009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25" name="Text 23"/>
          <p:cNvSpPr/>
          <p:nvPr/>
        </p:nvSpPr>
        <p:spPr>
          <a:xfrm>
            <a:off x="4478610" y="3038475"/>
            <a:ext cx="1047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对机构客户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002360" y="35147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27" name="Text 25"/>
          <p:cNvSpPr/>
          <p:nvPr/>
        </p:nvSpPr>
        <p:spPr>
          <a:xfrm>
            <a:off x="4250010" y="3476625"/>
            <a:ext cx="280987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提升研究效率</a:t>
            </a: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- 自动化分析流程,释放研究员时间用于深度研究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002360" y="4308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29" name="Text 27"/>
          <p:cNvSpPr/>
          <p:nvPr/>
        </p:nvSpPr>
        <p:spPr>
          <a:xfrm>
            <a:off x="4250010" y="4270400"/>
            <a:ext cx="280987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标准化分析流程</a:t>
            </a: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- 统一的分析框架,确保分析质量和一致性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002360" y="5102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31" name="Text 29"/>
          <p:cNvSpPr/>
          <p:nvPr/>
        </p:nvSpPr>
        <p:spPr>
          <a:xfrm>
            <a:off x="4250010" y="5064100"/>
            <a:ext cx="280987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多市场覆盖</a:t>
            </a: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- 支持A股、港股、美股,满足全球化投资需求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002360" y="58959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33" name="Text 31"/>
          <p:cNvSpPr/>
          <p:nvPr/>
        </p:nvSpPr>
        <p:spPr>
          <a:xfrm>
            <a:off x="4250010" y="5857875"/>
            <a:ext cx="280987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可扩展架构</a:t>
            </a: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- 支持定制化开发和私有化部署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304708" y="1223963"/>
            <a:ext cx="4505325" cy="3857625"/>
          </a:xfrm>
          <a:custGeom>
            <a:avLst/>
            <a:gdLst/>
            <a:ahLst/>
            <a:cxnLst/>
            <a:rect l="l" t="t" r="r" b="b"/>
            <a:pathLst>
              <a:path w="4505325" h="3857625">
                <a:moveTo>
                  <a:pt x="114301" y="0"/>
                </a:moveTo>
                <a:lnTo>
                  <a:pt x="4391024" y="0"/>
                </a:lnTo>
                <a:cubicBezTo>
                  <a:pt x="4454151" y="0"/>
                  <a:pt x="4505325" y="51174"/>
                  <a:pt x="4505325" y="114301"/>
                </a:cubicBezTo>
                <a:lnTo>
                  <a:pt x="4505325" y="3743324"/>
                </a:lnTo>
                <a:cubicBezTo>
                  <a:pt x="4505325" y="3806451"/>
                  <a:pt x="4454151" y="3857625"/>
                  <a:pt x="4391024" y="3857625"/>
                </a:cubicBezTo>
                <a:lnTo>
                  <a:pt x="114301" y="3857625"/>
                </a:lnTo>
                <a:cubicBezTo>
                  <a:pt x="51174" y="3857625"/>
                  <a:pt x="0" y="3806451"/>
                  <a:pt x="0" y="37433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73776" y="14192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90649" y="89297"/>
                </a:moveTo>
                <a:lnTo>
                  <a:pt x="125164" y="89297"/>
                </a:lnTo>
                <a:cubicBezTo>
                  <a:pt x="118579" y="89297"/>
                  <a:pt x="113258" y="83976"/>
                  <a:pt x="113258" y="77391"/>
                </a:cubicBezTo>
                <a:lnTo>
                  <a:pt x="113258" y="11906"/>
                </a:lnTo>
                <a:cubicBezTo>
                  <a:pt x="113258" y="5321"/>
                  <a:pt x="118616" y="-74"/>
                  <a:pt x="125127" y="781"/>
                </a:cubicBezTo>
                <a:cubicBezTo>
                  <a:pt x="164939" y="6065"/>
                  <a:pt x="196490" y="37616"/>
                  <a:pt x="201774" y="77428"/>
                </a:cubicBezTo>
                <a:cubicBezTo>
                  <a:pt x="202629" y="83939"/>
                  <a:pt x="197234" y="89297"/>
                  <a:pt x="190649" y="89297"/>
                </a:cubicBezTo>
                <a:close/>
                <a:moveTo>
                  <a:pt x="82823" y="13841"/>
                </a:moveTo>
                <a:cubicBezTo>
                  <a:pt x="89557" y="12427"/>
                  <a:pt x="95399" y="17934"/>
                  <a:pt x="95399" y="24817"/>
                </a:cubicBezTo>
                <a:lnTo>
                  <a:pt x="95399" y="98227"/>
                </a:lnTo>
                <a:cubicBezTo>
                  <a:pt x="95399" y="100310"/>
                  <a:pt x="96143" y="102319"/>
                  <a:pt x="97445" y="103919"/>
                </a:cubicBezTo>
                <a:lnTo>
                  <a:pt x="146596" y="163227"/>
                </a:lnTo>
                <a:cubicBezTo>
                  <a:pt x="150949" y="168473"/>
                  <a:pt x="150019" y="176399"/>
                  <a:pt x="144028" y="179636"/>
                </a:cubicBezTo>
                <a:cubicBezTo>
                  <a:pt x="131341" y="186556"/>
                  <a:pt x="116793" y="190500"/>
                  <a:pt x="101352" y="190500"/>
                </a:cubicBezTo>
                <a:cubicBezTo>
                  <a:pt x="52053" y="190500"/>
                  <a:pt x="12055" y="150502"/>
                  <a:pt x="12055" y="101203"/>
                </a:cubicBezTo>
                <a:cubicBezTo>
                  <a:pt x="12055" y="58229"/>
                  <a:pt x="42379" y="22361"/>
                  <a:pt x="82823" y="13841"/>
                </a:cubicBezTo>
                <a:close/>
                <a:moveTo>
                  <a:pt x="177775" y="107156"/>
                </a:moveTo>
                <a:lnTo>
                  <a:pt x="201588" y="107156"/>
                </a:lnTo>
                <a:cubicBezTo>
                  <a:pt x="208471" y="107156"/>
                  <a:pt x="213978" y="112998"/>
                  <a:pt x="212564" y="119732"/>
                </a:cubicBezTo>
                <a:cubicBezTo>
                  <a:pt x="208769" y="137740"/>
                  <a:pt x="199541" y="153739"/>
                  <a:pt x="186668" y="165943"/>
                </a:cubicBezTo>
                <a:cubicBezTo>
                  <a:pt x="182091" y="170297"/>
                  <a:pt x="174910" y="169366"/>
                  <a:pt x="170892" y="164492"/>
                </a:cubicBezTo>
                <a:lnTo>
                  <a:pt x="139489" y="126653"/>
                </a:lnTo>
                <a:cubicBezTo>
                  <a:pt x="133052" y="118876"/>
                  <a:pt x="138596" y="107156"/>
                  <a:pt x="148642" y="107156"/>
                </a:cubicBezTo>
                <a:lnTo>
                  <a:pt x="177738" y="107156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36" name="Text 34"/>
          <p:cNvSpPr/>
          <p:nvPr/>
        </p:nvSpPr>
        <p:spPr>
          <a:xfrm>
            <a:off x="7699995" y="1381125"/>
            <a:ext cx="4048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多市场覆盖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461870" y="1920850"/>
            <a:ext cx="4191000" cy="685800"/>
          </a:xfrm>
          <a:custGeom>
            <a:avLst/>
            <a:gdLst/>
            <a:ahLst/>
            <a:cxnLst/>
            <a:rect l="l" t="t" r="r" b="b"/>
            <a:pathLst>
              <a:path w="4191000" h="685800">
                <a:moveTo>
                  <a:pt x="76199" y="0"/>
                </a:moveTo>
                <a:lnTo>
                  <a:pt x="4114801" y="0"/>
                </a:lnTo>
                <a:cubicBezTo>
                  <a:pt x="4156884" y="0"/>
                  <a:pt x="4191000" y="34116"/>
                  <a:pt x="4191000" y="76199"/>
                </a:cubicBezTo>
                <a:lnTo>
                  <a:pt x="4191000" y="609601"/>
                </a:lnTo>
                <a:cubicBezTo>
                  <a:pt x="4191000" y="651684"/>
                  <a:pt x="4156884" y="685800"/>
                  <a:pt x="41148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38" name="Shape 36"/>
          <p:cNvSpPr/>
          <p:nvPr/>
        </p:nvSpPr>
        <p:spPr>
          <a:xfrm>
            <a:off x="7576170" y="2035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</p:spPr>
      </p:sp>
      <p:sp>
        <p:nvSpPr>
          <p:cNvPr id="39" name="Text 37"/>
          <p:cNvSpPr/>
          <p:nvPr/>
        </p:nvSpPr>
        <p:spPr>
          <a:xfrm>
            <a:off x="7748290" y="2130400"/>
            <a:ext cx="2000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147670" y="2054200"/>
            <a:ext cx="167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A股市场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147670" y="2282800"/>
            <a:ext cx="1666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沪深主板、创业板、科创板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461870" y="3000375"/>
            <a:ext cx="4191000" cy="685800"/>
          </a:xfrm>
          <a:custGeom>
            <a:avLst/>
            <a:gdLst/>
            <a:ahLst/>
            <a:cxnLst/>
            <a:rect l="l" t="t" r="r" b="b"/>
            <a:pathLst>
              <a:path w="4191000" h="685800">
                <a:moveTo>
                  <a:pt x="76199" y="0"/>
                </a:moveTo>
                <a:lnTo>
                  <a:pt x="4114801" y="0"/>
                </a:lnTo>
                <a:cubicBezTo>
                  <a:pt x="4156884" y="0"/>
                  <a:pt x="4191000" y="34116"/>
                  <a:pt x="4191000" y="76199"/>
                </a:cubicBezTo>
                <a:lnTo>
                  <a:pt x="4191000" y="609601"/>
                </a:lnTo>
                <a:cubicBezTo>
                  <a:pt x="4191000" y="651684"/>
                  <a:pt x="4156884" y="685800"/>
                  <a:pt x="41148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43" name="Shape 41"/>
          <p:cNvSpPr/>
          <p:nvPr/>
        </p:nvSpPr>
        <p:spPr>
          <a:xfrm>
            <a:off x="7576170" y="31146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</p:spPr>
      </p:sp>
      <p:sp>
        <p:nvSpPr>
          <p:cNvPr id="44" name="Text 42"/>
          <p:cNvSpPr/>
          <p:nvPr/>
        </p:nvSpPr>
        <p:spPr>
          <a:xfrm>
            <a:off x="7743602" y="3209925"/>
            <a:ext cx="209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A6C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H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147670" y="3133725"/>
            <a:ext cx="8763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港股市场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147670" y="3362325"/>
            <a:ext cx="866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主板、创业板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461870" y="4079825"/>
            <a:ext cx="4191000" cy="685800"/>
          </a:xfrm>
          <a:custGeom>
            <a:avLst/>
            <a:gdLst/>
            <a:ahLst/>
            <a:cxnLst/>
            <a:rect l="l" t="t" r="r" b="b"/>
            <a:pathLst>
              <a:path w="4191000" h="685800">
                <a:moveTo>
                  <a:pt x="76199" y="0"/>
                </a:moveTo>
                <a:lnTo>
                  <a:pt x="4114801" y="0"/>
                </a:lnTo>
                <a:cubicBezTo>
                  <a:pt x="4156884" y="0"/>
                  <a:pt x="4191000" y="34116"/>
                  <a:pt x="4191000" y="76199"/>
                </a:cubicBezTo>
                <a:lnTo>
                  <a:pt x="4191000" y="609601"/>
                </a:lnTo>
                <a:cubicBezTo>
                  <a:pt x="4191000" y="651684"/>
                  <a:pt x="4156884" y="685800"/>
                  <a:pt x="41148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48" name="Shape 46"/>
          <p:cNvSpPr/>
          <p:nvPr/>
        </p:nvSpPr>
        <p:spPr>
          <a:xfrm>
            <a:off x="7576170" y="41941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</p:spPr>
      </p:sp>
      <p:sp>
        <p:nvSpPr>
          <p:cNvPr id="49" name="Text 47"/>
          <p:cNvSpPr/>
          <p:nvPr/>
        </p:nvSpPr>
        <p:spPr>
          <a:xfrm>
            <a:off x="7693149" y="4289375"/>
            <a:ext cx="3048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US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147670" y="4213175"/>
            <a:ext cx="1104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美股市场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147670" y="4441775"/>
            <a:ext cx="1095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NYSE、NASDAQ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304708" y="5205413"/>
            <a:ext cx="4505325" cy="1266825"/>
          </a:xfrm>
          <a:custGeom>
            <a:avLst/>
            <a:gdLst/>
            <a:ahLst/>
            <a:cxnLst/>
            <a:rect l="l" t="t" r="r" b="b"/>
            <a:pathLst>
              <a:path w="4505325" h="1266825">
                <a:moveTo>
                  <a:pt x="114306" y="0"/>
                </a:moveTo>
                <a:lnTo>
                  <a:pt x="4391019" y="0"/>
                </a:lnTo>
                <a:cubicBezTo>
                  <a:pt x="4454149" y="0"/>
                  <a:pt x="4505325" y="51176"/>
                  <a:pt x="4505325" y="114306"/>
                </a:cubicBezTo>
                <a:lnTo>
                  <a:pt x="4505325" y="1152519"/>
                </a:lnTo>
                <a:cubicBezTo>
                  <a:pt x="4505325" y="1215649"/>
                  <a:pt x="4454149" y="1266825"/>
                  <a:pt x="4391019" y="1266825"/>
                </a:cubicBezTo>
                <a:lnTo>
                  <a:pt x="114306" y="1266825"/>
                </a:lnTo>
                <a:cubicBezTo>
                  <a:pt x="51176" y="1266825"/>
                  <a:pt x="0" y="1215649"/>
                  <a:pt x="0" y="1152519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373">
                  <a:alpha val="20000"/>
                </a:srgbClr>
              </a:gs>
              <a:gs pos="100000">
                <a:srgbClr val="4A6C8C">
                  <a:alpha val="20000"/>
                </a:srgbClr>
              </a:gs>
            </a:gsLst>
            <a:lin ang="2700000" scaled="1"/>
          </a:gradFill>
          <a:ln w="1270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47570" y="5362575"/>
            <a:ext cx="441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423770" y="5857875"/>
            <a:ext cx="426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分析维度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428533" y="6124575"/>
            <a:ext cx="4257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基本面 | 技术面 | 消息面 | 情绪面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3" name="Text 1"/>
          <p:cNvSpPr/>
          <p:nvPr/>
        </p:nvSpPr>
        <p:spPr>
          <a:xfrm>
            <a:off x="533400" y="381000"/>
            <a:ext cx="22288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市场定位矩阵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838200"/>
            <a:ext cx="11353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Market Positioning Matrix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223963"/>
            <a:ext cx="6886575" cy="5248275"/>
          </a:xfrm>
          <a:custGeom>
            <a:avLst/>
            <a:gdLst/>
            <a:ahLst/>
            <a:cxnLst/>
            <a:rect l="l" t="t" r="r" b="b"/>
            <a:pathLst>
              <a:path w="6886575" h="5248275">
                <a:moveTo>
                  <a:pt x="114307" y="0"/>
                </a:moveTo>
                <a:lnTo>
                  <a:pt x="6772268" y="0"/>
                </a:lnTo>
                <a:cubicBezTo>
                  <a:pt x="6835398" y="0"/>
                  <a:pt x="6886575" y="51177"/>
                  <a:pt x="6886575" y="114307"/>
                </a:cubicBezTo>
                <a:lnTo>
                  <a:pt x="6886575" y="5133968"/>
                </a:lnTo>
                <a:cubicBezTo>
                  <a:pt x="6886575" y="5197098"/>
                  <a:pt x="6835398" y="5248275"/>
                  <a:pt x="6772268" y="5248275"/>
                </a:cubicBezTo>
                <a:lnTo>
                  <a:pt x="114307" y="5248275"/>
                </a:lnTo>
                <a:cubicBezTo>
                  <a:pt x="51177" y="5248275"/>
                  <a:pt x="0" y="5197098"/>
                  <a:pt x="0" y="513396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95300" y="1224280"/>
            <a:ext cx="66675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金融科技市场定位</a:t>
            </a:r>
            <a:endParaRPr lang="en-US" sz="1600" dirty="0"/>
          </a:p>
        </p:txBody>
      </p:sp>
      <p:pic>
        <p:nvPicPr>
          <p:cNvPr id="7" name="Image 0" descr="https://kimi-img.moonshot.cn/pub/slides/26-02-13-20:30:18-d67himjfoslt2chbaom0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63525" y="1466850"/>
            <a:ext cx="6572250" cy="4552950"/>
          </a:xfrm>
          <a:prstGeom prst="roundRect">
            <a:avLst>
              <a:gd name="adj" fmla="val 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434263" y="1223963"/>
            <a:ext cx="4371975" cy="3743325"/>
          </a:xfrm>
          <a:custGeom>
            <a:avLst/>
            <a:gdLst/>
            <a:ahLst/>
            <a:cxnLst/>
            <a:rect l="l" t="t" r="r" b="b"/>
            <a:pathLst>
              <a:path w="4371975" h="3743325">
                <a:moveTo>
                  <a:pt x="114284" y="0"/>
                </a:moveTo>
                <a:lnTo>
                  <a:pt x="4257691" y="0"/>
                </a:lnTo>
                <a:cubicBezTo>
                  <a:pt x="4320808" y="0"/>
                  <a:pt x="4371975" y="51167"/>
                  <a:pt x="4371975" y="114284"/>
                </a:cubicBezTo>
                <a:lnTo>
                  <a:pt x="4371975" y="3629041"/>
                </a:lnTo>
                <a:cubicBezTo>
                  <a:pt x="4371975" y="3692158"/>
                  <a:pt x="4320808" y="3743325"/>
                  <a:pt x="4257691" y="3743325"/>
                </a:cubicBezTo>
                <a:lnTo>
                  <a:pt x="114284" y="3743325"/>
                </a:lnTo>
                <a:cubicBezTo>
                  <a:pt x="51167" y="3743325"/>
                  <a:pt x="0" y="3692158"/>
                  <a:pt x="0" y="3629041"/>
                </a:cubicBezTo>
                <a:lnTo>
                  <a:pt x="0" y="114284"/>
                </a:lnTo>
                <a:cubicBezTo>
                  <a:pt x="0" y="51209"/>
                  <a:pt x="51209" y="0"/>
                  <a:pt x="114284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03331" y="14192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10" name="Text 7"/>
          <p:cNvSpPr/>
          <p:nvPr/>
        </p:nvSpPr>
        <p:spPr>
          <a:xfrm>
            <a:off x="7829550" y="1381125"/>
            <a:ext cx="39147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Ares核心优势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591425" y="18002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</p:spPr>
      </p:sp>
      <p:sp>
        <p:nvSpPr>
          <p:cNvPr id="12" name="Shape 9"/>
          <p:cNvSpPr/>
          <p:nvPr/>
        </p:nvSpPr>
        <p:spPr>
          <a:xfrm>
            <a:off x="7679531" y="18859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31254" y="14585"/>
                </a:moveTo>
                <a:cubicBezTo>
                  <a:pt x="31254" y="6537"/>
                  <a:pt x="37791" y="0"/>
                  <a:pt x="45839" y="0"/>
                </a:cubicBezTo>
                <a:lnTo>
                  <a:pt x="52090" y="0"/>
                </a:lnTo>
                <a:cubicBezTo>
                  <a:pt x="56700" y="0"/>
                  <a:pt x="60424" y="3724"/>
                  <a:pt x="60424" y="8334"/>
                </a:cubicBezTo>
                <a:lnTo>
                  <a:pt x="60424" y="125016"/>
                </a:lnTo>
                <a:cubicBezTo>
                  <a:pt x="60424" y="129626"/>
                  <a:pt x="56700" y="133350"/>
                  <a:pt x="52090" y="133350"/>
                </a:cubicBezTo>
                <a:lnTo>
                  <a:pt x="43755" y="133350"/>
                </a:lnTo>
                <a:cubicBezTo>
                  <a:pt x="35994" y="133350"/>
                  <a:pt x="29457" y="128037"/>
                  <a:pt x="27608" y="120848"/>
                </a:cubicBezTo>
                <a:cubicBezTo>
                  <a:pt x="27425" y="120848"/>
                  <a:pt x="27269" y="120848"/>
                  <a:pt x="27087" y="120848"/>
                </a:cubicBezTo>
                <a:cubicBezTo>
                  <a:pt x="15575" y="120848"/>
                  <a:pt x="6251" y="111524"/>
                  <a:pt x="6251" y="100013"/>
                </a:cubicBezTo>
                <a:cubicBezTo>
                  <a:pt x="6251" y="95324"/>
                  <a:pt x="7813" y="91001"/>
                  <a:pt x="10418" y="87511"/>
                </a:cubicBezTo>
                <a:cubicBezTo>
                  <a:pt x="5365" y="83708"/>
                  <a:pt x="2084" y="77666"/>
                  <a:pt x="2084" y="70842"/>
                </a:cubicBezTo>
                <a:cubicBezTo>
                  <a:pt x="2084" y="62794"/>
                  <a:pt x="6668" y="55788"/>
                  <a:pt x="13335" y="52324"/>
                </a:cubicBezTo>
                <a:cubicBezTo>
                  <a:pt x="11486" y="49199"/>
                  <a:pt x="10418" y="45553"/>
                  <a:pt x="10418" y="41672"/>
                </a:cubicBezTo>
                <a:cubicBezTo>
                  <a:pt x="10418" y="30160"/>
                  <a:pt x="19742" y="20836"/>
                  <a:pt x="31254" y="20836"/>
                </a:cubicBezTo>
                <a:lnTo>
                  <a:pt x="31254" y="14585"/>
                </a:lnTo>
                <a:close/>
                <a:moveTo>
                  <a:pt x="102096" y="14585"/>
                </a:moveTo>
                <a:lnTo>
                  <a:pt x="102096" y="20836"/>
                </a:lnTo>
                <a:cubicBezTo>
                  <a:pt x="113608" y="20836"/>
                  <a:pt x="122932" y="30160"/>
                  <a:pt x="122932" y="41672"/>
                </a:cubicBezTo>
                <a:cubicBezTo>
                  <a:pt x="122932" y="45579"/>
                  <a:pt x="121864" y="49225"/>
                  <a:pt x="120015" y="52324"/>
                </a:cubicBezTo>
                <a:cubicBezTo>
                  <a:pt x="126709" y="55788"/>
                  <a:pt x="131266" y="62768"/>
                  <a:pt x="131266" y="70842"/>
                </a:cubicBezTo>
                <a:cubicBezTo>
                  <a:pt x="131266" y="77666"/>
                  <a:pt x="127985" y="83708"/>
                  <a:pt x="122932" y="87511"/>
                </a:cubicBezTo>
                <a:cubicBezTo>
                  <a:pt x="125537" y="91001"/>
                  <a:pt x="127099" y="95324"/>
                  <a:pt x="127099" y="100013"/>
                </a:cubicBezTo>
                <a:cubicBezTo>
                  <a:pt x="127099" y="111524"/>
                  <a:pt x="117775" y="120848"/>
                  <a:pt x="106263" y="120848"/>
                </a:cubicBezTo>
                <a:cubicBezTo>
                  <a:pt x="106081" y="120848"/>
                  <a:pt x="105925" y="120848"/>
                  <a:pt x="105742" y="120848"/>
                </a:cubicBezTo>
                <a:cubicBezTo>
                  <a:pt x="103893" y="128037"/>
                  <a:pt x="97356" y="133350"/>
                  <a:pt x="89595" y="133350"/>
                </a:cubicBezTo>
                <a:lnTo>
                  <a:pt x="81260" y="133350"/>
                </a:lnTo>
                <a:cubicBezTo>
                  <a:pt x="76650" y="133350"/>
                  <a:pt x="72926" y="129626"/>
                  <a:pt x="72926" y="125016"/>
                </a:cubicBezTo>
                <a:lnTo>
                  <a:pt x="72926" y="8334"/>
                </a:lnTo>
                <a:cubicBezTo>
                  <a:pt x="72926" y="3724"/>
                  <a:pt x="76650" y="0"/>
                  <a:pt x="81260" y="0"/>
                </a:cubicBezTo>
                <a:lnTo>
                  <a:pt x="87511" y="0"/>
                </a:lnTo>
                <a:cubicBezTo>
                  <a:pt x="95559" y="0"/>
                  <a:pt x="102096" y="6537"/>
                  <a:pt x="102096" y="14585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13" name="Text 10"/>
          <p:cNvSpPr/>
          <p:nvPr/>
        </p:nvSpPr>
        <p:spPr>
          <a:xfrm>
            <a:off x="8010525" y="1762125"/>
            <a:ext cx="1943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AI驱动的智能分析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010525" y="1990725"/>
            <a:ext cx="1933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基于大语言模型的深度分析能力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591425" y="26765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</p:spPr>
      </p:sp>
      <p:sp>
        <p:nvSpPr>
          <p:cNvPr id="16" name="Shape 13"/>
          <p:cNvSpPr/>
          <p:nvPr/>
        </p:nvSpPr>
        <p:spPr>
          <a:xfrm>
            <a:off x="7662863" y="2762250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83344" y="4167"/>
                </a:moveTo>
                <a:cubicBezTo>
                  <a:pt x="98293" y="4167"/>
                  <a:pt x="110430" y="16304"/>
                  <a:pt x="110430" y="31254"/>
                </a:cubicBezTo>
                <a:cubicBezTo>
                  <a:pt x="110430" y="46203"/>
                  <a:pt x="98293" y="58341"/>
                  <a:pt x="83344" y="58341"/>
                </a:cubicBezTo>
                <a:cubicBezTo>
                  <a:pt x="68394" y="58341"/>
                  <a:pt x="56257" y="46203"/>
                  <a:pt x="56257" y="31254"/>
                </a:cubicBezTo>
                <a:cubicBezTo>
                  <a:pt x="56257" y="16304"/>
                  <a:pt x="68394" y="4167"/>
                  <a:pt x="83344" y="4167"/>
                </a:cubicBezTo>
                <a:close/>
                <a:moveTo>
                  <a:pt x="25003" y="22920"/>
                </a:moveTo>
                <a:cubicBezTo>
                  <a:pt x="35353" y="22920"/>
                  <a:pt x="43755" y="31322"/>
                  <a:pt x="43755" y="41672"/>
                </a:cubicBezTo>
                <a:cubicBezTo>
                  <a:pt x="43755" y="52022"/>
                  <a:pt x="35353" y="60424"/>
                  <a:pt x="25003" y="60424"/>
                </a:cubicBezTo>
                <a:cubicBezTo>
                  <a:pt x="14653" y="60424"/>
                  <a:pt x="6251" y="52022"/>
                  <a:pt x="6251" y="41672"/>
                </a:cubicBezTo>
                <a:cubicBezTo>
                  <a:pt x="6251" y="31322"/>
                  <a:pt x="14653" y="22920"/>
                  <a:pt x="25003" y="22920"/>
                </a:cubicBezTo>
                <a:close/>
                <a:moveTo>
                  <a:pt x="0" y="108347"/>
                </a:moveTo>
                <a:cubicBezTo>
                  <a:pt x="0" y="89933"/>
                  <a:pt x="14924" y="75009"/>
                  <a:pt x="33337" y="75009"/>
                </a:cubicBezTo>
                <a:cubicBezTo>
                  <a:pt x="36671" y="75009"/>
                  <a:pt x="39901" y="75504"/>
                  <a:pt x="42948" y="76416"/>
                </a:cubicBezTo>
                <a:cubicBezTo>
                  <a:pt x="34379" y="86000"/>
                  <a:pt x="29170" y="98658"/>
                  <a:pt x="29170" y="112514"/>
                </a:cubicBezTo>
                <a:lnTo>
                  <a:pt x="29170" y="116681"/>
                </a:lnTo>
                <a:cubicBezTo>
                  <a:pt x="29170" y="119650"/>
                  <a:pt x="29795" y="122463"/>
                  <a:pt x="30915" y="125016"/>
                </a:cubicBezTo>
                <a:lnTo>
                  <a:pt x="8334" y="125016"/>
                </a:lnTo>
                <a:cubicBezTo>
                  <a:pt x="3724" y="125016"/>
                  <a:pt x="0" y="121291"/>
                  <a:pt x="0" y="116681"/>
                </a:cubicBezTo>
                <a:lnTo>
                  <a:pt x="0" y="108347"/>
                </a:lnTo>
                <a:close/>
                <a:moveTo>
                  <a:pt x="135772" y="125016"/>
                </a:moveTo>
                <a:cubicBezTo>
                  <a:pt x="136892" y="122463"/>
                  <a:pt x="137517" y="119650"/>
                  <a:pt x="137517" y="116681"/>
                </a:cubicBezTo>
                <a:lnTo>
                  <a:pt x="137517" y="112514"/>
                </a:lnTo>
                <a:cubicBezTo>
                  <a:pt x="137517" y="98658"/>
                  <a:pt x="132308" y="86000"/>
                  <a:pt x="123739" y="76416"/>
                </a:cubicBezTo>
                <a:cubicBezTo>
                  <a:pt x="126787" y="75504"/>
                  <a:pt x="130016" y="75009"/>
                  <a:pt x="133350" y="75009"/>
                </a:cubicBezTo>
                <a:cubicBezTo>
                  <a:pt x="151764" y="75009"/>
                  <a:pt x="166688" y="89933"/>
                  <a:pt x="166688" y="108347"/>
                </a:cubicBezTo>
                <a:lnTo>
                  <a:pt x="166688" y="116681"/>
                </a:lnTo>
                <a:cubicBezTo>
                  <a:pt x="166688" y="121291"/>
                  <a:pt x="162963" y="125016"/>
                  <a:pt x="158353" y="125016"/>
                </a:cubicBezTo>
                <a:lnTo>
                  <a:pt x="135772" y="125016"/>
                </a:lnTo>
                <a:close/>
                <a:moveTo>
                  <a:pt x="122932" y="41672"/>
                </a:moveTo>
                <a:cubicBezTo>
                  <a:pt x="122932" y="31322"/>
                  <a:pt x="131335" y="22920"/>
                  <a:pt x="141684" y="22920"/>
                </a:cubicBezTo>
                <a:cubicBezTo>
                  <a:pt x="152034" y="22920"/>
                  <a:pt x="160437" y="31322"/>
                  <a:pt x="160437" y="41672"/>
                </a:cubicBezTo>
                <a:cubicBezTo>
                  <a:pt x="160437" y="52022"/>
                  <a:pt x="152034" y="60424"/>
                  <a:pt x="141684" y="60424"/>
                </a:cubicBezTo>
                <a:cubicBezTo>
                  <a:pt x="131335" y="60424"/>
                  <a:pt x="122932" y="52022"/>
                  <a:pt x="122932" y="41672"/>
                </a:cubicBezTo>
                <a:close/>
                <a:moveTo>
                  <a:pt x="41672" y="112514"/>
                </a:moveTo>
                <a:cubicBezTo>
                  <a:pt x="41672" y="89490"/>
                  <a:pt x="60320" y="70842"/>
                  <a:pt x="83344" y="70842"/>
                </a:cubicBezTo>
                <a:cubicBezTo>
                  <a:pt x="106367" y="70842"/>
                  <a:pt x="125016" y="89490"/>
                  <a:pt x="125016" y="112514"/>
                </a:cubicBezTo>
                <a:lnTo>
                  <a:pt x="125016" y="116681"/>
                </a:lnTo>
                <a:cubicBezTo>
                  <a:pt x="125016" y="121291"/>
                  <a:pt x="121291" y="125016"/>
                  <a:pt x="116681" y="125016"/>
                </a:cubicBezTo>
                <a:lnTo>
                  <a:pt x="50006" y="125016"/>
                </a:lnTo>
                <a:cubicBezTo>
                  <a:pt x="45396" y="125016"/>
                  <a:pt x="41672" y="121291"/>
                  <a:pt x="41672" y="116681"/>
                </a:cubicBezTo>
                <a:lnTo>
                  <a:pt x="41672" y="112514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17" name="Text 14"/>
          <p:cNvSpPr/>
          <p:nvPr/>
        </p:nvSpPr>
        <p:spPr>
          <a:xfrm>
            <a:off x="8010525" y="2638425"/>
            <a:ext cx="1809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多智能体协作机制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010525" y="2867025"/>
            <a:ext cx="18002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模拟真实投资团队的专业协作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591425" y="35528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</p:spPr>
      </p:sp>
      <p:sp>
        <p:nvSpPr>
          <p:cNvPr id="20" name="Shape 17"/>
          <p:cNvSpPr/>
          <p:nvPr/>
        </p:nvSpPr>
        <p:spPr>
          <a:xfrm>
            <a:off x="7671197" y="3638550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100013" y="37505"/>
                </a:moveTo>
                <a:cubicBezTo>
                  <a:pt x="100013" y="62820"/>
                  <a:pt x="77614" y="83344"/>
                  <a:pt x="50006" y="83344"/>
                </a:cubicBezTo>
                <a:cubicBezTo>
                  <a:pt x="43052" y="83344"/>
                  <a:pt x="36437" y="82042"/>
                  <a:pt x="30420" y="79697"/>
                </a:cubicBezTo>
                <a:lnTo>
                  <a:pt x="9168" y="90949"/>
                </a:lnTo>
                <a:cubicBezTo>
                  <a:pt x="6746" y="92225"/>
                  <a:pt x="3777" y="91782"/>
                  <a:pt x="1823" y="89855"/>
                </a:cubicBezTo>
                <a:cubicBezTo>
                  <a:pt x="-130" y="87928"/>
                  <a:pt x="-573" y="84932"/>
                  <a:pt x="729" y="82510"/>
                </a:cubicBezTo>
                <a:lnTo>
                  <a:pt x="10001" y="65008"/>
                </a:lnTo>
                <a:cubicBezTo>
                  <a:pt x="3724" y="57351"/>
                  <a:pt x="0" y="47818"/>
                  <a:pt x="0" y="37505"/>
                </a:cubicBezTo>
                <a:cubicBezTo>
                  <a:pt x="0" y="12189"/>
                  <a:pt x="22399" y="-8334"/>
                  <a:pt x="50006" y="-8334"/>
                </a:cubicBezTo>
                <a:cubicBezTo>
                  <a:pt x="77614" y="-8334"/>
                  <a:pt x="100013" y="12189"/>
                  <a:pt x="100013" y="37505"/>
                </a:cubicBezTo>
                <a:close/>
                <a:moveTo>
                  <a:pt x="100013" y="133350"/>
                </a:moveTo>
                <a:cubicBezTo>
                  <a:pt x="75504" y="133350"/>
                  <a:pt x="55111" y="117176"/>
                  <a:pt x="50840" y="95845"/>
                </a:cubicBezTo>
                <a:cubicBezTo>
                  <a:pt x="82094" y="95455"/>
                  <a:pt x="109258" y="73212"/>
                  <a:pt x="112254" y="43052"/>
                </a:cubicBezTo>
                <a:cubicBezTo>
                  <a:pt x="133949" y="48053"/>
                  <a:pt x="150019" y="66050"/>
                  <a:pt x="150019" y="87511"/>
                </a:cubicBezTo>
                <a:cubicBezTo>
                  <a:pt x="150019" y="97825"/>
                  <a:pt x="146294" y="107357"/>
                  <a:pt x="140018" y="115014"/>
                </a:cubicBezTo>
                <a:lnTo>
                  <a:pt x="149289" y="132517"/>
                </a:lnTo>
                <a:cubicBezTo>
                  <a:pt x="150566" y="134939"/>
                  <a:pt x="150123" y="137908"/>
                  <a:pt x="148196" y="139861"/>
                </a:cubicBezTo>
                <a:cubicBezTo>
                  <a:pt x="146268" y="141815"/>
                  <a:pt x="143273" y="142257"/>
                  <a:pt x="140851" y="140955"/>
                </a:cubicBezTo>
                <a:lnTo>
                  <a:pt x="119598" y="129704"/>
                </a:lnTo>
                <a:cubicBezTo>
                  <a:pt x="113582" y="132048"/>
                  <a:pt x="106966" y="133350"/>
                  <a:pt x="100013" y="13335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21" name="Text 18"/>
          <p:cNvSpPr/>
          <p:nvPr/>
        </p:nvSpPr>
        <p:spPr>
          <a:xfrm>
            <a:off x="8010525" y="3514725"/>
            <a:ext cx="1943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自然语言理解能力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010525" y="3743325"/>
            <a:ext cx="1933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理解新闻、公告等非结构化数据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591425" y="44291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</p:spPr>
      </p:sp>
      <p:sp>
        <p:nvSpPr>
          <p:cNvPr id="24" name="Shape 21"/>
          <p:cNvSpPr/>
          <p:nvPr/>
        </p:nvSpPr>
        <p:spPr>
          <a:xfrm>
            <a:off x="7696200" y="4514850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0" y="16669"/>
                </a:moveTo>
                <a:cubicBezTo>
                  <a:pt x="0" y="7475"/>
                  <a:pt x="7475" y="0"/>
                  <a:pt x="16669" y="0"/>
                </a:cubicBezTo>
                <a:lnTo>
                  <a:pt x="55606" y="0"/>
                </a:lnTo>
                <a:cubicBezTo>
                  <a:pt x="60034" y="0"/>
                  <a:pt x="64279" y="1745"/>
                  <a:pt x="67404" y="4870"/>
                </a:cubicBezTo>
                <a:lnTo>
                  <a:pt x="95142" y="32634"/>
                </a:lnTo>
                <a:cubicBezTo>
                  <a:pt x="98267" y="35760"/>
                  <a:pt x="100013" y="40005"/>
                  <a:pt x="100013" y="44433"/>
                </a:cubicBezTo>
                <a:lnTo>
                  <a:pt x="100013" y="116681"/>
                </a:lnTo>
                <a:cubicBezTo>
                  <a:pt x="100013" y="125875"/>
                  <a:pt x="92538" y="133350"/>
                  <a:pt x="83344" y="133350"/>
                </a:cubicBezTo>
                <a:lnTo>
                  <a:pt x="16669" y="133350"/>
                </a:lnTo>
                <a:cubicBezTo>
                  <a:pt x="7475" y="133350"/>
                  <a:pt x="0" y="125875"/>
                  <a:pt x="0" y="116681"/>
                </a:cubicBezTo>
                <a:lnTo>
                  <a:pt x="0" y="16669"/>
                </a:lnTo>
                <a:close/>
                <a:moveTo>
                  <a:pt x="54173" y="15236"/>
                </a:moveTo>
                <a:lnTo>
                  <a:pt x="54173" y="39588"/>
                </a:lnTo>
                <a:cubicBezTo>
                  <a:pt x="54173" y="43052"/>
                  <a:pt x="56960" y="45839"/>
                  <a:pt x="60424" y="45839"/>
                </a:cubicBezTo>
                <a:lnTo>
                  <a:pt x="84776" y="45839"/>
                </a:lnTo>
                <a:lnTo>
                  <a:pt x="54173" y="15236"/>
                </a:lnTo>
                <a:close/>
                <a:moveTo>
                  <a:pt x="31254" y="66675"/>
                </a:moveTo>
                <a:cubicBezTo>
                  <a:pt x="27790" y="66675"/>
                  <a:pt x="25003" y="69462"/>
                  <a:pt x="25003" y="72926"/>
                </a:cubicBezTo>
                <a:cubicBezTo>
                  <a:pt x="25003" y="76390"/>
                  <a:pt x="27790" y="79177"/>
                  <a:pt x="31254" y="79177"/>
                </a:cubicBezTo>
                <a:lnTo>
                  <a:pt x="68759" y="79177"/>
                </a:lnTo>
                <a:cubicBezTo>
                  <a:pt x="72223" y="79177"/>
                  <a:pt x="75009" y="76390"/>
                  <a:pt x="75009" y="72926"/>
                </a:cubicBezTo>
                <a:cubicBezTo>
                  <a:pt x="75009" y="69462"/>
                  <a:pt x="72223" y="66675"/>
                  <a:pt x="68759" y="66675"/>
                </a:cubicBezTo>
                <a:lnTo>
                  <a:pt x="31254" y="66675"/>
                </a:lnTo>
                <a:close/>
                <a:moveTo>
                  <a:pt x="31254" y="91678"/>
                </a:moveTo>
                <a:cubicBezTo>
                  <a:pt x="27790" y="91678"/>
                  <a:pt x="25003" y="94465"/>
                  <a:pt x="25003" y="97929"/>
                </a:cubicBezTo>
                <a:cubicBezTo>
                  <a:pt x="25003" y="101393"/>
                  <a:pt x="27790" y="104180"/>
                  <a:pt x="31254" y="104180"/>
                </a:cubicBezTo>
                <a:lnTo>
                  <a:pt x="68759" y="104180"/>
                </a:lnTo>
                <a:cubicBezTo>
                  <a:pt x="72223" y="104180"/>
                  <a:pt x="75009" y="101393"/>
                  <a:pt x="75009" y="97929"/>
                </a:cubicBezTo>
                <a:cubicBezTo>
                  <a:pt x="75009" y="94465"/>
                  <a:pt x="72223" y="91678"/>
                  <a:pt x="68759" y="91678"/>
                </a:cubicBezTo>
                <a:lnTo>
                  <a:pt x="31254" y="91678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25" name="Text 22"/>
          <p:cNvSpPr/>
          <p:nvPr/>
        </p:nvSpPr>
        <p:spPr>
          <a:xfrm>
            <a:off x="8010525" y="4391025"/>
            <a:ext cx="1943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可解释的决策过程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010525" y="4619625"/>
            <a:ext cx="1933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提供详细的分析报告和决策依据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7434263" y="5091113"/>
            <a:ext cx="4371975" cy="1381125"/>
          </a:xfrm>
          <a:custGeom>
            <a:avLst/>
            <a:gdLst/>
            <a:ahLst/>
            <a:cxnLst/>
            <a:rect l="l" t="t" r="r" b="b"/>
            <a:pathLst>
              <a:path w="4371975" h="1381125">
                <a:moveTo>
                  <a:pt x="114302" y="0"/>
                </a:moveTo>
                <a:lnTo>
                  <a:pt x="4257673" y="0"/>
                </a:lnTo>
                <a:cubicBezTo>
                  <a:pt x="4320800" y="0"/>
                  <a:pt x="4371975" y="51175"/>
                  <a:pt x="4371975" y="114302"/>
                </a:cubicBezTo>
                <a:lnTo>
                  <a:pt x="4371975" y="1266823"/>
                </a:lnTo>
                <a:cubicBezTo>
                  <a:pt x="4371975" y="1329950"/>
                  <a:pt x="4320800" y="1381125"/>
                  <a:pt x="4257673" y="1381125"/>
                </a:cubicBezTo>
                <a:lnTo>
                  <a:pt x="114302" y="1381125"/>
                </a:lnTo>
                <a:cubicBezTo>
                  <a:pt x="51175" y="1381125"/>
                  <a:pt x="0" y="1329950"/>
                  <a:pt x="0" y="126682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8D99AE">
                  <a:alpha val="20000"/>
                </a:srgbClr>
              </a:gs>
            </a:gsLst>
            <a:lin ang="2700000" scaled="1"/>
          </a:gra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548563" y="5248275"/>
            <a:ext cx="41433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市场空白填补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7610475" y="56197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30" name="Text 27"/>
          <p:cNvSpPr/>
          <p:nvPr/>
        </p:nvSpPr>
        <p:spPr>
          <a:xfrm>
            <a:off x="7834313" y="5591175"/>
            <a:ext cx="1000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传统量化的</a:t>
            </a:r>
            <a:r>
              <a:rPr lang="en-US" sz="10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速度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7610475" y="58864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32" name="Text 29"/>
          <p:cNvSpPr/>
          <p:nvPr/>
        </p:nvSpPr>
        <p:spPr>
          <a:xfrm>
            <a:off x="7834313" y="5857875"/>
            <a:ext cx="1000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人工投研的</a:t>
            </a:r>
            <a:r>
              <a:rPr lang="en-US" sz="10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深度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7610475" y="61531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34" name="Text 31"/>
          <p:cNvSpPr/>
          <p:nvPr/>
        </p:nvSpPr>
        <p:spPr>
          <a:xfrm>
            <a:off x="7834313" y="6124575"/>
            <a:ext cx="857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AI技术的</a:t>
            </a:r>
            <a:r>
              <a:rPr lang="en-US" sz="10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智能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54" y="377249"/>
            <a:ext cx="34295" cy="274363"/>
          </a:xfrm>
          <a:custGeom>
            <a:avLst/>
            <a:gdLst/>
            <a:ahLst/>
            <a:cxnLst/>
            <a:rect l="l" t="t" r="r" b="b"/>
            <a:pathLst>
              <a:path w="34295" h="274363">
                <a:moveTo>
                  <a:pt x="0" y="0"/>
                </a:moveTo>
                <a:lnTo>
                  <a:pt x="34295" y="0"/>
                </a:lnTo>
                <a:lnTo>
                  <a:pt x="34295" y="274363"/>
                </a:lnTo>
                <a:lnTo>
                  <a:pt x="0" y="274363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3" name="Text 1"/>
          <p:cNvSpPr/>
          <p:nvPr/>
        </p:nvSpPr>
        <p:spPr>
          <a:xfrm>
            <a:off x="480135" y="342954"/>
            <a:ext cx="2623595" cy="3429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3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四大核心业务能力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80135" y="754498"/>
            <a:ext cx="11437502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Four Core Business Capabilities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7241" y="1101738"/>
            <a:ext cx="5675882" cy="2632169"/>
          </a:xfrm>
          <a:custGeom>
            <a:avLst/>
            <a:gdLst/>
            <a:ahLst/>
            <a:cxnLst/>
            <a:rect l="l" t="t" r="r" b="b"/>
            <a:pathLst>
              <a:path w="5675882" h="2632169">
                <a:moveTo>
                  <a:pt x="102891" y="0"/>
                </a:moveTo>
                <a:lnTo>
                  <a:pt x="5572990" y="0"/>
                </a:lnTo>
                <a:cubicBezTo>
                  <a:pt x="5629816" y="0"/>
                  <a:pt x="5675882" y="46066"/>
                  <a:pt x="5675882" y="102891"/>
                </a:cubicBezTo>
                <a:lnTo>
                  <a:pt x="5675882" y="2529277"/>
                </a:lnTo>
                <a:cubicBezTo>
                  <a:pt x="5675882" y="2586103"/>
                  <a:pt x="5629816" y="2632169"/>
                  <a:pt x="5572990" y="2632169"/>
                </a:cubicBezTo>
                <a:lnTo>
                  <a:pt x="102891" y="2632169"/>
                </a:lnTo>
                <a:cubicBezTo>
                  <a:pt x="46066" y="2632169"/>
                  <a:pt x="0" y="2586103"/>
                  <a:pt x="0" y="2529277"/>
                </a:cubicBezTo>
                <a:lnTo>
                  <a:pt x="0" y="102891"/>
                </a:lnTo>
                <a:cubicBezTo>
                  <a:pt x="0" y="46104"/>
                  <a:pt x="46104" y="0"/>
                  <a:pt x="10289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8709" y="1243207"/>
            <a:ext cx="411544" cy="411544"/>
          </a:xfrm>
          <a:custGeom>
            <a:avLst/>
            <a:gdLst/>
            <a:ahLst/>
            <a:cxnLst/>
            <a:rect l="l" t="t" r="r" b="b"/>
            <a:pathLst>
              <a:path w="411544" h="411544">
                <a:moveTo>
                  <a:pt x="102886" y="0"/>
                </a:moveTo>
                <a:lnTo>
                  <a:pt x="308658" y="0"/>
                </a:lnTo>
                <a:cubicBezTo>
                  <a:pt x="365443" y="0"/>
                  <a:pt x="411544" y="46102"/>
                  <a:pt x="411544" y="102886"/>
                </a:cubicBezTo>
                <a:lnTo>
                  <a:pt x="411544" y="308658"/>
                </a:lnTo>
                <a:cubicBezTo>
                  <a:pt x="411544" y="365443"/>
                  <a:pt x="365443" y="411544"/>
                  <a:pt x="308658" y="411544"/>
                </a:cubicBezTo>
                <a:lnTo>
                  <a:pt x="102886" y="411544"/>
                </a:lnTo>
                <a:cubicBezTo>
                  <a:pt x="46102" y="411544"/>
                  <a:pt x="0" y="365443"/>
                  <a:pt x="0" y="308658"/>
                </a:cubicBezTo>
                <a:lnTo>
                  <a:pt x="0" y="102886"/>
                </a:lnTo>
                <a:cubicBezTo>
                  <a:pt x="0" y="46102"/>
                  <a:pt x="46102" y="0"/>
                  <a:pt x="102886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591595" y="1346093"/>
            <a:ext cx="205772" cy="205772"/>
          </a:xfrm>
          <a:custGeom>
            <a:avLst/>
            <a:gdLst/>
            <a:ahLst/>
            <a:cxnLst/>
            <a:rect l="l" t="t" r="r" b="b"/>
            <a:pathLst>
              <a:path w="205772" h="205772">
                <a:moveTo>
                  <a:pt x="12861" y="12861"/>
                </a:moveTo>
                <a:cubicBezTo>
                  <a:pt x="19974" y="12861"/>
                  <a:pt x="25722" y="18608"/>
                  <a:pt x="25722" y="25722"/>
                </a:cubicBezTo>
                <a:lnTo>
                  <a:pt x="25722" y="160759"/>
                </a:lnTo>
                <a:cubicBezTo>
                  <a:pt x="25722" y="164296"/>
                  <a:pt x="28615" y="167190"/>
                  <a:pt x="32152" y="167190"/>
                </a:cubicBezTo>
                <a:lnTo>
                  <a:pt x="192911" y="167190"/>
                </a:lnTo>
                <a:cubicBezTo>
                  <a:pt x="200025" y="167190"/>
                  <a:pt x="205772" y="172937"/>
                  <a:pt x="205772" y="180051"/>
                </a:cubicBezTo>
                <a:cubicBezTo>
                  <a:pt x="205772" y="187164"/>
                  <a:pt x="200025" y="192911"/>
                  <a:pt x="192911" y="192911"/>
                </a:cubicBezTo>
                <a:lnTo>
                  <a:pt x="32152" y="192911"/>
                </a:lnTo>
                <a:cubicBezTo>
                  <a:pt x="14388" y="192911"/>
                  <a:pt x="0" y="178523"/>
                  <a:pt x="0" y="160759"/>
                </a:cubicBezTo>
                <a:lnTo>
                  <a:pt x="0" y="25722"/>
                </a:lnTo>
                <a:cubicBezTo>
                  <a:pt x="0" y="18608"/>
                  <a:pt x="5747" y="12861"/>
                  <a:pt x="12861" y="12861"/>
                </a:cubicBezTo>
                <a:close/>
                <a:moveTo>
                  <a:pt x="51443" y="38582"/>
                </a:moveTo>
                <a:cubicBezTo>
                  <a:pt x="51443" y="31469"/>
                  <a:pt x="57190" y="25722"/>
                  <a:pt x="64304" y="25722"/>
                </a:cubicBezTo>
                <a:lnTo>
                  <a:pt x="141468" y="25722"/>
                </a:lnTo>
                <a:cubicBezTo>
                  <a:pt x="148582" y="25722"/>
                  <a:pt x="154329" y="31469"/>
                  <a:pt x="154329" y="38582"/>
                </a:cubicBezTo>
                <a:cubicBezTo>
                  <a:pt x="154329" y="45696"/>
                  <a:pt x="148582" y="51443"/>
                  <a:pt x="141468" y="51443"/>
                </a:cubicBezTo>
                <a:lnTo>
                  <a:pt x="64304" y="51443"/>
                </a:lnTo>
                <a:cubicBezTo>
                  <a:pt x="57190" y="51443"/>
                  <a:pt x="51443" y="45696"/>
                  <a:pt x="51443" y="38582"/>
                </a:cubicBezTo>
                <a:close/>
                <a:moveTo>
                  <a:pt x="64304" y="70734"/>
                </a:moveTo>
                <a:lnTo>
                  <a:pt x="115747" y="70734"/>
                </a:lnTo>
                <a:cubicBezTo>
                  <a:pt x="122860" y="70734"/>
                  <a:pt x="128608" y="76481"/>
                  <a:pt x="128608" y="83595"/>
                </a:cubicBezTo>
                <a:cubicBezTo>
                  <a:pt x="128608" y="90709"/>
                  <a:pt x="122860" y="96456"/>
                  <a:pt x="115747" y="96456"/>
                </a:cubicBezTo>
                <a:lnTo>
                  <a:pt x="64304" y="96456"/>
                </a:lnTo>
                <a:cubicBezTo>
                  <a:pt x="57190" y="96456"/>
                  <a:pt x="51443" y="90709"/>
                  <a:pt x="51443" y="83595"/>
                </a:cubicBezTo>
                <a:cubicBezTo>
                  <a:pt x="51443" y="76481"/>
                  <a:pt x="57190" y="70734"/>
                  <a:pt x="64304" y="70734"/>
                </a:cubicBezTo>
                <a:close/>
                <a:moveTo>
                  <a:pt x="64304" y="115747"/>
                </a:moveTo>
                <a:lnTo>
                  <a:pt x="167190" y="115747"/>
                </a:lnTo>
                <a:cubicBezTo>
                  <a:pt x="174303" y="115747"/>
                  <a:pt x="180051" y="121494"/>
                  <a:pt x="180051" y="128608"/>
                </a:cubicBezTo>
                <a:cubicBezTo>
                  <a:pt x="180051" y="135721"/>
                  <a:pt x="174303" y="141468"/>
                  <a:pt x="167190" y="141468"/>
                </a:cubicBezTo>
                <a:lnTo>
                  <a:pt x="64304" y="141468"/>
                </a:lnTo>
                <a:cubicBezTo>
                  <a:pt x="57190" y="141468"/>
                  <a:pt x="51443" y="135721"/>
                  <a:pt x="51443" y="128608"/>
                </a:cubicBezTo>
                <a:cubicBezTo>
                  <a:pt x="51443" y="121494"/>
                  <a:pt x="57190" y="115747"/>
                  <a:pt x="64304" y="115747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8" name="Text 6"/>
          <p:cNvSpPr/>
          <p:nvPr/>
        </p:nvSpPr>
        <p:spPr>
          <a:xfrm>
            <a:off x="1003139" y="1328945"/>
            <a:ext cx="1114599" cy="2400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智能分析能力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8709" y="1757637"/>
            <a:ext cx="2666464" cy="883105"/>
          </a:xfrm>
          <a:custGeom>
            <a:avLst/>
            <a:gdLst/>
            <a:ahLst/>
            <a:cxnLst/>
            <a:rect l="l" t="t" r="r" b="b"/>
            <a:pathLst>
              <a:path w="2666464" h="883105">
                <a:moveTo>
                  <a:pt x="68591" y="0"/>
                </a:moveTo>
                <a:lnTo>
                  <a:pt x="2597873" y="0"/>
                </a:lnTo>
                <a:cubicBezTo>
                  <a:pt x="2635755" y="0"/>
                  <a:pt x="2666464" y="30709"/>
                  <a:pt x="2666464" y="68591"/>
                </a:cubicBezTo>
                <a:lnTo>
                  <a:pt x="2666464" y="814515"/>
                </a:lnTo>
                <a:cubicBezTo>
                  <a:pt x="2666464" y="852396"/>
                  <a:pt x="2635755" y="883105"/>
                  <a:pt x="2597873" y="883105"/>
                </a:cubicBezTo>
                <a:lnTo>
                  <a:pt x="68591" y="883105"/>
                </a:lnTo>
                <a:cubicBezTo>
                  <a:pt x="30709" y="883105"/>
                  <a:pt x="0" y="852396"/>
                  <a:pt x="0" y="814515"/>
                </a:cubicBezTo>
                <a:lnTo>
                  <a:pt x="0" y="68591"/>
                </a:lnTo>
                <a:cubicBezTo>
                  <a:pt x="0" y="30735"/>
                  <a:pt x="30735" y="0"/>
                  <a:pt x="68591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625890" y="1894819"/>
            <a:ext cx="102886" cy="137181"/>
          </a:xfrm>
          <a:custGeom>
            <a:avLst/>
            <a:gdLst/>
            <a:ahLst/>
            <a:cxnLst/>
            <a:rect l="l" t="t" r="r" b="b"/>
            <a:pathLst>
              <a:path w="102886" h="137181">
                <a:moveTo>
                  <a:pt x="17148" y="0"/>
                </a:moveTo>
                <a:cubicBezTo>
                  <a:pt x="7690" y="0"/>
                  <a:pt x="0" y="7690"/>
                  <a:pt x="0" y="17148"/>
                </a:cubicBezTo>
                <a:lnTo>
                  <a:pt x="0" y="120034"/>
                </a:lnTo>
                <a:cubicBezTo>
                  <a:pt x="0" y="129492"/>
                  <a:pt x="7690" y="137181"/>
                  <a:pt x="17148" y="137181"/>
                </a:cubicBezTo>
                <a:lnTo>
                  <a:pt x="85738" y="137181"/>
                </a:lnTo>
                <a:cubicBezTo>
                  <a:pt x="95196" y="137181"/>
                  <a:pt x="102886" y="129492"/>
                  <a:pt x="102886" y="120034"/>
                </a:cubicBezTo>
                <a:lnTo>
                  <a:pt x="102886" y="17148"/>
                </a:lnTo>
                <a:cubicBezTo>
                  <a:pt x="102886" y="7690"/>
                  <a:pt x="95196" y="0"/>
                  <a:pt x="85738" y="0"/>
                </a:cubicBezTo>
                <a:lnTo>
                  <a:pt x="17148" y="0"/>
                </a:lnTo>
                <a:close/>
                <a:moveTo>
                  <a:pt x="47156" y="94312"/>
                </a:moveTo>
                <a:lnTo>
                  <a:pt x="55730" y="94312"/>
                </a:lnTo>
                <a:cubicBezTo>
                  <a:pt x="60472" y="94312"/>
                  <a:pt x="64304" y="98144"/>
                  <a:pt x="64304" y="102886"/>
                </a:cubicBezTo>
                <a:lnTo>
                  <a:pt x="64304" y="124321"/>
                </a:lnTo>
                <a:lnTo>
                  <a:pt x="38582" y="124321"/>
                </a:lnTo>
                <a:lnTo>
                  <a:pt x="38582" y="102886"/>
                </a:lnTo>
                <a:cubicBezTo>
                  <a:pt x="38582" y="98144"/>
                  <a:pt x="42414" y="94312"/>
                  <a:pt x="47156" y="94312"/>
                </a:cubicBezTo>
                <a:close/>
                <a:moveTo>
                  <a:pt x="25722" y="30008"/>
                </a:moveTo>
                <a:cubicBezTo>
                  <a:pt x="25722" y="27651"/>
                  <a:pt x="27651" y="25722"/>
                  <a:pt x="30008" y="25722"/>
                </a:cubicBezTo>
                <a:lnTo>
                  <a:pt x="38582" y="25722"/>
                </a:lnTo>
                <a:cubicBezTo>
                  <a:pt x="40940" y="25722"/>
                  <a:pt x="42869" y="27651"/>
                  <a:pt x="42869" y="30008"/>
                </a:cubicBezTo>
                <a:lnTo>
                  <a:pt x="42869" y="38582"/>
                </a:lnTo>
                <a:cubicBezTo>
                  <a:pt x="42869" y="40940"/>
                  <a:pt x="40940" y="42869"/>
                  <a:pt x="38582" y="42869"/>
                </a:cubicBezTo>
                <a:lnTo>
                  <a:pt x="30008" y="42869"/>
                </a:lnTo>
                <a:cubicBezTo>
                  <a:pt x="27651" y="42869"/>
                  <a:pt x="25722" y="40940"/>
                  <a:pt x="25722" y="38582"/>
                </a:cubicBezTo>
                <a:lnTo>
                  <a:pt x="25722" y="30008"/>
                </a:lnTo>
                <a:close/>
                <a:moveTo>
                  <a:pt x="64304" y="25722"/>
                </a:moveTo>
                <a:lnTo>
                  <a:pt x="72878" y="25722"/>
                </a:lnTo>
                <a:cubicBezTo>
                  <a:pt x="75235" y="25722"/>
                  <a:pt x="77165" y="27651"/>
                  <a:pt x="77165" y="30008"/>
                </a:cubicBezTo>
                <a:lnTo>
                  <a:pt x="77165" y="38582"/>
                </a:lnTo>
                <a:cubicBezTo>
                  <a:pt x="77165" y="40940"/>
                  <a:pt x="75235" y="42869"/>
                  <a:pt x="72878" y="42869"/>
                </a:cubicBezTo>
                <a:lnTo>
                  <a:pt x="64304" y="42869"/>
                </a:lnTo>
                <a:cubicBezTo>
                  <a:pt x="61946" y="42869"/>
                  <a:pt x="60017" y="40940"/>
                  <a:pt x="60017" y="38582"/>
                </a:cubicBezTo>
                <a:lnTo>
                  <a:pt x="60017" y="30008"/>
                </a:lnTo>
                <a:cubicBezTo>
                  <a:pt x="60017" y="27651"/>
                  <a:pt x="61946" y="25722"/>
                  <a:pt x="64304" y="25722"/>
                </a:cubicBezTo>
                <a:close/>
                <a:moveTo>
                  <a:pt x="25722" y="64304"/>
                </a:moveTo>
                <a:cubicBezTo>
                  <a:pt x="25722" y="61946"/>
                  <a:pt x="27651" y="60017"/>
                  <a:pt x="30008" y="60017"/>
                </a:cubicBezTo>
                <a:lnTo>
                  <a:pt x="38582" y="60017"/>
                </a:lnTo>
                <a:cubicBezTo>
                  <a:pt x="40940" y="60017"/>
                  <a:pt x="42869" y="61946"/>
                  <a:pt x="42869" y="64304"/>
                </a:cubicBezTo>
                <a:lnTo>
                  <a:pt x="42869" y="72878"/>
                </a:lnTo>
                <a:cubicBezTo>
                  <a:pt x="42869" y="75235"/>
                  <a:pt x="40940" y="77165"/>
                  <a:pt x="38582" y="77165"/>
                </a:cubicBezTo>
                <a:lnTo>
                  <a:pt x="30008" y="77165"/>
                </a:lnTo>
                <a:cubicBezTo>
                  <a:pt x="27651" y="77165"/>
                  <a:pt x="25722" y="75235"/>
                  <a:pt x="25722" y="72878"/>
                </a:cubicBezTo>
                <a:lnTo>
                  <a:pt x="25722" y="64304"/>
                </a:lnTo>
                <a:close/>
                <a:moveTo>
                  <a:pt x="64304" y="60017"/>
                </a:moveTo>
                <a:lnTo>
                  <a:pt x="72878" y="60017"/>
                </a:lnTo>
                <a:cubicBezTo>
                  <a:pt x="75235" y="60017"/>
                  <a:pt x="77165" y="61946"/>
                  <a:pt x="77165" y="64304"/>
                </a:cubicBezTo>
                <a:lnTo>
                  <a:pt x="77165" y="72878"/>
                </a:lnTo>
                <a:cubicBezTo>
                  <a:pt x="77165" y="75235"/>
                  <a:pt x="75235" y="77165"/>
                  <a:pt x="72878" y="77165"/>
                </a:cubicBezTo>
                <a:lnTo>
                  <a:pt x="64304" y="77165"/>
                </a:lnTo>
                <a:cubicBezTo>
                  <a:pt x="61946" y="77165"/>
                  <a:pt x="60017" y="75235"/>
                  <a:pt x="60017" y="72878"/>
                </a:cubicBezTo>
                <a:lnTo>
                  <a:pt x="60017" y="64304"/>
                </a:lnTo>
                <a:cubicBezTo>
                  <a:pt x="60017" y="61946"/>
                  <a:pt x="61946" y="60017"/>
                  <a:pt x="64304" y="60017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11" name="Text 9"/>
          <p:cNvSpPr/>
          <p:nvPr/>
        </p:nvSpPr>
        <p:spPr>
          <a:xfrm>
            <a:off x="831662" y="1860523"/>
            <a:ext cx="480135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基本面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1595" y="2134886"/>
            <a:ext cx="2520709" cy="1971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4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财务数据深度分析、估值模型、盈利能力评估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1595" y="2398532"/>
            <a:ext cx="2512135" cy="1371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0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识别价值投资机会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19946" y="1757637"/>
            <a:ext cx="2666464" cy="883105"/>
          </a:xfrm>
          <a:custGeom>
            <a:avLst/>
            <a:gdLst/>
            <a:ahLst/>
            <a:cxnLst/>
            <a:rect l="l" t="t" r="r" b="b"/>
            <a:pathLst>
              <a:path w="2666464" h="883105">
                <a:moveTo>
                  <a:pt x="68591" y="0"/>
                </a:moveTo>
                <a:lnTo>
                  <a:pt x="2597873" y="0"/>
                </a:lnTo>
                <a:cubicBezTo>
                  <a:pt x="2635755" y="0"/>
                  <a:pt x="2666464" y="30709"/>
                  <a:pt x="2666464" y="68591"/>
                </a:cubicBezTo>
                <a:lnTo>
                  <a:pt x="2666464" y="814515"/>
                </a:lnTo>
                <a:cubicBezTo>
                  <a:pt x="2666464" y="852396"/>
                  <a:pt x="2635755" y="883105"/>
                  <a:pt x="2597873" y="883105"/>
                </a:cubicBezTo>
                <a:lnTo>
                  <a:pt x="68591" y="883105"/>
                </a:lnTo>
                <a:cubicBezTo>
                  <a:pt x="30709" y="883105"/>
                  <a:pt x="0" y="852396"/>
                  <a:pt x="0" y="814515"/>
                </a:cubicBezTo>
                <a:lnTo>
                  <a:pt x="0" y="68591"/>
                </a:lnTo>
                <a:cubicBezTo>
                  <a:pt x="0" y="30735"/>
                  <a:pt x="30735" y="0"/>
                  <a:pt x="68591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3339979" y="1894819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17148" y="17148"/>
                </a:moveTo>
                <a:cubicBezTo>
                  <a:pt x="17148" y="12405"/>
                  <a:pt x="13316" y="8574"/>
                  <a:pt x="8574" y="8574"/>
                </a:cubicBezTo>
                <a:cubicBezTo>
                  <a:pt x="3831" y="8574"/>
                  <a:pt x="0" y="12405"/>
                  <a:pt x="0" y="17148"/>
                </a:cubicBezTo>
                <a:lnTo>
                  <a:pt x="0" y="107173"/>
                </a:lnTo>
                <a:cubicBezTo>
                  <a:pt x="0" y="119016"/>
                  <a:pt x="9592" y="128608"/>
                  <a:pt x="21435" y="128608"/>
                </a:cubicBezTo>
                <a:lnTo>
                  <a:pt x="128608" y="128608"/>
                </a:lnTo>
                <a:cubicBezTo>
                  <a:pt x="133350" y="128608"/>
                  <a:pt x="137181" y="124776"/>
                  <a:pt x="137181" y="120034"/>
                </a:cubicBezTo>
                <a:cubicBezTo>
                  <a:pt x="137181" y="115291"/>
                  <a:pt x="133350" y="111460"/>
                  <a:pt x="128608" y="111460"/>
                </a:cubicBezTo>
                <a:lnTo>
                  <a:pt x="21435" y="111460"/>
                </a:lnTo>
                <a:cubicBezTo>
                  <a:pt x="19077" y="111460"/>
                  <a:pt x="17148" y="109531"/>
                  <a:pt x="17148" y="107173"/>
                </a:cubicBezTo>
                <a:lnTo>
                  <a:pt x="17148" y="17148"/>
                </a:lnTo>
                <a:close/>
                <a:moveTo>
                  <a:pt x="126089" y="40351"/>
                </a:moveTo>
                <a:cubicBezTo>
                  <a:pt x="129438" y="37001"/>
                  <a:pt x="129438" y="31562"/>
                  <a:pt x="126089" y="28213"/>
                </a:cubicBezTo>
                <a:cubicBezTo>
                  <a:pt x="122740" y="24864"/>
                  <a:pt x="117301" y="24864"/>
                  <a:pt x="113952" y="28213"/>
                </a:cubicBezTo>
                <a:lnTo>
                  <a:pt x="85738" y="56453"/>
                </a:lnTo>
                <a:lnTo>
                  <a:pt x="70359" y="41101"/>
                </a:lnTo>
                <a:cubicBezTo>
                  <a:pt x="67010" y="37752"/>
                  <a:pt x="61571" y="37752"/>
                  <a:pt x="58222" y="41101"/>
                </a:cubicBezTo>
                <a:lnTo>
                  <a:pt x="32500" y="66822"/>
                </a:lnTo>
                <a:cubicBezTo>
                  <a:pt x="29151" y="70172"/>
                  <a:pt x="29151" y="75611"/>
                  <a:pt x="32500" y="78960"/>
                </a:cubicBezTo>
                <a:cubicBezTo>
                  <a:pt x="35849" y="82309"/>
                  <a:pt x="41288" y="82309"/>
                  <a:pt x="44638" y="78960"/>
                </a:cubicBezTo>
                <a:lnTo>
                  <a:pt x="64304" y="59293"/>
                </a:lnTo>
                <a:lnTo>
                  <a:pt x="79683" y="74673"/>
                </a:lnTo>
                <a:cubicBezTo>
                  <a:pt x="83032" y="78022"/>
                  <a:pt x="88471" y="78022"/>
                  <a:pt x="91820" y="74673"/>
                </a:cubicBezTo>
                <a:lnTo>
                  <a:pt x="126116" y="40377"/>
                </a:lnTo>
                <a:close/>
              </a:path>
            </a:pathLst>
          </a:custGeom>
          <a:solidFill>
            <a:srgbClr val="4A6C8C"/>
          </a:solidFill>
        </p:spPr>
      </p:sp>
      <p:sp>
        <p:nvSpPr>
          <p:cNvPr id="16" name="Text 14"/>
          <p:cNvSpPr/>
          <p:nvPr/>
        </p:nvSpPr>
        <p:spPr>
          <a:xfrm>
            <a:off x="3562899" y="1860523"/>
            <a:ext cx="480135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技术面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22832" y="2134886"/>
            <a:ext cx="2520709" cy="1971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4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技术指标计算、趋势识别、交易信号生成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22832" y="2398532"/>
            <a:ext cx="2512135" cy="1371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0" dirty="0">
                <a:solidFill>
                  <a:srgbClr val="4A6C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把握买卖时机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8709" y="2707190"/>
            <a:ext cx="2666464" cy="883105"/>
          </a:xfrm>
          <a:custGeom>
            <a:avLst/>
            <a:gdLst/>
            <a:ahLst/>
            <a:cxnLst/>
            <a:rect l="l" t="t" r="r" b="b"/>
            <a:pathLst>
              <a:path w="2666464" h="883105">
                <a:moveTo>
                  <a:pt x="68591" y="0"/>
                </a:moveTo>
                <a:lnTo>
                  <a:pt x="2597873" y="0"/>
                </a:lnTo>
                <a:cubicBezTo>
                  <a:pt x="2635755" y="0"/>
                  <a:pt x="2666464" y="30709"/>
                  <a:pt x="2666464" y="68591"/>
                </a:cubicBezTo>
                <a:lnTo>
                  <a:pt x="2666464" y="814515"/>
                </a:lnTo>
                <a:cubicBezTo>
                  <a:pt x="2666464" y="852396"/>
                  <a:pt x="2635755" y="883105"/>
                  <a:pt x="2597873" y="883105"/>
                </a:cubicBezTo>
                <a:lnTo>
                  <a:pt x="68591" y="883105"/>
                </a:lnTo>
                <a:cubicBezTo>
                  <a:pt x="30709" y="883105"/>
                  <a:pt x="0" y="852396"/>
                  <a:pt x="0" y="814515"/>
                </a:cubicBezTo>
                <a:lnTo>
                  <a:pt x="0" y="68591"/>
                </a:lnTo>
                <a:cubicBezTo>
                  <a:pt x="0" y="30735"/>
                  <a:pt x="30735" y="0"/>
                  <a:pt x="68591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20" name="Shape 18"/>
          <p:cNvSpPr/>
          <p:nvPr/>
        </p:nvSpPr>
        <p:spPr>
          <a:xfrm>
            <a:off x="608743" y="2844371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0" y="111460"/>
                </a:moveTo>
                <a:lnTo>
                  <a:pt x="0" y="32152"/>
                </a:lnTo>
                <a:cubicBezTo>
                  <a:pt x="0" y="28588"/>
                  <a:pt x="2867" y="25722"/>
                  <a:pt x="6430" y="25722"/>
                </a:cubicBezTo>
                <a:cubicBezTo>
                  <a:pt x="9994" y="25722"/>
                  <a:pt x="12861" y="28588"/>
                  <a:pt x="12861" y="32152"/>
                </a:cubicBezTo>
                <a:lnTo>
                  <a:pt x="12861" y="109316"/>
                </a:lnTo>
                <a:cubicBezTo>
                  <a:pt x="12861" y="112880"/>
                  <a:pt x="15728" y="115747"/>
                  <a:pt x="19291" y="115747"/>
                </a:cubicBezTo>
                <a:cubicBezTo>
                  <a:pt x="22855" y="115747"/>
                  <a:pt x="25722" y="112880"/>
                  <a:pt x="25722" y="109316"/>
                </a:cubicBezTo>
                <a:lnTo>
                  <a:pt x="25722" y="25722"/>
                </a:lnTo>
                <a:cubicBezTo>
                  <a:pt x="25722" y="16264"/>
                  <a:pt x="33411" y="8574"/>
                  <a:pt x="42869" y="8574"/>
                </a:cubicBezTo>
                <a:lnTo>
                  <a:pt x="120034" y="8574"/>
                </a:lnTo>
                <a:cubicBezTo>
                  <a:pt x="129492" y="8574"/>
                  <a:pt x="137181" y="16264"/>
                  <a:pt x="137181" y="25722"/>
                </a:cubicBezTo>
                <a:lnTo>
                  <a:pt x="137181" y="111460"/>
                </a:lnTo>
                <a:cubicBezTo>
                  <a:pt x="137181" y="120918"/>
                  <a:pt x="129492" y="128608"/>
                  <a:pt x="120034" y="128608"/>
                </a:cubicBezTo>
                <a:lnTo>
                  <a:pt x="17148" y="128608"/>
                </a:lnTo>
                <a:cubicBezTo>
                  <a:pt x="7690" y="128608"/>
                  <a:pt x="0" y="120918"/>
                  <a:pt x="0" y="111460"/>
                </a:cubicBezTo>
                <a:close/>
                <a:moveTo>
                  <a:pt x="42869" y="34295"/>
                </a:moveTo>
                <a:lnTo>
                  <a:pt x="42869" y="51443"/>
                </a:lnTo>
                <a:cubicBezTo>
                  <a:pt x="42869" y="56185"/>
                  <a:pt x="46701" y="60017"/>
                  <a:pt x="51443" y="60017"/>
                </a:cubicBezTo>
                <a:lnTo>
                  <a:pt x="68591" y="60017"/>
                </a:lnTo>
                <a:cubicBezTo>
                  <a:pt x="73333" y="60017"/>
                  <a:pt x="77165" y="56185"/>
                  <a:pt x="77165" y="51443"/>
                </a:cubicBezTo>
                <a:lnTo>
                  <a:pt x="77165" y="34295"/>
                </a:lnTo>
                <a:cubicBezTo>
                  <a:pt x="77165" y="29553"/>
                  <a:pt x="73333" y="25722"/>
                  <a:pt x="68591" y="25722"/>
                </a:cubicBezTo>
                <a:lnTo>
                  <a:pt x="51443" y="25722"/>
                </a:lnTo>
                <a:cubicBezTo>
                  <a:pt x="46701" y="25722"/>
                  <a:pt x="42869" y="29553"/>
                  <a:pt x="42869" y="34295"/>
                </a:cubicBezTo>
                <a:close/>
                <a:moveTo>
                  <a:pt x="49300" y="98599"/>
                </a:moveTo>
                <a:cubicBezTo>
                  <a:pt x="45736" y="98599"/>
                  <a:pt x="42869" y="101466"/>
                  <a:pt x="42869" y="105030"/>
                </a:cubicBezTo>
                <a:cubicBezTo>
                  <a:pt x="42869" y="108593"/>
                  <a:pt x="45736" y="111460"/>
                  <a:pt x="49300" y="111460"/>
                </a:cubicBezTo>
                <a:lnTo>
                  <a:pt x="113603" y="111460"/>
                </a:lnTo>
                <a:cubicBezTo>
                  <a:pt x="117167" y="111460"/>
                  <a:pt x="120034" y="108593"/>
                  <a:pt x="120034" y="105030"/>
                </a:cubicBezTo>
                <a:cubicBezTo>
                  <a:pt x="120034" y="101466"/>
                  <a:pt x="117167" y="98599"/>
                  <a:pt x="113603" y="98599"/>
                </a:cubicBezTo>
                <a:lnTo>
                  <a:pt x="49300" y="98599"/>
                </a:lnTo>
                <a:close/>
                <a:moveTo>
                  <a:pt x="42869" y="79308"/>
                </a:moveTo>
                <a:cubicBezTo>
                  <a:pt x="42869" y="82872"/>
                  <a:pt x="45736" y="85738"/>
                  <a:pt x="49300" y="85738"/>
                </a:cubicBezTo>
                <a:lnTo>
                  <a:pt x="113603" y="85738"/>
                </a:lnTo>
                <a:cubicBezTo>
                  <a:pt x="117167" y="85738"/>
                  <a:pt x="120034" y="82872"/>
                  <a:pt x="120034" y="79308"/>
                </a:cubicBezTo>
                <a:cubicBezTo>
                  <a:pt x="120034" y="75745"/>
                  <a:pt x="117167" y="72878"/>
                  <a:pt x="113603" y="72878"/>
                </a:cubicBezTo>
                <a:lnTo>
                  <a:pt x="49300" y="72878"/>
                </a:lnTo>
                <a:cubicBezTo>
                  <a:pt x="45736" y="72878"/>
                  <a:pt x="42869" y="75745"/>
                  <a:pt x="42869" y="79308"/>
                </a:cubicBezTo>
                <a:close/>
                <a:moveTo>
                  <a:pt x="96456" y="47156"/>
                </a:moveTo>
                <a:cubicBezTo>
                  <a:pt x="92892" y="47156"/>
                  <a:pt x="90025" y="50023"/>
                  <a:pt x="90025" y="53586"/>
                </a:cubicBezTo>
                <a:cubicBezTo>
                  <a:pt x="90025" y="57150"/>
                  <a:pt x="92892" y="60017"/>
                  <a:pt x="96456" y="60017"/>
                </a:cubicBezTo>
                <a:lnTo>
                  <a:pt x="113603" y="60017"/>
                </a:lnTo>
                <a:cubicBezTo>
                  <a:pt x="117167" y="60017"/>
                  <a:pt x="120034" y="57150"/>
                  <a:pt x="120034" y="53586"/>
                </a:cubicBezTo>
                <a:cubicBezTo>
                  <a:pt x="120034" y="50023"/>
                  <a:pt x="117167" y="47156"/>
                  <a:pt x="113603" y="47156"/>
                </a:cubicBezTo>
                <a:lnTo>
                  <a:pt x="96456" y="47156"/>
                </a:lnTo>
                <a:close/>
              </a:path>
            </a:pathLst>
          </a:custGeom>
          <a:solidFill>
            <a:srgbClr val="8D99AE"/>
          </a:solidFill>
        </p:spPr>
      </p:sp>
      <p:sp>
        <p:nvSpPr>
          <p:cNvPr id="21" name="Text 19"/>
          <p:cNvSpPr/>
          <p:nvPr/>
        </p:nvSpPr>
        <p:spPr>
          <a:xfrm>
            <a:off x="831662" y="2810076"/>
            <a:ext cx="480135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消息面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1595" y="3084439"/>
            <a:ext cx="2520709" cy="1971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4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新闻事件监控、情绪分析、影响评估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1595" y="3348084"/>
            <a:ext cx="2512135" cy="1371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捕捉市场热点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219946" y="2707190"/>
            <a:ext cx="2666464" cy="883105"/>
          </a:xfrm>
          <a:custGeom>
            <a:avLst/>
            <a:gdLst/>
            <a:ahLst/>
            <a:cxnLst/>
            <a:rect l="l" t="t" r="r" b="b"/>
            <a:pathLst>
              <a:path w="2666464" h="883105">
                <a:moveTo>
                  <a:pt x="68591" y="0"/>
                </a:moveTo>
                <a:lnTo>
                  <a:pt x="2597873" y="0"/>
                </a:lnTo>
                <a:cubicBezTo>
                  <a:pt x="2635755" y="0"/>
                  <a:pt x="2666464" y="30709"/>
                  <a:pt x="2666464" y="68591"/>
                </a:cubicBezTo>
                <a:lnTo>
                  <a:pt x="2666464" y="814515"/>
                </a:lnTo>
                <a:cubicBezTo>
                  <a:pt x="2666464" y="852396"/>
                  <a:pt x="2635755" y="883105"/>
                  <a:pt x="2597873" y="883105"/>
                </a:cubicBezTo>
                <a:lnTo>
                  <a:pt x="68591" y="883105"/>
                </a:lnTo>
                <a:cubicBezTo>
                  <a:pt x="30709" y="883105"/>
                  <a:pt x="0" y="852396"/>
                  <a:pt x="0" y="814515"/>
                </a:cubicBezTo>
                <a:lnTo>
                  <a:pt x="0" y="68591"/>
                </a:lnTo>
                <a:cubicBezTo>
                  <a:pt x="0" y="30735"/>
                  <a:pt x="30735" y="0"/>
                  <a:pt x="68591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25" name="Shape 23"/>
          <p:cNvSpPr/>
          <p:nvPr/>
        </p:nvSpPr>
        <p:spPr>
          <a:xfrm>
            <a:off x="3339979" y="2844371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44316" y="86247"/>
                </a:moveTo>
                <a:cubicBezTo>
                  <a:pt x="49782" y="93750"/>
                  <a:pt x="58624" y="98599"/>
                  <a:pt x="68591" y="98599"/>
                </a:cubicBezTo>
                <a:cubicBezTo>
                  <a:pt x="78558" y="98599"/>
                  <a:pt x="87400" y="93750"/>
                  <a:pt x="92865" y="86247"/>
                </a:cubicBezTo>
                <a:cubicBezTo>
                  <a:pt x="94955" y="83381"/>
                  <a:pt x="98974" y="82738"/>
                  <a:pt x="101841" y="84827"/>
                </a:cubicBezTo>
                <a:cubicBezTo>
                  <a:pt x="104708" y="86917"/>
                  <a:pt x="105351" y="90936"/>
                  <a:pt x="103261" y="93803"/>
                </a:cubicBezTo>
                <a:cubicBezTo>
                  <a:pt x="95464" y="104494"/>
                  <a:pt x="82845" y="111460"/>
                  <a:pt x="68591" y="111460"/>
                </a:cubicBezTo>
                <a:cubicBezTo>
                  <a:pt x="54337" y="111460"/>
                  <a:pt x="41717" y="104494"/>
                  <a:pt x="33920" y="93803"/>
                </a:cubicBezTo>
                <a:cubicBezTo>
                  <a:pt x="31830" y="90936"/>
                  <a:pt x="32473" y="86917"/>
                  <a:pt x="35340" y="84827"/>
                </a:cubicBezTo>
                <a:cubicBezTo>
                  <a:pt x="38207" y="82738"/>
                  <a:pt x="42226" y="83381"/>
                  <a:pt x="44316" y="86247"/>
                </a:cubicBezTo>
                <a:close/>
                <a:moveTo>
                  <a:pt x="38582" y="55730"/>
                </a:moveTo>
                <a:cubicBezTo>
                  <a:pt x="38582" y="50998"/>
                  <a:pt x="42424" y="47156"/>
                  <a:pt x="47156" y="47156"/>
                </a:cubicBezTo>
                <a:cubicBezTo>
                  <a:pt x="51888" y="47156"/>
                  <a:pt x="55730" y="50998"/>
                  <a:pt x="55730" y="55730"/>
                </a:cubicBezTo>
                <a:cubicBezTo>
                  <a:pt x="55730" y="60462"/>
                  <a:pt x="51888" y="64304"/>
                  <a:pt x="47156" y="64304"/>
                </a:cubicBezTo>
                <a:cubicBezTo>
                  <a:pt x="42424" y="64304"/>
                  <a:pt x="38582" y="60462"/>
                  <a:pt x="38582" y="55730"/>
                </a:cubicBezTo>
                <a:close/>
                <a:moveTo>
                  <a:pt x="90025" y="47156"/>
                </a:moveTo>
                <a:cubicBezTo>
                  <a:pt x="94757" y="47156"/>
                  <a:pt x="98599" y="50998"/>
                  <a:pt x="98599" y="55730"/>
                </a:cubicBezTo>
                <a:cubicBezTo>
                  <a:pt x="98599" y="60462"/>
                  <a:pt x="94757" y="64304"/>
                  <a:pt x="90025" y="64304"/>
                </a:cubicBezTo>
                <a:cubicBezTo>
                  <a:pt x="85293" y="64304"/>
                  <a:pt x="81451" y="60462"/>
                  <a:pt x="81451" y="55730"/>
                </a:cubicBezTo>
                <a:cubicBezTo>
                  <a:pt x="81451" y="50998"/>
                  <a:pt x="85293" y="47156"/>
                  <a:pt x="90025" y="47156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26" name="Text 24"/>
          <p:cNvSpPr/>
          <p:nvPr/>
        </p:nvSpPr>
        <p:spPr>
          <a:xfrm>
            <a:off x="3562899" y="2810076"/>
            <a:ext cx="480135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情绪面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322832" y="3084439"/>
            <a:ext cx="2520709" cy="1971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4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社交媒体情绪、投资者情绪指数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322832" y="3348084"/>
            <a:ext cx="2512135" cy="1371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0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理解市场情绪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69815" y="1101738"/>
            <a:ext cx="5675882" cy="2632169"/>
          </a:xfrm>
          <a:custGeom>
            <a:avLst/>
            <a:gdLst/>
            <a:ahLst/>
            <a:cxnLst/>
            <a:rect l="l" t="t" r="r" b="b"/>
            <a:pathLst>
              <a:path w="5675882" h="2632169">
                <a:moveTo>
                  <a:pt x="102891" y="0"/>
                </a:moveTo>
                <a:lnTo>
                  <a:pt x="5572990" y="0"/>
                </a:lnTo>
                <a:cubicBezTo>
                  <a:pt x="5629816" y="0"/>
                  <a:pt x="5675882" y="46066"/>
                  <a:pt x="5675882" y="102891"/>
                </a:cubicBezTo>
                <a:lnTo>
                  <a:pt x="5675882" y="2529277"/>
                </a:lnTo>
                <a:cubicBezTo>
                  <a:pt x="5675882" y="2586103"/>
                  <a:pt x="5629816" y="2632169"/>
                  <a:pt x="5572990" y="2632169"/>
                </a:cubicBezTo>
                <a:lnTo>
                  <a:pt x="102891" y="2632169"/>
                </a:lnTo>
                <a:cubicBezTo>
                  <a:pt x="46066" y="2632169"/>
                  <a:pt x="0" y="2586103"/>
                  <a:pt x="0" y="2529277"/>
                </a:cubicBezTo>
                <a:lnTo>
                  <a:pt x="0" y="102891"/>
                </a:lnTo>
                <a:cubicBezTo>
                  <a:pt x="0" y="46104"/>
                  <a:pt x="46104" y="0"/>
                  <a:pt x="102891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11284" y="1243207"/>
            <a:ext cx="411544" cy="411544"/>
          </a:xfrm>
          <a:custGeom>
            <a:avLst/>
            <a:gdLst/>
            <a:ahLst/>
            <a:cxnLst/>
            <a:rect l="l" t="t" r="r" b="b"/>
            <a:pathLst>
              <a:path w="411544" h="411544">
                <a:moveTo>
                  <a:pt x="102886" y="0"/>
                </a:moveTo>
                <a:lnTo>
                  <a:pt x="308658" y="0"/>
                </a:lnTo>
                <a:cubicBezTo>
                  <a:pt x="365443" y="0"/>
                  <a:pt x="411544" y="46102"/>
                  <a:pt x="411544" y="102886"/>
                </a:cubicBezTo>
                <a:lnTo>
                  <a:pt x="411544" y="308658"/>
                </a:lnTo>
                <a:cubicBezTo>
                  <a:pt x="411544" y="365443"/>
                  <a:pt x="365443" y="411544"/>
                  <a:pt x="308658" y="411544"/>
                </a:cubicBezTo>
                <a:lnTo>
                  <a:pt x="102886" y="411544"/>
                </a:lnTo>
                <a:cubicBezTo>
                  <a:pt x="46102" y="411544"/>
                  <a:pt x="0" y="365443"/>
                  <a:pt x="0" y="308658"/>
                </a:cubicBezTo>
                <a:lnTo>
                  <a:pt x="0" y="102886"/>
                </a:lnTo>
                <a:cubicBezTo>
                  <a:pt x="0" y="46102"/>
                  <a:pt x="46102" y="0"/>
                  <a:pt x="102886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6388448" y="1346093"/>
            <a:ext cx="257215" cy="205772"/>
          </a:xfrm>
          <a:custGeom>
            <a:avLst/>
            <a:gdLst/>
            <a:ahLst/>
            <a:cxnLst/>
            <a:rect l="l" t="t" r="r" b="b"/>
            <a:pathLst>
              <a:path w="257215" h="205772">
                <a:moveTo>
                  <a:pt x="128608" y="90025"/>
                </a:moveTo>
                <a:cubicBezTo>
                  <a:pt x="151676" y="90025"/>
                  <a:pt x="170405" y="71296"/>
                  <a:pt x="170405" y="48228"/>
                </a:cubicBezTo>
                <a:cubicBezTo>
                  <a:pt x="170405" y="25159"/>
                  <a:pt x="151676" y="6430"/>
                  <a:pt x="128608" y="6430"/>
                </a:cubicBezTo>
                <a:cubicBezTo>
                  <a:pt x="105539" y="6430"/>
                  <a:pt x="86810" y="25159"/>
                  <a:pt x="86810" y="48228"/>
                </a:cubicBezTo>
                <a:cubicBezTo>
                  <a:pt x="86810" y="71296"/>
                  <a:pt x="105539" y="90025"/>
                  <a:pt x="128608" y="90025"/>
                </a:cubicBezTo>
                <a:close/>
                <a:moveTo>
                  <a:pt x="38582" y="93241"/>
                </a:moveTo>
                <a:cubicBezTo>
                  <a:pt x="54553" y="93241"/>
                  <a:pt x="67519" y="80274"/>
                  <a:pt x="67519" y="64304"/>
                </a:cubicBezTo>
                <a:cubicBezTo>
                  <a:pt x="67519" y="48333"/>
                  <a:pt x="54553" y="35367"/>
                  <a:pt x="38582" y="35367"/>
                </a:cubicBezTo>
                <a:cubicBezTo>
                  <a:pt x="22612" y="35367"/>
                  <a:pt x="9646" y="48333"/>
                  <a:pt x="9646" y="64304"/>
                </a:cubicBezTo>
                <a:cubicBezTo>
                  <a:pt x="9646" y="80274"/>
                  <a:pt x="22612" y="93241"/>
                  <a:pt x="38582" y="93241"/>
                </a:cubicBezTo>
                <a:close/>
                <a:moveTo>
                  <a:pt x="0" y="167190"/>
                </a:moveTo>
                <a:lnTo>
                  <a:pt x="0" y="180051"/>
                </a:lnTo>
                <a:cubicBezTo>
                  <a:pt x="0" y="187164"/>
                  <a:pt x="5747" y="192911"/>
                  <a:pt x="12861" y="192911"/>
                </a:cubicBezTo>
                <a:lnTo>
                  <a:pt x="47705" y="192911"/>
                </a:lnTo>
                <a:cubicBezTo>
                  <a:pt x="45977" y="188973"/>
                  <a:pt x="45013" y="184632"/>
                  <a:pt x="45013" y="180051"/>
                </a:cubicBezTo>
                <a:lnTo>
                  <a:pt x="45013" y="173620"/>
                </a:lnTo>
                <a:cubicBezTo>
                  <a:pt x="45013" y="152239"/>
                  <a:pt x="53051" y="132707"/>
                  <a:pt x="66273" y="117917"/>
                </a:cubicBezTo>
                <a:cubicBezTo>
                  <a:pt x="61571" y="116510"/>
                  <a:pt x="56587" y="115747"/>
                  <a:pt x="51443" y="115747"/>
                </a:cubicBezTo>
                <a:cubicBezTo>
                  <a:pt x="23029" y="115747"/>
                  <a:pt x="0" y="138776"/>
                  <a:pt x="0" y="167190"/>
                </a:cubicBezTo>
                <a:close/>
                <a:moveTo>
                  <a:pt x="247570" y="64304"/>
                </a:moveTo>
                <a:cubicBezTo>
                  <a:pt x="247570" y="48333"/>
                  <a:pt x="234604" y="35367"/>
                  <a:pt x="218633" y="35367"/>
                </a:cubicBezTo>
                <a:cubicBezTo>
                  <a:pt x="202662" y="35367"/>
                  <a:pt x="189696" y="48333"/>
                  <a:pt x="189696" y="64304"/>
                </a:cubicBezTo>
                <a:cubicBezTo>
                  <a:pt x="189696" y="80274"/>
                  <a:pt x="202662" y="93241"/>
                  <a:pt x="218633" y="93241"/>
                </a:cubicBezTo>
                <a:cubicBezTo>
                  <a:pt x="234604" y="93241"/>
                  <a:pt x="247570" y="80274"/>
                  <a:pt x="247570" y="64304"/>
                </a:cubicBezTo>
                <a:close/>
                <a:moveTo>
                  <a:pt x="64304" y="173620"/>
                </a:moveTo>
                <a:lnTo>
                  <a:pt x="64304" y="180051"/>
                </a:lnTo>
                <a:cubicBezTo>
                  <a:pt x="64304" y="187164"/>
                  <a:pt x="70051" y="192911"/>
                  <a:pt x="77165" y="192911"/>
                </a:cubicBezTo>
                <a:lnTo>
                  <a:pt x="140182" y="192911"/>
                </a:lnTo>
                <a:cubicBezTo>
                  <a:pt x="137329" y="184230"/>
                  <a:pt x="137650" y="175067"/>
                  <a:pt x="144483" y="167190"/>
                </a:cubicBezTo>
                <a:cubicBezTo>
                  <a:pt x="138856" y="160679"/>
                  <a:pt x="136244" y="151234"/>
                  <a:pt x="139901" y="141750"/>
                </a:cubicBezTo>
                <a:cubicBezTo>
                  <a:pt x="142553" y="134877"/>
                  <a:pt x="146291" y="128447"/>
                  <a:pt x="150913" y="122740"/>
                </a:cubicBezTo>
                <a:cubicBezTo>
                  <a:pt x="153083" y="120087"/>
                  <a:pt x="155575" y="118038"/>
                  <a:pt x="158268" y="116551"/>
                </a:cubicBezTo>
                <a:cubicBezTo>
                  <a:pt x="149386" y="111929"/>
                  <a:pt x="139298" y="109316"/>
                  <a:pt x="128608" y="109316"/>
                </a:cubicBezTo>
                <a:cubicBezTo>
                  <a:pt x="93080" y="109316"/>
                  <a:pt x="64304" y="138092"/>
                  <a:pt x="64304" y="173620"/>
                </a:cubicBezTo>
                <a:close/>
                <a:moveTo>
                  <a:pt x="251026" y="155897"/>
                </a:moveTo>
                <a:cubicBezTo>
                  <a:pt x="253558" y="154450"/>
                  <a:pt x="254844" y="151435"/>
                  <a:pt x="253759" y="148662"/>
                </a:cubicBezTo>
                <a:cubicBezTo>
                  <a:pt x="251830" y="143679"/>
                  <a:pt x="249137" y="138977"/>
                  <a:pt x="245761" y="134837"/>
                </a:cubicBezTo>
                <a:cubicBezTo>
                  <a:pt x="243912" y="132546"/>
                  <a:pt x="240657" y="132144"/>
                  <a:pt x="238125" y="133631"/>
                </a:cubicBezTo>
                <a:cubicBezTo>
                  <a:pt x="229364" y="138695"/>
                  <a:pt x="218593" y="132506"/>
                  <a:pt x="218593" y="122338"/>
                </a:cubicBezTo>
                <a:cubicBezTo>
                  <a:pt x="218593" y="119404"/>
                  <a:pt x="216623" y="116792"/>
                  <a:pt x="213730" y="116350"/>
                </a:cubicBezTo>
                <a:cubicBezTo>
                  <a:pt x="208545" y="115546"/>
                  <a:pt x="202959" y="115546"/>
                  <a:pt x="197774" y="116350"/>
                </a:cubicBezTo>
                <a:cubicBezTo>
                  <a:pt x="194881" y="116792"/>
                  <a:pt x="192911" y="119404"/>
                  <a:pt x="192911" y="122338"/>
                </a:cubicBezTo>
                <a:cubicBezTo>
                  <a:pt x="192911" y="132466"/>
                  <a:pt x="182141" y="138695"/>
                  <a:pt x="173379" y="133631"/>
                </a:cubicBezTo>
                <a:cubicBezTo>
                  <a:pt x="170847" y="132184"/>
                  <a:pt x="167592" y="132586"/>
                  <a:pt x="165743" y="134837"/>
                </a:cubicBezTo>
                <a:cubicBezTo>
                  <a:pt x="162367" y="138977"/>
                  <a:pt x="159674" y="143679"/>
                  <a:pt x="157745" y="148662"/>
                </a:cubicBezTo>
                <a:cubicBezTo>
                  <a:pt x="156700" y="151395"/>
                  <a:pt x="157946" y="154409"/>
                  <a:pt x="160478" y="155856"/>
                </a:cubicBezTo>
                <a:cubicBezTo>
                  <a:pt x="169280" y="160920"/>
                  <a:pt x="169280" y="173339"/>
                  <a:pt x="160478" y="178443"/>
                </a:cubicBezTo>
                <a:cubicBezTo>
                  <a:pt x="157946" y="179890"/>
                  <a:pt x="156660" y="182904"/>
                  <a:pt x="157745" y="185637"/>
                </a:cubicBezTo>
                <a:cubicBezTo>
                  <a:pt x="159674" y="190621"/>
                  <a:pt x="162367" y="195323"/>
                  <a:pt x="165743" y="199462"/>
                </a:cubicBezTo>
                <a:cubicBezTo>
                  <a:pt x="167592" y="201753"/>
                  <a:pt x="170847" y="202155"/>
                  <a:pt x="173379" y="200668"/>
                </a:cubicBezTo>
                <a:cubicBezTo>
                  <a:pt x="182141" y="195604"/>
                  <a:pt x="192911" y="201834"/>
                  <a:pt x="192911" y="211961"/>
                </a:cubicBezTo>
                <a:cubicBezTo>
                  <a:pt x="192911" y="214895"/>
                  <a:pt x="194881" y="217508"/>
                  <a:pt x="197774" y="217950"/>
                </a:cubicBezTo>
                <a:cubicBezTo>
                  <a:pt x="202959" y="218753"/>
                  <a:pt x="208545" y="218753"/>
                  <a:pt x="213730" y="217950"/>
                </a:cubicBezTo>
                <a:cubicBezTo>
                  <a:pt x="216623" y="217508"/>
                  <a:pt x="218593" y="214895"/>
                  <a:pt x="218593" y="211961"/>
                </a:cubicBezTo>
                <a:cubicBezTo>
                  <a:pt x="218593" y="201834"/>
                  <a:pt x="229364" y="195604"/>
                  <a:pt x="238125" y="200668"/>
                </a:cubicBezTo>
                <a:cubicBezTo>
                  <a:pt x="240657" y="202115"/>
                  <a:pt x="243912" y="201713"/>
                  <a:pt x="245761" y="199462"/>
                </a:cubicBezTo>
                <a:cubicBezTo>
                  <a:pt x="249137" y="195323"/>
                  <a:pt x="251830" y="190621"/>
                  <a:pt x="253759" y="185637"/>
                </a:cubicBezTo>
                <a:cubicBezTo>
                  <a:pt x="254804" y="182904"/>
                  <a:pt x="253558" y="179890"/>
                  <a:pt x="251026" y="178443"/>
                </a:cubicBezTo>
                <a:cubicBezTo>
                  <a:pt x="242224" y="173379"/>
                  <a:pt x="242224" y="160960"/>
                  <a:pt x="251026" y="155856"/>
                </a:cubicBezTo>
                <a:close/>
                <a:moveTo>
                  <a:pt x="189696" y="167190"/>
                </a:moveTo>
                <a:cubicBezTo>
                  <a:pt x="189696" y="158317"/>
                  <a:pt x="196900" y="151114"/>
                  <a:pt x="205772" y="151114"/>
                </a:cubicBezTo>
                <a:cubicBezTo>
                  <a:pt x="214645" y="151114"/>
                  <a:pt x="221848" y="158317"/>
                  <a:pt x="221848" y="167190"/>
                </a:cubicBezTo>
                <a:cubicBezTo>
                  <a:pt x="221848" y="176062"/>
                  <a:pt x="214645" y="183266"/>
                  <a:pt x="205772" y="183266"/>
                </a:cubicBezTo>
                <a:cubicBezTo>
                  <a:pt x="196900" y="183266"/>
                  <a:pt x="189696" y="176062"/>
                  <a:pt x="189696" y="16719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32" name="Text 30"/>
          <p:cNvSpPr/>
          <p:nvPr/>
        </p:nvSpPr>
        <p:spPr>
          <a:xfrm>
            <a:off x="6825714" y="1328945"/>
            <a:ext cx="1114599" cy="2400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多智能体协作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11284" y="1757637"/>
            <a:ext cx="274363" cy="274363"/>
          </a:xfrm>
          <a:custGeom>
            <a:avLst/>
            <a:gdLst/>
            <a:ahLst/>
            <a:cxnLst/>
            <a:rect l="l" t="t" r="r" b="b"/>
            <a:pathLst>
              <a:path w="274363" h="274363">
                <a:moveTo>
                  <a:pt x="68591" y="0"/>
                </a:moveTo>
                <a:lnTo>
                  <a:pt x="205772" y="0"/>
                </a:lnTo>
                <a:cubicBezTo>
                  <a:pt x="243628" y="0"/>
                  <a:pt x="274363" y="30734"/>
                  <a:pt x="274363" y="68591"/>
                </a:cubicBezTo>
                <a:lnTo>
                  <a:pt x="274363" y="205772"/>
                </a:lnTo>
                <a:cubicBezTo>
                  <a:pt x="274363" y="243654"/>
                  <a:pt x="243654" y="274363"/>
                  <a:pt x="205772" y="274363"/>
                </a:cubicBezTo>
                <a:lnTo>
                  <a:pt x="68591" y="274363"/>
                </a:lnTo>
                <a:cubicBezTo>
                  <a:pt x="30734" y="274363"/>
                  <a:pt x="0" y="243628"/>
                  <a:pt x="0" y="205772"/>
                </a:cubicBezTo>
                <a:lnTo>
                  <a:pt x="0" y="68591"/>
                </a:lnTo>
                <a:cubicBezTo>
                  <a:pt x="0" y="30709"/>
                  <a:pt x="30709" y="0"/>
                  <a:pt x="68591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</p:spPr>
      </p:sp>
      <p:sp>
        <p:nvSpPr>
          <p:cNvPr id="34" name="Text 32"/>
          <p:cNvSpPr/>
          <p:nvPr/>
        </p:nvSpPr>
        <p:spPr>
          <a:xfrm>
            <a:off x="6387243" y="1809080"/>
            <a:ext cx="180051" cy="171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688533" y="1757637"/>
            <a:ext cx="2332084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分析师团队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688533" y="1963409"/>
            <a:ext cx="2323511" cy="171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4个专业分析师并行工作,提高分析效率</a:t>
            </a:r>
            <a:r>
              <a:rPr lang="en-US" sz="945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10倍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11284" y="2242059"/>
            <a:ext cx="274363" cy="274363"/>
          </a:xfrm>
          <a:custGeom>
            <a:avLst/>
            <a:gdLst/>
            <a:ahLst/>
            <a:cxnLst/>
            <a:rect l="l" t="t" r="r" b="b"/>
            <a:pathLst>
              <a:path w="274363" h="274363">
                <a:moveTo>
                  <a:pt x="68591" y="0"/>
                </a:moveTo>
                <a:lnTo>
                  <a:pt x="205772" y="0"/>
                </a:lnTo>
                <a:cubicBezTo>
                  <a:pt x="243628" y="0"/>
                  <a:pt x="274363" y="30734"/>
                  <a:pt x="274363" y="68591"/>
                </a:cubicBezTo>
                <a:lnTo>
                  <a:pt x="274363" y="205772"/>
                </a:lnTo>
                <a:cubicBezTo>
                  <a:pt x="274363" y="243654"/>
                  <a:pt x="243654" y="274363"/>
                  <a:pt x="205772" y="274363"/>
                </a:cubicBezTo>
                <a:lnTo>
                  <a:pt x="68591" y="274363"/>
                </a:lnTo>
                <a:cubicBezTo>
                  <a:pt x="30734" y="274363"/>
                  <a:pt x="0" y="243628"/>
                  <a:pt x="0" y="205772"/>
                </a:cubicBezTo>
                <a:lnTo>
                  <a:pt x="0" y="68591"/>
                </a:lnTo>
                <a:cubicBezTo>
                  <a:pt x="0" y="30709"/>
                  <a:pt x="30709" y="0"/>
                  <a:pt x="68591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</p:spPr>
      </p:sp>
      <p:sp>
        <p:nvSpPr>
          <p:cNvPr id="38" name="Text 36"/>
          <p:cNvSpPr/>
          <p:nvPr/>
        </p:nvSpPr>
        <p:spPr>
          <a:xfrm>
            <a:off x="6377061" y="2293502"/>
            <a:ext cx="205772" cy="171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688533" y="2242059"/>
            <a:ext cx="2074869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研究员辩论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688533" y="2447831"/>
            <a:ext cx="2066295" cy="171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看涨/看跌观点交锋,减少决策偏差</a:t>
            </a:r>
            <a:r>
              <a:rPr lang="en-US" sz="945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30%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11284" y="2726481"/>
            <a:ext cx="274363" cy="274363"/>
          </a:xfrm>
          <a:custGeom>
            <a:avLst/>
            <a:gdLst/>
            <a:ahLst/>
            <a:cxnLst/>
            <a:rect l="l" t="t" r="r" b="b"/>
            <a:pathLst>
              <a:path w="274363" h="274363">
                <a:moveTo>
                  <a:pt x="68591" y="0"/>
                </a:moveTo>
                <a:lnTo>
                  <a:pt x="205772" y="0"/>
                </a:lnTo>
                <a:cubicBezTo>
                  <a:pt x="243628" y="0"/>
                  <a:pt x="274363" y="30734"/>
                  <a:pt x="274363" y="68591"/>
                </a:cubicBezTo>
                <a:lnTo>
                  <a:pt x="274363" y="205772"/>
                </a:lnTo>
                <a:cubicBezTo>
                  <a:pt x="274363" y="243654"/>
                  <a:pt x="243654" y="274363"/>
                  <a:pt x="205772" y="274363"/>
                </a:cubicBezTo>
                <a:lnTo>
                  <a:pt x="68591" y="274363"/>
                </a:lnTo>
                <a:cubicBezTo>
                  <a:pt x="30734" y="274363"/>
                  <a:pt x="0" y="243628"/>
                  <a:pt x="0" y="205772"/>
                </a:cubicBezTo>
                <a:lnTo>
                  <a:pt x="0" y="68591"/>
                </a:lnTo>
                <a:cubicBezTo>
                  <a:pt x="0" y="30709"/>
                  <a:pt x="30709" y="0"/>
                  <a:pt x="68591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</p:spPr>
      </p:sp>
      <p:sp>
        <p:nvSpPr>
          <p:cNvPr id="42" name="Text 40"/>
          <p:cNvSpPr/>
          <p:nvPr/>
        </p:nvSpPr>
        <p:spPr>
          <a:xfrm>
            <a:off x="6375521" y="2777924"/>
            <a:ext cx="205772" cy="171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688533" y="2726481"/>
            <a:ext cx="2109165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风险管理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688533" y="2932253"/>
            <a:ext cx="2100591" cy="171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激进/保守/中性三重评估,降低投资风险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11284" y="3210903"/>
            <a:ext cx="274363" cy="274363"/>
          </a:xfrm>
          <a:custGeom>
            <a:avLst/>
            <a:gdLst/>
            <a:ahLst/>
            <a:cxnLst/>
            <a:rect l="l" t="t" r="r" b="b"/>
            <a:pathLst>
              <a:path w="274363" h="274363">
                <a:moveTo>
                  <a:pt x="68591" y="0"/>
                </a:moveTo>
                <a:lnTo>
                  <a:pt x="205772" y="0"/>
                </a:lnTo>
                <a:cubicBezTo>
                  <a:pt x="243628" y="0"/>
                  <a:pt x="274363" y="30734"/>
                  <a:pt x="274363" y="68591"/>
                </a:cubicBezTo>
                <a:lnTo>
                  <a:pt x="274363" y="205772"/>
                </a:lnTo>
                <a:cubicBezTo>
                  <a:pt x="274363" y="243654"/>
                  <a:pt x="243654" y="274363"/>
                  <a:pt x="205772" y="274363"/>
                </a:cubicBezTo>
                <a:lnTo>
                  <a:pt x="68591" y="274363"/>
                </a:lnTo>
                <a:cubicBezTo>
                  <a:pt x="30734" y="274363"/>
                  <a:pt x="0" y="243628"/>
                  <a:pt x="0" y="205772"/>
                </a:cubicBezTo>
                <a:lnTo>
                  <a:pt x="0" y="68591"/>
                </a:lnTo>
                <a:cubicBezTo>
                  <a:pt x="0" y="30709"/>
                  <a:pt x="30709" y="0"/>
                  <a:pt x="68591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</p:spPr>
      </p:sp>
      <p:sp>
        <p:nvSpPr>
          <p:cNvPr id="46" name="Text 44"/>
          <p:cNvSpPr/>
          <p:nvPr/>
        </p:nvSpPr>
        <p:spPr>
          <a:xfrm>
            <a:off x="6375655" y="3262346"/>
            <a:ext cx="205772" cy="171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688533" y="3210903"/>
            <a:ext cx="1663325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决策层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688533" y="3416675"/>
            <a:ext cx="1654751" cy="171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多维度信息融合,提升决策质量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47241" y="3875376"/>
            <a:ext cx="5675882" cy="2786498"/>
          </a:xfrm>
          <a:custGeom>
            <a:avLst/>
            <a:gdLst/>
            <a:ahLst/>
            <a:cxnLst/>
            <a:rect l="l" t="t" r="r" b="b"/>
            <a:pathLst>
              <a:path w="5675882" h="2786498">
                <a:moveTo>
                  <a:pt x="102878" y="0"/>
                </a:moveTo>
                <a:lnTo>
                  <a:pt x="5573004" y="0"/>
                </a:lnTo>
                <a:cubicBezTo>
                  <a:pt x="5629822" y="0"/>
                  <a:pt x="5675882" y="46060"/>
                  <a:pt x="5675882" y="102878"/>
                </a:cubicBezTo>
                <a:lnTo>
                  <a:pt x="5675882" y="2683620"/>
                </a:lnTo>
                <a:cubicBezTo>
                  <a:pt x="5675882" y="2740438"/>
                  <a:pt x="5629822" y="2786498"/>
                  <a:pt x="5573004" y="2786498"/>
                </a:cubicBezTo>
                <a:lnTo>
                  <a:pt x="102878" y="2786498"/>
                </a:lnTo>
                <a:cubicBezTo>
                  <a:pt x="46060" y="2786498"/>
                  <a:pt x="0" y="2740438"/>
                  <a:pt x="0" y="2683620"/>
                </a:cubicBezTo>
                <a:lnTo>
                  <a:pt x="0" y="102878"/>
                </a:lnTo>
                <a:cubicBezTo>
                  <a:pt x="0" y="46098"/>
                  <a:pt x="46098" y="0"/>
                  <a:pt x="102878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8709" y="4016844"/>
            <a:ext cx="411544" cy="411544"/>
          </a:xfrm>
          <a:custGeom>
            <a:avLst/>
            <a:gdLst/>
            <a:ahLst/>
            <a:cxnLst/>
            <a:rect l="l" t="t" r="r" b="b"/>
            <a:pathLst>
              <a:path w="411544" h="411544">
                <a:moveTo>
                  <a:pt x="102886" y="0"/>
                </a:moveTo>
                <a:lnTo>
                  <a:pt x="308658" y="0"/>
                </a:lnTo>
                <a:cubicBezTo>
                  <a:pt x="365443" y="0"/>
                  <a:pt x="411544" y="46102"/>
                  <a:pt x="411544" y="102886"/>
                </a:cubicBezTo>
                <a:lnTo>
                  <a:pt x="411544" y="308658"/>
                </a:lnTo>
                <a:cubicBezTo>
                  <a:pt x="411544" y="365443"/>
                  <a:pt x="365443" y="411544"/>
                  <a:pt x="308658" y="411544"/>
                </a:cubicBezTo>
                <a:lnTo>
                  <a:pt x="102886" y="411544"/>
                </a:lnTo>
                <a:cubicBezTo>
                  <a:pt x="46102" y="411544"/>
                  <a:pt x="0" y="365443"/>
                  <a:pt x="0" y="308658"/>
                </a:cubicBezTo>
                <a:lnTo>
                  <a:pt x="0" y="102886"/>
                </a:lnTo>
                <a:cubicBezTo>
                  <a:pt x="0" y="46102"/>
                  <a:pt x="46102" y="0"/>
                  <a:pt x="102886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</p:spPr>
      </p:sp>
      <p:sp>
        <p:nvSpPr>
          <p:cNvPr id="51" name="Shape 49"/>
          <p:cNvSpPr/>
          <p:nvPr/>
        </p:nvSpPr>
        <p:spPr>
          <a:xfrm>
            <a:off x="591595" y="4119730"/>
            <a:ext cx="205772" cy="205772"/>
          </a:xfrm>
          <a:custGeom>
            <a:avLst/>
            <a:gdLst/>
            <a:ahLst/>
            <a:cxnLst/>
            <a:rect l="l" t="t" r="r" b="b"/>
            <a:pathLst>
              <a:path w="205772" h="205772">
                <a:moveTo>
                  <a:pt x="80380" y="19291"/>
                </a:moveTo>
                <a:lnTo>
                  <a:pt x="125392" y="19291"/>
                </a:lnTo>
                <a:cubicBezTo>
                  <a:pt x="127161" y="19291"/>
                  <a:pt x="128608" y="20738"/>
                  <a:pt x="128608" y="22506"/>
                </a:cubicBezTo>
                <a:lnTo>
                  <a:pt x="128608" y="38582"/>
                </a:lnTo>
                <a:lnTo>
                  <a:pt x="77165" y="38582"/>
                </a:lnTo>
                <a:lnTo>
                  <a:pt x="77165" y="22506"/>
                </a:lnTo>
                <a:cubicBezTo>
                  <a:pt x="77165" y="20738"/>
                  <a:pt x="78611" y="19291"/>
                  <a:pt x="80380" y="19291"/>
                </a:cubicBezTo>
                <a:close/>
                <a:moveTo>
                  <a:pt x="57873" y="22506"/>
                </a:moveTo>
                <a:lnTo>
                  <a:pt x="57873" y="38582"/>
                </a:lnTo>
                <a:lnTo>
                  <a:pt x="25722" y="38582"/>
                </a:lnTo>
                <a:cubicBezTo>
                  <a:pt x="11534" y="38582"/>
                  <a:pt x="0" y="50117"/>
                  <a:pt x="0" y="64304"/>
                </a:cubicBezTo>
                <a:lnTo>
                  <a:pt x="0" y="102886"/>
                </a:lnTo>
                <a:lnTo>
                  <a:pt x="205772" y="102886"/>
                </a:lnTo>
                <a:lnTo>
                  <a:pt x="205772" y="64304"/>
                </a:lnTo>
                <a:cubicBezTo>
                  <a:pt x="205772" y="50117"/>
                  <a:pt x="194238" y="38582"/>
                  <a:pt x="180051" y="38582"/>
                </a:cubicBezTo>
                <a:lnTo>
                  <a:pt x="147899" y="38582"/>
                </a:lnTo>
                <a:lnTo>
                  <a:pt x="147899" y="22506"/>
                </a:lnTo>
                <a:cubicBezTo>
                  <a:pt x="147899" y="10088"/>
                  <a:pt x="137811" y="0"/>
                  <a:pt x="125392" y="0"/>
                </a:cubicBezTo>
                <a:lnTo>
                  <a:pt x="80380" y="0"/>
                </a:lnTo>
                <a:cubicBezTo>
                  <a:pt x="67961" y="0"/>
                  <a:pt x="57873" y="10088"/>
                  <a:pt x="57873" y="22506"/>
                </a:cubicBezTo>
                <a:close/>
                <a:moveTo>
                  <a:pt x="205772" y="122177"/>
                </a:moveTo>
                <a:lnTo>
                  <a:pt x="128608" y="122177"/>
                </a:lnTo>
                <a:lnTo>
                  <a:pt x="128608" y="128608"/>
                </a:lnTo>
                <a:cubicBezTo>
                  <a:pt x="128608" y="135721"/>
                  <a:pt x="122860" y="141468"/>
                  <a:pt x="115747" y="141468"/>
                </a:cubicBezTo>
                <a:lnTo>
                  <a:pt x="90025" y="141468"/>
                </a:lnTo>
                <a:cubicBezTo>
                  <a:pt x="82912" y="141468"/>
                  <a:pt x="77165" y="135721"/>
                  <a:pt x="77165" y="128608"/>
                </a:cubicBezTo>
                <a:lnTo>
                  <a:pt x="77165" y="122177"/>
                </a:lnTo>
                <a:lnTo>
                  <a:pt x="0" y="122177"/>
                </a:lnTo>
                <a:lnTo>
                  <a:pt x="0" y="167190"/>
                </a:lnTo>
                <a:cubicBezTo>
                  <a:pt x="0" y="181377"/>
                  <a:pt x="11534" y="192911"/>
                  <a:pt x="25722" y="192911"/>
                </a:cubicBezTo>
                <a:lnTo>
                  <a:pt x="180051" y="192911"/>
                </a:lnTo>
                <a:cubicBezTo>
                  <a:pt x="194238" y="192911"/>
                  <a:pt x="205772" y="181377"/>
                  <a:pt x="205772" y="167190"/>
                </a:cubicBezTo>
                <a:lnTo>
                  <a:pt x="205772" y="122177"/>
                </a:lnTo>
                <a:close/>
              </a:path>
            </a:pathLst>
          </a:custGeom>
          <a:solidFill>
            <a:srgbClr val="4A6C8C"/>
          </a:solidFill>
        </p:spPr>
      </p:sp>
      <p:sp>
        <p:nvSpPr>
          <p:cNvPr id="52" name="Text 50"/>
          <p:cNvSpPr/>
          <p:nvPr/>
        </p:nvSpPr>
        <p:spPr>
          <a:xfrm>
            <a:off x="1003139" y="4102582"/>
            <a:ext cx="943122" cy="2400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企业级功能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88709" y="4531274"/>
            <a:ext cx="1749063" cy="960270"/>
          </a:xfrm>
          <a:custGeom>
            <a:avLst/>
            <a:gdLst/>
            <a:ahLst/>
            <a:cxnLst/>
            <a:rect l="l" t="t" r="r" b="b"/>
            <a:pathLst>
              <a:path w="1749063" h="960270">
                <a:moveTo>
                  <a:pt x="68592" y="0"/>
                </a:moveTo>
                <a:lnTo>
                  <a:pt x="1680471" y="0"/>
                </a:lnTo>
                <a:cubicBezTo>
                  <a:pt x="1718354" y="0"/>
                  <a:pt x="1749063" y="30710"/>
                  <a:pt x="1749063" y="68592"/>
                </a:cubicBezTo>
                <a:lnTo>
                  <a:pt x="1749063" y="891678"/>
                </a:lnTo>
                <a:cubicBezTo>
                  <a:pt x="1749063" y="929560"/>
                  <a:pt x="1718354" y="960270"/>
                  <a:pt x="1680471" y="960270"/>
                </a:cubicBezTo>
                <a:lnTo>
                  <a:pt x="68592" y="960270"/>
                </a:lnTo>
                <a:cubicBezTo>
                  <a:pt x="30710" y="960270"/>
                  <a:pt x="0" y="929560"/>
                  <a:pt x="0" y="891678"/>
                </a:cubicBezTo>
                <a:lnTo>
                  <a:pt x="0" y="68592"/>
                </a:lnTo>
                <a:cubicBezTo>
                  <a:pt x="0" y="30735"/>
                  <a:pt x="30735" y="0"/>
                  <a:pt x="6859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54" name="Shape 52"/>
          <p:cNvSpPr/>
          <p:nvPr/>
        </p:nvSpPr>
        <p:spPr>
          <a:xfrm>
            <a:off x="1279043" y="4599865"/>
            <a:ext cx="171477" cy="171477"/>
          </a:xfrm>
          <a:custGeom>
            <a:avLst/>
            <a:gdLst/>
            <a:ahLst/>
            <a:cxnLst/>
            <a:rect l="l" t="t" r="r" b="b"/>
            <a:pathLst>
              <a:path w="171477" h="171477">
                <a:moveTo>
                  <a:pt x="77868" y="1742"/>
                </a:moveTo>
                <a:cubicBezTo>
                  <a:pt x="82858" y="-569"/>
                  <a:pt x="88619" y="-569"/>
                  <a:pt x="93609" y="1742"/>
                </a:cubicBezTo>
                <a:lnTo>
                  <a:pt x="166821" y="35568"/>
                </a:lnTo>
                <a:cubicBezTo>
                  <a:pt x="169668" y="36874"/>
                  <a:pt x="171477" y="39721"/>
                  <a:pt x="171477" y="42869"/>
                </a:cubicBezTo>
                <a:cubicBezTo>
                  <a:pt x="171477" y="46017"/>
                  <a:pt x="169668" y="48864"/>
                  <a:pt x="166821" y="50170"/>
                </a:cubicBezTo>
                <a:lnTo>
                  <a:pt x="93609" y="83997"/>
                </a:lnTo>
                <a:cubicBezTo>
                  <a:pt x="88619" y="86308"/>
                  <a:pt x="82858" y="86308"/>
                  <a:pt x="77868" y="83997"/>
                </a:cubicBezTo>
                <a:lnTo>
                  <a:pt x="4655" y="50170"/>
                </a:lnTo>
                <a:cubicBezTo>
                  <a:pt x="1809" y="48831"/>
                  <a:pt x="0" y="45984"/>
                  <a:pt x="0" y="42869"/>
                </a:cubicBezTo>
                <a:cubicBezTo>
                  <a:pt x="0" y="39754"/>
                  <a:pt x="1809" y="36874"/>
                  <a:pt x="4655" y="35568"/>
                </a:cubicBezTo>
                <a:lnTo>
                  <a:pt x="77868" y="1742"/>
                </a:lnTo>
                <a:close/>
                <a:moveTo>
                  <a:pt x="16109" y="73146"/>
                </a:moveTo>
                <a:lnTo>
                  <a:pt x="71136" y="98566"/>
                </a:lnTo>
                <a:cubicBezTo>
                  <a:pt x="80413" y="102853"/>
                  <a:pt x="91097" y="102853"/>
                  <a:pt x="100374" y="98566"/>
                </a:cubicBezTo>
                <a:lnTo>
                  <a:pt x="155401" y="73146"/>
                </a:lnTo>
                <a:lnTo>
                  <a:pt x="166821" y="78437"/>
                </a:lnTo>
                <a:cubicBezTo>
                  <a:pt x="169668" y="79743"/>
                  <a:pt x="171477" y="82590"/>
                  <a:pt x="171477" y="85738"/>
                </a:cubicBezTo>
                <a:cubicBezTo>
                  <a:pt x="171477" y="88887"/>
                  <a:pt x="169668" y="91733"/>
                  <a:pt x="166821" y="93040"/>
                </a:cubicBezTo>
                <a:lnTo>
                  <a:pt x="93609" y="126866"/>
                </a:lnTo>
                <a:cubicBezTo>
                  <a:pt x="88619" y="129177"/>
                  <a:pt x="82858" y="129177"/>
                  <a:pt x="77868" y="126866"/>
                </a:cubicBezTo>
                <a:lnTo>
                  <a:pt x="4655" y="93040"/>
                </a:lnTo>
                <a:cubicBezTo>
                  <a:pt x="1809" y="91700"/>
                  <a:pt x="0" y="88853"/>
                  <a:pt x="0" y="85738"/>
                </a:cubicBezTo>
                <a:cubicBezTo>
                  <a:pt x="0" y="82624"/>
                  <a:pt x="1809" y="79743"/>
                  <a:pt x="4655" y="78437"/>
                </a:cubicBezTo>
                <a:lnTo>
                  <a:pt x="16076" y="73146"/>
                </a:lnTo>
                <a:close/>
                <a:moveTo>
                  <a:pt x="4655" y="121306"/>
                </a:moveTo>
                <a:lnTo>
                  <a:pt x="16076" y="116015"/>
                </a:lnTo>
                <a:lnTo>
                  <a:pt x="71103" y="141435"/>
                </a:lnTo>
                <a:cubicBezTo>
                  <a:pt x="80380" y="145722"/>
                  <a:pt x="91064" y="145722"/>
                  <a:pt x="100341" y="141435"/>
                </a:cubicBezTo>
                <a:lnTo>
                  <a:pt x="155367" y="116015"/>
                </a:lnTo>
                <a:lnTo>
                  <a:pt x="166788" y="121306"/>
                </a:lnTo>
                <a:cubicBezTo>
                  <a:pt x="169635" y="122613"/>
                  <a:pt x="171443" y="125459"/>
                  <a:pt x="171443" y="128608"/>
                </a:cubicBezTo>
                <a:cubicBezTo>
                  <a:pt x="171443" y="131756"/>
                  <a:pt x="169635" y="134603"/>
                  <a:pt x="166788" y="135909"/>
                </a:cubicBezTo>
                <a:lnTo>
                  <a:pt x="93575" y="169735"/>
                </a:lnTo>
                <a:cubicBezTo>
                  <a:pt x="88585" y="172046"/>
                  <a:pt x="82825" y="172046"/>
                  <a:pt x="77834" y="169735"/>
                </a:cubicBezTo>
                <a:lnTo>
                  <a:pt x="4655" y="135909"/>
                </a:lnTo>
                <a:cubicBezTo>
                  <a:pt x="1809" y="134569"/>
                  <a:pt x="0" y="131722"/>
                  <a:pt x="0" y="128608"/>
                </a:cubicBezTo>
                <a:cubicBezTo>
                  <a:pt x="0" y="125493"/>
                  <a:pt x="1809" y="122613"/>
                  <a:pt x="4655" y="121306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55" name="Text 53"/>
          <p:cNvSpPr/>
          <p:nvPr/>
        </p:nvSpPr>
        <p:spPr>
          <a:xfrm>
            <a:off x="527291" y="4809924"/>
            <a:ext cx="1671899" cy="171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批量分析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531578" y="4981401"/>
            <a:ext cx="1663325" cy="1371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多股票并发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2309511" y="4531274"/>
            <a:ext cx="1749063" cy="960270"/>
          </a:xfrm>
          <a:custGeom>
            <a:avLst/>
            <a:gdLst/>
            <a:ahLst/>
            <a:cxnLst/>
            <a:rect l="l" t="t" r="r" b="b"/>
            <a:pathLst>
              <a:path w="1749063" h="960270">
                <a:moveTo>
                  <a:pt x="68592" y="0"/>
                </a:moveTo>
                <a:lnTo>
                  <a:pt x="1680471" y="0"/>
                </a:lnTo>
                <a:cubicBezTo>
                  <a:pt x="1718354" y="0"/>
                  <a:pt x="1749063" y="30710"/>
                  <a:pt x="1749063" y="68592"/>
                </a:cubicBezTo>
                <a:lnTo>
                  <a:pt x="1749063" y="891678"/>
                </a:lnTo>
                <a:cubicBezTo>
                  <a:pt x="1749063" y="929560"/>
                  <a:pt x="1718354" y="960270"/>
                  <a:pt x="1680471" y="960270"/>
                </a:cubicBezTo>
                <a:lnTo>
                  <a:pt x="68592" y="960270"/>
                </a:lnTo>
                <a:cubicBezTo>
                  <a:pt x="30710" y="960270"/>
                  <a:pt x="0" y="929560"/>
                  <a:pt x="0" y="891678"/>
                </a:cubicBezTo>
                <a:lnTo>
                  <a:pt x="0" y="68592"/>
                </a:lnTo>
                <a:cubicBezTo>
                  <a:pt x="0" y="30735"/>
                  <a:pt x="30735" y="0"/>
                  <a:pt x="6859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58" name="Shape 56"/>
          <p:cNvSpPr/>
          <p:nvPr/>
        </p:nvSpPr>
        <p:spPr>
          <a:xfrm>
            <a:off x="3099845" y="4599865"/>
            <a:ext cx="171477" cy="171477"/>
          </a:xfrm>
          <a:custGeom>
            <a:avLst/>
            <a:gdLst/>
            <a:ahLst/>
            <a:cxnLst/>
            <a:rect l="l" t="t" r="r" b="b"/>
            <a:pathLst>
              <a:path w="171477" h="171477">
                <a:moveTo>
                  <a:pt x="10717" y="21435"/>
                </a:moveTo>
                <a:cubicBezTo>
                  <a:pt x="6397" y="21435"/>
                  <a:pt x="2478" y="24047"/>
                  <a:pt x="804" y="28066"/>
                </a:cubicBezTo>
                <a:cubicBezTo>
                  <a:pt x="-871" y="32085"/>
                  <a:pt x="67" y="36673"/>
                  <a:pt x="3148" y="39721"/>
                </a:cubicBezTo>
                <a:lnTo>
                  <a:pt x="64304" y="100910"/>
                </a:lnTo>
                <a:lnTo>
                  <a:pt x="64304" y="139325"/>
                </a:lnTo>
                <a:cubicBezTo>
                  <a:pt x="64304" y="142172"/>
                  <a:pt x="65443" y="144884"/>
                  <a:pt x="67452" y="146894"/>
                </a:cubicBezTo>
                <a:lnTo>
                  <a:pt x="88887" y="168329"/>
                </a:lnTo>
                <a:cubicBezTo>
                  <a:pt x="91968" y="171410"/>
                  <a:pt x="96556" y="172314"/>
                  <a:pt x="100575" y="170640"/>
                </a:cubicBezTo>
                <a:cubicBezTo>
                  <a:pt x="104594" y="168965"/>
                  <a:pt x="107173" y="165080"/>
                  <a:pt x="107173" y="160759"/>
                </a:cubicBezTo>
                <a:lnTo>
                  <a:pt x="107173" y="100910"/>
                </a:lnTo>
                <a:lnTo>
                  <a:pt x="168329" y="39754"/>
                </a:lnTo>
                <a:cubicBezTo>
                  <a:pt x="171410" y="36673"/>
                  <a:pt x="172314" y="32085"/>
                  <a:pt x="170640" y="28066"/>
                </a:cubicBezTo>
                <a:cubicBezTo>
                  <a:pt x="168965" y="24047"/>
                  <a:pt x="165080" y="21435"/>
                  <a:pt x="160759" y="21435"/>
                </a:cubicBezTo>
                <a:lnTo>
                  <a:pt x="10717" y="21435"/>
                </a:lnTo>
                <a:close/>
              </a:path>
            </a:pathLst>
          </a:custGeom>
          <a:solidFill>
            <a:srgbClr val="4A6C8C"/>
          </a:solidFill>
        </p:spPr>
      </p:sp>
      <p:sp>
        <p:nvSpPr>
          <p:cNvPr id="59" name="Text 57"/>
          <p:cNvSpPr/>
          <p:nvPr/>
        </p:nvSpPr>
        <p:spPr>
          <a:xfrm>
            <a:off x="2348093" y="4809924"/>
            <a:ext cx="1671899" cy="171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股票筛选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2352380" y="4981401"/>
            <a:ext cx="1663325" cy="1371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多维度指标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4130313" y="4531274"/>
            <a:ext cx="1749063" cy="960270"/>
          </a:xfrm>
          <a:custGeom>
            <a:avLst/>
            <a:gdLst/>
            <a:ahLst/>
            <a:cxnLst/>
            <a:rect l="l" t="t" r="r" b="b"/>
            <a:pathLst>
              <a:path w="1749063" h="960270">
                <a:moveTo>
                  <a:pt x="68592" y="0"/>
                </a:moveTo>
                <a:lnTo>
                  <a:pt x="1680471" y="0"/>
                </a:lnTo>
                <a:cubicBezTo>
                  <a:pt x="1718354" y="0"/>
                  <a:pt x="1749063" y="30710"/>
                  <a:pt x="1749063" y="68592"/>
                </a:cubicBezTo>
                <a:lnTo>
                  <a:pt x="1749063" y="891678"/>
                </a:lnTo>
                <a:cubicBezTo>
                  <a:pt x="1749063" y="929560"/>
                  <a:pt x="1718354" y="960270"/>
                  <a:pt x="1680471" y="960270"/>
                </a:cubicBezTo>
                <a:lnTo>
                  <a:pt x="68592" y="960270"/>
                </a:lnTo>
                <a:cubicBezTo>
                  <a:pt x="30710" y="960270"/>
                  <a:pt x="0" y="929560"/>
                  <a:pt x="0" y="891678"/>
                </a:cubicBezTo>
                <a:lnTo>
                  <a:pt x="0" y="68592"/>
                </a:lnTo>
                <a:cubicBezTo>
                  <a:pt x="0" y="30735"/>
                  <a:pt x="30735" y="0"/>
                  <a:pt x="6859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62" name="Shape 60"/>
          <p:cNvSpPr/>
          <p:nvPr/>
        </p:nvSpPr>
        <p:spPr>
          <a:xfrm>
            <a:off x="4920714" y="4599865"/>
            <a:ext cx="171477" cy="171477"/>
          </a:xfrm>
          <a:custGeom>
            <a:avLst/>
            <a:gdLst/>
            <a:ahLst/>
            <a:cxnLst/>
            <a:rect l="l" t="t" r="r" b="b"/>
            <a:pathLst>
              <a:path w="171477" h="171477">
                <a:moveTo>
                  <a:pt x="80715" y="29171"/>
                </a:moveTo>
                <a:lnTo>
                  <a:pt x="85738" y="36104"/>
                </a:lnTo>
                <a:lnTo>
                  <a:pt x="90762" y="29171"/>
                </a:lnTo>
                <a:cubicBezTo>
                  <a:pt x="99135" y="17583"/>
                  <a:pt x="112599" y="10717"/>
                  <a:pt x="126900" y="10717"/>
                </a:cubicBezTo>
                <a:cubicBezTo>
                  <a:pt x="151516" y="10717"/>
                  <a:pt x="171477" y="30678"/>
                  <a:pt x="171477" y="55295"/>
                </a:cubicBezTo>
                <a:lnTo>
                  <a:pt x="171477" y="56165"/>
                </a:lnTo>
                <a:cubicBezTo>
                  <a:pt x="171477" y="93743"/>
                  <a:pt x="124622" y="137382"/>
                  <a:pt x="100173" y="156037"/>
                </a:cubicBezTo>
                <a:cubicBezTo>
                  <a:pt x="96020" y="159185"/>
                  <a:pt x="90930" y="160759"/>
                  <a:pt x="85738" y="160759"/>
                </a:cubicBezTo>
                <a:cubicBezTo>
                  <a:pt x="80547" y="160759"/>
                  <a:pt x="75423" y="159219"/>
                  <a:pt x="71304" y="156037"/>
                </a:cubicBezTo>
                <a:cubicBezTo>
                  <a:pt x="46855" y="137382"/>
                  <a:pt x="0" y="93743"/>
                  <a:pt x="0" y="56165"/>
                </a:cubicBezTo>
                <a:lnTo>
                  <a:pt x="0" y="55295"/>
                </a:lnTo>
                <a:cubicBezTo>
                  <a:pt x="0" y="30678"/>
                  <a:pt x="19961" y="10717"/>
                  <a:pt x="44577" y="10717"/>
                </a:cubicBezTo>
                <a:cubicBezTo>
                  <a:pt x="58878" y="10717"/>
                  <a:pt x="72342" y="17583"/>
                  <a:pt x="80715" y="29171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63" name="Text 61"/>
          <p:cNvSpPr/>
          <p:nvPr/>
        </p:nvSpPr>
        <p:spPr>
          <a:xfrm>
            <a:off x="4168896" y="4809924"/>
            <a:ext cx="1671899" cy="171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自选股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4173182" y="4981401"/>
            <a:ext cx="1663325" cy="1371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分组管理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488709" y="5560135"/>
            <a:ext cx="1749063" cy="960270"/>
          </a:xfrm>
          <a:custGeom>
            <a:avLst/>
            <a:gdLst/>
            <a:ahLst/>
            <a:cxnLst/>
            <a:rect l="l" t="t" r="r" b="b"/>
            <a:pathLst>
              <a:path w="1749063" h="960270">
                <a:moveTo>
                  <a:pt x="68592" y="0"/>
                </a:moveTo>
                <a:lnTo>
                  <a:pt x="1680471" y="0"/>
                </a:lnTo>
                <a:cubicBezTo>
                  <a:pt x="1718354" y="0"/>
                  <a:pt x="1749063" y="30710"/>
                  <a:pt x="1749063" y="68592"/>
                </a:cubicBezTo>
                <a:lnTo>
                  <a:pt x="1749063" y="891678"/>
                </a:lnTo>
                <a:cubicBezTo>
                  <a:pt x="1749063" y="929560"/>
                  <a:pt x="1718354" y="960270"/>
                  <a:pt x="1680471" y="960270"/>
                </a:cubicBezTo>
                <a:lnTo>
                  <a:pt x="68592" y="960270"/>
                </a:lnTo>
                <a:cubicBezTo>
                  <a:pt x="30710" y="960270"/>
                  <a:pt x="0" y="929560"/>
                  <a:pt x="0" y="891678"/>
                </a:cubicBezTo>
                <a:lnTo>
                  <a:pt x="0" y="68592"/>
                </a:lnTo>
                <a:cubicBezTo>
                  <a:pt x="0" y="30735"/>
                  <a:pt x="30735" y="0"/>
                  <a:pt x="6859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66" name="Shape 64"/>
          <p:cNvSpPr/>
          <p:nvPr/>
        </p:nvSpPr>
        <p:spPr>
          <a:xfrm>
            <a:off x="1257608" y="5628726"/>
            <a:ext cx="214346" cy="171477"/>
          </a:xfrm>
          <a:custGeom>
            <a:avLst/>
            <a:gdLst/>
            <a:ahLst/>
            <a:cxnLst/>
            <a:rect l="l" t="t" r="r" b="b"/>
            <a:pathLst>
              <a:path w="214346" h="171477">
                <a:moveTo>
                  <a:pt x="150042" y="21435"/>
                </a:moveTo>
                <a:cubicBezTo>
                  <a:pt x="185543" y="21435"/>
                  <a:pt x="214346" y="50237"/>
                  <a:pt x="214346" y="85738"/>
                </a:cubicBezTo>
                <a:cubicBezTo>
                  <a:pt x="214346" y="121239"/>
                  <a:pt x="185543" y="150042"/>
                  <a:pt x="150042" y="150042"/>
                </a:cubicBezTo>
                <a:lnTo>
                  <a:pt x="64304" y="150042"/>
                </a:lnTo>
                <a:cubicBezTo>
                  <a:pt x="28803" y="150042"/>
                  <a:pt x="0" y="121239"/>
                  <a:pt x="0" y="85738"/>
                </a:cubicBezTo>
                <a:cubicBezTo>
                  <a:pt x="0" y="50237"/>
                  <a:pt x="28803" y="21435"/>
                  <a:pt x="64304" y="21435"/>
                </a:cubicBezTo>
                <a:lnTo>
                  <a:pt x="150042" y="21435"/>
                </a:lnTo>
                <a:close/>
                <a:moveTo>
                  <a:pt x="64304" y="58945"/>
                </a:moveTo>
                <a:cubicBezTo>
                  <a:pt x="59849" y="58945"/>
                  <a:pt x="56266" y="62529"/>
                  <a:pt x="56266" y="66983"/>
                </a:cubicBezTo>
                <a:lnTo>
                  <a:pt x="56266" y="77700"/>
                </a:lnTo>
                <a:lnTo>
                  <a:pt x="45549" y="77700"/>
                </a:lnTo>
                <a:cubicBezTo>
                  <a:pt x="41094" y="77700"/>
                  <a:pt x="37511" y="81284"/>
                  <a:pt x="37511" y="85738"/>
                </a:cubicBezTo>
                <a:cubicBezTo>
                  <a:pt x="37511" y="90193"/>
                  <a:pt x="41094" y="93776"/>
                  <a:pt x="45549" y="93776"/>
                </a:cubicBezTo>
                <a:lnTo>
                  <a:pt x="56266" y="93776"/>
                </a:lnTo>
                <a:lnTo>
                  <a:pt x="56266" y="104494"/>
                </a:lnTo>
                <a:cubicBezTo>
                  <a:pt x="56266" y="108948"/>
                  <a:pt x="59849" y="112532"/>
                  <a:pt x="64304" y="112532"/>
                </a:cubicBezTo>
                <a:cubicBezTo>
                  <a:pt x="68758" y="112532"/>
                  <a:pt x="72342" y="108948"/>
                  <a:pt x="72342" y="104494"/>
                </a:cubicBezTo>
                <a:lnTo>
                  <a:pt x="72342" y="93776"/>
                </a:lnTo>
                <a:lnTo>
                  <a:pt x="83059" y="93776"/>
                </a:lnTo>
                <a:cubicBezTo>
                  <a:pt x="87513" y="93776"/>
                  <a:pt x="91097" y="90193"/>
                  <a:pt x="91097" y="85738"/>
                </a:cubicBezTo>
                <a:cubicBezTo>
                  <a:pt x="91097" y="81284"/>
                  <a:pt x="87513" y="77700"/>
                  <a:pt x="83059" y="77700"/>
                </a:cubicBezTo>
                <a:lnTo>
                  <a:pt x="72342" y="77700"/>
                </a:lnTo>
                <a:lnTo>
                  <a:pt x="72342" y="66983"/>
                </a:lnTo>
                <a:cubicBezTo>
                  <a:pt x="72342" y="62529"/>
                  <a:pt x="68758" y="58945"/>
                  <a:pt x="64304" y="58945"/>
                </a:cubicBezTo>
                <a:close/>
                <a:moveTo>
                  <a:pt x="144684" y="91097"/>
                </a:moveTo>
                <a:cubicBezTo>
                  <a:pt x="138769" y="91097"/>
                  <a:pt x="133966" y="95899"/>
                  <a:pt x="133966" y="101814"/>
                </a:cubicBezTo>
                <a:cubicBezTo>
                  <a:pt x="133966" y="107729"/>
                  <a:pt x="138769" y="112532"/>
                  <a:pt x="144684" y="112532"/>
                </a:cubicBezTo>
                <a:cubicBezTo>
                  <a:pt x="150599" y="112532"/>
                  <a:pt x="155401" y="107729"/>
                  <a:pt x="155401" y="101814"/>
                </a:cubicBezTo>
                <a:cubicBezTo>
                  <a:pt x="155401" y="95899"/>
                  <a:pt x="150599" y="91097"/>
                  <a:pt x="144684" y="91097"/>
                </a:cubicBezTo>
                <a:close/>
                <a:moveTo>
                  <a:pt x="166118" y="58945"/>
                </a:moveTo>
                <a:cubicBezTo>
                  <a:pt x="160203" y="58945"/>
                  <a:pt x="155401" y="63747"/>
                  <a:pt x="155401" y="69662"/>
                </a:cubicBezTo>
                <a:cubicBezTo>
                  <a:pt x="155401" y="75577"/>
                  <a:pt x="160203" y="80380"/>
                  <a:pt x="166118" y="80380"/>
                </a:cubicBezTo>
                <a:cubicBezTo>
                  <a:pt x="172033" y="80380"/>
                  <a:pt x="176835" y="75577"/>
                  <a:pt x="176835" y="69662"/>
                </a:cubicBezTo>
                <a:cubicBezTo>
                  <a:pt x="176835" y="63747"/>
                  <a:pt x="172033" y="58945"/>
                  <a:pt x="166118" y="58945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67" name="Text 65"/>
          <p:cNvSpPr/>
          <p:nvPr/>
        </p:nvSpPr>
        <p:spPr>
          <a:xfrm>
            <a:off x="527291" y="5838785"/>
            <a:ext cx="1671899" cy="171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模拟交易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531578" y="6010262"/>
            <a:ext cx="1663325" cy="1371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虚拟环境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2309511" y="5560135"/>
            <a:ext cx="1749063" cy="960270"/>
          </a:xfrm>
          <a:custGeom>
            <a:avLst/>
            <a:gdLst/>
            <a:ahLst/>
            <a:cxnLst/>
            <a:rect l="l" t="t" r="r" b="b"/>
            <a:pathLst>
              <a:path w="1749063" h="960270">
                <a:moveTo>
                  <a:pt x="68592" y="0"/>
                </a:moveTo>
                <a:lnTo>
                  <a:pt x="1680471" y="0"/>
                </a:lnTo>
                <a:cubicBezTo>
                  <a:pt x="1718354" y="0"/>
                  <a:pt x="1749063" y="30710"/>
                  <a:pt x="1749063" y="68592"/>
                </a:cubicBezTo>
                <a:lnTo>
                  <a:pt x="1749063" y="891678"/>
                </a:lnTo>
                <a:cubicBezTo>
                  <a:pt x="1749063" y="929560"/>
                  <a:pt x="1718354" y="960270"/>
                  <a:pt x="1680471" y="960270"/>
                </a:cubicBezTo>
                <a:lnTo>
                  <a:pt x="68592" y="960270"/>
                </a:lnTo>
                <a:cubicBezTo>
                  <a:pt x="30710" y="960270"/>
                  <a:pt x="0" y="929560"/>
                  <a:pt x="0" y="891678"/>
                </a:cubicBezTo>
                <a:lnTo>
                  <a:pt x="0" y="68592"/>
                </a:lnTo>
                <a:cubicBezTo>
                  <a:pt x="0" y="30735"/>
                  <a:pt x="30735" y="0"/>
                  <a:pt x="6859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70" name="Shape 68"/>
          <p:cNvSpPr/>
          <p:nvPr/>
        </p:nvSpPr>
        <p:spPr>
          <a:xfrm>
            <a:off x="3089128" y="5628726"/>
            <a:ext cx="192911" cy="171477"/>
          </a:xfrm>
          <a:custGeom>
            <a:avLst/>
            <a:gdLst/>
            <a:ahLst/>
            <a:cxnLst/>
            <a:rect l="l" t="t" r="r" b="b"/>
            <a:pathLst>
              <a:path w="192911" h="171477">
                <a:moveTo>
                  <a:pt x="32319" y="0"/>
                </a:moveTo>
                <a:cubicBezTo>
                  <a:pt x="20497" y="0"/>
                  <a:pt x="10885" y="9612"/>
                  <a:pt x="10885" y="21435"/>
                </a:cubicBezTo>
                <a:lnTo>
                  <a:pt x="10885" y="150042"/>
                </a:lnTo>
                <a:cubicBezTo>
                  <a:pt x="10885" y="161865"/>
                  <a:pt x="20497" y="171477"/>
                  <a:pt x="32319" y="171477"/>
                </a:cubicBezTo>
                <a:lnTo>
                  <a:pt x="118058" y="171477"/>
                </a:lnTo>
                <a:cubicBezTo>
                  <a:pt x="129880" y="171477"/>
                  <a:pt x="139492" y="161865"/>
                  <a:pt x="139492" y="150042"/>
                </a:cubicBezTo>
                <a:lnTo>
                  <a:pt x="139492" y="117890"/>
                </a:lnTo>
                <a:lnTo>
                  <a:pt x="165649" y="117890"/>
                </a:lnTo>
                <a:lnTo>
                  <a:pt x="155267" y="128273"/>
                </a:lnTo>
                <a:cubicBezTo>
                  <a:pt x="152119" y="131421"/>
                  <a:pt x="152119" y="136512"/>
                  <a:pt x="155267" y="139626"/>
                </a:cubicBezTo>
                <a:cubicBezTo>
                  <a:pt x="158415" y="142741"/>
                  <a:pt x="163506" y="142775"/>
                  <a:pt x="166621" y="139626"/>
                </a:cubicBezTo>
                <a:lnTo>
                  <a:pt x="190734" y="115512"/>
                </a:lnTo>
                <a:cubicBezTo>
                  <a:pt x="193883" y="112364"/>
                  <a:pt x="193883" y="107273"/>
                  <a:pt x="190734" y="104159"/>
                </a:cubicBezTo>
                <a:lnTo>
                  <a:pt x="166621" y="80045"/>
                </a:lnTo>
                <a:cubicBezTo>
                  <a:pt x="163472" y="76897"/>
                  <a:pt x="158382" y="76897"/>
                  <a:pt x="155267" y="80045"/>
                </a:cubicBezTo>
                <a:cubicBezTo>
                  <a:pt x="152152" y="83193"/>
                  <a:pt x="152119" y="88284"/>
                  <a:pt x="155267" y="91398"/>
                </a:cubicBezTo>
                <a:lnTo>
                  <a:pt x="165649" y="101781"/>
                </a:lnTo>
                <a:lnTo>
                  <a:pt x="139492" y="101781"/>
                </a:lnTo>
                <a:lnTo>
                  <a:pt x="139492" y="57070"/>
                </a:lnTo>
                <a:cubicBezTo>
                  <a:pt x="139492" y="51376"/>
                  <a:pt x="137248" y="45917"/>
                  <a:pt x="133229" y="41898"/>
                </a:cubicBezTo>
                <a:lnTo>
                  <a:pt x="97527" y="6263"/>
                </a:lnTo>
                <a:cubicBezTo>
                  <a:pt x="93508" y="2244"/>
                  <a:pt x="88083" y="0"/>
                  <a:pt x="82389" y="0"/>
                </a:cubicBezTo>
                <a:lnTo>
                  <a:pt x="32319" y="0"/>
                </a:lnTo>
                <a:close/>
                <a:moveTo>
                  <a:pt x="119900" y="58945"/>
                </a:moveTo>
                <a:lnTo>
                  <a:pt x="88585" y="58945"/>
                </a:lnTo>
                <a:cubicBezTo>
                  <a:pt x="84131" y="58945"/>
                  <a:pt x="80547" y="55362"/>
                  <a:pt x="80547" y="50907"/>
                </a:cubicBezTo>
                <a:lnTo>
                  <a:pt x="80547" y="19593"/>
                </a:lnTo>
                <a:lnTo>
                  <a:pt x="119900" y="58945"/>
                </a:lnTo>
                <a:close/>
                <a:moveTo>
                  <a:pt x="75189" y="109852"/>
                </a:moveTo>
                <a:cubicBezTo>
                  <a:pt x="75189" y="105398"/>
                  <a:pt x="78772" y="101814"/>
                  <a:pt x="83227" y="101814"/>
                </a:cubicBezTo>
                <a:lnTo>
                  <a:pt x="118058" y="101814"/>
                </a:lnTo>
                <a:lnTo>
                  <a:pt x="118058" y="117890"/>
                </a:lnTo>
                <a:lnTo>
                  <a:pt x="83227" y="117890"/>
                </a:lnTo>
                <a:cubicBezTo>
                  <a:pt x="78772" y="117890"/>
                  <a:pt x="75189" y="114307"/>
                  <a:pt x="75189" y="109852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71" name="Text 69"/>
          <p:cNvSpPr/>
          <p:nvPr/>
        </p:nvSpPr>
        <p:spPr>
          <a:xfrm>
            <a:off x="2348093" y="5838785"/>
            <a:ext cx="1671899" cy="171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报告导出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2352380" y="6010262"/>
            <a:ext cx="1663325" cy="1371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多格式支持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4130313" y="5560135"/>
            <a:ext cx="1749063" cy="960270"/>
          </a:xfrm>
          <a:custGeom>
            <a:avLst/>
            <a:gdLst/>
            <a:ahLst/>
            <a:cxnLst/>
            <a:rect l="l" t="t" r="r" b="b"/>
            <a:pathLst>
              <a:path w="1749063" h="960270">
                <a:moveTo>
                  <a:pt x="68592" y="0"/>
                </a:moveTo>
                <a:lnTo>
                  <a:pt x="1680471" y="0"/>
                </a:lnTo>
                <a:cubicBezTo>
                  <a:pt x="1718354" y="0"/>
                  <a:pt x="1749063" y="30710"/>
                  <a:pt x="1749063" y="68592"/>
                </a:cubicBezTo>
                <a:lnTo>
                  <a:pt x="1749063" y="891678"/>
                </a:lnTo>
                <a:cubicBezTo>
                  <a:pt x="1749063" y="929560"/>
                  <a:pt x="1718354" y="960270"/>
                  <a:pt x="1680471" y="960270"/>
                </a:cubicBezTo>
                <a:lnTo>
                  <a:pt x="68592" y="960270"/>
                </a:lnTo>
                <a:cubicBezTo>
                  <a:pt x="30710" y="960270"/>
                  <a:pt x="0" y="929560"/>
                  <a:pt x="0" y="891678"/>
                </a:cubicBezTo>
                <a:lnTo>
                  <a:pt x="0" y="68592"/>
                </a:lnTo>
                <a:cubicBezTo>
                  <a:pt x="0" y="30735"/>
                  <a:pt x="30735" y="0"/>
                  <a:pt x="6859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74" name="Shape 72"/>
          <p:cNvSpPr/>
          <p:nvPr/>
        </p:nvSpPr>
        <p:spPr>
          <a:xfrm>
            <a:off x="4931431" y="5628726"/>
            <a:ext cx="150042" cy="171477"/>
          </a:xfrm>
          <a:custGeom>
            <a:avLst/>
            <a:gdLst/>
            <a:ahLst/>
            <a:cxnLst/>
            <a:rect l="l" t="t" r="r" b="b"/>
            <a:pathLst>
              <a:path w="150042" h="171477">
                <a:moveTo>
                  <a:pt x="75021" y="0"/>
                </a:moveTo>
                <a:cubicBezTo>
                  <a:pt x="69093" y="0"/>
                  <a:pt x="64304" y="4789"/>
                  <a:pt x="64304" y="10717"/>
                </a:cubicBezTo>
                <a:lnTo>
                  <a:pt x="64304" y="11789"/>
                </a:lnTo>
                <a:cubicBezTo>
                  <a:pt x="39855" y="16746"/>
                  <a:pt x="21435" y="38381"/>
                  <a:pt x="21435" y="64304"/>
                </a:cubicBezTo>
                <a:lnTo>
                  <a:pt x="21435" y="71571"/>
                </a:lnTo>
                <a:cubicBezTo>
                  <a:pt x="21435" y="87681"/>
                  <a:pt x="15942" y="103321"/>
                  <a:pt x="5895" y="115914"/>
                </a:cubicBezTo>
                <a:lnTo>
                  <a:pt x="2612" y="120000"/>
                </a:lnTo>
                <a:cubicBezTo>
                  <a:pt x="904" y="122110"/>
                  <a:pt x="0" y="124723"/>
                  <a:pt x="0" y="127435"/>
                </a:cubicBezTo>
                <a:cubicBezTo>
                  <a:pt x="0" y="134000"/>
                  <a:pt x="5325" y="139325"/>
                  <a:pt x="11890" y="139325"/>
                </a:cubicBezTo>
                <a:lnTo>
                  <a:pt x="138119" y="139325"/>
                </a:lnTo>
                <a:cubicBezTo>
                  <a:pt x="144684" y="139325"/>
                  <a:pt x="150009" y="134000"/>
                  <a:pt x="150009" y="127435"/>
                </a:cubicBezTo>
                <a:cubicBezTo>
                  <a:pt x="150009" y="124723"/>
                  <a:pt x="149104" y="122110"/>
                  <a:pt x="147396" y="120000"/>
                </a:cubicBezTo>
                <a:lnTo>
                  <a:pt x="144114" y="115914"/>
                </a:lnTo>
                <a:cubicBezTo>
                  <a:pt x="134100" y="103321"/>
                  <a:pt x="128608" y="87681"/>
                  <a:pt x="128608" y="71571"/>
                </a:cubicBezTo>
                <a:lnTo>
                  <a:pt x="128608" y="64304"/>
                </a:lnTo>
                <a:cubicBezTo>
                  <a:pt x="128608" y="38381"/>
                  <a:pt x="110187" y="16746"/>
                  <a:pt x="85738" y="11789"/>
                </a:cubicBezTo>
                <a:lnTo>
                  <a:pt x="85738" y="10717"/>
                </a:lnTo>
                <a:cubicBezTo>
                  <a:pt x="85738" y="4789"/>
                  <a:pt x="80949" y="0"/>
                  <a:pt x="75021" y="0"/>
                </a:cubicBezTo>
                <a:close/>
                <a:moveTo>
                  <a:pt x="54256" y="155401"/>
                </a:moveTo>
                <a:cubicBezTo>
                  <a:pt x="56634" y="164645"/>
                  <a:pt x="65041" y="171477"/>
                  <a:pt x="75021" y="171477"/>
                </a:cubicBezTo>
                <a:cubicBezTo>
                  <a:pt x="85002" y="171477"/>
                  <a:pt x="93408" y="164645"/>
                  <a:pt x="95786" y="155401"/>
                </a:cubicBezTo>
                <a:lnTo>
                  <a:pt x="54256" y="155401"/>
                </a:lnTo>
                <a:close/>
              </a:path>
            </a:pathLst>
          </a:custGeom>
          <a:solidFill>
            <a:srgbClr val="4A6C8C"/>
          </a:solidFill>
        </p:spPr>
      </p:sp>
      <p:sp>
        <p:nvSpPr>
          <p:cNvPr id="75" name="Text 73"/>
          <p:cNvSpPr/>
          <p:nvPr/>
        </p:nvSpPr>
        <p:spPr>
          <a:xfrm>
            <a:off x="4168896" y="5838785"/>
            <a:ext cx="1671899" cy="171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实时监控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4173182" y="6010262"/>
            <a:ext cx="1663325" cy="1371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推送通知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6169815" y="3875376"/>
            <a:ext cx="5675882" cy="2786498"/>
          </a:xfrm>
          <a:custGeom>
            <a:avLst/>
            <a:gdLst/>
            <a:ahLst/>
            <a:cxnLst/>
            <a:rect l="l" t="t" r="r" b="b"/>
            <a:pathLst>
              <a:path w="5675882" h="2786498">
                <a:moveTo>
                  <a:pt x="102878" y="0"/>
                </a:moveTo>
                <a:lnTo>
                  <a:pt x="5573004" y="0"/>
                </a:lnTo>
                <a:cubicBezTo>
                  <a:pt x="5629822" y="0"/>
                  <a:pt x="5675882" y="46060"/>
                  <a:pt x="5675882" y="102878"/>
                </a:cubicBezTo>
                <a:lnTo>
                  <a:pt x="5675882" y="2683620"/>
                </a:lnTo>
                <a:cubicBezTo>
                  <a:pt x="5675882" y="2740438"/>
                  <a:pt x="5629822" y="2786498"/>
                  <a:pt x="5573004" y="2786498"/>
                </a:cubicBezTo>
                <a:lnTo>
                  <a:pt x="102878" y="2786498"/>
                </a:lnTo>
                <a:cubicBezTo>
                  <a:pt x="46060" y="2786498"/>
                  <a:pt x="0" y="2740438"/>
                  <a:pt x="0" y="2683620"/>
                </a:cubicBezTo>
                <a:lnTo>
                  <a:pt x="0" y="102878"/>
                </a:lnTo>
                <a:cubicBezTo>
                  <a:pt x="0" y="46098"/>
                  <a:pt x="46098" y="0"/>
                  <a:pt x="102878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311284" y="4016844"/>
            <a:ext cx="411544" cy="411544"/>
          </a:xfrm>
          <a:custGeom>
            <a:avLst/>
            <a:gdLst/>
            <a:ahLst/>
            <a:cxnLst/>
            <a:rect l="l" t="t" r="r" b="b"/>
            <a:pathLst>
              <a:path w="411544" h="411544">
                <a:moveTo>
                  <a:pt x="102886" y="0"/>
                </a:moveTo>
                <a:lnTo>
                  <a:pt x="308658" y="0"/>
                </a:lnTo>
                <a:cubicBezTo>
                  <a:pt x="365443" y="0"/>
                  <a:pt x="411544" y="46102"/>
                  <a:pt x="411544" y="102886"/>
                </a:cubicBezTo>
                <a:lnTo>
                  <a:pt x="411544" y="308658"/>
                </a:lnTo>
                <a:cubicBezTo>
                  <a:pt x="411544" y="365443"/>
                  <a:pt x="365443" y="411544"/>
                  <a:pt x="308658" y="411544"/>
                </a:cubicBezTo>
                <a:lnTo>
                  <a:pt x="102886" y="411544"/>
                </a:lnTo>
                <a:cubicBezTo>
                  <a:pt x="46102" y="411544"/>
                  <a:pt x="0" y="365443"/>
                  <a:pt x="0" y="308658"/>
                </a:cubicBezTo>
                <a:lnTo>
                  <a:pt x="0" y="102886"/>
                </a:lnTo>
                <a:cubicBezTo>
                  <a:pt x="0" y="46102"/>
                  <a:pt x="46102" y="0"/>
                  <a:pt x="102886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</p:spPr>
      </p:sp>
      <p:sp>
        <p:nvSpPr>
          <p:cNvPr id="79" name="Shape 77"/>
          <p:cNvSpPr/>
          <p:nvPr/>
        </p:nvSpPr>
        <p:spPr>
          <a:xfrm>
            <a:off x="6427031" y="4119730"/>
            <a:ext cx="180051" cy="205772"/>
          </a:xfrm>
          <a:custGeom>
            <a:avLst/>
            <a:gdLst/>
            <a:ahLst/>
            <a:cxnLst/>
            <a:rect l="l" t="t" r="r" b="b"/>
            <a:pathLst>
              <a:path w="180051" h="205772">
                <a:moveTo>
                  <a:pt x="51443" y="-12861"/>
                </a:moveTo>
                <a:cubicBezTo>
                  <a:pt x="58557" y="-12861"/>
                  <a:pt x="64304" y="-7114"/>
                  <a:pt x="64304" y="0"/>
                </a:cubicBezTo>
                <a:lnTo>
                  <a:pt x="64304" y="38582"/>
                </a:lnTo>
                <a:lnTo>
                  <a:pt x="115747" y="38582"/>
                </a:lnTo>
                <a:lnTo>
                  <a:pt x="115747" y="0"/>
                </a:lnTo>
                <a:cubicBezTo>
                  <a:pt x="115747" y="-7114"/>
                  <a:pt x="121494" y="-12861"/>
                  <a:pt x="128608" y="-12861"/>
                </a:cubicBezTo>
                <a:cubicBezTo>
                  <a:pt x="135721" y="-12861"/>
                  <a:pt x="141468" y="-7114"/>
                  <a:pt x="141468" y="0"/>
                </a:cubicBezTo>
                <a:lnTo>
                  <a:pt x="141468" y="38582"/>
                </a:lnTo>
                <a:lnTo>
                  <a:pt x="167190" y="38582"/>
                </a:lnTo>
                <a:cubicBezTo>
                  <a:pt x="174303" y="38582"/>
                  <a:pt x="180051" y="44329"/>
                  <a:pt x="180051" y="51443"/>
                </a:cubicBezTo>
                <a:cubicBezTo>
                  <a:pt x="180051" y="58557"/>
                  <a:pt x="174303" y="64304"/>
                  <a:pt x="167190" y="64304"/>
                </a:cubicBezTo>
                <a:lnTo>
                  <a:pt x="167190" y="90025"/>
                </a:lnTo>
                <a:cubicBezTo>
                  <a:pt x="167190" y="128246"/>
                  <a:pt x="139378" y="159996"/>
                  <a:pt x="102886" y="166105"/>
                </a:cubicBezTo>
                <a:lnTo>
                  <a:pt x="102886" y="192911"/>
                </a:lnTo>
                <a:cubicBezTo>
                  <a:pt x="102886" y="200025"/>
                  <a:pt x="97139" y="205772"/>
                  <a:pt x="90025" y="205772"/>
                </a:cubicBezTo>
                <a:cubicBezTo>
                  <a:pt x="82912" y="205772"/>
                  <a:pt x="77165" y="200025"/>
                  <a:pt x="77165" y="192911"/>
                </a:cubicBezTo>
                <a:lnTo>
                  <a:pt x="77165" y="166105"/>
                </a:lnTo>
                <a:cubicBezTo>
                  <a:pt x="40672" y="159996"/>
                  <a:pt x="12861" y="128246"/>
                  <a:pt x="12861" y="90025"/>
                </a:cubicBezTo>
                <a:lnTo>
                  <a:pt x="12861" y="64304"/>
                </a:lnTo>
                <a:cubicBezTo>
                  <a:pt x="5747" y="64304"/>
                  <a:pt x="0" y="58557"/>
                  <a:pt x="0" y="51443"/>
                </a:cubicBezTo>
                <a:cubicBezTo>
                  <a:pt x="0" y="44329"/>
                  <a:pt x="5747" y="38582"/>
                  <a:pt x="12861" y="38582"/>
                </a:cubicBezTo>
                <a:lnTo>
                  <a:pt x="38582" y="38582"/>
                </a:lnTo>
                <a:lnTo>
                  <a:pt x="38582" y="0"/>
                </a:lnTo>
                <a:cubicBezTo>
                  <a:pt x="38582" y="-7114"/>
                  <a:pt x="44329" y="-12861"/>
                  <a:pt x="51443" y="-12861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80" name="Text 78"/>
          <p:cNvSpPr/>
          <p:nvPr/>
        </p:nvSpPr>
        <p:spPr>
          <a:xfrm>
            <a:off x="6825714" y="4102582"/>
            <a:ext cx="771646" cy="2400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开放生态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6311284" y="4531274"/>
            <a:ext cx="5392945" cy="617316"/>
          </a:xfrm>
          <a:custGeom>
            <a:avLst/>
            <a:gdLst/>
            <a:ahLst/>
            <a:cxnLst/>
            <a:rect l="l" t="t" r="r" b="b"/>
            <a:pathLst>
              <a:path w="5392945" h="617316">
                <a:moveTo>
                  <a:pt x="68590" y="0"/>
                </a:moveTo>
                <a:lnTo>
                  <a:pt x="5324355" y="0"/>
                </a:lnTo>
                <a:cubicBezTo>
                  <a:pt x="5362236" y="0"/>
                  <a:pt x="5392945" y="30709"/>
                  <a:pt x="5392945" y="68590"/>
                </a:cubicBezTo>
                <a:lnTo>
                  <a:pt x="5392945" y="548726"/>
                </a:lnTo>
                <a:cubicBezTo>
                  <a:pt x="5392945" y="586608"/>
                  <a:pt x="5362236" y="617316"/>
                  <a:pt x="5324355" y="617316"/>
                </a:cubicBezTo>
                <a:lnTo>
                  <a:pt x="68590" y="617316"/>
                </a:lnTo>
                <a:cubicBezTo>
                  <a:pt x="30734" y="617316"/>
                  <a:pt x="0" y="586582"/>
                  <a:pt x="0" y="548726"/>
                </a:cubicBezTo>
                <a:lnTo>
                  <a:pt x="0" y="68590"/>
                </a:lnTo>
                <a:cubicBezTo>
                  <a:pt x="0" y="30734"/>
                  <a:pt x="30734" y="0"/>
                  <a:pt x="6859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82" name="Shape 80"/>
          <p:cNvSpPr/>
          <p:nvPr/>
        </p:nvSpPr>
        <p:spPr>
          <a:xfrm>
            <a:off x="6422744" y="4668456"/>
            <a:ext cx="154329" cy="137181"/>
          </a:xfrm>
          <a:custGeom>
            <a:avLst/>
            <a:gdLst/>
            <a:ahLst/>
            <a:cxnLst/>
            <a:rect l="l" t="t" r="r" b="b"/>
            <a:pathLst>
              <a:path w="154329" h="137181">
                <a:moveTo>
                  <a:pt x="96670" y="322"/>
                </a:moveTo>
                <a:cubicBezTo>
                  <a:pt x="92115" y="-991"/>
                  <a:pt x="87373" y="1661"/>
                  <a:pt x="86060" y="6216"/>
                </a:cubicBezTo>
                <a:lnTo>
                  <a:pt x="51765" y="126250"/>
                </a:lnTo>
                <a:cubicBezTo>
                  <a:pt x="50452" y="130805"/>
                  <a:pt x="53104" y="135547"/>
                  <a:pt x="57659" y="136860"/>
                </a:cubicBezTo>
                <a:cubicBezTo>
                  <a:pt x="62214" y="138173"/>
                  <a:pt x="66956" y="135520"/>
                  <a:pt x="68269" y="130965"/>
                </a:cubicBezTo>
                <a:lnTo>
                  <a:pt x="102565" y="10932"/>
                </a:lnTo>
                <a:cubicBezTo>
                  <a:pt x="103877" y="6377"/>
                  <a:pt x="101225" y="1634"/>
                  <a:pt x="96670" y="322"/>
                </a:cubicBezTo>
                <a:close/>
                <a:moveTo>
                  <a:pt x="113978" y="36787"/>
                </a:moveTo>
                <a:cubicBezTo>
                  <a:pt x="110629" y="40136"/>
                  <a:pt x="110629" y="45575"/>
                  <a:pt x="113978" y="48924"/>
                </a:cubicBezTo>
                <a:lnTo>
                  <a:pt x="133645" y="68591"/>
                </a:lnTo>
                <a:lnTo>
                  <a:pt x="113978" y="88257"/>
                </a:lnTo>
                <a:cubicBezTo>
                  <a:pt x="110629" y="91606"/>
                  <a:pt x="110629" y="97045"/>
                  <a:pt x="113978" y="100394"/>
                </a:cubicBezTo>
                <a:cubicBezTo>
                  <a:pt x="117328" y="103743"/>
                  <a:pt x="122767" y="103743"/>
                  <a:pt x="126116" y="100394"/>
                </a:cubicBezTo>
                <a:lnTo>
                  <a:pt x="151837" y="74673"/>
                </a:lnTo>
                <a:cubicBezTo>
                  <a:pt x="155186" y="71324"/>
                  <a:pt x="155186" y="65885"/>
                  <a:pt x="151837" y="62535"/>
                </a:cubicBezTo>
                <a:lnTo>
                  <a:pt x="126116" y="36814"/>
                </a:lnTo>
                <a:cubicBezTo>
                  <a:pt x="122767" y="33465"/>
                  <a:pt x="117328" y="33465"/>
                  <a:pt x="113978" y="36814"/>
                </a:cubicBezTo>
                <a:close/>
                <a:moveTo>
                  <a:pt x="40377" y="36787"/>
                </a:moveTo>
                <a:cubicBezTo>
                  <a:pt x="37028" y="33438"/>
                  <a:pt x="31589" y="33438"/>
                  <a:pt x="28240" y="36787"/>
                </a:cubicBezTo>
                <a:lnTo>
                  <a:pt x="2519" y="62509"/>
                </a:lnTo>
                <a:cubicBezTo>
                  <a:pt x="-831" y="65858"/>
                  <a:pt x="-831" y="71297"/>
                  <a:pt x="2519" y="74646"/>
                </a:cubicBezTo>
                <a:lnTo>
                  <a:pt x="28240" y="100368"/>
                </a:lnTo>
                <a:cubicBezTo>
                  <a:pt x="31589" y="103717"/>
                  <a:pt x="37028" y="103717"/>
                  <a:pt x="40377" y="100368"/>
                </a:cubicBezTo>
                <a:cubicBezTo>
                  <a:pt x="43727" y="97018"/>
                  <a:pt x="43727" y="91579"/>
                  <a:pt x="40377" y="88230"/>
                </a:cubicBezTo>
                <a:lnTo>
                  <a:pt x="20711" y="68591"/>
                </a:lnTo>
                <a:lnTo>
                  <a:pt x="40351" y="48924"/>
                </a:lnTo>
                <a:cubicBezTo>
                  <a:pt x="43700" y="45575"/>
                  <a:pt x="43700" y="40136"/>
                  <a:pt x="40351" y="36787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83" name="Text 81"/>
          <p:cNvSpPr/>
          <p:nvPr/>
        </p:nvSpPr>
        <p:spPr>
          <a:xfrm>
            <a:off x="6654237" y="4634160"/>
            <a:ext cx="548726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API开放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6414170" y="4874228"/>
            <a:ext cx="5247190" cy="171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RESTful API,支持第三方集成和定制开发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6311284" y="5217181"/>
            <a:ext cx="5392945" cy="617316"/>
          </a:xfrm>
          <a:custGeom>
            <a:avLst/>
            <a:gdLst/>
            <a:ahLst/>
            <a:cxnLst/>
            <a:rect l="l" t="t" r="r" b="b"/>
            <a:pathLst>
              <a:path w="5392945" h="617316">
                <a:moveTo>
                  <a:pt x="68590" y="0"/>
                </a:moveTo>
                <a:lnTo>
                  <a:pt x="5324355" y="0"/>
                </a:lnTo>
                <a:cubicBezTo>
                  <a:pt x="5362236" y="0"/>
                  <a:pt x="5392945" y="30709"/>
                  <a:pt x="5392945" y="68590"/>
                </a:cubicBezTo>
                <a:lnTo>
                  <a:pt x="5392945" y="548726"/>
                </a:lnTo>
                <a:cubicBezTo>
                  <a:pt x="5392945" y="586608"/>
                  <a:pt x="5362236" y="617316"/>
                  <a:pt x="5324355" y="617316"/>
                </a:cubicBezTo>
                <a:lnTo>
                  <a:pt x="68590" y="617316"/>
                </a:lnTo>
                <a:cubicBezTo>
                  <a:pt x="30734" y="617316"/>
                  <a:pt x="0" y="586582"/>
                  <a:pt x="0" y="548726"/>
                </a:cubicBezTo>
                <a:lnTo>
                  <a:pt x="0" y="68590"/>
                </a:lnTo>
                <a:cubicBezTo>
                  <a:pt x="0" y="30734"/>
                  <a:pt x="30734" y="0"/>
                  <a:pt x="6859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86" name="Shape 84"/>
          <p:cNvSpPr/>
          <p:nvPr/>
        </p:nvSpPr>
        <p:spPr>
          <a:xfrm>
            <a:off x="6414170" y="5354363"/>
            <a:ext cx="171477" cy="137181"/>
          </a:xfrm>
          <a:custGeom>
            <a:avLst/>
            <a:gdLst/>
            <a:ahLst/>
            <a:cxnLst/>
            <a:rect l="l" t="t" r="r" b="b"/>
            <a:pathLst>
              <a:path w="171477" h="137181">
                <a:moveTo>
                  <a:pt x="94312" y="0"/>
                </a:moveTo>
                <a:cubicBezTo>
                  <a:pt x="94312" y="-4742"/>
                  <a:pt x="90481" y="-8574"/>
                  <a:pt x="85738" y="-8574"/>
                </a:cubicBezTo>
                <a:cubicBezTo>
                  <a:pt x="80996" y="-8574"/>
                  <a:pt x="77165" y="-4742"/>
                  <a:pt x="77165" y="0"/>
                </a:cubicBezTo>
                <a:lnTo>
                  <a:pt x="77165" y="17148"/>
                </a:lnTo>
                <a:lnTo>
                  <a:pt x="51443" y="17148"/>
                </a:lnTo>
                <a:cubicBezTo>
                  <a:pt x="37243" y="17148"/>
                  <a:pt x="25722" y="28669"/>
                  <a:pt x="25722" y="42869"/>
                </a:cubicBezTo>
                <a:lnTo>
                  <a:pt x="25722" y="102886"/>
                </a:lnTo>
                <a:cubicBezTo>
                  <a:pt x="25722" y="117086"/>
                  <a:pt x="37243" y="128608"/>
                  <a:pt x="51443" y="128608"/>
                </a:cubicBezTo>
                <a:lnTo>
                  <a:pt x="120034" y="128608"/>
                </a:lnTo>
                <a:cubicBezTo>
                  <a:pt x="134234" y="128608"/>
                  <a:pt x="145755" y="117086"/>
                  <a:pt x="145755" y="102886"/>
                </a:cubicBezTo>
                <a:lnTo>
                  <a:pt x="145755" y="42869"/>
                </a:lnTo>
                <a:cubicBezTo>
                  <a:pt x="145755" y="28669"/>
                  <a:pt x="134234" y="17148"/>
                  <a:pt x="120034" y="17148"/>
                </a:cubicBezTo>
                <a:lnTo>
                  <a:pt x="94312" y="17148"/>
                </a:lnTo>
                <a:lnTo>
                  <a:pt x="94312" y="0"/>
                </a:lnTo>
                <a:close/>
                <a:moveTo>
                  <a:pt x="42869" y="98599"/>
                </a:moveTo>
                <a:cubicBezTo>
                  <a:pt x="42869" y="95036"/>
                  <a:pt x="45736" y="92169"/>
                  <a:pt x="49300" y="92169"/>
                </a:cubicBezTo>
                <a:lnTo>
                  <a:pt x="57873" y="92169"/>
                </a:lnTo>
                <a:cubicBezTo>
                  <a:pt x="61437" y="92169"/>
                  <a:pt x="64304" y="95036"/>
                  <a:pt x="64304" y="98599"/>
                </a:cubicBezTo>
                <a:cubicBezTo>
                  <a:pt x="64304" y="102163"/>
                  <a:pt x="61437" y="105030"/>
                  <a:pt x="57873" y="105030"/>
                </a:cubicBezTo>
                <a:lnTo>
                  <a:pt x="49300" y="105030"/>
                </a:lnTo>
                <a:cubicBezTo>
                  <a:pt x="45736" y="105030"/>
                  <a:pt x="42869" y="102163"/>
                  <a:pt x="42869" y="98599"/>
                </a:cubicBezTo>
                <a:close/>
                <a:moveTo>
                  <a:pt x="75021" y="98599"/>
                </a:moveTo>
                <a:cubicBezTo>
                  <a:pt x="75021" y="95036"/>
                  <a:pt x="77888" y="92169"/>
                  <a:pt x="81451" y="92169"/>
                </a:cubicBezTo>
                <a:lnTo>
                  <a:pt x="90025" y="92169"/>
                </a:lnTo>
                <a:cubicBezTo>
                  <a:pt x="93589" y="92169"/>
                  <a:pt x="96456" y="95036"/>
                  <a:pt x="96456" y="98599"/>
                </a:cubicBezTo>
                <a:cubicBezTo>
                  <a:pt x="96456" y="102163"/>
                  <a:pt x="93589" y="105030"/>
                  <a:pt x="90025" y="105030"/>
                </a:cubicBezTo>
                <a:lnTo>
                  <a:pt x="81451" y="105030"/>
                </a:lnTo>
                <a:cubicBezTo>
                  <a:pt x="77888" y="105030"/>
                  <a:pt x="75021" y="102163"/>
                  <a:pt x="75021" y="98599"/>
                </a:cubicBezTo>
                <a:close/>
                <a:moveTo>
                  <a:pt x="107173" y="98599"/>
                </a:moveTo>
                <a:cubicBezTo>
                  <a:pt x="107173" y="95036"/>
                  <a:pt x="110040" y="92169"/>
                  <a:pt x="113603" y="92169"/>
                </a:cubicBezTo>
                <a:lnTo>
                  <a:pt x="122177" y="92169"/>
                </a:lnTo>
                <a:cubicBezTo>
                  <a:pt x="125741" y="92169"/>
                  <a:pt x="128608" y="95036"/>
                  <a:pt x="128608" y="98599"/>
                </a:cubicBezTo>
                <a:cubicBezTo>
                  <a:pt x="128608" y="102163"/>
                  <a:pt x="125741" y="105030"/>
                  <a:pt x="122177" y="105030"/>
                </a:cubicBezTo>
                <a:lnTo>
                  <a:pt x="113603" y="105030"/>
                </a:lnTo>
                <a:cubicBezTo>
                  <a:pt x="110040" y="105030"/>
                  <a:pt x="107173" y="102163"/>
                  <a:pt x="107173" y="98599"/>
                </a:cubicBezTo>
                <a:close/>
                <a:moveTo>
                  <a:pt x="60017" y="47156"/>
                </a:moveTo>
                <a:cubicBezTo>
                  <a:pt x="67115" y="47156"/>
                  <a:pt x="72878" y="52919"/>
                  <a:pt x="72878" y="60017"/>
                </a:cubicBezTo>
                <a:cubicBezTo>
                  <a:pt x="72878" y="67115"/>
                  <a:pt x="67115" y="72878"/>
                  <a:pt x="60017" y="72878"/>
                </a:cubicBezTo>
                <a:cubicBezTo>
                  <a:pt x="52919" y="72878"/>
                  <a:pt x="47156" y="67115"/>
                  <a:pt x="47156" y="60017"/>
                </a:cubicBezTo>
                <a:cubicBezTo>
                  <a:pt x="47156" y="52919"/>
                  <a:pt x="52919" y="47156"/>
                  <a:pt x="60017" y="47156"/>
                </a:cubicBezTo>
                <a:close/>
                <a:moveTo>
                  <a:pt x="98599" y="60017"/>
                </a:moveTo>
                <a:cubicBezTo>
                  <a:pt x="98599" y="52919"/>
                  <a:pt x="104362" y="47156"/>
                  <a:pt x="111460" y="47156"/>
                </a:cubicBezTo>
                <a:cubicBezTo>
                  <a:pt x="118558" y="47156"/>
                  <a:pt x="124321" y="52919"/>
                  <a:pt x="124321" y="60017"/>
                </a:cubicBezTo>
                <a:cubicBezTo>
                  <a:pt x="124321" y="67115"/>
                  <a:pt x="118558" y="72878"/>
                  <a:pt x="111460" y="72878"/>
                </a:cubicBezTo>
                <a:cubicBezTo>
                  <a:pt x="104362" y="72878"/>
                  <a:pt x="98599" y="67115"/>
                  <a:pt x="98599" y="60017"/>
                </a:cubicBezTo>
                <a:close/>
                <a:moveTo>
                  <a:pt x="17148" y="60017"/>
                </a:moveTo>
                <a:cubicBezTo>
                  <a:pt x="17148" y="55274"/>
                  <a:pt x="13316" y="51443"/>
                  <a:pt x="8574" y="51443"/>
                </a:cubicBezTo>
                <a:cubicBezTo>
                  <a:pt x="3831" y="51443"/>
                  <a:pt x="0" y="55274"/>
                  <a:pt x="0" y="60017"/>
                </a:cubicBezTo>
                <a:lnTo>
                  <a:pt x="0" y="85738"/>
                </a:lnTo>
                <a:cubicBezTo>
                  <a:pt x="0" y="90481"/>
                  <a:pt x="3831" y="94312"/>
                  <a:pt x="8574" y="94312"/>
                </a:cubicBezTo>
                <a:cubicBezTo>
                  <a:pt x="13316" y="94312"/>
                  <a:pt x="17148" y="90481"/>
                  <a:pt x="17148" y="85738"/>
                </a:cubicBezTo>
                <a:lnTo>
                  <a:pt x="17148" y="60017"/>
                </a:lnTo>
                <a:close/>
                <a:moveTo>
                  <a:pt x="162903" y="51443"/>
                </a:moveTo>
                <a:cubicBezTo>
                  <a:pt x="158161" y="51443"/>
                  <a:pt x="154329" y="55274"/>
                  <a:pt x="154329" y="60017"/>
                </a:cubicBezTo>
                <a:lnTo>
                  <a:pt x="154329" y="85738"/>
                </a:lnTo>
                <a:cubicBezTo>
                  <a:pt x="154329" y="90481"/>
                  <a:pt x="158161" y="94312"/>
                  <a:pt x="162903" y="94312"/>
                </a:cubicBezTo>
                <a:cubicBezTo>
                  <a:pt x="167645" y="94312"/>
                  <a:pt x="171477" y="90481"/>
                  <a:pt x="171477" y="85738"/>
                </a:cubicBezTo>
                <a:lnTo>
                  <a:pt x="171477" y="60017"/>
                </a:lnTo>
                <a:cubicBezTo>
                  <a:pt x="171477" y="55274"/>
                  <a:pt x="167645" y="51443"/>
                  <a:pt x="162903" y="51443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87" name="Text 85"/>
          <p:cNvSpPr/>
          <p:nvPr/>
        </p:nvSpPr>
        <p:spPr>
          <a:xfrm>
            <a:off x="6654237" y="5320068"/>
            <a:ext cx="754498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多LLM支持</a:t>
            </a:r>
            <a:endParaRPr lang="en-US" sz="1600" dirty="0"/>
          </a:p>
        </p:txBody>
      </p:sp>
      <p:sp>
        <p:nvSpPr>
          <p:cNvPr id="88" name="Text 86"/>
          <p:cNvSpPr/>
          <p:nvPr/>
        </p:nvSpPr>
        <p:spPr>
          <a:xfrm>
            <a:off x="6414170" y="5560135"/>
            <a:ext cx="5247190" cy="171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OpenAI、Google AI、阿里百炼、DeepSeek等</a:t>
            </a:r>
            <a:endParaRPr lang="en-US" sz="1600" dirty="0"/>
          </a:p>
        </p:txBody>
      </p:sp>
      <p:sp>
        <p:nvSpPr>
          <p:cNvPr id="89" name="Shape 87"/>
          <p:cNvSpPr/>
          <p:nvPr/>
        </p:nvSpPr>
        <p:spPr>
          <a:xfrm>
            <a:off x="6311284" y="5903089"/>
            <a:ext cx="5392945" cy="617316"/>
          </a:xfrm>
          <a:custGeom>
            <a:avLst/>
            <a:gdLst/>
            <a:ahLst/>
            <a:cxnLst/>
            <a:rect l="l" t="t" r="r" b="b"/>
            <a:pathLst>
              <a:path w="5392945" h="617316">
                <a:moveTo>
                  <a:pt x="68590" y="0"/>
                </a:moveTo>
                <a:lnTo>
                  <a:pt x="5324355" y="0"/>
                </a:lnTo>
                <a:cubicBezTo>
                  <a:pt x="5362236" y="0"/>
                  <a:pt x="5392945" y="30709"/>
                  <a:pt x="5392945" y="68590"/>
                </a:cubicBezTo>
                <a:lnTo>
                  <a:pt x="5392945" y="548726"/>
                </a:lnTo>
                <a:cubicBezTo>
                  <a:pt x="5392945" y="586608"/>
                  <a:pt x="5362236" y="617316"/>
                  <a:pt x="5324355" y="617316"/>
                </a:cubicBezTo>
                <a:lnTo>
                  <a:pt x="68590" y="617316"/>
                </a:lnTo>
                <a:cubicBezTo>
                  <a:pt x="30734" y="617316"/>
                  <a:pt x="0" y="586582"/>
                  <a:pt x="0" y="548726"/>
                </a:cubicBezTo>
                <a:lnTo>
                  <a:pt x="0" y="68590"/>
                </a:lnTo>
                <a:cubicBezTo>
                  <a:pt x="0" y="30734"/>
                  <a:pt x="30734" y="0"/>
                  <a:pt x="6859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90" name="Shape 88"/>
          <p:cNvSpPr/>
          <p:nvPr/>
        </p:nvSpPr>
        <p:spPr>
          <a:xfrm>
            <a:off x="6439891" y="6040270"/>
            <a:ext cx="120034" cy="137181"/>
          </a:xfrm>
          <a:custGeom>
            <a:avLst/>
            <a:gdLst/>
            <a:ahLst/>
            <a:cxnLst/>
            <a:rect l="l" t="t" r="r" b="b"/>
            <a:pathLst>
              <a:path w="120034" h="137181">
                <a:moveTo>
                  <a:pt x="120034" y="55141"/>
                </a:moveTo>
                <a:cubicBezTo>
                  <a:pt x="116068" y="57766"/>
                  <a:pt x="111514" y="59883"/>
                  <a:pt x="106771" y="61571"/>
                </a:cubicBezTo>
                <a:cubicBezTo>
                  <a:pt x="94178" y="66072"/>
                  <a:pt x="77647" y="68591"/>
                  <a:pt x="60017" y="68591"/>
                </a:cubicBezTo>
                <a:cubicBezTo>
                  <a:pt x="42387" y="68591"/>
                  <a:pt x="25829" y="66045"/>
                  <a:pt x="13263" y="61571"/>
                </a:cubicBezTo>
                <a:cubicBezTo>
                  <a:pt x="8547" y="59883"/>
                  <a:pt x="3965" y="57766"/>
                  <a:pt x="0" y="55141"/>
                </a:cubicBezTo>
                <a:lnTo>
                  <a:pt x="0" y="77165"/>
                </a:lnTo>
                <a:cubicBezTo>
                  <a:pt x="0" y="89007"/>
                  <a:pt x="26874" y="98599"/>
                  <a:pt x="60017" y="98599"/>
                </a:cubicBezTo>
                <a:cubicBezTo>
                  <a:pt x="93160" y="98599"/>
                  <a:pt x="120034" y="89007"/>
                  <a:pt x="120034" y="77165"/>
                </a:cubicBezTo>
                <a:lnTo>
                  <a:pt x="120034" y="55141"/>
                </a:lnTo>
                <a:close/>
                <a:moveTo>
                  <a:pt x="120034" y="34295"/>
                </a:moveTo>
                <a:lnTo>
                  <a:pt x="120034" y="21435"/>
                </a:lnTo>
                <a:cubicBezTo>
                  <a:pt x="120034" y="9592"/>
                  <a:pt x="93160" y="0"/>
                  <a:pt x="60017" y="0"/>
                </a:cubicBezTo>
                <a:cubicBezTo>
                  <a:pt x="26874" y="0"/>
                  <a:pt x="0" y="9592"/>
                  <a:pt x="0" y="21435"/>
                </a:cubicBezTo>
                <a:lnTo>
                  <a:pt x="0" y="34295"/>
                </a:lnTo>
                <a:cubicBezTo>
                  <a:pt x="0" y="46138"/>
                  <a:pt x="26874" y="55730"/>
                  <a:pt x="60017" y="55730"/>
                </a:cubicBezTo>
                <a:cubicBezTo>
                  <a:pt x="93160" y="55730"/>
                  <a:pt x="120034" y="46138"/>
                  <a:pt x="120034" y="34295"/>
                </a:cubicBezTo>
                <a:close/>
                <a:moveTo>
                  <a:pt x="106771" y="104440"/>
                </a:moveTo>
                <a:cubicBezTo>
                  <a:pt x="94205" y="108915"/>
                  <a:pt x="77674" y="111460"/>
                  <a:pt x="60017" y="111460"/>
                </a:cubicBezTo>
                <a:cubicBezTo>
                  <a:pt x="42360" y="111460"/>
                  <a:pt x="25829" y="108915"/>
                  <a:pt x="13263" y="104440"/>
                </a:cubicBezTo>
                <a:cubicBezTo>
                  <a:pt x="8547" y="102752"/>
                  <a:pt x="3965" y="100635"/>
                  <a:pt x="0" y="98010"/>
                </a:cubicBezTo>
                <a:lnTo>
                  <a:pt x="0" y="115747"/>
                </a:lnTo>
                <a:cubicBezTo>
                  <a:pt x="0" y="127589"/>
                  <a:pt x="26874" y="137181"/>
                  <a:pt x="60017" y="137181"/>
                </a:cubicBezTo>
                <a:cubicBezTo>
                  <a:pt x="93160" y="137181"/>
                  <a:pt x="120034" y="127589"/>
                  <a:pt x="120034" y="115747"/>
                </a:cubicBezTo>
                <a:lnTo>
                  <a:pt x="120034" y="98010"/>
                </a:lnTo>
                <a:cubicBezTo>
                  <a:pt x="116068" y="100635"/>
                  <a:pt x="111514" y="102752"/>
                  <a:pt x="106771" y="10444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91" name="Text 89"/>
          <p:cNvSpPr/>
          <p:nvPr/>
        </p:nvSpPr>
        <p:spPr>
          <a:xfrm>
            <a:off x="6654237" y="6005975"/>
            <a:ext cx="617316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多数据源</a:t>
            </a:r>
            <a:endParaRPr lang="en-US" sz="1600" dirty="0"/>
          </a:p>
        </p:txBody>
      </p:sp>
      <p:sp>
        <p:nvSpPr>
          <p:cNvPr id="92" name="Text 90"/>
          <p:cNvSpPr/>
          <p:nvPr/>
        </p:nvSpPr>
        <p:spPr>
          <a:xfrm>
            <a:off x="6414170" y="6246042"/>
            <a:ext cx="5247190" cy="171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Tushare、AKShare、BaoStock、FinnHub等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49250"/>
            <a:ext cx="31750" cy="254000"/>
          </a:xfrm>
          <a:custGeom>
            <a:avLst/>
            <a:gdLst/>
            <a:ahLst/>
            <a:cxnLst/>
            <a:rect l="l" t="t" r="r" b="b"/>
            <a:pathLst>
              <a:path w="31750" h="254000">
                <a:moveTo>
                  <a:pt x="0" y="0"/>
                </a:moveTo>
                <a:lnTo>
                  <a:pt x="31750" y="0"/>
                </a:lnTo>
                <a:lnTo>
                  <a:pt x="31750" y="254000"/>
                </a:lnTo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3" name="Text 1"/>
          <p:cNvSpPr/>
          <p:nvPr/>
        </p:nvSpPr>
        <p:spPr>
          <a:xfrm>
            <a:off x="444500" y="317500"/>
            <a:ext cx="2428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智能分析能力详解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44500" y="698500"/>
            <a:ext cx="11493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Intelligent Analysis Capabilities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1469" y="1019969"/>
            <a:ext cx="5707063" cy="3119438"/>
          </a:xfrm>
          <a:custGeom>
            <a:avLst/>
            <a:gdLst/>
            <a:ahLst/>
            <a:cxnLst/>
            <a:rect l="l" t="t" r="r" b="b"/>
            <a:pathLst>
              <a:path w="5707063" h="3119438">
                <a:moveTo>
                  <a:pt x="95236" y="0"/>
                </a:moveTo>
                <a:lnTo>
                  <a:pt x="5611826" y="0"/>
                </a:lnTo>
                <a:cubicBezTo>
                  <a:pt x="5664388" y="0"/>
                  <a:pt x="5707063" y="42674"/>
                  <a:pt x="5707063" y="95236"/>
                </a:cubicBezTo>
                <a:lnTo>
                  <a:pt x="5707063" y="3024201"/>
                </a:lnTo>
                <a:cubicBezTo>
                  <a:pt x="5707062" y="3076799"/>
                  <a:pt x="5664424" y="3119438"/>
                  <a:pt x="5611826" y="3119438"/>
                </a:cubicBezTo>
                <a:lnTo>
                  <a:pt x="95236" y="3119438"/>
                </a:lnTo>
                <a:cubicBezTo>
                  <a:pt x="42639" y="3119438"/>
                  <a:pt x="0" y="3076799"/>
                  <a:pt x="0" y="3024201"/>
                </a:cubicBezTo>
                <a:lnTo>
                  <a:pt x="0" y="95236"/>
                </a:lnTo>
                <a:cubicBezTo>
                  <a:pt x="0" y="42674"/>
                  <a:pt x="42674" y="0"/>
                  <a:pt x="95236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2438" y="115093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571500" y="1246188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65484" y="130969"/>
                </a:moveTo>
                <a:lnTo>
                  <a:pt x="77391" y="130969"/>
                </a:lnTo>
                <a:cubicBezTo>
                  <a:pt x="83976" y="130969"/>
                  <a:pt x="89297" y="136289"/>
                  <a:pt x="89297" y="142875"/>
                </a:cubicBezTo>
                <a:lnTo>
                  <a:pt x="89297" y="172641"/>
                </a:lnTo>
                <a:lnTo>
                  <a:pt x="53578" y="172641"/>
                </a:lnTo>
                <a:lnTo>
                  <a:pt x="53578" y="142875"/>
                </a:lnTo>
                <a:cubicBezTo>
                  <a:pt x="53578" y="136289"/>
                  <a:pt x="58899" y="130969"/>
                  <a:pt x="65484" y="130969"/>
                </a:cubicBezTo>
                <a:close/>
                <a:moveTo>
                  <a:pt x="35719" y="41672"/>
                </a:moveTo>
                <a:cubicBezTo>
                  <a:pt x="35719" y="38398"/>
                  <a:pt x="38398" y="35719"/>
                  <a:pt x="41672" y="35719"/>
                </a:cubicBezTo>
                <a:lnTo>
                  <a:pt x="53578" y="35719"/>
                </a:lnTo>
                <a:cubicBezTo>
                  <a:pt x="56852" y="35719"/>
                  <a:pt x="59531" y="38398"/>
                  <a:pt x="59531" y="41672"/>
                </a:cubicBezTo>
                <a:lnTo>
                  <a:pt x="59531" y="53578"/>
                </a:lnTo>
                <a:cubicBezTo>
                  <a:pt x="59531" y="56852"/>
                  <a:pt x="56852" y="59531"/>
                  <a:pt x="53578" y="59531"/>
                </a:cubicBezTo>
                <a:lnTo>
                  <a:pt x="41672" y="59531"/>
                </a:lnTo>
                <a:cubicBezTo>
                  <a:pt x="38398" y="59531"/>
                  <a:pt x="35719" y="56852"/>
                  <a:pt x="35719" y="53578"/>
                </a:cubicBezTo>
                <a:lnTo>
                  <a:pt x="35719" y="41672"/>
                </a:lnTo>
                <a:close/>
                <a:moveTo>
                  <a:pt x="89297" y="35719"/>
                </a:moveTo>
                <a:lnTo>
                  <a:pt x="101203" y="35719"/>
                </a:lnTo>
                <a:cubicBezTo>
                  <a:pt x="104477" y="35719"/>
                  <a:pt x="107156" y="38398"/>
                  <a:pt x="107156" y="41672"/>
                </a:cubicBezTo>
                <a:lnTo>
                  <a:pt x="107156" y="53578"/>
                </a:lnTo>
                <a:cubicBezTo>
                  <a:pt x="107156" y="56852"/>
                  <a:pt x="104477" y="59531"/>
                  <a:pt x="101203" y="59531"/>
                </a:cubicBezTo>
                <a:lnTo>
                  <a:pt x="89297" y="59531"/>
                </a:lnTo>
                <a:cubicBezTo>
                  <a:pt x="86023" y="59531"/>
                  <a:pt x="83344" y="56852"/>
                  <a:pt x="83344" y="53578"/>
                </a:cubicBezTo>
                <a:lnTo>
                  <a:pt x="83344" y="41672"/>
                </a:lnTo>
                <a:cubicBezTo>
                  <a:pt x="83344" y="38398"/>
                  <a:pt x="86023" y="35719"/>
                  <a:pt x="89297" y="35719"/>
                </a:cubicBezTo>
                <a:close/>
                <a:moveTo>
                  <a:pt x="35719" y="89297"/>
                </a:moveTo>
                <a:cubicBezTo>
                  <a:pt x="35719" y="86023"/>
                  <a:pt x="38398" y="83344"/>
                  <a:pt x="41672" y="83344"/>
                </a:cubicBezTo>
                <a:lnTo>
                  <a:pt x="53578" y="83344"/>
                </a:lnTo>
                <a:cubicBezTo>
                  <a:pt x="56852" y="83344"/>
                  <a:pt x="59531" y="86023"/>
                  <a:pt x="59531" y="89297"/>
                </a:cubicBezTo>
                <a:lnTo>
                  <a:pt x="59531" y="101203"/>
                </a:lnTo>
                <a:cubicBezTo>
                  <a:pt x="59531" y="104477"/>
                  <a:pt x="56852" y="107156"/>
                  <a:pt x="53578" y="107156"/>
                </a:cubicBezTo>
                <a:lnTo>
                  <a:pt x="41672" y="107156"/>
                </a:lnTo>
                <a:cubicBezTo>
                  <a:pt x="38398" y="107156"/>
                  <a:pt x="35719" y="104477"/>
                  <a:pt x="35719" y="101203"/>
                </a:cubicBezTo>
                <a:lnTo>
                  <a:pt x="35719" y="89297"/>
                </a:lnTo>
                <a:close/>
                <a:moveTo>
                  <a:pt x="89297" y="83344"/>
                </a:moveTo>
                <a:lnTo>
                  <a:pt x="101203" y="83344"/>
                </a:lnTo>
                <a:cubicBezTo>
                  <a:pt x="104477" y="83344"/>
                  <a:pt x="107156" y="86023"/>
                  <a:pt x="107156" y="89297"/>
                </a:cubicBezTo>
                <a:lnTo>
                  <a:pt x="107156" y="101203"/>
                </a:lnTo>
                <a:cubicBezTo>
                  <a:pt x="107156" y="104477"/>
                  <a:pt x="104477" y="107156"/>
                  <a:pt x="101203" y="107156"/>
                </a:cubicBezTo>
                <a:lnTo>
                  <a:pt x="89297" y="107156"/>
                </a:lnTo>
                <a:cubicBezTo>
                  <a:pt x="86023" y="107156"/>
                  <a:pt x="83344" y="104477"/>
                  <a:pt x="83344" y="101203"/>
                </a:cubicBezTo>
                <a:lnTo>
                  <a:pt x="83344" y="89297"/>
                </a:lnTo>
                <a:cubicBezTo>
                  <a:pt x="83344" y="86023"/>
                  <a:pt x="86023" y="83344"/>
                  <a:pt x="89297" y="83344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8" name="Text 6"/>
          <p:cNvSpPr/>
          <p:nvPr/>
        </p:nvSpPr>
        <p:spPr>
          <a:xfrm>
            <a:off x="928688" y="1150938"/>
            <a:ext cx="119062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基本面分析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28688" y="1373188"/>
            <a:ext cx="11668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Fundamental Analysis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2438" y="1627188"/>
            <a:ext cx="5445125" cy="603250"/>
          </a:xfrm>
          <a:custGeom>
            <a:avLst/>
            <a:gdLst/>
            <a:ahLst/>
            <a:cxnLst/>
            <a:rect l="l" t="t" r="r" b="b"/>
            <a:pathLst>
              <a:path w="5445125" h="603250">
                <a:moveTo>
                  <a:pt x="63498" y="0"/>
                </a:moveTo>
                <a:lnTo>
                  <a:pt x="5381627" y="0"/>
                </a:lnTo>
                <a:cubicBezTo>
                  <a:pt x="5416696" y="0"/>
                  <a:pt x="5445125" y="28429"/>
                  <a:pt x="5445125" y="63498"/>
                </a:cubicBezTo>
                <a:lnTo>
                  <a:pt x="5445125" y="539752"/>
                </a:lnTo>
                <a:cubicBezTo>
                  <a:pt x="5445125" y="574821"/>
                  <a:pt x="5416696" y="603250"/>
                  <a:pt x="53816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555625" y="1754188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127099" y="59531"/>
                </a:moveTo>
                <a:lnTo>
                  <a:pt x="83443" y="59531"/>
                </a:lnTo>
                <a:cubicBezTo>
                  <a:pt x="79053" y="59531"/>
                  <a:pt x="75505" y="55984"/>
                  <a:pt x="75505" y="51594"/>
                </a:cubicBezTo>
                <a:lnTo>
                  <a:pt x="75505" y="7938"/>
                </a:lnTo>
                <a:cubicBezTo>
                  <a:pt x="75505" y="3547"/>
                  <a:pt x="79077" y="-50"/>
                  <a:pt x="83418" y="521"/>
                </a:cubicBezTo>
                <a:cubicBezTo>
                  <a:pt x="109959" y="4043"/>
                  <a:pt x="130994" y="25078"/>
                  <a:pt x="134516" y="51619"/>
                </a:cubicBezTo>
                <a:cubicBezTo>
                  <a:pt x="135086" y="55959"/>
                  <a:pt x="131490" y="59531"/>
                  <a:pt x="127099" y="59531"/>
                </a:cubicBezTo>
                <a:close/>
                <a:moveTo>
                  <a:pt x="55215" y="9227"/>
                </a:moveTo>
                <a:cubicBezTo>
                  <a:pt x="59705" y="8285"/>
                  <a:pt x="63599" y="11956"/>
                  <a:pt x="63599" y="16545"/>
                </a:cubicBezTo>
                <a:lnTo>
                  <a:pt x="63599" y="65484"/>
                </a:lnTo>
                <a:cubicBezTo>
                  <a:pt x="63599" y="66873"/>
                  <a:pt x="64095" y="68213"/>
                  <a:pt x="64963" y="69279"/>
                </a:cubicBezTo>
                <a:lnTo>
                  <a:pt x="97730" y="108818"/>
                </a:lnTo>
                <a:cubicBezTo>
                  <a:pt x="100633" y="112316"/>
                  <a:pt x="100013" y="117599"/>
                  <a:pt x="96019" y="119757"/>
                </a:cubicBezTo>
                <a:cubicBezTo>
                  <a:pt x="87561" y="124371"/>
                  <a:pt x="77862" y="127000"/>
                  <a:pt x="67568" y="127000"/>
                </a:cubicBezTo>
                <a:cubicBezTo>
                  <a:pt x="34702" y="127000"/>
                  <a:pt x="8037" y="100335"/>
                  <a:pt x="8037" y="67469"/>
                </a:cubicBezTo>
                <a:cubicBezTo>
                  <a:pt x="8037" y="38819"/>
                  <a:pt x="28253" y="14908"/>
                  <a:pt x="55215" y="9227"/>
                </a:cubicBezTo>
                <a:close/>
                <a:moveTo>
                  <a:pt x="118517" y="71438"/>
                </a:moveTo>
                <a:lnTo>
                  <a:pt x="134392" y="71438"/>
                </a:lnTo>
                <a:cubicBezTo>
                  <a:pt x="138981" y="71438"/>
                  <a:pt x="142652" y="75332"/>
                  <a:pt x="141709" y="79821"/>
                </a:cubicBezTo>
                <a:cubicBezTo>
                  <a:pt x="139179" y="91827"/>
                  <a:pt x="133028" y="102493"/>
                  <a:pt x="124445" y="110629"/>
                </a:cubicBezTo>
                <a:cubicBezTo>
                  <a:pt x="121394" y="113531"/>
                  <a:pt x="116607" y="112911"/>
                  <a:pt x="113928" y="109662"/>
                </a:cubicBezTo>
                <a:lnTo>
                  <a:pt x="92993" y="84435"/>
                </a:lnTo>
                <a:cubicBezTo>
                  <a:pt x="88702" y="79251"/>
                  <a:pt x="92397" y="71438"/>
                  <a:pt x="99095" y="71438"/>
                </a:cubicBezTo>
                <a:lnTo>
                  <a:pt x="118492" y="71438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12" name="Text 10"/>
          <p:cNvSpPr/>
          <p:nvPr/>
        </p:nvSpPr>
        <p:spPr>
          <a:xfrm>
            <a:off x="769938" y="1722438"/>
            <a:ext cx="1079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财务数据深度分析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7688" y="1976438"/>
            <a:ext cx="5310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多数据源融合、财务指标计算、历史趋势分析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2438" y="2293938"/>
            <a:ext cx="5445125" cy="603250"/>
          </a:xfrm>
          <a:custGeom>
            <a:avLst/>
            <a:gdLst/>
            <a:ahLst/>
            <a:cxnLst/>
            <a:rect l="l" t="t" r="r" b="b"/>
            <a:pathLst>
              <a:path w="5445125" h="603250">
                <a:moveTo>
                  <a:pt x="63498" y="0"/>
                </a:moveTo>
                <a:lnTo>
                  <a:pt x="5381627" y="0"/>
                </a:lnTo>
                <a:cubicBezTo>
                  <a:pt x="5416696" y="0"/>
                  <a:pt x="5445125" y="28429"/>
                  <a:pt x="5445125" y="63498"/>
                </a:cubicBezTo>
                <a:lnTo>
                  <a:pt x="5445125" y="539752"/>
                </a:lnTo>
                <a:cubicBezTo>
                  <a:pt x="5445125" y="574821"/>
                  <a:pt x="5416696" y="603250"/>
                  <a:pt x="53816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579438" y="2420938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15875" y="0"/>
                </a:moveTo>
                <a:cubicBezTo>
                  <a:pt x="7119" y="0"/>
                  <a:pt x="0" y="7119"/>
                  <a:pt x="0" y="15875"/>
                </a:cubicBezTo>
                <a:lnTo>
                  <a:pt x="0" y="111125"/>
                </a:lnTo>
                <a:cubicBezTo>
                  <a:pt x="0" y="119881"/>
                  <a:pt x="7119" y="127000"/>
                  <a:pt x="15875" y="127000"/>
                </a:cubicBezTo>
                <a:lnTo>
                  <a:pt x="79375" y="127000"/>
                </a:lnTo>
                <a:cubicBezTo>
                  <a:pt x="88131" y="127000"/>
                  <a:pt x="95250" y="119881"/>
                  <a:pt x="95250" y="111125"/>
                </a:cubicBezTo>
                <a:lnTo>
                  <a:pt x="95250" y="15875"/>
                </a:lnTo>
                <a:cubicBezTo>
                  <a:pt x="95250" y="7119"/>
                  <a:pt x="88131" y="0"/>
                  <a:pt x="79375" y="0"/>
                </a:cubicBezTo>
                <a:lnTo>
                  <a:pt x="15875" y="0"/>
                </a:lnTo>
                <a:close/>
                <a:moveTo>
                  <a:pt x="23812" y="15875"/>
                </a:moveTo>
                <a:lnTo>
                  <a:pt x="71438" y="15875"/>
                </a:lnTo>
                <a:cubicBezTo>
                  <a:pt x="75828" y="15875"/>
                  <a:pt x="79375" y="19422"/>
                  <a:pt x="79375" y="23812"/>
                </a:cubicBezTo>
                <a:lnTo>
                  <a:pt x="79375" y="31750"/>
                </a:lnTo>
                <a:cubicBezTo>
                  <a:pt x="79375" y="36140"/>
                  <a:pt x="75828" y="39688"/>
                  <a:pt x="71438" y="39688"/>
                </a:cubicBezTo>
                <a:lnTo>
                  <a:pt x="23812" y="39688"/>
                </a:lnTo>
                <a:cubicBezTo>
                  <a:pt x="19422" y="39688"/>
                  <a:pt x="15875" y="36140"/>
                  <a:pt x="15875" y="31750"/>
                </a:cubicBezTo>
                <a:lnTo>
                  <a:pt x="15875" y="23812"/>
                </a:lnTo>
                <a:cubicBezTo>
                  <a:pt x="15875" y="19422"/>
                  <a:pt x="19422" y="15875"/>
                  <a:pt x="23812" y="15875"/>
                </a:cubicBezTo>
                <a:close/>
                <a:moveTo>
                  <a:pt x="27781" y="57547"/>
                </a:moveTo>
                <a:cubicBezTo>
                  <a:pt x="27781" y="60832"/>
                  <a:pt x="25114" y="63500"/>
                  <a:pt x="21828" y="63500"/>
                </a:cubicBezTo>
                <a:cubicBezTo>
                  <a:pt x="18543" y="63500"/>
                  <a:pt x="15875" y="60832"/>
                  <a:pt x="15875" y="57547"/>
                </a:cubicBezTo>
                <a:cubicBezTo>
                  <a:pt x="15875" y="54261"/>
                  <a:pt x="18543" y="51594"/>
                  <a:pt x="21828" y="51594"/>
                </a:cubicBezTo>
                <a:cubicBezTo>
                  <a:pt x="25114" y="51594"/>
                  <a:pt x="27781" y="54261"/>
                  <a:pt x="27781" y="57547"/>
                </a:cubicBezTo>
                <a:close/>
                <a:moveTo>
                  <a:pt x="47625" y="63500"/>
                </a:moveTo>
                <a:cubicBezTo>
                  <a:pt x="44339" y="63500"/>
                  <a:pt x="41672" y="60832"/>
                  <a:pt x="41672" y="57547"/>
                </a:cubicBezTo>
                <a:cubicBezTo>
                  <a:pt x="41672" y="54261"/>
                  <a:pt x="44339" y="51594"/>
                  <a:pt x="47625" y="51594"/>
                </a:cubicBezTo>
                <a:cubicBezTo>
                  <a:pt x="50911" y="51594"/>
                  <a:pt x="53578" y="54261"/>
                  <a:pt x="53578" y="57547"/>
                </a:cubicBezTo>
                <a:cubicBezTo>
                  <a:pt x="53578" y="60832"/>
                  <a:pt x="50911" y="63500"/>
                  <a:pt x="47625" y="63500"/>
                </a:cubicBezTo>
                <a:close/>
                <a:moveTo>
                  <a:pt x="79375" y="57547"/>
                </a:moveTo>
                <a:cubicBezTo>
                  <a:pt x="79375" y="60832"/>
                  <a:pt x="76707" y="63500"/>
                  <a:pt x="73422" y="63500"/>
                </a:cubicBezTo>
                <a:cubicBezTo>
                  <a:pt x="70136" y="63500"/>
                  <a:pt x="67469" y="60832"/>
                  <a:pt x="67469" y="57547"/>
                </a:cubicBezTo>
                <a:cubicBezTo>
                  <a:pt x="67469" y="54261"/>
                  <a:pt x="70136" y="51594"/>
                  <a:pt x="73422" y="51594"/>
                </a:cubicBezTo>
                <a:cubicBezTo>
                  <a:pt x="76707" y="51594"/>
                  <a:pt x="79375" y="54261"/>
                  <a:pt x="79375" y="57547"/>
                </a:cubicBezTo>
                <a:close/>
                <a:moveTo>
                  <a:pt x="21828" y="87313"/>
                </a:moveTo>
                <a:cubicBezTo>
                  <a:pt x="18543" y="87313"/>
                  <a:pt x="15875" y="84645"/>
                  <a:pt x="15875" y="81359"/>
                </a:cubicBezTo>
                <a:cubicBezTo>
                  <a:pt x="15875" y="78074"/>
                  <a:pt x="18543" y="75406"/>
                  <a:pt x="21828" y="75406"/>
                </a:cubicBezTo>
                <a:cubicBezTo>
                  <a:pt x="25114" y="75406"/>
                  <a:pt x="27781" y="78074"/>
                  <a:pt x="27781" y="81359"/>
                </a:cubicBezTo>
                <a:cubicBezTo>
                  <a:pt x="27781" y="84645"/>
                  <a:pt x="25114" y="87313"/>
                  <a:pt x="21828" y="87313"/>
                </a:cubicBezTo>
                <a:close/>
                <a:moveTo>
                  <a:pt x="53578" y="81359"/>
                </a:moveTo>
                <a:cubicBezTo>
                  <a:pt x="53578" y="84645"/>
                  <a:pt x="50911" y="87313"/>
                  <a:pt x="47625" y="87313"/>
                </a:cubicBezTo>
                <a:cubicBezTo>
                  <a:pt x="44339" y="87313"/>
                  <a:pt x="41672" y="84645"/>
                  <a:pt x="41672" y="81359"/>
                </a:cubicBezTo>
                <a:cubicBezTo>
                  <a:pt x="41672" y="78074"/>
                  <a:pt x="44339" y="75406"/>
                  <a:pt x="47625" y="75406"/>
                </a:cubicBezTo>
                <a:cubicBezTo>
                  <a:pt x="50911" y="75406"/>
                  <a:pt x="53578" y="78074"/>
                  <a:pt x="53578" y="81359"/>
                </a:cubicBezTo>
                <a:close/>
                <a:moveTo>
                  <a:pt x="73422" y="87313"/>
                </a:moveTo>
                <a:cubicBezTo>
                  <a:pt x="70136" y="87313"/>
                  <a:pt x="67469" y="84645"/>
                  <a:pt x="67469" y="81359"/>
                </a:cubicBezTo>
                <a:cubicBezTo>
                  <a:pt x="67469" y="78074"/>
                  <a:pt x="70136" y="75406"/>
                  <a:pt x="73422" y="75406"/>
                </a:cubicBezTo>
                <a:cubicBezTo>
                  <a:pt x="76707" y="75406"/>
                  <a:pt x="79375" y="78074"/>
                  <a:pt x="79375" y="81359"/>
                </a:cubicBezTo>
                <a:cubicBezTo>
                  <a:pt x="79375" y="84645"/>
                  <a:pt x="76707" y="87313"/>
                  <a:pt x="73422" y="87313"/>
                </a:cubicBezTo>
                <a:close/>
                <a:moveTo>
                  <a:pt x="15875" y="105172"/>
                </a:moveTo>
                <a:cubicBezTo>
                  <a:pt x="15875" y="101873"/>
                  <a:pt x="18529" y="99219"/>
                  <a:pt x="21828" y="99219"/>
                </a:cubicBezTo>
                <a:lnTo>
                  <a:pt x="49609" y="99219"/>
                </a:lnTo>
                <a:cubicBezTo>
                  <a:pt x="52908" y="99219"/>
                  <a:pt x="55563" y="101873"/>
                  <a:pt x="55563" y="105172"/>
                </a:cubicBezTo>
                <a:cubicBezTo>
                  <a:pt x="55563" y="108471"/>
                  <a:pt x="52908" y="111125"/>
                  <a:pt x="49609" y="111125"/>
                </a:cubicBezTo>
                <a:lnTo>
                  <a:pt x="21828" y="111125"/>
                </a:lnTo>
                <a:cubicBezTo>
                  <a:pt x="18529" y="111125"/>
                  <a:pt x="15875" y="108471"/>
                  <a:pt x="15875" y="105172"/>
                </a:cubicBezTo>
                <a:close/>
                <a:moveTo>
                  <a:pt x="73422" y="99219"/>
                </a:moveTo>
                <a:cubicBezTo>
                  <a:pt x="76721" y="99219"/>
                  <a:pt x="79375" y="101873"/>
                  <a:pt x="79375" y="105172"/>
                </a:cubicBezTo>
                <a:cubicBezTo>
                  <a:pt x="79375" y="108471"/>
                  <a:pt x="76721" y="111125"/>
                  <a:pt x="73422" y="111125"/>
                </a:cubicBezTo>
                <a:cubicBezTo>
                  <a:pt x="70123" y="111125"/>
                  <a:pt x="67469" y="108471"/>
                  <a:pt x="67469" y="105172"/>
                </a:cubicBezTo>
                <a:cubicBezTo>
                  <a:pt x="67469" y="101873"/>
                  <a:pt x="70123" y="99219"/>
                  <a:pt x="73422" y="99219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16" name="Text 14"/>
          <p:cNvSpPr/>
          <p:nvPr/>
        </p:nvSpPr>
        <p:spPr>
          <a:xfrm>
            <a:off x="769938" y="2389188"/>
            <a:ext cx="571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估值模型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7688" y="2643188"/>
            <a:ext cx="5310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PE/PB/PS估值、DCF现金流折现、相对估值法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2438" y="2960688"/>
            <a:ext cx="5445125" cy="603250"/>
          </a:xfrm>
          <a:custGeom>
            <a:avLst/>
            <a:gdLst/>
            <a:ahLst/>
            <a:cxnLst/>
            <a:rect l="l" t="t" r="r" b="b"/>
            <a:pathLst>
              <a:path w="5445125" h="603250">
                <a:moveTo>
                  <a:pt x="63498" y="0"/>
                </a:moveTo>
                <a:lnTo>
                  <a:pt x="5381627" y="0"/>
                </a:lnTo>
                <a:cubicBezTo>
                  <a:pt x="5416696" y="0"/>
                  <a:pt x="5445125" y="28429"/>
                  <a:pt x="5445125" y="63498"/>
                </a:cubicBezTo>
                <a:lnTo>
                  <a:pt x="5445125" y="539752"/>
                </a:lnTo>
                <a:cubicBezTo>
                  <a:pt x="5445125" y="574821"/>
                  <a:pt x="5416696" y="603250"/>
                  <a:pt x="53816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563563" y="308768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31750" y="23812"/>
                </a:moveTo>
                <a:lnTo>
                  <a:pt x="31750" y="19844"/>
                </a:lnTo>
                <a:cubicBezTo>
                  <a:pt x="31750" y="8880"/>
                  <a:pt x="53082" y="0"/>
                  <a:pt x="79375" y="0"/>
                </a:cubicBezTo>
                <a:cubicBezTo>
                  <a:pt x="105668" y="0"/>
                  <a:pt x="127000" y="8880"/>
                  <a:pt x="127000" y="19844"/>
                </a:cubicBezTo>
                <a:lnTo>
                  <a:pt x="127000" y="23812"/>
                </a:lnTo>
                <a:cubicBezTo>
                  <a:pt x="127000" y="31403"/>
                  <a:pt x="116756" y="38001"/>
                  <a:pt x="101699" y="41349"/>
                </a:cubicBezTo>
                <a:cubicBezTo>
                  <a:pt x="101104" y="40655"/>
                  <a:pt x="100484" y="39985"/>
                  <a:pt x="99864" y="39365"/>
                </a:cubicBezTo>
                <a:cubicBezTo>
                  <a:pt x="96019" y="35570"/>
                  <a:pt x="91058" y="32693"/>
                  <a:pt x="85874" y="30559"/>
                </a:cubicBezTo>
                <a:cubicBezTo>
                  <a:pt x="75481" y="26219"/>
                  <a:pt x="61937" y="23837"/>
                  <a:pt x="47625" y="23837"/>
                </a:cubicBezTo>
                <a:cubicBezTo>
                  <a:pt x="42193" y="23837"/>
                  <a:pt x="36885" y="24185"/>
                  <a:pt x="31800" y="24854"/>
                </a:cubicBezTo>
                <a:cubicBezTo>
                  <a:pt x="31750" y="24532"/>
                  <a:pt x="31750" y="24185"/>
                  <a:pt x="31750" y="23837"/>
                </a:cubicBezTo>
                <a:close/>
                <a:moveTo>
                  <a:pt x="107156" y="87561"/>
                </a:moveTo>
                <a:lnTo>
                  <a:pt x="107156" y="76101"/>
                </a:lnTo>
                <a:cubicBezTo>
                  <a:pt x="110902" y="75133"/>
                  <a:pt x="114424" y="73992"/>
                  <a:pt x="117624" y="72653"/>
                </a:cubicBezTo>
                <a:cubicBezTo>
                  <a:pt x="120898" y="71289"/>
                  <a:pt x="124098" y="69627"/>
                  <a:pt x="127000" y="67618"/>
                </a:cubicBezTo>
                <a:lnTo>
                  <a:pt x="127000" y="71438"/>
                </a:lnTo>
                <a:cubicBezTo>
                  <a:pt x="127000" y="78085"/>
                  <a:pt x="119187" y="83964"/>
                  <a:pt x="107156" y="87561"/>
                </a:cubicBezTo>
                <a:close/>
                <a:moveTo>
                  <a:pt x="107156" y="63748"/>
                </a:moveTo>
                <a:lnTo>
                  <a:pt x="107156" y="55563"/>
                </a:lnTo>
                <a:cubicBezTo>
                  <a:pt x="107156" y="54446"/>
                  <a:pt x="107057" y="53380"/>
                  <a:pt x="106908" y="52338"/>
                </a:cubicBezTo>
                <a:cubicBezTo>
                  <a:pt x="110753" y="51371"/>
                  <a:pt x="114350" y="50205"/>
                  <a:pt x="117624" y="48816"/>
                </a:cubicBezTo>
                <a:cubicBezTo>
                  <a:pt x="120898" y="47427"/>
                  <a:pt x="124098" y="45789"/>
                  <a:pt x="127000" y="43780"/>
                </a:cubicBezTo>
                <a:lnTo>
                  <a:pt x="127000" y="47600"/>
                </a:lnTo>
                <a:cubicBezTo>
                  <a:pt x="127000" y="54248"/>
                  <a:pt x="119187" y="60127"/>
                  <a:pt x="107156" y="63723"/>
                </a:cubicBezTo>
                <a:close/>
                <a:moveTo>
                  <a:pt x="0" y="59531"/>
                </a:moveTo>
                <a:lnTo>
                  <a:pt x="0" y="55563"/>
                </a:lnTo>
                <a:cubicBezTo>
                  <a:pt x="0" y="44599"/>
                  <a:pt x="21332" y="35719"/>
                  <a:pt x="47625" y="35719"/>
                </a:cubicBezTo>
                <a:cubicBezTo>
                  <a:pt x="73918" y="35719"/>
                  <a:pt x="95250" y="44599"/>
                  <a:pt x="95250" y="55563"/>
                </a:cubicBezTo>
                <a:lnTo>
                  <a:pt x="95250" y="59531"/>
                </a:lnTo>
                <a:cubicBezTo>
                  <a:pt x="95250" y="70495"/>
                  <a:pt x="73918" y="79375"/>
                  <a:pt x="47625" y="79375"/>
                </a:cubicBezTo>
                <a:cubicBezTo>
                  <a:pt x="21332" y="79375"/>
                  <a:pt x="0" y="70495"/>
                  <a:pt x="0" y="59531"/>
                </a:cubicBezTo>
                <a:close/>
                <a:moveTo>
                  <a:pt x="95250" y="83344"/>
                </a:moveTo>
                <a:cubicBezTo>
                  <a:pt x="95250" y="94307"/>
                  <a:pt x="73918" y="103188"/>
                  <a:pt x="47625" y="103188"/>
                </a:cubicBezTo>
                <a:cubicBezTo>
                  <a:pt x="21332" y="103188"/>
                  <a:pt x="0" y="94307"/>
                  <a:pt x="0" y="83344"/>
                </a:cubicBezTo>
                <a:lnTo>
                  <a:pt x="0" y="79524"/>
                </a:lnTo>
                <a:cubicBezTo>
                  <a:pt x="2877" y="81533"/>
                  <a:pt x="6077" y="83170"/>
                  <a:pt x="9376" y="84559"/>
                </a:cubicBezTo>
                <a:cubicBezTo>
                  <a:pt x="19769" y="88900"/>
                  <a:pt x="33313" y="91281"/>
                  <a:pt x="47625" y="91281"/>
                </a:cubicBezTo>
                <a:cubicBezTo>
                  <a:pt x="61937" y="91281"/>
                  <a:pt x="75481" y="88875"/>
                  <a:pt x="85874" y="84559"/>
                </a:cubicBezTo>
                <a:cubicBezTo>
                  <a:pt x="89148" y="83195"/>
                  <a:pt x="92348" y="81533"/>
                  <a:pt x="95250" y="79524"/>
                </a:cubicBezTo>
                <a:lnTo>
                  <a:pt x="95250" y="83344"/>
                </a:lnTo>
                <a:close/>
                <a:moveTo>
                  <a:pt x="95250" y="103336"/>
                </a:moveTo>
                <a:lnTo>
                  <a:pt x="95250" y="107156"/>
                </a:lnTo>
                <a:cubicBezTo>
                  <a:pt x="95250" y="118120"/>
                  <a:pt x="73918" y="127000"/>
                  <a:pt x="47625" y="127000"/>
                </a:cubicBezTo>
                <a:cubicBezTo>
                  <a:pt x="21332" y="127000"/>
                  <a:pt x="0" y="118120"/>
                  <a:pt x="0" y="107156"/>
                </a:cubicBezTo>
                <a:lnTo>
                  <a:pt x="0" y="103336"/>
                </a:lnTo>
                <a:cubicBezTo>
                  <a:pt x="2877" y="105346"/>
                  <a:pt x="6077" y="106983"/>
                  <a:pt x="9376" y="108372"/>
                </a:cubicBezTo>
                <a:cubicBezTo>
                  <a:pt x="19769" y="112713"/>
                  <a:pt x="33313" y="115094"/>
                  <a:pt x="47625" y="115094"/>
                </a:cubicBezTo>
                <a:cubicBezTo>
                  <a:pt x="61937" y="115094"/>
                  <a:pt x="75481" y="112688"/>
                  <a:pt x="85874" y="108372"/>
                </a:cubicBezTo>
                <a:cubicBezTo>
                  <a:pt x="89148" y="107007"/>
                  <a:pt x="92348" y="105346"/>
                  <a:pt x="95250" y="103336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20" name="Text 18"/>
          <p:cNvSpPr/>
          <p:nvPr/>
        </p:nvSpPr>
        <p:spPr>
          <a:xfrm>
            <a:off x="769938" y="3055938"/>
            <a:ext cx="825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盈利能力评估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7688" y="3309938"/>
            <a:ext cx="5310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ROE/ROA/毛利率分析、盈利质量评估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2438" y="3690937"/>
            <a:ext cx="5445125" cy="317500"/>
          </a:xfrm>
          <a:custGeom>
            <a:avLst/>
            <a:gdLst/>
            <a:ahLst/>
            <a:cxnLst/>
            <a:rect l="l" t="t" r="r" b="b"/>
            <a:pathLst>
              <a:path w="5445125" h="317500">
                <a:moveTo>
                  <a:pt x="63500" y="0"/>
                </a:moveTo>
                <a:lnTo>
                  <a:pt x="5381625" y="0"/>
                </a:lnTo>
                <a:cubicBezTo>
                  <a:pt x="5416672" y="0"/>
                  <a:pt x="5445125" y="28453"/>
                  <a:pt x="5445125" y="63500"/>
                </a:cubicBezTo>
                <a:lnTo>
                  <a:pt x="5445125" y="254000"/>
                </a:lnTo>
                <a:cubicBezTo>
                  <a:pt x="5445125" y="289047"/>
                  <a:pt x="5416672" y="317500"/>
                  <a:pt x="5381625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</p:spPr>
      </p:sp>
      <p:sp>
        <p:nvSpPr>
          <p:cNvPr id="23" name="Text 21"/>
          <p:cNvSpPr/>
          <p:nvPr/>
        </p:nvSpPr>
        <p:spPr>
          <a:xfrm>
            <a:off x="2450951" y="3782219"/>
            <a:ext cx="1448098" cy="1468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业务价值: 识别价值投资机会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63469" y="1019969"/>
            <a:ext cx="5707063" cy="3119438"/>
          </a:xfrm>
          <a:custGeom>
            <a:avLst/>
            <a:gdLst/>
            <a:ahLst/>
            <a:cxnLst/>
            <a:rect l="l" t="t" r="r" b="b"/>
            <a:pathLst>
              <a:path w="5707063" h="3119438">
                <a:moveTo>
                  <a:pt x="95236" y="0"/>
                </a:moveTo>
                <a:lnTo>
                  <a:pt x="5611826" y="0"/>
                </a:lnTo>
                <a:cubicBezTo>
                  <a:pt x="5664388" y="0"/>
                  <a:pt x="5707063" y="42674"/>
                  <a:pt x="5707063" y="95236"/>
                </a:cubicBezTo>
                <a:lnTo>
                  <a:pt x="5707063" y="3024201"/>
                </a:lnTo>
                <a:cubicBezTo>
                  <a:pt x="5707062" y="3076799"/>
                  <a:pt x="5664424" y="3119438"/>
                  <a:pt x="5611826" y="3119438"/>
                </a:cubicBezTo>
                <a:lnTo>
                  <a:pt x="95236" y="3119438"/>
                </a:lnTo>
                <a:cubicBezTo>
                  <a:pt x="42639" y="3119438"/>
                  <a:pt x="0" y="3076799"/>
                  <a:pt x="0" y="3024201"/>
                </a:cubicBezTo>
                <a:lnTo>
                  <a:pt x="0" y="95236"/>
                </a:lnTo>
                <a:cubicBezTo>
                  <a:pt x="0" y="42674"/>
                  <a:pt x="42674" y="0"/>
                  <a:pt x="95236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94438" y="115093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</p:spPr>
      </p:sp>
      <p:sp>
        <p:nvSpPr>
          <p:cNvPr id="26" name="Shape 24"/>
          <p:cNvSpPr/>
          <p:nvPr/>
        </p:nvSpPr>
        <p:spPr>
          <a:xfrm>
            <a:off x="6389688" y="124618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4A6C8C"/>
          </a:solidFill>
        </p:spPr>
      </p:sp>
      <p:sp>
        <p:nvSpPr>
          <p:cNvPr id="27" name="Text 25"/>
          <p:cNvSpPr/>
          <p:nvPr/>
        </p:nvSpPr>
        <p:spPr>
          <a:xfrm>
            <a:off x="6770688" y="1150938"/>
            <a:ext cx="100806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技术面分析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70688" y="1373188"/>
            <a:ext cx="98425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Technical Analysis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94438" y="1627188"/>
            <a:ext cx="5445125" cy="603250"/>
          </a:xfrm>
          <a:custGeom>
            <a:avLst/>
            <a:gdLst/>
            <a:ahLst/>
            <a:cxnLst/>
            <a:rect l="l" t="t" r="r" b="b"/>
            <a:pathLst>
              <a:path w="5445125" h="603250">
                <a:moveTo>
                  <a:pt x="63498" y="0"/>
                </a:moveTo>
                <a:lnTo>
                  <a:pt x="5381627" y="0"/>
                </a:lnTo>
                <a:cubicBezTo>
                  <a:pt x="5416696" y="0"/>
                  <a:pt x="5445125" y="28429"/>
                  <a:pt x="5445125" y="63498"/>
                </a:cubicBezTo>
                <a:lnTo>
                  <a:pt x="5445125" y="539752"/>
                </a:lnTo>
                <a:cubicBezTo>
                  <a:pt x="5445125" y="574821"/>
                  <a:pt x="5416696" y="603250"/>
                  <a:pt x="53816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6405563" y="175418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5875" y="23812"/>
                </a:moveTo>
                <a:cubicBezTo>
                  <a:pt x="15875" y="19422"/>
                  <a:pt x="19422" y="15875"/>
                  <a:pt x="23812" y="15875"/>
                </a:cubicBezTo>
                <a:lnTo>
                  <a:pt x="63500" y="15875"/>
                </a:lnTo>
                <a:cubicBezTo>
                  <a:pt x="67890" y="15875"/>
                  <a:pt x="71438" y="19422"/>
                  <a:pt x="71438" y="23812"/>
                </a:cubicBezTo>
                <a:lnTo>
                  <a:pt x="71438" y="95250"/>
                </a:lnTo>
                <a:lnTo>
                  <a:pt x="95250" y="95250"/>
                </a:lnTo>
                <a:lnTo>
                  <a:pt x="95250" y="63500"/>
                </a:lnTo>
                <a:cubicBezTo>
                  <a:pt x="95250" y="59110"/>
                  <a:pt x="98797" y="55563"/>
                  <a:pt x="103188" y="55563"/>
                </a:cubicBezTo>
                <a:lnTo>
                  <a:pt x="119063" y="55563"/>
                </a:lnTo>
                <a:cubicBezTo>
                  <a:pt x="123453" y="55563"/>
                  <a:pt x="127000" y="59110"/>
                  <a:pt x="127000" y="63500"/>
                </a:cubicBezTo>
                <a:cubicBezTo>
                  <a:pt x="127000" y="67890"/>
                  <a:pt x="123453" y="71438"/>
                  <a:pt x="119063" y="71438"/>
                </a:cubicBezTo>
                <a:lnTo>
                  <a:pt x="111125" y="71438"/>
                </a:lnTo>
                <a:lnTo>
                  <a:pt x="111125" y="103188"/>
                </a:lnTo>
                <a:cubicBezTo>
                  <a:pt x="111125" y="107578"/>
                  <a:pt x="107578" y="111125"/>
                  <a:pt x="103188" y="111125"/>
                </a:cubicBezTo>
                <a:lnTo>
                  <a:pt x="63500" y="111125"/>
                </a:lnTo>
                <a:cubicBezTo>
                  <a:pt x="59110" y="111125"/>
                  <a:pt x="55563" y="107578"/>
                  <a:pt x="55563" y="103188"/>
                </a:cubicBezTo>
                <a:lnTo>
                  <a:pt x="55563" y="31750"/>
                </a:lnTo>
                <a:lnTo>
                  <a:pt x="31750" y="31750"/>
                </a:lnTo>
                <a:lnTo>
                  <a:pt x="31750" y="63500"/>
                </a:lnTo>
                <a:cubicBezTo>
                  <a:pt x="31750" y="67890"/>
                  <a:pt x="28203" y="71438"/>
                  <a:pt x="23812" y="71438"/>
                </a:cubicBezTo>
                <a:lnTo>
                  <a:pt x="7938" y="71438"/>
                </a:lnTo>
                <a:cubicBezTo>
                  <a:pt x="3547" y="71438"/>
                  <a:pt x="0" y="67890"/>
                  <a:pt x="0" y="63500"/>
                </a:cubicBezTo>
                <a:cubicBezTo>
                  <a:pt x="0" y="59110"/>
                  <a:pt x="3547" y="55563"/>
                  <a:pt x="7938" y="55563"/>
                </a:cubicBezTo>
                <a:lnTo>
                  <a:pt x="15875" y="55563"/>
                </a:lnTo>
                <a:lnTo>
                  <a:pt x="15875" y="23812"/>
                </a:lnTo>
                <a:close/>
              </a:path>
            </a:pathLst>
          </a:custGeom>
          <a:solidFill>
            <a:srgbClr val="4A6C8C"/>
          </a:solidFill>
        </p:spPr>
      </p:sp>
      <p:sp>
        <p:nvSpPr>
          <p:cNvPr id="31" name="Text 29"/>
          <p:cNvSpPr/>
          <p:nvPr/>
        </p:nvSpPr>
        <p:spPr>
          <a:xfrm>
            <a:off x="6611938" y="1722438"/>
            <a:ext cx="825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技术指标计算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89688" y="1976438"/>
            <a:ext cx="5310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MA/RSI/MACD/BOLL/KDJ等指标库,全面覆盖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94438" y="2293938"/>
            <a:ext cx="5445125" cy="603250"/>
          </a:xfrm>
          <a:custGeom>
            <a:avLst/>
            <a:gdLst/>
            <a:ahLst/>
            <a:cxnLst/>
            <a:rect l="l" t="t" r="r" b="b"/>
            <a:pathLst>
              <a:path w="5445125" h="603250">
                <a:moveTo>
                  <a:pt x="63498" y="0"/>
                </a:moveTo>
                <a:lnTo>
                  <a:pt x="5381627" y="0"/>
                </a:lnTo>
                <a:cubicBezTo>
                  <a:pt x="5416696" y="0"/>
                  <a:pt x="5445125" y="28429"/>
                  <a:pt x="5445125" y="63498"/>
                </a:cubicBezTo>
                <a:lnTo>
                  <a:pt x="5445125" y="539752"/>
                </a:lnTo>
                <a:cubicBezTo>
                  <a:pt x="5445125" y="574821"/>
                  <a:pt x="5416696" y="603250"/>
                  <a:pt x="53816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34" name="Shape 32"/>
          <p:cNvSpPr/>
          <p:nvPr/>
        </p:nvSpPr>
        <p:spPr>
          <a:xfrm>
            <a:off x="6397625" y="2420938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95250" y="39688"/>
                </a:moveTo>
                <a:cubicBezTo>
                  <a:pt x="90860" y="39688"/>
                  <a:pt x="87313" y="36140"/>
                  <a:pt x="87313" y="31750"/>
                </a:cubicBezTo>
                <a:cubicBezTo>
                  <a:pt x="87313" y="27360"/>
                  <a:pt x="90860" y="23812"/>
                  <a:pt x="95250" y="23812"/>
                </a:cubicBezTo>
                <a:lnTo>
                  <a:pt x="134938" y="23812"/>
                </a:lnTo>
                <a:cubicBezTo>
                  <a:pt x="139328" y="23812"/>
                  <a:pt x="142875" y="27360"/>
                  <a:pt x="142875" y="31750"/>
                </a:cubicBezTo>
                <a:lnTo>
                  <a:pt x="142875" y="71438"/>
                </a:lnTo>
                <a:cubicBezTo>
                  <a:pt x="142875" y="75828"/>
                  <a:pt x="139328" y="79375"/>
                  <a:pt x="134938" y="79375"/>
                </a:cubicBezTo>
                <a:cubicBezTo>
                  <a:pt x="130547" y="79375"/>
                  <a:pt x="127000" y="75828"/>
                  <a:pt x="127000" y="71438"/>
                </a:cubicBezTo>
                <a:lnTo>
                  <a:pt x="127000" y="50924"/>
                </a:lnTo>
                <a:lnTo>
                  <a:pt x="84981" y="92943"/>
                </a:lnTo>
                <a:cubicBezTo>
                  <a:pt x="81880" y="96044"/>
                  <a:pt x="76845" y="96044"/>
                  <a:pt x="73744" y="92943"/>
                </a:cubicBezTo>
                <a:lnTo>
                  <a:pt x="47625" y="66799"/>
                </a:lnTo>
                <a:lnTo>
                  <a:pt x="13543" y="100856"/>
                </a:lnTo>
                <a:cubicBezTo>
                  <a:pt x="10443" y="103956"/>
                  <a:pt x="5407" y="103956"/>
                  <a:pt x="2307" y="100856"/>
                </a:cubicBezTo>
                <a:cubicBezTo>
                  <a:pt x="-794" y="97755"/>
                  <a:pt x="-794" y="92720"/>
                  <a:pt x="2307" y="89619"/>
                </a:cubicBezTo>
                <a:lnTo>
                  <a:pt x="41994" y="49932"/>
                </a:lnTo>
                <a:cubicBezTo>
                  <a:pt x="45095" y="46831"/>
                  <a:pt x="50130" y="46831"/>
                  <a:pt x="53231" y="49932"/>
                </a:cubicBezTo>
                <a:lnTo>
                  <a:pt x="79375" y="76076"/>
                </a:lnTo>
                <a:lnTo>
                  <a:pt x="115763" y="39688"/>
                </a:lnTo>
                <a:lnTo>
                  <a:pt x="95250" y="39688"/>
                </a:lnTo>
                <a:close/>
              </a:path>
            </a:pathLst>
          </a:custGeom>
          <a:solidFill>
            <a:srgbClr val="4A6C8C"/>
          </a:solidFill>
        </p:spPr>
      </p:sp>
      <p:sp>
        <p:nvSpPr>
          <p:cNvPr id="35" name="Text 33"/>
          <p:cNvSpPr/>
          <p:nvPr/>
        </p:nvSpPr>
        <p:spPr>
          <a:xfrm>
            <a:off x="6611938" y="2389188"/>
            <a:ext cx="571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趋势识别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389688" y="2643188"/>
            <a:ext cx="5310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支撑阻力位识别、趋势通道分析、形态识别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294438" y="2960688"/>
            <a:ext cx="5445125" cy="603250"/>
          </a:xfrm>
          <a:custGeom>
            <a:avLst/>
            <a:gdLst/>
            <a:ahLst/>
            <a:cxnLst/>
            <a:rect l="l" t="t" r="r" b="b"/>
            <a:pathLst>
              <a:path w="5445125" h="603250">
                <a:moveTo>
                  <a:pt x="63498" y="0"/>
                </a:moveTo>
                <a:lnTo>
                  <a:pt x="5381627" y="0"/>
                </a:lnTo>
                <a:cubicBezTo>
                  <a:pt x="5416696" y="0"/>
                  <a:pt x="5445125" y="28429"/>
                  <a:pt x="5445125" y="63498"/>
                </a:cubicBezTo>
                <a:lnTo>
                  <a:pt x="5445125" y="539752"/>
                </a:lnTo>
                <a:cubicBezTo>
                  <a:pt x="5445125" y="574821"/>
                  <a:pt x="5416696" y="603250"/>
                  <a:pt x="53816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38" name="Shape 36"/>
          <p:cNvSpPr/>
          <p:nvPr/>
        </p:nvSpPr>
        <p:spPr>
          <a:xfrm>
            <a:off x="6413500" y="3087688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55563" y="0"/>
                </a:moveTo>
                <a:cubicBezTo>
                  <a:pt x="51172" y="0"/>
                  <a:pt x="47625" y="3547"/>
                  <a:pt x="47625" y="7938"/>
                </a:cubicBezTo>
                <a:lnTo>
                  <a:pt x="47625" y="8731"/>
                </a:lnTo>
                <a:cubicBezTo>
                  <a:pt x="29518" y="12402"/>
                  <a:pt x="15875" y="28426"/>
                  <a:pt x="15875" y="47625"/>
                </a:cubicBezTo>
                <a:lnTo>
                  <a:pt x="15875" y="53008"/>
                </a:lnTo>
                <a:cubicBezTo>
                  <a:pt x="15875" y="64939"/>
                  <a:pt x="11807" y="76522"/>
                  <a:pt x="4366" y="85849"/>
                </a:cubicBezTo>
                <a:lnTo>
                  <a:pt x="1935" y="88875"/>
                </a:lnTo>
                <a:cubicBezTo>
                  <a:pt x="670" y="90438"/>
                  <a:pt x="0" y="92373"/>
                  <a:pt x="0" y="94382"/>
                </a:cubicBezTo>
                <a:cubicBezTo>
                  <a:pt x="0" y="99244"/>
                  <a:pt x="3944" y="103188"/>
                  <a:pt x="8806" y="103188"/>
                </a:cubicBezTo>
                <a:lnTo>
                  <a:pt x="102295" y="103188"/>
                </a:lnTo>
                <a:cubicBezTo>
                  <a:pt x="107156" y="103188"/>
                  <a:pt x="111100" y="99244"/>
                  <a:pt x="111100" y="94382"/>
                </a:cubicBezTo>
                <a:cubicBezTo>
                  <a:pt x="111100" y="92373"/>
                  <a:pt x="110430" y="90438"/>
                  <a:pt x="109165" y="88875"/>
                </a:cubicBezTo>
                <a:lnTo>
                  <a:pt x="106735" y="85849"/>
                </a:lnTo>
                <a:cubicBezTo>
                  <a:pt x="99318" y="76522"/>
                  <a:pt x="95250" y="64939"/>
                  <a:pt x="95250" y="53008"/>
                </a:cubicBezTo>
                <a:lnTo>
                  <a:pt x="95250" y="47625"/>
                </a:lnTo>
                <a:cubicBezTo>
                  <a:pt x="95250" y="28426"/>
                  <a:pt x="81607" y="12402"/>
                  <a:pt x="63500" y="8731"/>
                </a:cubicBezTo>
                <a:lnTo>
                  <a:pt x="63500" y="7937"/>
                </a:lnTo>
                <a:cubicBezTo>
                  <a:pt x="63500" y="3547"/>
                  <a:pt x="59953" y="0"/>
                  <a:pt x="55563" y="0"/>
                </a:cubicBezTo>
                <a:close/>
                <a:moveTo>
                  <a:pt x="40184" y="115094"/>
                </a:moveTo>
                <a:cubicBezTo>
                  <a:pt x="41945" y="121940"/>
                  <a:pt x="48171" y="127000"/>
                  <a:pt x="55563" y="127000"/>
                </a:cubicBezTo>
                <a:cubicBezTo>
                  <a:pt x="62954" y="127000"/>
                  <a:pt x="69180" y="121940"/>
                  <a:pt x="70941" y="115094"/>
                </a:cubicBezTo>
                <a:lnTo>
                  <a:pt x="40184" y="115094"/>
                </a:lnTo>
                <a:close/>
              </a:path>
            </a:pathLst>
          </a:custGeom>
          <a:solidFill>
            <a:srgbClr val="4A6C8C"/>
          </a:solidFill>
        </p:spPr>
      </p:sp>
      <p:sp>
        <p:nvSpPr>
          <p:cNvPr id="39" name="Text 37"/>
          <p:cNvSpPr/>
          <p:nvPr/>
        </p:nvSpPr>
        <p:spPr>
          <a:xfrm>
            <a:off x="6611938" y="3055938"/>
            <a:ext cx="825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交易信号生成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89688" y="3309938"/>
            <a:ext cx="5310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买入/卖出信号、止损止盈建议、仓位管理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294438" y="3690937"/>
            <a:ext cx="5445125" cy="317500"/>
          </a:xfrm>
          <a:custGeom>
            <a:avLst/>
            <a:gdLst/>
            <a:ahLst/>
            <a:cxnLst/>
            <a:rect l="l" t="t" r="r" b="b"/>
            <a:pathLst>
              <a:path w="5445125" h="317500">
                <a:moveTo>
                  <a:pt x="63500" y="0"/>
                </a:moveTo>
                <a:lnTo>
                  <a:pt x="5381625" y="0"/>
                </a:lnTo>
                <a:cubicBezTo>
                  <a:pt x="5416672" y="0"/>
                  <a:pt x="5445125" y="28453"/>
                  <a:pt x="5445125" y="63500"/>
                </a:cubicBezTo>
                <a:lnTo>
                  <a:pt x="5445125" y="254000"/>
                </a:lnTo>
                <a:cubicBezTo>
                  <a:pt x="5445125" y="289047"/>
                  <a:pt x="5416672" y="317500"/>
                  <a:pt x="5381625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</p:spPr>
      </p:sp>
      <p:sp>
        <p:nvSpPr>
          <p:cNvPr id="42" name="Text 40"/>
          <p:cNvSpPr/>
          <p:nvPr/>
        </p:nvSpPr>
        <p:spPr>
          <a:xfrm>
            <a:off x="8404076" y="3782219"/>
            <a:ext cx="1225848" cy="1468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4A6C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业务价值: 把握买卖时机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21469" y="4274344"/>
            <a:ext cx="5707063" cy="3119438"/>
          </a:xfrm>
          <a:custGeom>
            <a:avLst/>
            <a:gdLst/>
            <a:ahLst/>
            <a:cxnLst/>
            <a:rect l="l" t="t" r="r" b="b"/>
            <a:pathLst>
              <a:path w="5707063" h="3119438">
                <a:moveTo>
                  <a:pt x="95236" y="0"/>
                </a:moveTo>
                <a:lnTo>
                  <a:pt x="5611826" y="0"/>
                </a:lnTo>
                <a:cubicBezTo>
                  <a:pt x="5664388" y="0"/>
                  <a:pt x="5707063" y="42674"/>
                  <a:pt x="5707063" y="95236"/>
                </a:cubicBezTo>
                <a:lnTo>
                  <a:pt x="5707063" y="3024201"/>
                </a:lnTo>
                <a:cubicBezTo>
                  <a:pt x="5707062" y="3076799"/>
                  <a:pt x="5664424" y="3119438"/>
                  <a:pt x="5611826" y="3119438"/>
                </a:cubicBezTo>
                <a:lnTo>
                  <a:pt x="95236" y="3119438"/>
                </a:lnTo>
                <a:cubicBezTo>
                  <a:pt x="42639" y="3119438"/>
                  <a:pt x="0" y="3076799"/>
                  <a:pt x="0" y="3024201"/>
                </a:cubicBezTo>
                <a:lnTo>
                  <a:pt x="0" y="95236"/>
                </a:lnTo>
                <a:cubicBezTo>
                  <a:pt x="0" y="42674"/>
                  <a:pt x="42674" y="0"/>
                  <a:pt x="95236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 w="12700">
            <a:solidFill>
              <a:srgbClr val="8D99AE">
                <a:alpha val="3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2438" y="44053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</p:spPr>
      </p:sp>
      <p:sp>
        <p:nvSpPr>
          <p:cNvPr id="45" name="Shape 43"/>
          <p:cNvSpPr/>
          <p:nvPr/>
        </p:nvSpPr>
        <p:spPr>
          <a:xfrm>
            <a:off x="547688" y="450056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154781"/>
                </a:moveTo>
                <a:lnTo>
                  <a:pt x="0" y="44648"/>
                </a:lnTo>
                <a:cubicBezTo>
                  <a:pt x="0" y="39700"/>
                  <a:pt x="3981" y="35719"/>
                  <a:pt x="8930" y="35719"/>
                </a:cubicBezTo>
                <a:cubicBezTo>
                  <a:pt x="13878" y="35719"/>
                  <a:pt x="17859" y="39700"/>
                  <a:pt x="17859" y="44648"/>
                </a:cubicBezTo>
                <a:lnTo>
                  <a:pt x="17859" y="151805"/>
                </a:lnTo>
                <a:cubicBezTo>
                  <a:pt x="17859" y="156753"/>
                  <a:pt x="21841" y="160734"/>
                  <a:pt x="26789" y="160734"/>
                </a:cubicBezTo>
                <a:cubicBezTo>
                  <a:pt x="31738" y="160734"/>
                  <a:pt x="35719" y="156753"/>
                  <a:pt x="35719" y="151805"/>
                </a:cubicBezTo>
                <a:lnTo>
                  <a:pt x="35719" y="35719"/>
                </a:lnTo>
                <a:cubicBezTo>
                  <a:pt x="35719" y="22585"/>
                  <a:pt x="46397" y="11906"/>
                  <a:pt x="59531" y="11906"/>
                </a:cubicBezTo>
                <a:lnTo>
                  <a:pt x="166688" y="11906"/>
                </a:lnTo>
                <a:cubicBezTo>
                  <a:pt x="179822" y="11906"/>
                  <a:pt x="190500" y="22585"/>
                  <a:pt x="190500" y="35719"/>
                </a:cubicBezTo>
                <a:lnTo>
                  <a:pt x="190500" y="154781"/>
                </a:lnTo>
                <a:cubicBezTo>
                  <a:pt x="190500" y="167915"/>
                  <a:pt x="179822" y="178594"/>
                  <a:pt x="166688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close/>
                <a:moveTo>
                  <a:pt x="59531" y="47625"/>
                </a:moveTo>
                <a:lnTo>
                  <a:pt x="59531" y="71438"/>
                </a:lnTo>
                <a:cubicBezTo>
                  <a:pt x="59531" y="78023"/>
                  <a:pt x="64852" y="83344"/>
                  <a:pt x="71438" y="83344"/>
                </a:cubicBezTo>
                <a:lnTo>
                  <a:pt x="95250" y="83344"/>
                </a:lnTo>
                <a:cubicBezTo>
                  <a:pt x="101836" y="83344"/>
                  <a:pt x="107156" y="78023"/>
                  <a:pt x="107156" y="71438"/>
                </a:cubicBezTo>
                <a:lnTo>
                  <a:pt x="107156" y="47625"/>
                </a:lnTo>
                <a:cubicBezTo>
                  <a:pt x="107156" y="41039"/>
                  <a:pt x="101836" y="35719"/>
                  <a:pt x="95250" y="35719"/>
                </a:cubicBezTo>
                <a:lnTo>
                  <a:pt x="71438" y="35719"/>
                </a:lnTo>
                <a:cubicBezTo>
                  <a:pt x="64852" y="35719"/>
                  <a:pt x="59531" y="41039"/>
                  <a:pt x="59531" y="47625"/>
                </a:cubicBezTo>
                <a:close/>
                <a:moveTo>
                  <a:pt x="68461" y="136922"/>
                </a:moveTo>
                <a:cubicBezTo>
                  <a:pt x="63512" y="136922"/>
                  <a:pt x="59531" y="140903"/>
                  <a:pt x="59531" y="145852"/>
                </a:cubicBezTo>
                <a:cubicBezTo>
                  <a:pt x="59531" y="150800"/>
                  <a:pt x="63512" y="154781"/>
                  <a:pt x="68461" y="154781"/>
                </a:cubicBezTo>
                <a:lnTo>
                  <a:pt x="157758" y="154781"/>
                </a:lnTo>
                <a:cubicBezTo>
                  <a:pt x="162706" y="154781"/>
                  <a:pt x="166688" y="150800"/>
                  <a:pt x="166688" y="145852"/>
                </a:cubicBezTo>
                <a:cubicBezTo>
                  <a:pt x="166688" y="140903"/>
                  <a:pt x="162706" y="136922"/>
                  <a:pt x="157758" y="136922"/>
                </a:cubicBezTo>
                <a:lnTo>
                  <a:pt x="68461" y="136922"/>
                </a:lnTo>
                <a:close/>
                <a:moveTo>
                  <a:pt x="59531" y="110133"/>
                </a:moveTo>
                <a:cubicBezTo>
                  <a:pt x="59531" y="115081"/>
                  <a:pt x="63512" y="119063"/>
                  <a:pt x="68461" y="119063"/>
                </a:cubicBezTo>
                <a:lnTo>
                  <a:pt x="157758" y="119063"/>
                </a:lnTo>
                <a:cubicBezTo>
                  <a:pt x="162706" y="119063"/>
                  <a:pt x="166688" y="115081"/>
                  <a:pt x="166688" y="110133"/>
                </a:cubicBezTo>
                <a:cubicBezTo>
                  <a:pt x="166688" y="105184"/>
                  <a:pt x="162706" y="101203"/>
                  <a:pt x="157758" y="101203"/>
                </a:cubicBezTo>
                <a:lnTo>
                  <a:pt x="68461" y="101203"/>
                </a:lnTo>
                <a:cubicBezTo>
                  <a:pt x="63512" y="101203"/>
                  <a:pt x="59531" y="105184"/>
                  <a:pt x="59531" y="110133"/>
                </a:cubicBezTo>
                <a:close/>
                <a:moveTo>
                  <a:pt x="133945" y="65484"/>
                </a:moveTo>
                <a:cubicBezTo>
                  <a:pt x="128997" y="65484"/>
                  <a:pt x="125016" y="69466"/>
                  <a:pt x="125016" y="74414"/>
                </a:cubicBezTo>
                <a:cubicBezTo>
                  <a:pt x="125016" y="79363"/>
                  <a:pt x="128997" y="83344"/>
                  <a:pt x="133945" y="83344"/>
                </a:cubicBezTo>
                <a:lnTo>
                  <a:pt x="157758" y="83344"/>
                </a:lnTo>
                <a:cubicBezTo>
                  <a:pt x="162706" y="83344"/>
                  <a:pt x="166688" y="79363"/>
                  <a:pt x="166688" y="74414"/>
                </a:cubicBezTo>
                <a:cubicBezTo>
                  <a:pt x="166688" y="69466"/>
                  <a:pt x="162706" y="65484"/>
                  <a:pt x="157758" y="65484"/>
                </a:cubicBezTo>
                <a:lnTo>
                  <a:pt x="133945" y="65484"/>
                </a:lnTo>
                <a:close/>
              </a:path>
            </a:pathLst>
          </a:custGeom>
          <a:solidFill>
            <a:srgbClr val="8D99AE"/>
          </a:solidFill>
        </p:spPr>
      </p:sp>
      <p:sp>
        <p:nvSpPr>
          <p:cNvPr id="46" name="Text 44"/>
          <p:cNvSpPr/>
          <p:nvPr/>
        </p:nvSpPr>
        <p:spPr>
          <a:xfrm>
            <a:off x="928688" y="4405313"/>
            <a:ext cx="87312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消息面分析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28688" y="4627563"/>
            <a:ext cx="8493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News Analysis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52438" y="4881563"/>
            <a:ext cx="5445125" cy="603250"/>
          </a:xfrm>
          <a:custGeom>
            <a:avLst/>
            <a:gdLst/>
            <a:ahLst/>
            <a:cxnLst/>
            <a:rect l="l" t="t" r="r" b="b"/>
            <a:pathLst>
              <a:path w="5445125" h="603250">
                <a:moveTo>
                  <a:pt x="63498" y="0"/>
                </a:moveTo>
                <a:lnTo>
                  <a:pt x="5381627" y="0"/>
                </a:lnTo>
                <a:cubicBezTo>
                  <a:pt x="5416696" y="0"/>
                  <a:pt x="5445125" y="28429"/>
                  <a:pt x="5445125" y="63498"/>
                </a:cubicBezTo>
                <a:lnTo>
                  <a:pt x="5445125" y="539752"/>
                </a:lnTo>
                <a:cubicBezTo>
                  <a:pt x="5445125" y="574821"/>
                  <a:pt x="5416696" y="603250"/>
                  <a:pt x="53816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49" name="Shape 47"/>
          <p:cNvSpPr/>
          <p:nvPr/>
        </p:nvSpPr>
        <p:spPr>
          <a:xfrm>
            <a:off x="571500" y="5008563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0" y="15875"/>
                </a:moveTo>
                <a:cubicBezTo>
                  <a:pt x="0" y="11485"/>
                  <a:pt x="3547" y="7938"/>
                  <a:pt x="7938" y="7938"/>
                </a:cubicBezTo>
                <a:cubicBezTo>
                  <a:pt x="64939" y="7938"/>
                  <a:pt x="111125" y="54124"/>
                  <a:pt x="111125" y="111125"/>
                </a:cubicBezTo>
                <a:cubicBezTo>
                  <a:pt x="111125" y="115515"/>
                  <a:pt x="107578" y="119063"/>
                  <a:pt x="103188" y="119063"/>
                </a:cubicBezTo>
                <a:cubicBezTo>
                  <a:pt x="98797" y="119063"/>
                  <a:pt x="95250" y="115515"/>
                  <a:pt x="95250" y="111125"/>
                </a:cubicBezTo>
                <a:cubicBezTo>
                  <a:pt x="95250" y="62905"/>
                  <a:pt x="56158" y="23812"/>
                  <a:pt x="7938" y="23812"/>
                </a:cubicBezTo>
                <a:cubicBezTo>
                  <a:pt x="3547" y="23812"/>
                  <a:pt x="0" y="20265"/>
                  <a:pt x="0" y="15875"/>
                </a:cubicBezTo>
                <a:close/>
                <a:moveTo>
                  <a:pt x="0" y="103188"/>
                </a:moveTo>
                <a:cubicBezTo>
                  <a:pt x="0" y="94426"/>
                  <a:pt x="7113" y="87313"/>
                  <a:pt x="15875" y="87313"/>
                </a:cubicBezTo>
                <a:cubicBezTo>
                  <a:pt x="24637" y="87313"/>
                  <a:pt x="31750" y="94426"/>
                  <a:pt x="31750" y="103188"/>
                </a:cubicBezTo>
                <a:cubicBezTo>
                  <a:pt x="31750" y="111949"/>
                  <a:pt x="24637" y="119063"/>
                  <a:pt x="15875" y="119063"/>
                </a:cubicBezTo>
                <a:cubicBezTo>
                  <a:pt x="7113" y="119063"/>
                  <a:pt x="0" y="111949"/>
                  <a:pt x="0" y="103188"/>
                </a:cubicBezTo>
                <a:close/>
                <a:moveTo>
                  <a:pt x="7938" y="39688"/>
                </a:moveTo>
                <a:cubicBezTo>
                  <a:pt x="47402" y="39688"/>
                  <a:pt x="79375" y="71661"/>
                  <a:pt x="79375" y="111125"/>
                </a:cubicBezTo>
                <a:cubicBezTo>
                  <a:pt x="79375" y="115515"/>
                  <a:pt x="75828" y="119063"/>
                  <a:pt x="71438" y="119063"/>
                </a:cubicBezTo>
                <a:cubicBezTo>
                  <a:pt x="67047" y="119063"/>
                  <a:pt x="63500" y="115515"/>
                  <a:pt x="63500" y="111125"/>
                </a:cubicBezTo>
                <a:cubicBezTo>
                  <a:pt x="63500" y="80442"/>
                  <a:pt x="38621" y="55563"/>
                  <a:pt x="7938" y="55563"/>
                </a:cubicBezTo>
                <a:cubicBezTo>
                  <a:pt x="3547" y="55563"/>
                  <a:pt x="0" y="52015"/>
                  <a:pt x="0" y="47625"/>
                </a:cubicBezTo>
                <a:cubicBezTo>
                  <a:pt x="0" y="43235"/>
                  <a:pt x="3547" y="39688"/>
                  <a:pt x="7938" y="39688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50" name="Text 48"/>
          <p:cNvSpPr/>
          <p:nvPr/>
        </p:nvSpPr>
        <p:spPr>
          <a:xfrm>
            <a:off x="769938" y="4976813"/>
            <a:ext cx="825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新闻事件监控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47688" y="5230813"/>
            <a:ext cx="5310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实时新闻抓取、公告监控、重大事件提醒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452438" y="5548313"/>
            <a:ext cx="5445125" cy="603250"/>
          </a:xfrm>
          <a:custGeom>
            <a:avLst/>
            <a:gdLst/>
            <a:ahLst/>
            <a:cxnLst/>
            <a:rect l="l" t="t" r="r" b="b"/>
            <a:pathLst>
              <a:path w="5445125" h="603250">
                <a:moveTo>
                  <a:pt x="63498" y="0"/>
                </a:moveTo>
                <a:lnTo>
                  <a:pt x="5381627" y="0"/>
                </a:lnTo>
                <a:cubicBezTo>
                  <a:pt x="5416696" y="0"/>
                  <a:pt x="5445125" y="28429"/>
                  <a:pt x="5445125" y="63498"/>
                </a:cubicBezTo>
                <a:lnTo>
                  <a:pt x="5445125" y="539752"/>
                </a:lnTo>
                <a:cubicBezTo>
                  <a:pt x="5445125" y="574821"/>
                  <a:pt x="5416696" y="603250"/>
                  <a:pt x="53816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53" name="Shape 51"/>
          <p:cNvSpPr/>
          <p:nvPr/>
        </p:nvSpPr>
        <p:spPr>
          <a:xfrm>
            <a:off x="563563" y="567531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41027" y="79846"/>
                </a:moveTo>
                <a:cubicBezTo>
                  <a:pt x="46087" y="86792"/>
                  <a:pt x="54273" y="91281"/>
                  <a:pt x="63500" y="91281"/>
                </a:cubicBezTo>
                <a:cubicBezTo>
                  <a:pt x="72727" y="91281"/>
                  <a:pt x="80913" y="86792"/>
                  <a:pt x="85973" y="79846"/>
                </a:cubicBezTo>
                <a:cubicBezTo>
                  <a:pt x="87908" y="77192"/>
                  <a:pt x="91629" y="76597"/>
                  <a:pt x="94283" y="78532"/>
                </a:cubicBezTo>
                <a:cubicBezTo>
                  <a:pt x="96937" y="80466"/>
                  <a:pt x="97532" y="84187"/>
                  <a:pt x="95597" y="86841"/>
                </a:cubicBezTo>
                <a:cubicBezTo>
                  <a:pt x="88379" y="96738"/>
                  <a:pt x="76696" y="103188"/>
                  <a:pt x="63500" y="103188"/>
                </a:cubicBezTo>
                <a:cubicBezTo>
                  <a:pt x="50304" y="103188"/>
                  <a:pt x="38621" y="96738"/>
                  <a:pt x="31403" y="86841"/>
                </a:cubicBezTo>
                <a:cubicBezTo>
                  <a:pt x="29468" y="84187"/>
                  <a:pt x="30063" y="80466"/>
                  <a:pt x="32717" y="78532"/>
                </a:cubicBezTo>
                <a:cubicBezTo>
                  <a:pt x="35371" y="76597"/>
                  <a:pt x="39092" y="77192"/>
                  <a:pt x="41027" y="79846"/>
                </a:cubicBezTo>
                <a:close/>
                <a:moveTo>
                  <a:pt x="35719" y="51594"/>
                </a:moveTo>
                <a:cubicBezTo>
                  <a:pt x="35719" y="47213"/>
                  <a:pt x="39275" y="43656"/>
                  <a:pt x="43656" y="43656"/>
                </a:cubicBezTo>
                <a:cubicBezTo>
                  <a:pt x="48037" y="43656"/>
                  <a:pt x="51594" y="47213"/>
                  <a:pt x="51594" y="51594"/>
                </a:cubicBezTo>
                <a:cubicBezTo>
                  <a:pt x="51594" y="55975"/>
                  <a:pt x="48037" y="59531"/>
                  <a:pt x="43656" y="59531"/>
                </a:cubicBezTo>
                <a:cubicBezTo>
                  <a:pt x="39275" y="59531"/>
                  <a:pt x="35719" y="55975"/>
                  <a:pt x="35719" y="51594"/>
                </a:cubicBezTo>
                <a:close/>
                <a:moveTo>
                  <a:pt x="83344" y="43656"/>
                </a:moveTo>
                <a:cubicBezTo>
                  <a:pt x="87725" y="43656"/>
                  <a:pt x="91281" y="47213"/>
                  <a:pt x="91281" y="51594"/>
                </a:cubicBezTo>
                <a:cubicBezTo>
                  <a:pt x="91281" y="55975"/>
                  <a:pt x="87725" y="59531"/>
                  <a:pt x="83344" y="59531"/>
                </a:cubicBezTo>
                <a:cubicBezTo>
                  <a:pt x="78963" y="59531"/>
                  <a:pt x="75406" y="55975"/>
                  <a:pt x="75406" y="51594"/>
                </a:cubicBezTo>
                <a:cubicBezTo>
                  <a:pt x="75406" y="47213"/>
                  <a:pt x="78963" y="43656"/>
                  <a:pt x="83344" y="43656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54" name="Text 52"/>
          <p:cNvSpPr/>
          <p:nvPr/>
        </p:nvSpPr>
        <p:spPr>
          <a:xfrm>
            <a:off x="769938" y="5643563"/>
            <a:ext cx="571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情绪分析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547688" y="5897563"/>
            <a:ext cx="5310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NLP情感分析、情绪极性判断、情感强度评估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452438" y="6215063"/>
            <a:ext cx="5445125" cy="603250"/>
          </a:xfrm>
          <a:custGeom>
            <a:avLst/>
            <a:gdLst/>
            <a:ahLst/>
            <a:cxnLst/>
            <a:rect l="l" t="t" r="r" b="b"/>
            <a:pathLst>
              <a:path w="5445125" h="603250">
                <a:moveTo>
                  <a:pt x="63498" y="0"/>
                </a:moveTo>
                <a:lnTo>
                  <a:pt x="5381627" y="0"/>
                </a:lnTo>
                <a:cubicBezTo>
                  <a:pt x="5416696" y="0"/>
                  <a:pt x="5445125" y="28429"/>
                  <a:pt x="5445125" y="63498"/>
                </a:cubicBezTo>
                <a:lnTo>
                  <a:pt x="5445125" y="539752"/>
                </a:lnTo>
                <a:cubicBezTo>
                  <a:pt x="5445125" y="574821"/>
                  <a:pt x="5416696" y="603250"/>
                  <a:pt x="53816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57" name="Shape 55"/>
          <p:cNvSpPr/>
          <p:nvPr/>
        </p:nvSpPr>
        <p:spPr>
          <a:xfrm>
            <a:off x="563563" y="634206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6346" y="56679"/>
                </a:moveTo>
                <a:cubicBezTo>
                  <a:pt x="19645" y="33610"/>
                  <a:pt x="39514" y="15875"/>
                  <a:pt x="63500" y="15875"/>
                </a:cubicBezTo>
                <a:cubicBezTo>
                  <a:pt x="76646" y="15875"/>
                  <a:pt x="88553" y="21208"/>
                  <a:pt x="97185" y="29815"/>
                </a:cubicBezTo>
                <a:cubicBezTo>
                  <a:pt x="97234" y="29865"/>
                  <a:pt x="97284" y="29914"/>
                  <a:pt x="97334" y="29964"/>
                </a:cubicBezTo>
                <a:lnTo>
                  <a:pt x="99219" y="31750"/>
                </a:lnTo>
                <a:lnTo>
                  <a:pt x="87337" y="31750"/>
                </a:lnTo>
                <a:cubicBezTo>
                  <a:pt x="82947" y="31750"/>
                  <a:pt x="79400" y="35297"/>
                  <a:pt x="79400" y="39688"/>
                </a:cubicBezTo>
                <a:cubicBezTo>
                  <a:pt x="79400" y="44078"/>
                  <a:pt x="82947" y="47625"/>
                  <a:pt x="87337" y="47625"/>
                </a:cubicBezTo>
                <a:lnTo>
                  <a:pt x="119087" y="47625"/>
                </a:lnTo>
                <a:cubicBezTo>
                  <a:pt x="123478" y="47625"/>
                  <a:pt x="127025" y="44078"/>
                  <a:pt x="127025" y="39688"/>
                </a:cubicBezTo>
                <a:lnTo>
                  <a:pt x="127025" y="7938"/>
                </a:lnTo>
                <a:cubicBezTo>
                  <a:pt x="127025" y="3547"/>
                  <a:pt x="123478" y="0"/>
                  <a:pt x="119087" y="0"/>
                </a:cubicBezTo>
                <a:cubicBezTo>
                  <a:pt x="114697" y="0"/>
                  <a:pt x="111150" y="3547"/>
                  <a:pt x="111150" y="7938"/>
                </a:cubicBezTo>
                <a:lnTo>
                  <a:pt x="111150" y="21183"/>
                </a:lnTo>
                <a:lnTo>
                  <a:pt x="108347" y="18529"/>
                </a:lnTo>
                <a:cubicBezTo>
                  <a:pt x="96862" y="7094"/>
                  <a:pt x="80987" y="0"/>
                  <a:pt x="63500" y="0"/>
                </a:cubicBezTo>
                <a:cubicBezTo>
                  <a:pt x="31502" y="0"/>
                  <a:pt x="5035" y="23664"/>
                  <a:pt x="645" y="54446"/>
                </a:cubicBezTo>
                <a:cubicBezTo>
                  <a:pt x="25" y="58787"/>
                  <a:pt x="3026" y="62805"/>
                  <a:pt x="7367" y="63426"/>
                </a:cubicBezTo>
                <a:cubicBezTo>
                  <a:pt x="11708" y="64046"/>
                  <a:pt x="15726" y="61020"/>
                  <a:pt x="16346" y="56704"/>
                </a:cubicBezTo>
                <a:close/>
                <a:moveTo>
                  <a:pt x="126355" y="72554"/>
                </a:moveTo>
                <a:cubicBezTo>
                  <a:pt x="126975" y="68213"/>
                  <a:pt x="123949" y="64195"/>
                  <a:pt x="119633" y="63574"/>
                </a:cubicBezTo>
                <a:cubicBezTo>
                  <a:pt x="115317" y="62954"/>
                  <a:pt x="111274" y="65980"/>
                  <a:pt x="110654" y="70296"/>
                </a:cubicBezTo>
                <a:cubicBezTo>
                  <a:pt x="107355" y="93365"/>
                  <a:pt x="87486" y="111100"/>
                  <a:pt x="63500" y="111100"/>
                </a:cubicBezTo>
                <a:cubicBezTo>
                  <a:pt x="50354" y="111100"/>
                  <a:pt x="38447" y="105767"/>
                  <a:pt x="29815" y="97160"/>
                </a:cubicBezTo>
                <a:cubicBezTo>
                  <a:pt x="29766" y="97110"/>
                  <a:pt x="29716" y="97061"/>
                  <a:pt x="29666" y="97011"/>
                </a:cubicBezTo>
                <a:lnTo>
                  <a:pt x="27781" y="95225"/>
                </a:lnTo>
                <a:lnTo>
                  <a:pt x="39663" y="95225"/>
                </a:lnTo>
                <a:cubicBezTo>
                  <a:pt x="44053" y="95225"/>
                  <a:pt x="47600" y="91678"/>
                  <a:pt x="47600" y="87288"/>
                </a:cubicBezTo>
                <a:cubicBezTo>
                  <a:pt x="47600" y="82897"/>
                  <a:pt x="44053" y="79350"/>
                  <a:pt x="39663" y="79350"/>
                </a:cubicBezTo>
                <a:lnTo>
                  <a:pt x="7938" y="79375"/>
                </a:lnTo>
                <a:cubicBezTo>
                  <a:pt x="5829" y="79375"/>
                  <a:pt x="3795" y="80218"/>
                  <a:pt x="2307" y="81731"/>
                </a:cubicBezTo>
                <a:cubicBezTo>
                  <a:pt x="819" y="83245"/>
                  <a:pt x="-25" y="85254"/>
                  <a:pt x="0" y="87387"/>
                </a:cubicBezTo>
                <a:lnTo>
                  <a:pt x="248" y="118889"/>
                </a:lnTo>
                <a:cubicBezTo>
                  <a:pt x="273" y="123279"/>
                  <a:pt x="3870" y="126802"/>
                  <a:pt x="8260" y="126752"/>
                </a:cubicBezTo>
                <a:cubicBezTo>
                  <a:pt x="12650" y="126702"/>
                  <a:pt x="16173" y="123130"/>
                  <a:pt x="16123" y="118740"/>
                </a:cubicBezTo>
                <a:lnTo>
                  <a:pt x="16024" y="105966"/>
                </a:lnTo>
                <a:lnTo>
                  <a:pt x="18678" y="108471"/>
                </a:lnTo>
                <a:cubicBezTo>
                  <a:pt x="30163" y="119906"/>
                  <a:pt x="46013" y="127000"/>
                  <a:pt x="63500" y="127000"/>
                </a:cubicBezTo>
                <a:cubicBezTo>
                  <a:pt x="95498" y="127000"/>
                  <a:pt x="121965" y="103336"/>
                  <a:pt x="126355" y="72554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58" name="Text 56"/>
          <p:cNvSpPr/>
          <p:nvPr/>
        </p:nvSpPr>
        <p:spPr>
          <a:xfrm>
            <a:off x="769938" y="6310313"/>
            <a:ext cx="571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影响评估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547688" y="6564313"/>
            <a:ext cx="5310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事件影响程度评估、股价波动预测、风险提示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452438" y="6945313"/>
            <a:ext cx="5445125" cy="317500"/>
          </a:xfrm>
          <a:custGeom>
            <a:avLst/>
            <a:gdLst/>
            <a:ahLst/>
            <a:cxnLst/>
            <a:rect l="l" t="t" r="r" b="b"/>
            <a:pathLst>
              <a:path w="5445125" h="317500">
                <a:moveTo>
                  <a:pt x="63500" y="0"/>
                </a:moveTo>
                <a:lnTo>
                  <a:pt x="5381625" y="0"/>
                </a:lnTo>
                <a:cubicBezTo>
                  <a:pt x="5416672" y="0"/>
                  <a:pt x="5445125" y="28453"/>
                  <a:pt x="5445125" y="63500"/>
                </a:cubicBezTo>
                <a:lnTo>
                  <a:pt x="5445125" y="254000"/>
                </a:lnTo>
                <a:cubicBezTo>
                  <a:pt x="5445125" y="289047"/>
                  <a:pt x="5416672" y="317500"/>
                  <a:pt x="5381625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</p:spPr>
      </p:sp>
      <p:sp>
        <p:nvSpPr>
          <p:cNvPr id="61" name="Text 59"/>
          <p:cNvSpPr/>
          <p:nvPr/>
        </p:nvSpPr>
        <p:spPr>
          <a:xfrm>
            <a:off x="2562076" y="7036594"/>
            <a:ext cx="1225848" cy="1468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业务价值: 捕捉市场热点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163469" y="4274344"/>
            <a:ext cx="5707063" cy="3119438"/>
          </a:xfrm>
          <a:custGeom>
            <a:avLst/>
            <a:gdLst/>
            <a:ahLst/>
            <a:cxnLst/>
            <a:rect l="l" t="t" r="r" b="b"/>
            <a:pathLst>
              <a:path w="5707063" h="3119438">
                <a:moveTo>
                  <a:pt x="95236" y="0"/>
                </a:moveTo>
                <a:lnTo>
                  <a:pt x="5611826" y="0"/>
                </a:lnTo>
                <a:cubicBezTo>
                  <a:pt x="5664388" y="0"/>
                  <a:pt x="5707063" y="42674"/>
                  <a:pt x="5707063" y="95236"/>
                </a:cubicBezTo>
                <a:lnTo>
                  <a:pt x="5707063" y="3024201"/>
                </a:lnTo>
                <a:cubicBezTo>
                  <a:pt x="5707062" y="3076799"/>
                  <a:pt x="5664424" y="3119438"/>
                  <a:pt x="5611826" y="3119438"/>
                </a:cubicBezTo>
                <a:lnTo>
                  <a:pt x="95236" y="3119438"/>
                </a:lnTo>
                <a:cubicBezTo>
                  <a:pt x="42639" y="3119438"/>
                  <a:pt x="0" y="3076799"/>
                  <a:pt x="0" y="3024201"/>
                </a:cubicBezTo>
                <a:lnTo>
                  <a:pt x="0" y="95236"/>
                </a:lnTo>
                <a:cubicBezTo>
                  <a:pt x="0" y="42674"/>
                  <a:pt x="42674" y="0"/>
                  <a:pt x="95236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294438" y="44053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</p:spPr>
      </p:sp>
      <p:sp>
        <p:nvSpPr>
          <p:cNvPr id="64" name="Shape 62"/>
          <p:cNvSpPr/>
          <p:nvPr/>
        </p:nvSpPr>
        <p:spPr>
          <a:xfrm>
            <a:off x="6389688" y="450056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9669" y="32407"/>
                </a:moveTo>
                <a:lnTo>
                  <a:pt x="95250" y="40109"/>
                </a:lnTo>
                <a:lnTo>
                  <a:pt x="100831" y="32407"/>
                </a:lnTo>
                <a:cubicBezTo>
                  <a:pt x="110133" y="19534"/>
                  <a:pt x="125090" y="11906"/>
                  <a:pt x="140977" y="11906"/>
                </a:cubicBezTo>
                <a:cubicBezTo>
                  <a:pt x="168325" y="11906"/>
                  <a:pt x="190500" y="34082"/>
                  <a:pt x="190500" y="61429"/>
                </a:cubicBezTo>
                <a:lnTo>
                  <a:pt x="190500" y="62396"/>
                </a:lnTo>
                <a:cubicBezTo>
                  <a:pt x="190500" y="104142"/>
                  <a:pt x="138447" y="152623"/>
                  <a:pt x="111286" y="173348"/>
                </a:cubicBezTo>
                <a:cubicBezTo>
                  <a:pt x="106673" y="176845"/>
                  <a:pt x="101017" y="178594"/>
                  <a:pt x="95250" y="178594"/>
                </a:cubicBezTo>
                <a:cubicBezTo>
                  <a:pt x="89483" y="178594"/>
                  <a:pt x="83790" y="176882"/>
                  <a:pt x="79214" y="173348"/>
                </a:cubicBezTo>
                <a:cubicBezTo>
                  <a:pt x="52053" y="152623"/>
                  <a:pt x="0" y="104142"/>
                  <a:pt x="0" y="62396"/>
                </a:cubicBezTo>
                <a:lnTo>
                  <a:pt x="0" y="61429"/>
                </a:lnTo>
                <a:cubicBezTo>
                  <a:pt x="0" y="34082"/>
                  <a:pt x="22175" y="11906"/>
                  <a:pt x="49523" y="11906"/>
                </a:cubicBezTo>
                <a:cubicBezTo>
                  <a:pt x="65410" y="11906"/>
                  <a:pt x="80367" y="19534"/>
                  <a:pt x="89669" y="32407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65" name="Text 63"/>
          <p:cNvSpPr/>
          <p:nvPr/>
        </p:nvSpPr>
        <p:spPr>
          <a:xfrm>
            <a:off x="6770688" y="4405313"/>
            <a:ext cx="104775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情绪面分析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770688" y="4627563"/>
            <a:ext cx="10239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Sentiment Analysis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294438" y="4881563"/>
            <a:ext cx="5445125" cy="603250"/>
          </a:xfrm>
          <a:custGeom>
            <a:avLst/>
            <a:gdLst/>
            <a:ahLst/>
            <a:cxnLst/>
            <a:rect l="l" t="t" r="r" b="b"/>
            <a:pathLst>
              <a:path w="5445125" h="603250">
                <a:moveTo>
                  <a:pt x="63498" y="0"/>
                </a:moveTo>
                <a:lnTo>
                  <a:pt x="5381627" y="0"/>
                </a:lnTo>
                <a:cubicBezTo>
                  <a:pt x="5416696" y="0"/>
                  <a:pt x="5445125" y="28429"/>
                  <a:pt x="5445125" y="63498"/>
                </a:cubicBezTo>
                <a:lnTo>
                  <a:pt x="5445125" y="539752"/>
                </a:lnTo>
                <a:cubicBezTo>
                  <a:pt x="5445125" y="574821"/>
                  <a:pt x="5416696" y="603250"/>
                  <a:pt x="53816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68" name="Shape 66"/>
          <p:cNvSpPr/>
          <p:nvPr/>
        </p:nvSpPr>
        <p:spPr>
          <a:xfrm>
            <a:off x="6397625" y="5008563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95250" y="35719"/>
                </a:moveTo>
                <a:cubicBezTo>
                  <a:pt x="95250" y="59829"/>
                  <a:pt x="73918" y="79375"/>
                  <a:pt x="47625" y="79375"/>
                </a:cubicBezTo>
                <a:cubicBezTo>
                  <a:pt x="41002" y="79375"/>
                  <a:pt x="34702" y="78135"/>
                  <a:pt x="28972" y="75902"/>
                </a:cubicBezTo>
                <a:lnTo>
                  <a:pt x="8731" y="86618"/>
                </a:lnTo>
                <a:cubicBezTo>
                  <a:pt x="6424" y="87833"/>
                  <a:pt x="3597" y="87412"/>
                  <a:pt x="1736" y="85576"/>
                </a:cubicBezTo>
                <a:cubicBezTo>
                  <a:pt x="-124" y="83741"/>
                  <a:pt x="-546" y="80888"/>
                  <a:pt x="695" y="78581"/>
                </a:cubicBezTo>
                <a:lnTo>
                  <a:pt x="9525" y="61913"/>
                </a:lnTo>
                <a:cubicBezTo>
                  <a:pt x="3547" y="54620"/>
                  <a:pt x="0" y="45541"/>
                  <a:pt x="0" y="35719"/>
                </a:cubicBezTo>
                <a:cubicBezTo>
                  <a:pt x="0" y="11609"/>
                  <a:pt x="21332" y="-7937"/>
                  <a:pt x="47625" y="-7937"/>
                </a:cubicBezTo>
                <a:cubicBezTo>
                  <a:pt x="73918" y="-7937"/>
                  <a:pt x="95250" y="11609"/>
                  <a:pt x="95250" y="35719"/>
                </a:cubicBezTo>
                <a:close/>
                <a:moveTo>
                  <a:pt x="95250" y="127000"/>
                </a:moveTo>
                <a:cubicBezTo>
                  <a:pt x="71909" y="127000"/>
                  <a:pt x="52487" y="111596"/>
                  <a:pt x="48419" y="91281"/>
                </a:cubicBezTo>
                <a:cubicBezTo>
                  <a:pt x="78184" y="90909"/>
                  <a:pt x="104056" y="69726"/>
                  <a:pt x="106908" y="41002"/>
                </a:cubicBezTo>
                <a:cubicBezTo>
                  <a:pt x="127571" y="45765"/>
                  <a:pt x="142875" y="62905"/>
                  <a:pt x="142875" y="83344"/>
                </a:cubicBezTo>
                <a:cubicBezTo>
                  <a:pt x="142875" y="93166"/>
                  <a:pt x="139328" y="102245"/>
                  <a:pt x="133350" y="109538"/>
                </a:cubicBezTo>
                <a:lnTo>
                  <a:pt x="142180" y="126206"/>
                </a:lnTo>
                <a:cubicBezTo>
                  <a:pt x="143396" y="128513"/>
                  <a:pt x="142974" y="131341"/>
                  <a:pt x="141139" y="133201"/>
                </a:cubicBezTo>
                <a:cubicBezTo>
                  <a:pt x="139303" y="135062"/>
                  <a:pt x="136451" y="135483"/>
                  <a:pt x="134144" y="134243"/>
                </a:cubicBezTo>
                <a:lnTo>
                  <a:pt x="113903" y="123527"/>
                </a:lnTo>
                <a:cubicBezTo>
                  <a:pt x="108173" y="125760"/>
                  <a:pt x="101873" y="127000"/>
                  <a:pt x="95250" y="12700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69" name="Text 67"/>
          <p:cNvSpPr/>
          <p:nvPr/>
        </p:nvSpPr>
        <p:spPr>
          <a:xfrm>
            <a:off x="6611938" y="4976813"/>
            <a:ext cx="825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社交媒体情绪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389688" y="5230813"/>
            <a:ext cx="5310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微博/雪球/东方财富等多平台数据聚合分析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294438" y="5548313"/>
            <a:ext cx="5445125" cy="603250"/>
          </a:xfrm>
          <a:custGeom>
            <a:avLst/>
            <a:gdLst/>
            <a:ahLst/>
            <a:cxnLst/>
            <a:rect l="l" t="t" r="r" b="b"/>
            <a:pathLst>
              <a:path w="5445125" h="603250">
                <a:moveTo>
                  <a:pt x="63498" y="0"/>
                </a:moveTo>
                <a:lnTo>
                  <a:pt x="5381627" y="0"/>
                </a:lnTo>
                <a:cubicBezTo>
                  <a:pt x="5416696" y="0"/>
                  <a:pt x="5445125" y="28429"/>
                  <a:pt x="5445125" y="63498"/>
                </a:cubicBezTo>
                <a:lnTo>
                  <a:pt x="5445125" y="539752"/>
                </a:lnTo>
                <a:cubicBezTo>
                  <a:pt x="5445125" y="574821"/>
                  <a:pt x="5416696" y="603250"/>
                  <a:pt x="53816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72" name="Shape 70"/>
          <p:cNvSpPr/>
          <p:nvPr/>
        </p:nvSpPr>
        <p:spPr>
          <a:xfrm>
            <a:off x="6389688" y="5675313"/>
            <a:ext cx="158750" cy="127000"/>
          </a:xfrm>
          <a:custGeom>
            <a:avLst/>
            <a:gdLst/>
            <a:ahLst/>
            <a:cxnLst/>
            <a:rect l="l" t="t" r="r" b="b"/>
            <a:pathLst>
              <a:path w="158750" h="127000">
                <a:moveTo>
                  <a:pt x="79375" y="3969"/>
                </a:moveTo>
                <a:cubicBezTo>
                  <a:pt x="93613" y="3969"/>
                  <a:pt x="105172" y="15528"/>
                  <a:pt x="105172" y="29766"/>
                </a:cubicBezTo>
                <a:cubicBezTo>
                  <a:pt x="105172" y="44003"/>
                  <a:pt x="93613" y="55563"/>
                  <a:pt x="79375" y="55563"/>
                </a:cubicBezTo>
                <a:cubicBezTo>
                  <a:pt x="65137" y="55563"/>
                  <a:pt x="53578" y="44003"/>
                  <a:pt x="53578" y="29766"/>
                </a:cubicBezTo>
                <a:cubicBezTo>
                  <a:pt x="53578" y="15528"/>
                  <a:pt x="65137" y="3969"/>
                  <a:pt x="79375" y="3969"/>
                </a:cubicBezTo>
                <a:close/>
                <a:moveTo>
                  <a:pt x="23812" y="21828"/>
                </a:moveTo>
                <a:cubicBezTo>
                  <a:pt x="33669" y="21828"/>
                  <a:pt x="41672" y="29831"/>
                  <a:pt x="41672" y="39688"/>
                </a:cubicBezTo>
                <a:cubicBezTo>
                  <a:pt x="41672" y="49544"/>
                  <a:pt x="33669" y="57547"/>
                  <a:pt x="23812" y="57547"/>
                </a:cubicBezTo>
                <a:cubicBezTo>
                  <a:pt x="13956" y="57547"/>
                  <a:pt x="5953" y="49544"/>
                  <a:pt x="5953" y="39688"/>
                </a:cubicBezTo>
                <a:cubicBezTo>
                  <a:pt x="5953" y="29831"/>
                  <a:pt x="13956" y="21828"/>
                  <a:pt x="23812" y="21828"/>
                </a:cubicBezTo>
                <a:close/>
                <a:moveTo>
                  <a:pt x="0" y="103188"/>
                </a:moveTo>
                <a:cubicBezTo>
                  <a:pt x="0" y="85651"/>
                  <a:pt x="14213" y="71438"/>
                  <a:pt x="31750" y="71438"/>
                </a:cubicBezTo>
                <a:cubicBezTo>
                  <a:pt x="34925" y="71438"/>
                  <a:pt x="38001" y="71909"/>
                  <a:pt x="40903" y="72777"/>
                </a:cubicBezTo>
                <a:cubicBezTo>
                  <a:pt x="32742" y="81905"/>
                  <a:pt x="27781" y="93960"/>
                  <a:pt x="27781" y="107156"/>
                </a:cubicBezTo>
                <a:lnTo>
                  <a:pt x="27781" y="111125"/>
                </a:lnTo>
                <a:cubicBezTo>
                  <a:pt x="27781" y="113953"/>
                  <a:pt x="28377" y="116632"/>
                  <a:pt x="29443" y="119063"/>
                </a:cubicBezTo>
                <a:lnTo>
                  <a:pt x="7938" y="119063"/>
                </a:lnTo>
                <a:cubicBezTo>
                  <a:pt x="3547" y="119063"/>
                  <a:pt x="0" y="115515"/>
                  <a:pt x="0" y="111125"/>
                </a:cubicBezTo>
                <a:lnTo>
                  <a:pt x="0" y="103188"/>
                </a:lnTo>
                <a:close/>
                <a:moveTo>
                  <a:pt x="129307" y="119063"/>
                </a:moveTo>
                <a:cubicBezTo>
                  <a:pt x="130373" y="116632"/>
                  <a:pt x="130969" y="113953"/>
                  <a:pt x="130969" y="111125"/>
                </a:cubicBezTo>
                <a:lnTo>
                  <a:pt x="130969" y="107156"/>
                </a:lnTo>
                <a:cubicBezTo>
                  <a:pt x="130969" y="93960"/>
                  <a:pt x="126008" y="81905"/>
                  <a:pt x="117847" y="72777"/>
                </a:cubicBezTo>
                <a:cubicBezTo>
                  <a:pt x="120749" y="71909"/>
                  <a:pt x="123825" y="71438"/>
                  <a:pt x="127000" y="71438"/>
                </a:cubicBezTo>
                <a:cubicBezTo>
                  <a:pt x="144537" y="71438"/>
                  <a:pt x="158750" y="85651"/>
                  <a:pt x="158750" y="103188"/>
                </a:cubicBezTo>
                <a:lnTo>
                  <a:pt x="158750" y="111125"/>
                </a:lnTo>
                <a:cubicBezTo>
                  <a:pt x="158750" y="115515"/>
                  <a:pt x="155203" y="119063"/>
                  <a:pt x="150813" y="119063"/>
                </a:cubicBezTo>
                <a:lnTo>
                  <a:pt x="129307" y="119063"/>
                </a:lnTo>
                <a:close/>
                <a:moveTo>
                  <a:pt x="117078" y="39688"/>
                </a:moveTo>
                <a:cubicBezTo>
                  <a:pt x="117078" y="29831"/>
                  <a:pt x="125081" y="21828"/>
                  <a:pt x="134938" y="21828"/>
                </a:cubicBezTo>
                <a:cubicBezTo>
                  <a:pt x="144794" y="21828"/>
                  <a:pt x="152797" y="29831"/>
                  <a:pt x="152797" y="39687"/>
                </a:cubicBezTo>
                <a:cubicBezTo>
                  <a:pt x="152797" y="49544"/>
                  <a:pt x="144794" y="57547"/>
                  <a:pt x="134938" y="57547"/>
                </a:cubicBezTo>
                <a:cubicBezTo>
                  <a:pt x="125081" y="57547"/>
                  <a:pt x="117078" y="49544"/>
                  <a:pt x="117078" y="39688"/>
                </a:cubicBezTo>
                <a:close/>
                <a:moveTo>
                  <a:pt x="39688" y="107156"/>
                </a:moveTo>
                <a:cubicBezTo>
                  <a:pt x="39688" y="85229"/>
                  <a:pt x="57448" y="67469"/>
                  <a:pt x="79375" y="67469"/>
                </a:cubicBezTo>
                <a:cubicBezTo>
                  <a:pt x="101302" y="67469"/>
                  <a:pt x="119063" y="85229"/>
                  <a:pt x="119063" y="107156"/>
                </a:cubicBezTo>
                <a:lnTo>
                  <a:pt x="119063" y="111125"/>
                </a:lnTo>
                <a:cubicBezTo>
                  <a:pt x="119063" y="115515"/>
                  <a:pt x="115515" y="119063"/>
                  <a:pt x="111125" y="119063"/>
                </a:cubicBezTo>
                <a:lnTo>
                  <a:pt x="47625" y="119063"/>
                </a:lnTo>
                <a:cubicBezTo>
                  <a:pt x="43235" y="119063"/>
                  <a:pt x="39688" y="115515"/>
                  <a:pt x="39688" y="111125"/>
                </a:cubicBezTo>
                <a:lnTo>
                  <a:pt x="39688" y="107156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73" name="Text 71"/>
          <p:cNvSpPr/>
          <p:nvPr/>
        </p:nvSpPr>
        <p:spPr>
          <a:xfrm>
            <a:off x="6611938" y="5643563"/>
            <a:ext cx="952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投资者情绪指数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6389688" y="5897563"/>
            <a:ext cx="5310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恐慌/贪婪指数、市场情绪指标、情绪周期分析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294438" y="6215063"/>
            <a:ext cx="5445125" cy="603250"/>
          </a:xfrm>
          <a:custGeom>
            <a:avLst/>
            <a:gdLst/>
            <a:ahLst/>
            <a:cxnLst/>
            <a:rect l="l" t="t" r="r" b="b"/>
            <a:pathLst>
              <a:path w="5445125" h="603250">
                <a:moveTo>
                  <a:pt x="63498" y="0"/>
                </a:moveTo>
                <a:lnTo>
                  <a:pt x="5381627" y="0"/>
                </a:lnTo>
                <a:cubicBezTo>
                  <a:pt x="5416696" y="0"/>
                  <a:pt x="5445125" y="28429"/>
                  <a:pt x="5445125" y="63498"/>
                </a:cubicBezTo>
                <a:lnTo>
                  <a:pt x="5445125" y="539752"/>
                </a:lnTo>
                <a:cubicBezTo>
                  <a:pt x="5445125" y="574821"/>
                  <a:pt x="5416696" y="603250"/>
                  <a:pt x="53816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76" name="Shape 74"/>
          <p:cNvSpPr/>
          <p:nvPr/>
        </p:nvSpPr>
        <p:spPr>
          <a:xfrm>
            <a:off x="6405563" y="634206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29766" y="13891"/>
                </a:moveTo>
                <a:cubicBezTo>
                  <a:pt x="29766" y="6226"/>
                  <a:pt x="35992" y="0"/>
                  <a:pt x="43656" y="0"/>
                </a:cubicBezTo>
                <a:lnTo>
                  <a:pt x="49609" y="0"/>
                </a:lnTo>
                <a:cubicBezTo>
                  <a:pt x="54000" y="0"/>
                  <a:pt x="57547" y="3547"/>
                  <a:pt x="57547" y="7938"/>
                </a:cubicBezTo>
                <a:lnTo>
                  <a:pt x="57547" y="119063"/>
                </a:lnTo>
                <a:cubicBezTo>
                  <a:pt x="57547" y="123453"/>
                  <a:pt x="54000" y="127000"/>
                  <a:pt x="49609" y="127000"/>
                </a:cubicBezTo>
                <a:lnTo>
                  <a:pt x="41672" y="127000"/>
                </a:lnTo>
                <a:cubicBezTo>
                  <a:pt x="34280" y="127000"/>
                  <a:pt x="28054" y="121940"/>
                  <a:pt x="26293" y="115094"/>
                </a:cubicBezTo>
                <a:cubicBezTo>
                  <a:pt x="26119" y="115094"/>
                  <a:pt x="25971" y="115094"/>
                  <a:pt x="25797" y="115094"/>
                </a:cubicBezTo>
                <a:cubicBezTo>
                  <a:pt x="14833" y="115094"/>
                  <a:pt x="5953" y="106214"/>
                  <a:pt x="5953" y="95250"/>
                </a:cubicBezTo>
                <a:cubicBezTo>
                  <a:pt x="5953" y="90785"/>
                  <a:pt x="7441" y="86668"/>
                  <a:pt x="9922" y="83344"/>
                </a:cubicBezTo>
                <a:cubicBezTo>
                  <a:pt x="5110" y="79722"/>
                  <a:pt x="1984" y="73968"/>
                  <a:pt x="1984" y="67469"/>
                </a:cubicBezTo>
                <a:cubicBezTo>
                  <a:pt x="1984" y="59804"/>
                  <a:pt x="6350" y="53132"/>
                  <a:pt x="12700" y="49833"/>
                </a:cubicBezTo>
                <a:cubicBezTo>
                  <a:pt x="10939" y="46856"/>
                  <a:pt x="9922" y="43383"/>
                  <a:pt x="9922" y="39688"/>
                </a:cubicBezTo>
                <a:cubicBezTo>
                  <a:pt x="9922" y="28724"/>
                  <a:pt x="18802" y="19844"/>
                  <a:pt x="29766" y="19844"/>
                </a:cubicBezTo>
                <a:lnTo>
                  <a:pt x="29766" y="13891"/>
                </a:lnTo>
                <a:close/>
                <a:moveTo>
                  <a:pt x="97234" y="13891"/>
                </a:moveTo>
                <a:lnTo>
                  <a:pt x="97234" y="19844"/>
                </a:lnTo>
                <a:cubicBezTo>
                  <a:pt x="108198" y="19844"/>
                  <a:pt x="117078" y="28724"/>
                  <a:pt x="117078" y="39688"/>
                </a:cubicBezTo>
                <a:cubicBezTo>
                  <a:pt x="117078" y="43408"/>
                  <a:pt x="116061" y="46881"/>
                  <a:pt x="114300" y="49833"/>
                </a:cubicBezTo>
                <a:cubicBezTo>
                  <a:pt x="120675" y="53132"/>
                  <a:pt x="125016" y="59779"/>
                  <a:pt x="125016" y="67469"/>
                </a:cubicBezTo>
                <a:cubicBezTo>
                  <a:pt x="125016" y="73968"/>
                  <a:pt x="121890" y="79722"/>
                  <a:pt x="117078" y="83344"/>
                </a:cubicBezTo>
                <a:cubicBezTo>
                  <a:pt x="119559" y="86668"/>
                  <a:pt x="121047" y="90785"/>
                  <a:pt x="121047" y="95250"/>
                </a:cubicBezTo>
                <a:cubicBezTo>
                  <a:pt x="121047" y="106214"/>
                  <a:pt x="112167" y="115094"/>
                  <a:pt x="101203" y="115094"/>
                </a:cubicBezTo>
                <a:cubicBezTo>
                  <a:pt x="101029" y="115094"/>
                  <a:pt x="100881" y="115094"/>
                  <a:pt x="100707" y="115094"/>
                </a:cubicBezTo>
                <a:cubicBezTo>
                  <a:pt x="98946" y="121940"/>
                  <a:pt x="92720" y="127000"/>
                  <a:pt x="85328" y="127000"/>
                </a:cubicBezTo>
                <a:lnTo>
                  <a:pt x="77391" y="127000"/>
                </a:lnTo>
                <a:cubicBezTo>
                  <a:pt x="73000" y="127000"/>
                  <a:pt x="69453" y="123453"/>
                  <a:pt x="69453" y="119063"/>
                </a:cubicBezTo>
                <a:lnTo>
                  <a:pt x="69453" y="7938"/>
                </a:lnTo>
                <a:cubicBezTo>
                  <a:pt x="69453" y="3547"/>
                  <a:pt x="73000" y="0"/>
                  <a:pt x="77391" y="0"/>
                </a:cubicBezTo>
                <a:lnTo>
                  <a:pt x="83344" y="0"/>
                </a:lnTo>
                <a:cubicBezTo>
                  <a:pt x="91008" y="0"/>
                  <a:pt x="97234" y="6226"/>
                  <a:pt x="97234" y="13891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77" name="Text 75"/>
          <p:cNvSpPr/>
          <p:nvPr/>
        </p:nvSpPr>
        <p:spPr>
          <a:xfrm>
            <a:off x="6611938" y="6310313"/>
            <a:ext cx="825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情绪趋势预测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6389688" y="6564313"/>
            <a:ext cx="5310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情绪拐点识别、情绪与股价相关性分析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6294438" y="6945313"/>
            <a:ext cx="5445125" cy="317500"/>
          </a:xfrm>
          <a:custGeom>
            <a:avLst/>
            <a:gdLst/>
            <a:ahLst/>
            <a:cxnLst/>
            <a:rect l="l" t="t" r="r" b="b"/>
            <a:pathLst>
              <a:path w="5445125" h="317500">
                <a:moveTo>
                  <a:pt x="63500" y="0"/>
                </a:moveTo>
                <a:lnTo>
                  <a:pt x="5381625" y="0"/>
                </a:lnTo>
                <a:cubicBezTo>
                  <a:pt x="5416672" y="0"/>
                  <a:pt x="5445125" y="28453"/>
                  <a:pt x="5445125" y="63500"/>
                </a:cubicBezTo>
                <a:lnTo>
                  <a:pt x="5445125" y="254000"/>
                </a:lnTo>
                <a:cubicBezTo>
                  <a:pt x="5445125" y="289047"/>
                  <a:pt x="5416672" y="317500"/>
                  <a:pt x="5381625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</p:spPr>
      </p:sp>
      <p:sp>
        <p:nvSpPr>
          <p:cNvPr id="80" name="Text 78"/>
          <p:cNvSpPr/>
          <p:nvPr/>
        </p:nvSpPr>
        <p:spPr>
          <a:xfrm>
            <a:off x="8404076" y="7036594"/>
            <a:ext cx="1225848" cy="1468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业务价值: 理解市场情绪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3" name="Text 1"/>
          <p:cNvSpPr/>
          <p:nvPr/>
        </p:nvSpPr>
        <p:spPr>
          <a:xfrm>
            <a:off x="533400" y="381000"/>
            <a:ext cx="25717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巨大的市场机会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838200"/>
            <a:ext cx="11353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Huge Market Opportunity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223963"/>
            <a:ext cx="6753225" cy="4162425"/>
          </a:xfrm>
          <a:custGeom>
            <a:avLst/>
            <a:gdLst/>
            <a:ahLst/>
            <a:cxnLst/>
            <a:rect l="l" t="t" r="r" b="b"/>
            <a:pathLst>
              <a:path w="6753225" h="4162425">
                <a:moveTo>
                  <a:pt x="114300" y="0"/>
                </a:moveTo>
                <a:lnTo>
                  <a:pt x="6638925" y="0"/>
                </a:lnTo>
                <a:cubicBezTo>
                  <a:pt x="6702051" y="0"/>
                  <a:pt x="6753225" y="51174"/>
                  <a:pt x="6753225" y="114300"/>
                </a:cubicBezTo>
                <a:lnTo>
                  <a:pt x="6753225" y="4048125"/>
                </a:lnTo>
                <a:cubicBezTo>
                  <a:pt x="6753225" y="4111251"/>
                  <a:pt x="6702051" y="4162425"/>
                  <a:pt x="6638925" y="4162425"/>
                </a:cubicBezTo>
                <a:lnTo>
                  <a:pt x="114300" y="4162425"/>
                </a:lnTo>
                <a:cubicBezTo>
                  <a:pt x="51174" y="4162425"/>
                  <a:pt x="0" y="4111251"/>
                  <a:pt x="0" y="4048125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738" y="14192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89297" y="35719"/>
                </a:moveTo>
                <a:cubicBezTo>
                  <a:pt x="91790" y="35719"/>
                  <a:pt x="94171" y="36761"/>
                  <a:pt x="95883" y="38621"/>
                </a:cubicBezTo>
                <a:lnTo>
                  <a:pt x="122337" y="67456"/>
                </a:lnTo>
                <a:lnTo>
                  <a:pt x="139526" y="50229"/>
                </a:lnTo>
                <a:cubicBezTo>
                  <a:pt x="143024" y="46732"/>
                  <a:pt x="148679" y="46732"/>
                  <a:pt x="152140" y="50229"/>
                </a:cubicBezTo>
                <a:lnTo>
                  <a:pt x="175952" y="74042"/>
                </a:lnTo>
                <a:cubicBezTo>
                  <a:pt x="177626" y="75716"/>
                  <a:pt x="178557" y="77986"/>
                  <a:pt x="178557" y="80367"/>
                </a:cubicBezTo>
                <a:lnTo>
                  <a:pt x="178557" y="122039"/>
                </a:lnTo>
                <a:cubicBezTo>
                  <a:pt x="178557" y="126988"/>
                  <a:pt x="174575" y="130969"/>
                  <a:pt x="169627" y="130969"/>
                </a:cubicBezTo>
                <a:lnTo>
                  <a:pt x="56517" y="130969"/>
                </a:lnTo>
                <a:cubicBezTo>
                  <a:pt x="51569" y="130969"/>
                  <a:pt x="47588" y="126988"/>
                  <a:pt x="47588" y="122039"/>
                </a:cubicBezTo>
                <a:lnTo>
                  <a:pt x="47588" y="80367"/>
                </a:lnTo>
                <a:cubicBezTo>
                  <a:pt x="47588" y="78135"/>
                  <a:pt x="48444" y="75977"/>
                  <a:pt x="49932" y="74340"/>
                </a:cubicBezTo>
                <a:lnTo>
                  <a:pt x="82674" y="38621"/>
                </a:lnTo>
                <a:cubicBezTo>
                  <a:pt x="84348" y="36761"/>
                  <a:pt x="86767" y="35719"/>
                  <a:pt x="89260" y="35719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7" name="Text 5"/>
          <p:cNvSpPr/>
          <p:nvPr/>
        </p:nvSpPr>
        <p:spPr>
          <a:xfrm>
            <a:off x="781050" y="1381125"/>
            <a:ext cx="62960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中国智能投顾市场规模</a:t>
            </a:r>
            <a:endParaRPr lang="en-US" sz="1600" dirty="0"/>
          </a:p>
        </p:txBody>
      </p:sp>
      <p:pic>
        <p:nvPicPr>
          <p:cNvPr id="8" name="Image 0" descr="https://kimi-img.moonshot.cn/pub/slides/26-02-13-20:30:18-d67himlf4391fc71l5f0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42925" y="1762125"/>
            <a:ext cx="6438900" cy="3467100"/>
          </a:xfrm>
          <a:prstGeom prst="roundRect">
            <a:avLst>
              <a:gd name="adj" fmla="val 0"/>
            </a:avLst>
          </a:prstGeom>
        </p:spPr>
      </p:pic>
      <p:sp>
        <p:nvSpPr>
          <p:cNvPr id="9" name="Shape 6"/>
          <p:cNvSpPr/>
          <p:nvPr/>
        </p:nvSpPr>
        <p:spPr>
          <a:xfrm>
            <a:off x="385763" y="5548313"/>
            <a:ext cx="2143125" cy="923925"/>
          </a:xfrm>
          <a:custGeom>
            <a:avLst/>
            <a:gdLst/>
            <a:ahLst/>
            <a:cxnLst/>
            <a:rect l="l" t="t" r="r" b="b"/>
            <a:pathLst>
              <a:path w="2143125" h="923925">
                <a:moveTo>
                  <a:pt x="114299" y="0"/>
                </a:moveTo>
                <a:lnTo>
                  <a:pt x="2028826" y="0"/>
                </a:lnTo>
                <a:cubicBezTo>
                  <a:pt x="2091952" y="0"/>
                  <a:pt x="2143125" y="51173"/>
                  <a:pt x="2143125" y="114299"/>
                </a:cubicBezTo>
                <a:lnTo>
                  <a:pt x="2143125" y="809626"/>
                </a:lnTo>
                <a:cubicBezTo>
                  <a:pt x="2143125" y="872752"/>
                  <a:pt x="2091952" y="923925"/>
                  <a:pt x="2028826" y="923925"/>
                </a:cubicBezTo>
                <a:lnTo>
                  <a:pt x="114299" y="923925"/>
                </a:lnTo>
                <a:cubicBezTo>
                  <a:pt x="51216" y="923925"/>
                  <a:pt x="0" y="872709"/>
                  <a:pt x="0" y="8096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5705475"/>
            <a:ext cx="20002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5000亿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9587" y="6124575"/>
            <a:ext cx="1895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2024年市场规模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692078" y="5548313"/>
            <a:ext cx="2143125" cy="923925"/>
          </a:xfrm>
          <a:custGeom>
            <a:avLst/>
            <a:gdLst/>
            <a:ahLst/>
            <a:cxnLst/>
            <a:rect l="l" t="t" r="r" b="b"/>
            <a:pathLst>
              <a:path w="2143125" h="923925">
                <a:moveTo>
                  <a:pt x="114299" y="0"/>
                </a:moveTo>
                <a:lnTo>
                  <a:pt x="2028826" y="0"/>
                </a:lnTo>
                <a:cubicBezTo>
                  <a:pt x="2091952" y="0"/>
                  <a:pt x="2143125" y="51173"/>
                  <a:pt x="2143125" y="114299"/>
                </a:cubicBezTo>
                <a:lnTo>
                  <a:pt x="2143125" y="809626"/>
                </a:lnTo>
                <a:cubicBezTo>
                  <a:pt x="2143125" y="872752"/>
                  <a:pt x="2091952" y="923925"/>
                  <a:pt x="2028826" y="923925"/>
                </a:cubicBezTo>
                <a:lnTo>
                  <a:pt x="114299" y="923925"/>
                </a:lnTo>
                <a:cubicBezTo>
                  <a:pt x="51216" y="923925"/>
                  <a:pt x="0" y="872709"/>
                  <a:pt x="0" y="8096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63515" y="5705475"/>
            <a:ext cx="20002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4A6C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1.5万亿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15903" y="6124575"/>
            <a:ext cx="1895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2028年预测规模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998393" y="5548313"/>
            <a:ext cx="2143125" cy="923925"/>
          </a:xfrm>
          <a:custGeom>
            <a:avLst/>
            <a:gdLst/>
            <a:ahLst/>
            <a:cxnLst/>
            <a:rect l="l" t="t" r="r" b="b"/>
            <a:pathLst>
              <a:path w="2143125" h="923925">
                <a:moveTo>
                  <a:pt x="114299" y="0"/>
                </a:moveTo>
                <a:lnTo>
                  <a:pt x="2028826" y="0"/>
                </a:lnTo>
                <a:cubicBezTo>
                  <a:pt x="2091952" y="0"/>
                  <a:pt x="2143125" y="51173"/>
                  <a:pt x="2143125" y="114299"/>
                </a:cubicBezTo>
                <a:lnTo>
                  <a:pt x="2143125" y="809626"/>
                </a:lnTo>
                <a:cubicBezTo>
                  <a:pt x="2143125" y="872752"/>
                  <a:pt x="2091952" y="923925"/>
                  <a:pt x="2028826" y="923925"/>
                </a:cubicBezTo>
                <a:lnTo>
                  <a:pt x="114299" y="923925"/>
                </a:lnTo>
                <a:cubicBezTo>
                  <a:pt x="51216" y="923925"/>
                  <a:pt x="0" y="872709"/>
                  <a:pt x="0" y="8096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 w="12700">
            <a:solidFill>
              <a:srgbClr val="8D99AE">
                <a:alpha val="30196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69830" y="5705475"/>
            <a:ext cx="20002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25%+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122218" y="6124575"/>
            <a:ext cx="1895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年复合增长率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304708" y="1223963"/>
            <a:ext cx="4505325" cy="3552825"/>
          </a:xfrm>
          <a:custGeom>
            <a:avLst/>
            <a:gdLst/>
            <a:ahLst/>
            <a:cxnLst/>
            <a:rect l="l" t="t" r="r" b="b"/>
            <a:pathLst>
              <a:path w="4505325" h="3552825">
                <a:moveTo>
                  <a:pt x="114294" y="0"/>
                </a:moveTo>
                <a:lnTo>
                  <a:pt x="4391031" y="0"/>
                </a:lnTo>
                <a:cubicBezTo>
                  <a:pt x="4454154" y="0"/>
                  <a:pt x="4505325" y="51171"/>
                  <a:pt x="4505325" y="114294"/>
                </a:cubicBezTo>
                <a:lnTo>
                  <a:pt x="4505325" y="3438531"/>
                </a:lnTo>
                <a:cubicBezTo>
                  <a:pt x="4505325" y="3501654"/>
                  <a:pt x="4454154" y="3552825"/>
                  <a:pt x="4391031" y="3552825"/>
                </a:cubicBezTo>
                <a:lnTo>
                  <a:pt x="114294" y="3552825"/>
                </a:lnTo>
                <a:cubicBezTo>
                  <a:pt x="51171" y="3552825"/>
                  <a:pt x="0" y="3501654"/>
                  <a:pt x="0" y="3438531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461870" y="141922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20" name="Text 17"/>
          <p:cNvSpPr/>
          <p:nvPr/>
        </p:nvSpPr>
        <p:spPr>
          <a:xfrm>
            <a:off x="7699995" y="1381125"/>
            <a:ext cx="4048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用户规模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461870" y="2114550"/>
            <a:ext cx="4191000" cy="685800"/>
          </a:xfrm>
          <a:custGeom>
            <a:avLst/>
            <a:gdLst/>
            <a:ahLst/>
            <a:cxnLst/>
            <a:rect l="l" t="t" r="r" b="b"/>
            <a:pathLst>
              <a:path w="4191000" h="685800">
                <a:moveTo>
                  <a:pt x="76199" y="0"/>
                </a:moveTo>
                <a:lnTo>
                  <a:pt x="4114801" y="0"/>
                </a:lnTo>
                <a:cubicBezTo>
                  <a:pt x="4156884" y="0"/>
                  <a:pt x="4191000" y="34116"/>
                  <a:pt x="4191000" y="76199"/>
                </a:cubicBezTo>
                <a:lnTo>
                  <a:pt x="4191000" y="609601"/>
                </a:lnTo>
                <a:cubicBezTo>
                  <a:pt x="4191000" y="651684"/>
                  <a:pt x="4156884" y="685800"/>
                  <a:pt x="41148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22" name="Text 19"/>
          <p:cNvSpPr/>
          <p:nvPr/>
        </p:nvSpPr>
        <p:spPr>
          <a:xfrm>
            <a:off x="7576170" y="2266950"/>
            <a:ext cx="838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个人投资者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1040070" y="2228850"/>
            <a:ext cx="609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2亿+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7576170" y="2609850"/>
            <a:ext cx="3962400" cy="76200"/>
          </a:xfrm>
          <a:custGeom>
            <a:avLst/>
            <a:gdLst/>
            <a:ahLst/>
            <a:cxnLst/>
            <a:rect l="l" t="t" r="r" b="b"/>
            <a:pathLst>
              <a:path w="3962400" h="76200">
                <a:moveTo>
                  <a:pt x="38100" y="0"/>
                </a:moveTo>
                <a:lnTo>
                  <a:pt x="3924300" y="0"/>
                </a:lnTo>
                <a:cubicBezTo>
                  <a:pt x="3945328" y="0"/>
                  <a:pt x="3962400" y="17072"/>
                  <a:pt x="3962400" y="38100"/>
                </a:cubicBezTo>
                <a:lnTo>
                  <a:pt x="3962400" y="38100"/>
                </a:lnTo>
                <a:cubicBezTo>
                  <a:pt x="3962400" y="59128"/>
                  <a:pt x="3945328" y="76200"/>
                  <a:pt x="39243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</p:spPr>
      </p:sp>
      <p:sp>
        <p:nvSpPr>
          <p:cNvPr id="25" name="Shape 22"/>
          <p:cNvSpPr/>
          <p:nvPr/>
        </p:nvSpPr>
        <p:spPr>
          <a:xfrm>
            <a:off x="7576170" y="2609850"/>
            <a:ext cx="3362325" cy="76200"/>
          </a:xfrm>
          <a:custGeom>
            <a:avLst/>
            <a:gdLst/>
            <a:ahLst/>
            <a:cxnLst/>
            <a:rect l="l" t="t" r="r" b="b"/>
            <a:pathLst>
              <a:path w="3362325" h="76200">
                <a:moveTo>
                  <a:pt x="38100" y="0"/>
                </a:moveTo>
                <a:lnTo>
                  <a:pt x="3324225" y="0"/>
                </a:lnTo>
                <a:cubicBezTo>
                  <a:pt x="3345253" y="0"/>
                  <a:pt x="3362325" y="17072"/>
                  <a:pt x="3362325" y="38100"/>
                </a:cubicBezTo>
                <a:lnTo>
                  <a:pt x="3362325" y="38100"/>
                </a:lnTo>
                <a:cubicBezTo>
                  <a:pt x="3362325" y="59128"/>
                  <a:pt x="3345253" y="76200"/>
                  <a:pt x="33242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26" name="Shape 23"/>
          <p:cNvSpPr/>
          <p:nvPr/>
        </p:nvSpPr>
        <p:spPr>
          <a:xfrm>
            <a:off x="7461870" y="3581400"/>
            <a:ext cx="4191000" cy="685800"/>
          </a:xfrm>
          <a:custGeom>
            <a:avLst/>
            <a:gdLst/>
            <a:ahLst/>
            <a:cxnLst/>
            <a:rect l="l" t="t" r="r" b="b"/>
            <a:pathLst>
              <a:path w="4191000" h="685800">
                <a:moveTo>
                  <a:pt x="76199" y="0"/>
                </a:moveTo>
                <a:lnTo>
                  <a:pt x="4114801" y="0"/>
                </a:lnTo>
                <a:cubicBezTo>
                  <a:pt x="4156884" y="0"/>
                  <a:pt x="4191000" y="34116"/>
                  <a:pt x="4191000" y="76199"/>
                </a:cubicBezTo>
                <a:lnTo>
                  <a:pt x="4191000" y="609601"/>
                </a:lnTo>
                <a:cubicBezTo>
                  <a:pt x="4191000" y="651684"/>
                  <a:pt x="4156884" y="685800"/>
                  <a:pt x="41148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27" name="Text 24"/>
          <p:cNvSpPr/>
          <p:nvPr/>
        </p:nvSpPr>
        <p:spPr>
          <a:xfrm>
            <a:off x="7576170" y="373380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机构客户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1077575" y="3695700"/>
            <a:ext cx="5715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A6C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数万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7576170" y="4076700"/>
            <a:ext cx="3962400" cy="76200"/>
          </a:xfrm>
          <a:custGeom>
            <a:avLst/>
            <a:gdLst/>
            <a:ahLst/>
            <a:cxnLst/>
            <a:rect l="l" t="t" r="r" b="b"/>
            <a:pathLst>
              <a:path w="3962400" h="76200">
                <a:moveTo>
                  <a:pt x="38100" y="0"/>
                </a:moveTo>
                <a:lnTo>
                  <a:pt x="3924300" y="0"/>
                </a:lnTo>
                <a:cubicBezTo>
                  <a:pt x="3945328" y="0"/>
                  <a:pt x="3962400" y="17072"/>
                  <a:pt x="3962400" y="38100"/>
                </a:cubicBezTo>
                <a:lnTo>
                  <a:pt x="3962400" y="38100"/>
                </a:lnTo>
                <a:cubicBezTo>
                  <a:pt x="3962400" y="59128"/>
                  <a:pt x="3945328" y="76200"/>
                  <a:pt x="39243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</p:spPr>
      </p:sp>
      <p:sp>
        <p:nvSpPr>
          <p:cNvPr id="30" name="Shape 27"/>
          <p:cNvSpPr/>
          <p:nvPr/>
        </p:nvSpPr>
        <p:spPr>
          <a:xfrm>
            <a:off x="7576170" y="4076700"/>
            <a:ext cx="2371725" cy="76200"/>
          </a:xfrm>
          <a:custGeom>
            <a:avLst/>
            <a:gdLst/>
            <a:ahLst/>
            <a:cxnLst/>
            <a:rect l="l" t="t" r="r" b="b"/>
            <a:pathLst>
              <a:path w="2371725" h="76200">
                <a:moveTo>
                  <a:pt x="38100" y="0"/>
                </a:moveTo>
                <a:lnTo>
                  <a:pt x="2333625" y="0"/>
                </a:lnTo>
                <a:cubicBezTo>
                  <a:pt x="2354653" y="0"/>
                  <a:pt x="2371725" y="17072"/>
                  <a:pt x="2371725" y="38100"/>
                </a:cubicBezTo>
                <a:lnTo>
                  <a:pt x="2371725" y="38100"/>
                </a:lnTo>
                <a:cubicBezTo>
                  <a:pt x="2371725" y="59128"/>
                  <a:pt x="2354653" y="76200"/>
                  <a:pt x="23336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31" name="Shape 28"/>
          <p:cNvSpPr/>
          <p:nvPr/>
        </p:nvSpPr>
        <p:spPr>
          <a:xfrm>
            <a:off x="7304708" y="4938713"/>
            <a:ext cx="4505325" cy="1533525"/>
          </a:xfrm>
          <a:custGeom>
            <a:avLst/>
            <a:gdLst/>
            <a:ahLst/>
            <a:cxnLst/>
            <a:rect l="l" t="t" r="r" b="b"/>
            <a:pathLst>
              <a:path w="4505325" h="1533525">
                <a:moveTo>
                  <a:pt x="114294" y="0"/>
                </a:moveTo>
                <a:lnTo>
                  <a:pt x="4391031" y="0"/>
                </a:lnTo>
                <a:cubicBezTo>
                  <a:pt x="4454154" y="0"/>
                  <a:pt x="4505325" y="51171"/>
                  <a:pt x="4505325" y="114294"/>
                </a:cubicBezTo>
                <a:lnTo>
                  <a:pt x="4505325" y="1419231"/>
                </a:lnTo>
                <a:cubicBezTo>
                  <a:pt x="4505325" y="1482354"/>
                  <a:pt x="4454154" y="1533525"/>
                  <a:pt x="4391031" y="1533525"/>
                </a:cubicBezTo>
                <a:lnTo>
                  <a:pt x="114294" y="1533525"/>
                </a:lnTo>
                <a:cubicBezTo>
                  <a:pt x="51171" y="1533525"/>
                  <a:pt x="0" y="1482354"/>
                  <a:pt x="0" y="1419231"/>
                </a:cubicBezTo>
                <a:lnTo>
                  <a:pt x="0" y="114294"/>
                </a:lnTo>
                <a:cubicBezTo>
                  <a:pt x="0" y="51213"/>
                  <a:pt x="51213" y="0"/>
                  <a:pt x="114294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485683" y="51435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0716" y="10716"/>
                </a:moveTo>
                <a:cubicBezTo>
                  <a:pt x="4789" y="10716"/>
                  <a:pt x="0" y="15504"/>
                  <a:pt x="0" y="21431"/>
                </a:cubicBezTo>
                <a:lnTo>
                  <a:pt x="0" y="144661"/>
                </a:lnTo>
                <a:cubicBezTo>
                  <a:pt x="0" y="153535"/>
                  <a:pt x="7200" y="160734"/>
                  <a:pt x="16073" y="160734"/>
                </a:cubicBezTo>
                <a:lnTo>
                  <a:pt x="155377" y="160734"/>
                </a:lnTo>
                <a:cubicBezTo>
                  <a:pt x="164250" y="160734"/>
                  <a:pt x="171450" y="153535"/>
                  <a:pt x="171450" y="144661"/>
                </a:cubicBezTo>
                <a:lnTo>
                  <a:pt x="171450" y="50966"/>
                </a:lnTo>
                <a:cubicBezTo>
                  <a:pt x="171450" y="44872"/>
                  <a:pt x="164954" y="41021"/>
                  <a:pt x="159596" y="43901"/>
                </a:cubicBezTo>
                <a:lnTo>
                  <a:pt x="107156" y="72130"/>
                </a:lnTo>
                <a:lnTo>
                  <a:pt x="107156" y="50966"/>
                </a:lnTo>
                <a:cubicBezTo>
                  <a:pt x="107156" y="44872"/>
                  <a:pt x="100660" y="41021"/>
                  <a:pt x="95302" y="43901"/>
                </a:cubicBezTo>
                <a:lnTo>
                  <a:pt x="42863" y="72130"/>
                </a:lnTo>
                <a:lnTo>
                  <a:pt x="42863" y="21431"/>
                </a:lnTo>
                <a:cubicBezTo>
                  <a:pt x="42863" y="15504"/>
                  <a:pt x="38074" y="10716"/>
                  <a:pt x="32147" y="10716"/>
                </a:cubicBezTo>
                <a:lnTo>
                  <a:pt x="10716" y="10716"/>
                </a:lnTo>
                <a:close/>
              </a:path>
            </a:pathLst>
          </a:custGeom>
          <a:solidFill>
            <a:srgbClr val="4A6C8C"/>
          </a:solidFill>
        </p:spPr>
      </p:sp>
      <p:sp>
        <p:nvSpPr>
          <p:cNvPr id="33" name="Text 30"/>
          <p:cNvSpPr/>
          <p:nvPr/>
        </p:nvSpPr>
        <p:spPr>
          <a:xfrm>
            <a:off x="7680945" y="5095875"/>
            <a:ext cx="4057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细分市场增长率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461870" y="5495925"/>
            <a:ext cx="1266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企业级金融分析工具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11247165" y="5476875"/>
            <a:ext cx="4762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30%+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7461870" y="5800725"/>
            <a:ext cx="9906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AI金融应用市场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11247462" y="5781675"/>
            <a:ext cx="4762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40%+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7461870" y="6105525"/>
            <a:ext cx="1133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量化投资工具市场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11251109" y="6086475"/>
            <a:ext cx="4762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20%+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3" name="Text 1"/>
          <p:cNvSpPr/>
          <p:nvPr/>
        </p:nvSpPr>
        <p:spPr>
          <a:xfrm>
            <a:off x="533400" y="381000"/>
            <a:ext cx="22288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目标客户群体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838200"/>
            <a:ext cx="11353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Target Customer Segments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223963"/>
            <a:ext cx="5629275" cy="4200525"/>
          </a:xfrm>
          <a:custGeom>
            <a:avLst/>
            <a:gdLst/>
            <a:ahLst/>
            <a:cxnLst/>
            <a:rect l="l" t="t" r="r" b="b"/>
            <a:pathLst>
              <a:path w="5629275" h="4200525">
                <a:moveTo>
                  <a:pt x="114296" y="0"/>
                </a:moveTo>
                <a:lnTo>
                  <a:pt x="5514979" y="0"/>
                </a:lnTo>
                <a:cubicBezTo>
                  <a:pt x="5578061" y="0"/>
                  <a:pt x="5629275" y="51214"/>
                  <a:pt x="5629275" y="114296"/>
                </a:cubicBezTo>
                <a:lnTo>
                  <a:pt x="5629275" y="4086229"/>
                </a:lnTo>
                <a:cubicBezTo>
                  <a:pt x="5629275" y="4149311"/>
                  <a:pt x="5578061" y="4200525"/>
                  <a:pt x="5514979" y="4200525"/>
                </a:cubicBezTo>
                <a:lnTo>
                  <a:pt x="114296" y="4200525"/>
                </a:lnTo>
                <a:cubicBezTo>
                  <a:pt x="51214" y="4200525"/>
                  <a:pt x="0" y="4149311"/>
                  <a:pt x="0" y="408622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2925" y="14001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642938" y="151447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9750" y="38933"/>
                </a:moveTo>
                <a:cubicBezTo>
                  <a:pt x="143857" y="35674"/>
                  <a:pt x="146447" y="30629"/>
                  <a:pt x="146447" y="25003"/>
                </a:cubicBezTo>
                <a:cubicBezTo>
                  <a:pt x="146447" y="15136"/>
                  <a:pt x="138455" y="7144"/>
                  <a:pt x="128588" y="7144"/>
                </a:cubicBezTo>
                <a:cubicBezTo>
                  <a:pt x="118720" y="7144"/>
                  <a:pt x="110728" y="15136"/>
                  <a:pt x="110728" y="25003"/>
                </a:cubicBezTo>
                <a:cubicBezTo>
                  <a:pt x="110728" y="30629"/>
                  <a:pt x="113362" y="35674"/>
                  <a:pt x="117425" y="38933"/>
                </a:cubicBezTo>
                <a:lnTo>
                  <a:pt x="86886" y="86975"/>
                </a:lnTo>
                <a:cubicBezTo>
                  <a:pt x="82421" y="93985"/>
                  <a:pt x="72911" y="95726"/>
                  <a:pt x="66258" y="90726"/>
                </a:cubicBezTo>
                <a:lnTo>
                  <a:pt x="39692" y="70857"/>
                </a:lnTo>
                <a:cubicBezTo>
                  <a:pt x="41702" y="68000"/>
                  <a:pt x="42863" y="64472"/>
                  <a:pt x="42863" y="60722"/>
                </a:cubicBezTo>
                <a:cubicBezTo>
                  <a:pt x="42863" y="50855"/>
                  <a:pt x="34870" y="42863"/>
                  <a:pt x="25003" y="42863"/>
                </a:cubicBezTo>
                <a:cubicBezTo>
                  <a:pt x="15136" y="42863"/>
                  <a:pt x="7144" y="50855"/>
                  <a:pt x="7144" y="60722"/>
                </a:cubicBezTo>
                <a:cubicBezTo>
                  <a:pt x="7144" y="70455"/>
                  <a:pt x="14957" y="78403"/>
                  <a:pt x="24646" y="78581"/>
                </a:cubicBezTo>
                <a:lnTo>
                  <a:pt x="39201" y="175692"/>
                </a:lnTo>
                <a:cubicBezTo>
                  <a:pt x="41300" y="189667"/>
                  <a:pt x="53310" y="200025"/>
                  <a:pt x="67464" y="200025"/>
                </a:cubicBezTo>
                <a:lnTo>
                  <a:pt x="189711" y="200025"/>
                </a:lnTo>
                <a:cubicBezTo>
                  <a:pt x="203865" y="200025"/>
                  <a:pt x="215875" y="189667"/>
                  <a:pt x="217974" y="175692"/>
                </a:cubicBezTo>
                <a:lnTo>
                  <a:pt x="232529" y="78581"/>
                </a:lnTo>
                <a:cubicBezTo>
                  <a:pt x="242218" y="78403"/>
                  <a:pt x="250031" y="70455"/>
                  <a:pt x="250031" y="60722"/>
                </a:cubicBezTo>
                <a:cubicBezTo>
                  <a:pt x="250031" y="50855"/>
                  <a:pt x="242039" y="42863"/>
                  <a:pt x="232172" y="42863"/>
                </a:cubicBezTo>
                <a:cubicBezTo>
                  <a:pt x="222305" y="42863"/>
                  <a:pt x="214313" y="50855"/>
                  <a:pt x="214313" y="60722"/>
                </a:cubicBezTo>
                <a:cubicBezTo>
                  <a:pt x="214313" y="64472"/>
                  <a:pt x="215473" y="68000"/>
                  <a:pt x="217483" y="70857"/>
                </a:cubicBezTo>
                <a:lnTo>
                  <a:pt x="190961" y="90770"/>
                </a:lnTo>
                <a:cubicBezTo>
                  <a:pt x="184309" y="95771"/>
                  <a:pt x="174799" y="94030"/>
                  <a:pt x="170334" y="87020"/>
                </a:cubicBezTo>
                <a:lnTo>
                  <a:pt x="139750" y="38933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8" name="Text 6"/>
          <p:cNvSpPr/>
          <p:nvPr/>
        </p:nvSpPr>
        <p:spPr>
          <a:xfrm>
            <a:off x="1114425" y="1381125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一级市场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14425" y="1685925"/>
            <a:ext cx="981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核心客户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2925" y="2181225"/>
            <a:ext cx="5314950" cy="1219200"/>
          </a:xfrm>
          <a:custGeom>
            <a:avLst/>
            <a:gdLst/>
            <a:ahLst/>
            <a:cxnLst/>
            <a:rect l="l" t="t" r="r" b="b"/>
            <a:pathLst>
              <a:path w="5314950" h="1219200">
                <a:moveTo>
                  <a:pt x="76200" y="0"/>
                </a:moveTo>
                <a:lnTo>
                  <a:pt x="5238750" y="0"/>
                </a:lnTo>
                <a:cubicBezTo>
                  <a:pt x="5280806" y="0"/>
                  <a:pt x="5314950" y="34144"/>
                  <a:pt x="5314950" y="76200"/>
                </a:cubicBezTo>
                <a:lnTo>
                  <a:pt x="5314950" y="1143000"/>
                </a:lnTo>
                <a:cubicBezTo>
                  <a:pt x="5314950" y="1185056"/>
                  <a:pt x="5280806" y="1219200"/>
                  <a:pt x="5238750" y="1219200"/>
                </a:cubicBez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657225" y="23336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775097" y="243840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75009" y="83046"/>
                </a:moveTo>
                <a:cubicBezTo>
                  <a:pt x="97187" y="83046"/>
                  <a:pt x="115193" y="65040"/>
                  <a:pt x="115193" y="42863"/>
                </a:cubicBezTo>
                <a:cubicBezTo>
                  <a:pt x="115193" y="20685"/>
                  <a:pt x="97187" y="2679"/>
                  <a:pt x="75009" y="2679"/>
                </a:cubicBezTo>
                <a:cubicBezTo>
                  <a:pt x="52831" y="2679"/>
                  <a:pt x="34826" y="20685"/>
                  <a:pt x="34826" y="42863"/>
                </a:cubicBezTo>
                <a:cubicBezTo>
                  <a:pt x="34826" y="65040"/>
                  <a:pt x="52831" y="83046"/>
                  <a:pt x="75009" y="83046"/>
                </a:cubicBezTo>
                <a:close/>
                <a:moveTo>
                  <a:pt x="65064" y="101798"/>
                </a:moveTo>
                <a:cubicBezTo>
                  <a:pt x="32080" y="101798"/>
                  <a:pt x="5358" y="128521"/>
                  <a:pt x="5358" y="161505"/>
                </a:cubicBezTo>
                <a:cubicBezTo>
                  <a:pt x="5358" y="166996"/>
                  <a:pt x="9811" y="171450"/>
                  <a:pt x="15303" y="171450"/>
                </a:cubicBezTo>
                <a:lnTo>
                  <a:pt x="134715" y="171450"/>
                </a:lnTo>
                <a:cubicBezTo>
                  <a:pt x="140207" y="171450"/>
                  <a:pt x="144661" y="166996"/>
                  <a:pt x="144661" y="161505"/>
                </a:cubicBezTo>
                <a:cubicBezTo>
                  <a:pt x="144661" y="128521"/>
                  <a:pt x="117939" y="101798"/>
                  <a:pt x="84955" y="101798"/>
                </a:cubicBezTo>
                <a:lnTo>
                  <a:pt x="65064" y="101798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13" name="Text 11"/>
          <p:cNvSpPr/>
          <p:nvPr/>
        </p:nvSpPr>
        <p:spPr>
          <a:xfrm>
            <a:off x="1152525" y="2295525"/>
            <a:ext cx="12858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个人投资者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52525" y="2562225"/>
            <a:ext cx="1266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高净值、专业投资者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0075" y="2828925"/>
            <a:ext cx="26193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500万+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8650" y="3133725"/>
            <a:ext cx="25622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潜在用户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181350" y="2828925"/>
            <a:ext cx="26193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500-5000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09925" y="3133725"/>
            <a:ext cx="25622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元/年客单价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2925" y="3857625"/>
            <a:ext cx="5314950" cy="1219200"/>
          </a:xfrm>
          <a:custGeom>
            <a:avLst/>
            <a:gdLst/>
            <a:ahLst/>
            <a:cxnLst/>
            <a:rect l="l" t="t" r="r" b="b"/>
            <a:pathLst>
              <a:path w="5314950" h="1219200">
                <a:moveTo>
                  <a:pt x="76200" y="0"/>
                </a:moveTo>
                <a:lnTo>
                  <a:pt x="5238750" y="0"/>
                </a:lnTo>
                <a:cubicBezTo>
                  <a:pt x="5280806" y="0"/>
                  <a:pt x="5314950" y="34144"/>
                  <a:pt x="5314950" y="76200"/>
                </a:cubicBezTo>
                <a:lnTo>
                  <a:pt x="5314950" y="1143000"/>
                </a:lnTo>
                <a:cubicBezTo>
                  <a:pt x="5314950" y="1185056"/>
                  <a:pt x="5280806" y="1219200"/>
                  <a:pt x="5238750" y="1219200"/>
                </a:cubicBez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20" name="Shape 18"/>
          <p:cNvSpPr/>
          <p:nvPr/>
        </p:nvSpPr>
        <p:spPr>
          <a:xfrm>
            <a:off x="657225" y="40100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</p:spPr>
      </p:sp>
      <p:sp>
        <p:nvSpPr>
          <p:cNvPr id="21" name="Shape 19"/>
          <p:cNvSpPr/>
          <p:nvPr/>
        </p:nvSpPr>
        <p:spPr>
          <a:xfrm>
            <a:off x="785813" y="4114800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21431" y="0"/>
                </a:moveTo>
                <a:cubicBezTo>
                  <a:pt x="9611" y="0"/>
                  <a:pt x="0" y="9611"/>
                  <a:pt x="0" y="21431"/>
                </a:cubicBezTo>
                <a:lnTo>
                  <a:pt x="0" y="150019"/>
                </a:lnTo>
                <a:cubicBezTo>
                  <a:pt x="0" y="161839"/>
                  <a:pt x="9611" y="171450"/>
                  <a:pt x="21431" y="171450"/>
                </a:cubicBezTo>
                <a:lnTo>
                  <a:pt x="107156" y="171450"/>
                </a:lnTo>
                <a:cubicBezTo>
                  <a:pt x="118977" y="171450"/>
                  <a:pt x="128588" y="161839"/>
                  <a:pt x="128588" y="150019"/>
                </a:cubicBezTo>
                <a:lnTo>
                  <a:pt x="128588" y="21431"/>
                </a:lnTo>
                <a:cubicBezTo>
                  <a:pt x="128588" y="9611"/>
                  <a:pt x="118977" y="0"/>
                  <a:pt x="107156" y="0"/>
                </a:cubicBezTo>
                <a:lnTo>
                  <a:pt x="21431" y="0"/>
                </a:lnTo>
                <a:close/>
                <a:moveTo>
                  <a:pt x="58936" y="117872"/>
                </a:moveTo>
                <a:lnTo>
                  <a:pt x="69652" y="117872"/>
                </a:lnTo>
                <a:cubicBezTo>
                  <a:pt x="75579" y="117872"/>
                  <a:pt x="80367" y="122660"/>
                  <a:pt x="80367" y="128588"/>
                </a:cubicBezTo>
                <a:lnTo>
                  <a:pt x="80367" y="155377"/>
                </a:lnTo>
                <a:lnTo>
                  <a:pt x="48220" y="155377"/>
                </a:lnTo>
                <a:lnTo>
                  <a:pt x="48220" y="128588"/>
                </a:lnTo>
                <a:cubicBezTo>
                  <a:pt x="48220" y="122660"/>
                  <a:pt x="53009" y="117872"/>
                  <a:pt x="58936" y="117872"/>
                </a:cubicBezTo>
                <a:close/>
                <a:moveTo>
                  <a:pt x="32147" y="37505"/>
                </a:moveTo>
                <a:cubicBezTo>
                  <a:pt x="32147" y="34558"/>
                  <a:pt x="34558" y="32147"/>
                  <a:pt x="37505" y="32147"/>
                </a:cubicBezTo>
                <a:lnTo>
                  <a:pt x="48220" y="32147"/>
                </a:lnTo>
                <a:cubicBezTo>
                  <a:pt x="51167" y="32147"/>
                  <a:pt x="53578" y="34558"/>
                  <a:pt x="53578" y="37505"/>
                </a:cubicBezTo>
                <a:lnTo>
                  <a:pt x="53578" y="48220"/>
                </a:lnTo>
                <a:cubicBezTo>
                  <a:pt x="53578" y="51167"/>
                  <a:pt x="51167" y="53578"/>
                  <a:pt x="48220" y="53578"/>
                </a:cubicBezTo>
                <a:lnTo>
                  <a:pt x="37505" y="53578"/>
                </a:lnTo>
                <a:cubicBezTo>
                  <a:pt x="34558" y="53578"/>
                  <a:pt x="32147" y="51167"/>
                  <a:pt x="32147" y="48220"/>
                </a:cubicBezTo>
                <a:lnTo>
                  <a:pt x="32147" y="37505"/>
                </a:lnTo>
                <a:close/>
                <a:moveTo>
                  <a:pt x="80367" y="32147"/>
                </a:moveTo>
                <a:lnTo>
                  <a:pt x="91083" y="32147"/>
                </a:lnTo>
                <a:cubicBezTo>
                  <a:pt x="94030" y="32147"/>
                  <a:pt x="96441" y="34558"/>
                  <a:pt x="96441" y="37505"/>
                </a:cubicBezTo>
                <a:lnTo>
                  <a:pt x="96441" y="48220"/>
                </a:lnTo>
                <a:cubicBezTo>
                  <a:pt x="96441" y="51167"/>
                  <a:pt x="94030" y="53578"/>
                  <a:pt x="91083" y="53578"/>
                </a:cubicBezTo>
                <a:lnTo>
                  <a:pt x="80367" y="53578"/>
                </a:lnTo>
                <a:cubicBezTo>
                  <a:pt x="77420" y="53578"/>
                  <a:pt x="75009" y="51167"/>
                  <a:pt x="75009" y="48220"/>
                </a:cubicBezTo>
                <a:lnTo>
                  <a:pt x="75009" y="37505"/>
                </a:lnTo>
                <a:cubicBezTo>
                  <a:pt x="75009" y="34558"/>
                  <a:pt x="77420" y="32147"/>
                  <a:pt x="80367" y="32147"/>
                </a:cubicBezTo>
                <a:close/>
                <a:moveTo>
                  <a:pt x="32147" y="80367"/>
                </a:moveTo>
                <a:cubicBezTo>
                  <a:pt x="32147" y="77420"/>
                  <a:pt x="34558" y="75009"/>
                  <a:pt x="37505" y="75009"/>
                </a:cubicBezTo>
                <a:lnTo>
                  <a:pt x="48220" y="75009"/>
                </a:lnTo>
                <a:cubicBezTo>
                  <a:pt x="51167" y="75009"/>
                  <a:pt x="53578" y="77420"/>
                  <a:pt x="53578" y="80367"/>
                </a:cubicBezTo>
                <a:lnTo>
                  <a:pt x="53578" y="91083"/>
                </a:lnTo>
                <a:cubicBezTo>
                  <a:pt x="53578" y="94030"/>
                  <a:pt x="51167" y="96441"/>
                  <a:pt x="48220" y="96441"/>
                </a:cubicBezTo>
                <a:lnTo>
                  <a:pt x="37505" y="96441"/>
                </a:lnTo>
                <a:cubicBezTo>
                  <a:pt x="34558" y="96441"/>
                  <a:pt x="32147" y="94030"/>
                  <a:pt x="32147" y="91083"/>
                </a:cubicBezTo>
                <a:lnTo>
                  <a:pt x="32147" y="80367"/>
                </a:lnTo>
                <a:close/>
                <a:moveTo>
                  <a:pt x="80367" y="75009"/>
                </a:moveTo>
                <a:lnTo>
                  <a:pt x="91083" y="75009"/>
                </a:lnTo>
                <a:cubicBezTo>
                  <a:pt x="94030" y="75009"/>
                  <a:pt x="96441" y="77420"/>
                  <a:pt x="96441" y="80367"/>
                </a:cubicBezTo>
                <a:lnTo>
                  <a:pt x="96441" y="91083"/>
                </a:lnTo>
                <a:cubicBezTo>
                  <a:pt x="96441" y="94030"/>
                  <a:pt x="94030" y="96441"/>
                  <a:pt x="91083" y="96441"/>
                </a:cubicBezTo>
                <a:lnTo>
                  <a:pt x="80367" y="96441"/>
                </a:lnTo>
                <a:cubicBezTo>
                  <a:pt x="77420" y="96441"/>
                  <a:pt x="75009" y="94030"/>
                  <a:pt x="75009" y="91083"/>
                </a:cubicBezTo>
                <a:lnTo>
                  <a:pt x="75009" y="80367"/>
                </a:lnTo>
                <a:cubicBezTo>
                  <a:pt x="75009" y="77420"/>
                  <a:pt x="77420" y="75009"/>
                  <a:pt x="80367" y="75009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22" name="Text 20"/>
          <p:cNvSpPr/>
          <p:nvPr/>
        </p:nvSpPr>
        <p:spPr>
          <a:xfrm>
            <a:off x="1152525" y="3971925"/>
            <a:ext cx="12858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中小型投资机构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52525" y="4238625"/>
            <a:ext cx="1266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私募基金、投资公司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0075" y="4505325"/>
            <a:ext cx="26193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4A6C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10,000+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8650" y="4810125"/>
            <a:ext cx="25622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机构数量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181350" y="4505325"/>
            <a:ext cx="26193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4A6C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5-50万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209925" y="4810125"/>
            <a:ext cx="25622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元/年客单价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76963" y="1223963"/>
            <a:ext cx="5629275" cy="4200525"/>
          </a:xfrm>
          <a:custGeom>
            <a:avLst/>
            <a:gdLst/>
            <a:ahLst/>
            <a:cxnLst/>
            <a:rect l="l" t="t" r="r" b="b"/>
            <a:pathLst>
              <a:path w="5629275" h="4200525">
                <a:moveTo>
                  <a:pt x="114296" y="0"/>
                </a:moveTo>
                <a:lnTo>
                  <a:pt x="5514979" y="0"/>
                </a:lnTo>
                <a:cubicBezTo>
                  <a:pt x="5578061" y="0"/>
                  <a:pt x="5629275" y="51214"/>
                  <a:pt x="5629275" y="114296"/>
                </a:cubicBezTo>
                <a:lnTo>
                  <a:pt x="5629275" y="4086229"/>
                </a:lnTo>
                <a:cubicBezTo>
                  <a:pt x="5629275" y="4149311"/>
                  <a:pt x="5578061" y="4200525"/>
                  <a:pt x="5514979" y="4200525"/>
                </a:cubicBezTo>
                <a:lnTo>
                  <a:pt x="114296" y="4200525"/>
                </a:lnTo>
                <a:cubicBezTo>
                  <a:pt x="51214" y="4200525"/>
                  <a:pt x="0" y="4149311"/>
                  <a:pt x="0" y="408622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34125" y="14001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6462713" y="151447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75009" y="14288"/>
                </a:moveTo>
                <a:lnTo>
                  <a:pt x="10716" y="14288"/>
                </a:lnTo>
                <a:cubicBezTo>
                  <a:pt x="4777" y="14288"/>
                  <a:pt x="0" y="19065"/>
                  <a:pt x="0" y="25003"/>
                </a:cubicBezTo>
                <a:lnTo>
                  <a:pt x="0" y="89297"/>
                </a:lnTo>
                <a:cubicBezTo>
                  <a:pt x="0" y="93628"/>
                  <a:pt x="2590" y="97557"/>
                  <a:pt x="6608" y="99209"/>
                </a:cubicBezTo>
                <a:cubicBezTo>
                  <a:pt x="10626" y="100861"/>
                  <a:pt x="15225" y="99923"/>
                  <a:pt x="18306" y="96887"/>
                </a:cubicBezTo>
                <a:lnTo>
                  <a:pt x="36165" y="79028"/>
                </a:lnTo>
                <a:lnTo>
                  <a:pt x="71438" y="114300"/>
                </a:lnTo>
                <a:lnTo>
                  <a:pt x="36165" y="149572"/>
                </a:lnTo>
                <a:lnTo>
                  <a:pt x="18306" y="131713"/>
                </a:lnTo>
                <a:cubicBezTo>
                  <a:pt x="15225" y="128632"/>
                  <a:pt x="10626" y="127739"/>
                  <a:pt x="6608" y="129391"/>
                </a:cubicBezTo>
                <a:cubicBezTo>
                  <a:pt x="2590" y="131043"/>
                  <a:pt x="0" y="134972"/>
                  <a:pt x="0" y="139303"/>
                </a:cubicBezTo>
                <a:lnTo>
                  <a:pt x="0" y="203597"/>
                </a:lnTo>
                <a:cubicBezTo>
                  <a:pt x="0" y="209535"/>
                  <a:pt x="4777" y="214313"/>
                  <a:pt x="10716" y="214313"/>
                </a:cubicBezTo>
                <a:lnTo>
                  <a:pt x="75009" y="214313"/>
                </a:lnTo>
                <a:cubicBezTo>
                  <a:pt x="79340" y="214313"/>
                  <a:pt x="83269" y="211723"/>
                  <a:pt x="84921" y="207705"/>
                </a:cubicBezTo>
                <a:cubicBezTo>
                  <a:pt x="86573" y="203686"/>
                  <a:pt x="85680" y="199087"/>
                  <a:pt x="82600" y="196007"/>
                </a:cubicBezTo>
                <a:lnTo>
                  <a:pt x="64740" y="178147"/>
                </a:lnTo>
                <a:lnTo>
                  <a:pt x="100013" y="142875"/>
                </a:lnTo>
                <a:lnTo>
                  <a:pt x="135285" y="178147"/>
                </a:lnTo>
                <a:lnTo>
                  <a:pt x="117425" y="196007"/>
                </a:lnTo>
                <a:cubicBezTo>
                  <a:pt x="114345" y="199087"/>
                  <a:pt x="113452" y="203686"/>
                  <a:pt x="115104" y="207705"/>
                </a:cubicBezTo>
                <a:cubicBezTo>
                  <a:pt x="116756" y="211723"/>
                  <a:pt x="120685" y="214313"/>
                  <a:pt x="125016" y="214313"/>
                </a:cubicBezTo>
                <a:lnTo>
                  <a:pt x="189309" y="214313"/>
                </a:lnTo>
                <a:cubicBezTo>
                  <a:pt x="195248" y="214313"/>
                  <a:pt x="200025" y="209535"/>
                  <a:pt x="200025" y="203597"/>
                </a:cubicBezTo>
                <a:lnTo>
                  <a:pt x="200025" y="139303"/>
                </a:lnTo>
                <a:cubicBezTo>
                  <a:pt x="200025" y="134972"/>
                  <a:pt x="197435" y="131043"/>
                  <a:pt x="193417" y="129391"/>
                </a:cubicBezTo>
                <a:cubicBezTo>
                  <a:pt x="189399" y="127739"/>
                  <a:pt x="184800" y="128632"/>
                  <a:pt x="181719" y="131713"/>
                </a:cubicBezTo>
                <a:lnTo>
                  <a:pt x="163860" y="149572"/>
                </a:lnTo>
                <a:lnTo>
                  <a:pt x="128588" y="114300"/>
                </a:lnTo>
                <a:lnTo>
                  <a:pt x="163860" y="79028"/>
                </a:lnTo>
                <a:lnTo>
                  <a:pt x="181719" y="96887"/>
                </a:lnTo>
                <a:cubicBezTo>
                  <a:pt x="184800" y="99968"/>
                  <a:pt x="189399" y="100861"/>
                  <a:pt x="193417" y="99209"/>
                </a:cubicBezTo>
                <a:cubicBezTo>
                  <a:pt x="197435" y="97557"/>
                  <a:pt x="200025" y="93628"/>
                  <a:pt x="200025" y="89297"/>
                </a:cubicBezTo>
                <a:lnTo>
                  <a:pt x="200025" y="25003"/>
                </a:lnTo>
                <a:cubicBezTo>
                  <a:pt x="200025" y="19065"/>
                  <a:pt x="195248" y="14288"/>
                  <a:pt x="189309" y="14288"/>
                </a:cubicBezTo>
                <a:lnTo>
                  <a:pt x="125016" y="14288"/>
                </a:lnTo>
                <a:cubicBezTo>
                  <a:pt x="120685" y="14288"/>
                  <a:pt x="116756" y="16877"/>
                  <a:pt x="115104" y="20895"/>
                </a:cubicBezTo>
                <a:cubicBezTo>
                  <a:pt x="113452" y="24914"/>
                  <a:pt x="114389" y="29513"/>
                  <a:pt x="117425" y="32593"/>
                </a:cubicBezTo>
                <a:lnTo>
                  <a:pt x="135285" y="50453"/>
                </a:lnTo>
                <a:lnTo>
                  <a:pt x="100013" y="85725"/>
                </a:lnTo>
                <a:lnTo>
                  <a:pt x="64740" y="50453"/>
                </a:lnTo>
                <a:lnTo>
                  <a:pt x="82600" y="32593"/>
                </a:lnTo>
                <a:cubicBezTo>
                  <a:pt x="85680" y="29513"/>
                  <a:pt x="86573" y="24914"/>
                  <a:pt x="84921" y="20895"/>
                </a:cubicBezTo>
                <a:cubicBezTo>
                  <a:pt x="83269" y="16877"/>
                  <a:pt x="79340" y="14288"/>
                  <a:pt x="75009" y="14288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31" name="Text 29"/>
          <p:cNvSpPr/>
          <p:nvPr/>
        </p:nvSpPr>
        <p:spPr>
          <a:xfrm>
            <a:off x="6905625" y="1381125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二级市场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05625" y="1685925"/>
            <a:ext cx="981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扩展客户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34125" y="2181225"/>
            <a:ext cx="5314950" cy="1219200"/>
          </a:xfrm>
          <a:custGeom>
            <a:avLst/>
            <a:gdLst/>
            <a:ahLst/>
            <a:cxnLst/>
            <a:rect l="l" t="t" r="r" b="b"/>
            <a:pathLst>
              <a:path w="5314950" h="1219200">
                <a:moveTo>
                  <a:pt x="76200" y="0"/>
                </a:moveTo>
                <a:lnTo>
                  <a:pt x="5238750" y="0"/>
                </a:lnTo>
                <a:cubicBezTo>
                  <a:pt x="5280806" y="0"/>
                  <a:pt x="5314950" y="34144"/>
                  <a:pt x="5314950" y="76200"/>
                </a:cubicBezTo>
                <a:lnTo>
                  <a:pt x="5314950" y="1143000"/>
                </a:lnTo>
                <a:cubicBezTo>
                  <a:pt x="5314950" y="1185056"/>
                  <a:pt x="5280806" y="1219200"/>
                  <a:pt x="5238750" y="1219200"/>
                </a:cubicBez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34" name="Shape 32"/>
          <p:cNvSpPr/>
          <p:nvPr/>
        </p:nvSpPr>
        <p:spPr>
          <a:xfrm>
            <a:off x="6448425" y="23336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6555581" y="24384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91049" y="6764"/>
                </a:moveTo>
                <a:cubicBezTo>
                  <a:pt x="87768" y="4889"/>
                  <a:pt x="83716" y="4889"/>
                  <a:pt x="80401" y="6764"/>
                </a:cubicBezTo>
                <a:lnTo>
                  <a:pt x="5391" y="49627"/>
                </a:lnTo>
                <a:cubicBezTo>
                  <a:pt x="1172" y="52038"/>
                  <a:pt x="-904" y="56994"/>
                  <a:pt x="335" y="61682"/>
                </a:cubicBezTo>
                <a:cubicBezTo>
                  <a:pt x="1574" y="66370"/>
                  <a:pt x="5860" y="69652"/>
                  <a:pt x="10716" y="69652"/>
                </a:cubicBezTo>
                <a:lnTo>
                  <a:pt x="21431" y="69652"/>
                </a:lnTo>
                <a:lnTo>
                  <a:pt x="21431" y="139303"/>
                </a:lnTo>
                <a:lnTo>
                  <a:pt x="21431" y="139303"/>
                </a:lnTo>
                <a:lnTo>
                  <a:pt x="4286" y="152162"/>
                </a:lnTo>
                <a:cubicBezTo>
                  <a:pt x="1574" y="154171"/>
                  <a:pt x="0" y="157352"/>
                  <a:pt x="0" y="160734"/>
                </a:cubicBezTo>
                <a:cubicBezTo>
                  <a:pt x="0" y="166661"/>
                  <a:pt x="4789" y="171450"/>
                  <a:pt x="10716" y="171450"/>
                </a:cubicBezTo>
                <a:lnTo>
                  <a:pt x="160734" y="171450"/>
                </a:lnTo>
                <a:cubicBezTo>
                  <a:pt x="166661" y="171450"/>
                  <a:pt x="171450" y="166661"/>
                  <a:pt x="171450" y="160734"/>
                </a:cubicBezTo>
                <a:cubicBezTo>
                  <a:pt x="171450" y="157352"/>
                  <a:pt x="169876" y="154171"/>
                  <a:pt x="167164" y="152162"/>
                </a:cubicBezTo>
                <a:lnTo>
                  <a:pt x="150019" y="139303"/>
                </a:lnTo>
                <a:lnTo>
                  <a:pt x="150019" y="69652"/>
                </a:lnTo>
                <a:lnTo>
                  <a:pt x="160734" y="69652"/>
                </a:lnTo>
                <a:cubicBezTo>
                  <a:pt x="165590" y="69652"/>
                  <a:pt x="169843" y="66370"/>
                  <a:pt x="171082" y="61682"/>
                </a:cubicBezTo>
                <a:cubicBezTo>
                  <a:pt x="172321" y="56994"/>
                  <a:pt x="170244" y="52038"/>
                  <a:pt x="166025" y="49627"/>
                </a:cubicBezTo>
                <a:lnTo>
                  <a:pt x="91016" y="6764"/>
                </a:lnTo>
                <a:close/>
                <a:moveTo>
                  <a:pt x="133945" y="69652"/>
                </a:moveTo>
                <a:lnTo>
                  <a:pt x="133945" y="139303"/>
                </a:lnTo>
                <a:lnTo>
                  <a:pt x="112514" y="139303"/>
                </a:lnTo>
                <a:lnTo>
                  <a:pt x="112514" y="69652"/>
                </a:lnTo>
                <a:lnTo>
                  <a:pt x="133945" y="69652"/>
                </a:lnTo>
                <a:close/>
                <a:moveTo>
                  <a:pt x="96441" y="69652"/>
                </a:moveTo>
                <a:lnTo>
                  <a:pt x="96441" y="139303"/>
                </a:lnTo>
                <a:lnTo>
                  <a:pt x="75009" y="139303"/>
                </a:lnTo>
                <a:lnTo>
                  <a:pt x="75009" y="69652"/>
                </a:lnTo>
                <a:lnTo>
                  <a:pt x="96441" y="69652"/>
                </a:lnTo>
                <a:close/>
                <a:moveTo>
                  <a:pt x="58936" y="69652"/>
                </a:moveTo>
                <a:lnTo>
                  <a:pt x="58936" y="139303"/>
                </a:lnTo>
                <a:lnTo>
                  <a:pt x="37505" y="139303"/>
                </a:lnTo>
                <a:lnTo>
                  <a:pt x="37505" y="69652"/>
                </a:lnTo>
                <a:lnTo>
                  <a:pt x="58936" y="69652"/>
                </a:lnTo>
                <a:close/>
                <a:moveTo>
                  <a:pt x="85725" y="32147"/>
                </a:moveTo>
                <a:cubicBezTo>
                  <a:pt x="91639" y="32147"/>
                  <a:pt x="96441" y="36948"/>
                  <a:pt x="96441" y="42863"/>
                </a:cubicBezTo>
                <a:cubicBezTo>
                  <a:pt x="96441" y="48777"/>
                  <a:pt x="91639" y="53578"/>
                  <a:pt x="85725" y="53578"/>
                </a:cubicBezTo>
                <a:cubicBezTo>
                  <a:pt x="79811" y="53578"/>
                  <a:pt x="75009" y="48777"/>
                  <a:pt x="75009" y="42863"/>
                </a:cubicBezTo>
                <a:cubicBezTo>
                  <a:pt x="75009" y="36948"/>
                  <a:pt x="79811" y="32147"/>
                  <a:pt x="85725" y="32147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36" name="Text 34"/>
          <p:cNvSpPr/>
          <p:nvPr/>
        </p:nvSpPr>
        <p:spPr>
          <a:xfrm>
            <a:off x="6943725" y="2295525"/>
            <a:ext cx="14192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大型金融机构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943725" y="2562225"/>
            <a:ext cx="1400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银行、券商、基金公司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91275" y="2828925"/>
            <a:ext cx="26193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1000+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19850" y="3133725"/>
            <a:ext cx="25622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机构数量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972550" y="2828925"/>
            <a:ext cx="26193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50-500万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001125" y="3133725"/>
            <a:ext cx="25622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元/年客单价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34125" y="3857625"/>
            <a:ext cx="5314950" cy="1219200"/>
          </a:xfrm>
          <a:custGeom>
            <a:avLst/>
            <a:gdLst/>
            <a:ahLst/>
            <a:cxnLst/>
            <a:rect l="l" t="t" r="r" b="b"/>
            <a:pathLst>
              <a:path w="5314950" h="1219200">
                <a:moveTo>
                  <a:pt x="76200" y="0"/>
                </a:moveTo>
                <a:lnTo>
                  <a:pt x="5238750" y="0"/>
                </a:lnTo>
                <a:cubicBezTo>
                  <a:pt x="5280806" y="0"/>
                  <a:pt x="5314950" y="34144"/>
                  <a:pt x="5314950" y="76200"/>
                </a:cubicBezTo>
                <a:lnTo>
                  <a:pt x="5314950" y="1143000"/>
                </a:lnTo>
                <a:cubicBezTo>
                  <a:pt x="5314950" y="1185056"/>
                  <a:pt x="5280806" y="1219200"/>
                  <a:pt x="5238750" y="1219200"/>
                </a:cubicBez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43" name="Shape 41"/>
          <p:cNvSpPr/>
          <p:nvPr/>
        </p:nvSpPr>
        <p:spPr>
          <a:xfrm>
            <a:off x="6448425" y="40100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</p:spPr>
      </p:sp>
      <p:sp>
        <p:nvSpPr>
          <p:cNvPr id="44" name="Shape 42"/>
          <p:cNvSpPr/>
          <p:nvPr/>
        </p:nvSpPr>
        <p:spPr>
          <a:xfrm>
            <a:off x="6544866" y="411480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6073" y="65566"/>
                </a:moveTo>
                <a:lnTo>
                  <a:pt x="86127" y="94398"/>
                </a:lnTo>
                <a:cubicBezTo>
                  <a:pt x="89408" y="95737"/>
                  <a:pt x="92891" y="96441"/>
                  <a:pt x="96441" y="96441"/>
                </a:cubicBezTo>
                <a:cubicBezTo>
                  <a:pt x="99990" y="96441"/>
                  <a:pt x="103473" y="95737"/>
                  <a:pt x="106754" y="94398"/>
                </a:cubicBezTo>
                <a:lnTo>
                  <a:pt x="187925" y="60979"/>
                </a:lnTo>
                <a:cubicBezTo>
                  <a:pt x="190939" y="59740"/>
                  <a:pt x="192881" y="56826"/>
                  <a:pt x="192881" y="53578"/>
                </a:cubicBezTo>
                <a:cubicBezTo>
                  <a:pt x="192881" y="50330"/>
                  <a:pt x="190939" y="47417"/>
                  <a:pt x="187925" y="46178"/>
                </a:cubicBezTo>
                <a:lnTo>
                  <a:pt x="106754" y="12758"/>
                </a:lnTo>
                <a:cubicBezTo>
                  <a:pt x="103473" y="11419"/>
                  <a:pt x="99990" y="10716"/>
                  <a:pt x="96441" y="10716"/>
                </a:cubicBezTo>
                <a:cubicBezTo>
                  <a:pt x="92891" y="10716"/>
                  <a:pt x="89408" y="11419"/>
                  <a:pt x="86127" y="12758"/>
                </a:cubicBezTo>
                <a:lnTo>
                  <a:pt x="4956" y="46178"/>
                </a:lnTo>
                <a:cubicBezTo>
                  <a:pt x="1942" y="47417"/>
                  <a:pt x="0" y="50330"/>
                  <a:pt x="0" y="53578"/>
                </a:cubicBezTo>
                <a:lnTo>
                  <a:pt x="0" y="152698"/>
                </a:lnTo>
                <a:cubicBezTo>
                  <a:pt x="0" y="157151"/>
                  <a:pt x="3583" y="160734"/>
                  <a:pt x="8037" y="160734"/>
                </a:cubicBezTo>
                <a:cubicBezTo>
                  <a:pt x="12490" y="160734"/>
                  <a:pt x="16073" y="157151"/>
                  <a:pt x="16073" y="152698"/>
                </a:cubicBezTo>
                <a:lnTo>
                  <a:pt x="16073" y="65566"/>
                </a:lnTo>
                <a:close/>
                <a:moveTo>
                  <a:pt x="32147" y="89576"/>
                </a:moveTo>
                <a:lnTo>
                  <a:pt x="32147" y="128588"/>
                </a:lnTo>
                <a:cubicBezTo>
                  <a:pt x="32147" y="146335"/>
                  <a:pt x="60945" y="160734"/>
                  <a:pt x="96441" y="160734"/>
                </a:cubicBezTo>
                <a:cubicBezTo>
                  <a:pt x="131936" y="160734"/>
                  <a:pt x="160734" y="146335"/>
                  <a:pt x="160734" y="128588"/>
                </a:cubicBezTo>
                <a:lnTo>
                  <a:pt x="160734" y="89542"/>
                </a:lnTo>
                <a:lnTo>
                  <a:pt x="112882" y="109266"/>
                </a:lnTo>
                <a:cubicBezTo>
                  <a:pt x="107659" y="111409"/>
                  <a:pt x="102100" y="112514"/>
                  <a:pt x="96441" y="112514"/>
                </a:cubicBezTo>
                <a:cubicBezTo>
                  <a:pt x="90781" y="112514"/>
                  <a:pt x="85223" y="111409"/>
                  <a:pt x="79999" y="109266"/>
                </a:cubicBezTo>
                <a:lnTo>
                  <a:pt x="32147" y="89542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45" name="Text 43"/>
          <p:cNvSpPr/>
          <p:nvPr/>
        </p:nvSpPr>
        <p:spPr>
          <a:xfrm>
            <a:off x="6943725" y="3971925"/>
            <a:ext cx="12858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教育培训机构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943725" y="4238625"/>
            <a:ext cx="1266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金融院校、培训机构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391275" y="4505325"/>
            <a:ext cx="26193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5000+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419850" y="4810125"/>
            <a:ext cx="25622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机构数量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972550" y="4505325"/>
            <a:ext cx="26193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1-10万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001125" y="4810125"/>
            <a:ext cx="25622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元/年客单价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385763" y="5586413"/>
            <a:ext cx="11420475" cy="885825"/>
          </a:xfrm>
          <a:custGeom>
            <a:avLst/>
            <a:gdLst/>
            <a:ahLst/>
            <a:cxnLst/>
            <a:rect l="l" t="t" r="r" b="b"/>
            <a:pathLst>
              <a:path w="11420475" h="885825">
                <a:moveTo>
                  <a:pt x="114298" y="0"/>
                </a:moveTo>
                <a:lnTo>
                  <a:pt x="11306177" y="0"/>
                </a:lnTo>
                <a:cubicBezTo>
                  <a:pt x="11369260" y="0"/>
                  <a:pt x="11420475" y="51215"/>
                  <a:pt x="11420475" y="114298"/>
                </a:cubicBezTo>
                <a:lnTo>
                  <a:pt x="11420475" y="771527"/>
                </a:lnTo>
                <a:cubicBezTo>
                  <a:pt x="11420475" y="834610"/>
                  <a:pt x="11369260" y="885825"/>
                  <a:pt x="11306177" y="885825"/>
                </a:cubicBezTo>
                <a:lnTo>
                  <a:pt x="114298" y="885825"/>
                </a:lnTo>
                <a:cubicBezTo>
                  <a:pt x="51215" y="885825"/>
                  <a:pt x="0" y="834610"/>
                  <a:pt x="0" y="7715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373">
                  <a:alpha val="20000"/>
                </a:srgbClr>
              </a:gs>
              <a:gs pos="50000">
                <a:srgbClr val="4A6C8C">
                  <a:alpha val="20000"/>
                </a:srgbClr>
              </a:gs>
              <a:gs pos="100000">
                <a:srgbClr val="8D99AE">
                  <a:alpha val="20000"/>
                </a:srgbClr>
              </a:gs>
            </a:gsLst>
            <a:lin ang="0" scaled="1"/>
          </a:gradFill>
          <a:ln w="1270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315194" y="5743575"/>
            <a:ext cx="8096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2亿+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353294" y="6124575"/>
            <a:ext cx="7334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个人投资者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3740869" y="5800725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9525" y="0"/>
                </a:lnTo>
                <a:lnTo>
                  <a:pt x="952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</p:spPr>
      </p:sp>
      <p:sp>
        <p:nvSpPr>
          <p:cNvPr id="55" name="Text 53"/>
          <p:cNvSpPr/>
          <p:nvPr/>
        </p:nvSpPr>
        <p:spPr>
          <a:xfrm>
            <a:off x="5366445" y="5743575"/>
            <a:ext cx="9620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4A6C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1.6万+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5404545" y="6124575"/>
            <a:ext cx="885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机构客户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942362" y="5800725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9525" y="0"/>
                </a:lnTo>
                <a:lnTo>
                  <a:pt x="952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</p:spPr>
      </p:sp>
      <p:sp>
        <p:nvSpPr>
          <p:cNvPr id="58" name="Text 56"/>
          <p:cNvSpPr/>
          <p:nvPr/>
        </p:nvSpPr>
        <p:spPr>
          <a:xfrm>
            <a:off x="9567937" y="5743575"/>
            <a:ext cx="13049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5000亿+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9606037" y="6124575"/>
            <a:ext cx="12287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市场规模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3" name="Text 1"/>
          <p:cNvSpPr/>
          <p:nvPr/>
        </p:nvSpPr>
        <p:spPr>
          <a:xfrm>
            <a:off x="533400" y="381000"/>
            <a:ext cx="22288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核心竞争优势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838200"/>
            <a:ext cx="11353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Core Competitive Advantages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223963"/>
            <a:ext cx="6886575" cy="5248275"/>
          </a:xfrm>
          <a:custGeom>
            <a:avLst/>
            <a:gdLst/>
            <a:ahLst/>
            <a:cxnLst/>
            <a:rect l="l" t="t" r="r" b="b"/>
            <a:pathLst>
              <a:path w="6886575" h="5248275">
                <a:moveTo>
                  <a:pt x="114307" y="0"/>
                </a:moveTo>
                <a:lnTo>
                  <a:pt x="6772268" y="0"/>
                </a:lnTo>
                <a:cubicBezTo>
                  <a:pt x="6835398" y="0"/>
                  <a:pt x="6886575" y="51177"/>
                  <a:pt x="6886575" y="114307"/>
                </a:cubicBezTo>
                <a:lnTo>
                  <a:pt x="6886575" y="5133968"/>
                </a:lnTo>
                <a:cubicBezTo>
                  <a:pt x="6886575" y="5197098"/>
                  <a:pt x="6835398" y="5248275"/>
                  <a:pt x="6772268" y="5248275"/>
                </a:cubicBezTo>
                <a:lnTo>
                  <a:pt x="114307" y="5248275"/>
                </a:lnTo>
                <a:cubicBezTo>
                  <a:pt x="51177" y="5248275"/>
                  <a:pt x="0" y="5197098"/>
                  <a:pt x="0" y="513396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5300" y="1381125"/>
            <a:ext cx="66675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竞争优势对比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542925" y="1762125"/>
          <a:ext cx="6572250" cy="2809875"/>
        </p:xfrm>
        <a:graphic>
          <a:graphicData uri="http://schemas.openxmlformats.org/drawingml/2006/table">
            <a:tbl>
              <a:tblPr/>
              <a:tblGrid>
                <a:gridCol w="1331570"/>
                <a:gridCol w="1845176"/>
                <a:gridCol w="1531306"/>
                <a:gridCol w="1864198"/>
              </a:tblGrid>
              <a:tr h="351234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8D99A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对比维度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8D99A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传统量化系统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8D99A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人工投研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D4A37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Ares智能研报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373">
                        <a:alpha val="10000"/>
                      </a:srgbClr>
                    </a:solidFill>
                  </a:tcPr>
                </a:tc>
              </a:tr>
              <a:tr h="351234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分析速度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⚡ 快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🐌 慢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⚡ 快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373">
                        <a:alpha val="10000"/>
                      </a:srgbClr>
                    </a:solidFill>
                  </a:tcPr>
                </a:tc>
              </a:tr>
              <a:tr h="351234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分析深度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📊 浅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📚 深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📚 深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373">
                        <a:alpha val="10000"/>
                      </a:srgbClr>
                    </a:solidFill>
                  </a:tcPr>
                </a:tc>
              </a:tr>
              <a:tr h="351234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覆盖维度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📈 单一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📊 多维度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📊 多维度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373">
                        <a:alpha val="10000"/>
                      </a:srgbClr>
                    </a:solidFill>
                  </a:tcPr>
                </a:tc>
              </a:tr>
              <a:tr h="351234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可解释性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❌ 低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✅ 高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✅ 高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373">
                        <a:alpha val="10000"/>
                      </a:srgbClr>
                    </a:solidFill>
                  </a:tcPr>
                </a:tc>
              </a:tr>
              <a:tr h="351234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成本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💰 中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💰💰💰 高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💰 低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373">
                        <a:alpha val="10000"/>
                      </a:srgbClr>
                    </a:solidFill>
                  </a:tcPr>
                </a:tc>
              </a:tr>
              <a:tr h="351234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扩展性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⚠️ 低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⚠️ 低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✅ 高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373">
                        <a:alpha val="10000"/>
                      </a:srgbClr>
                    </a:solidFill>
                  </a:tcPr>
                </a:tc>
              </a:tr>
              <a:tr h="351234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学习能力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❌ 无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✅ 有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✅ 有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4A373">
                        <a:alpha val="1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434263" y="1223963"/>
            <a:ext cx="4371975" cy="4248150"/>
          </a:xfrm>
          <a:custGeom>
            <a:avLst/>
            <a:gdLst/>
            <a:ahLst/>
            <a:cxnLst/>
            <a:rect l="l" t="t" r="r" b="b"/>
            <a:pathLst>
              <a:path w="4371975" h="4248150">
                <a:moveTo>
                  <a:pt x="114318" y="0"/>
                </a:moveTo>
                <a:lnTo>
                  <a:pt x="4257657" y="0"/>
                </a:lnTo>
                <a:cubicBezTo>
                  <a:pt x="4320793" y="0"/>
                  <a:pt x="4371975" y="51182"/>
                  <a:pt x="4371975" y="114318"/>
                </a:cubicBezTo>
                <a:lnTo>
                  <a:pt x="4371975" y="4133832"/>
                </a:lnTo>
                <a:cubicBezTo>
                  <a:pt x="4371975" y="4196968"/>
                  <a:pt x="4320793" y="4248150"/>
                  <a:pt x="4257657" y="4248150"/>
                </a:cubicBezTo>
                <a:lnTo>
                  <a:pt x="114318" y="4248150"/>
                </a:lnTo>
                <a:cubicBezTo>
                  <a:pt x="51182" y="4248150"/>
                  <a:pt x="0" y="4196968"/>
                  <a:pt x="0" y="4133832"/>
                </a:cubicBezTo>
                <a:lnTo>
                  <a:pt x="0" y="114318"/>
                </a:lnTo>
                <a:cubicBezTo>
                  <a:pt x="0" y="51182"/>
                  <a:pt x="51182" y="0"/>
                  <a:pt x="114318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03331" y="14192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7" name="Text 7"/>
          <p:cNvSpPr/>
          <p:nvPr/>
        </p:nvSpPr>
        <p:spPr>
          <a:xfrm>
            <a:off x="7829550" y="1381125"/>
            <a:ext cx="39147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核心差异化优势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591425" y="1762125"/>
            <a:ext cx="4057650" cy="723900"/>
          </a:xfrm>
          <a:custGeom>
            <a:avLst/>
            <a:gdLst/>
            <a:ahLst/>
            <a:cxnLst/>
            <a:rect l="l" t="t" r="r" b="b"/>
            <a:pathLst>
              <a:path w="4057650" h="723900">
                <a:moveTo>
                  <a:pt x="76198" y="0"/>
                </a:moveTo>
                <a:lnTo>
                  <a:pt x="3981452" y="0"/>
                </a:lnTo>
                <a:cubicBezTo>
                  <a:pt x="4023507" y="0"/>
                  <a:pt x="4057650" y="34143"/>
                  <a:pt x="4057650" y="76198"/>
                </a:cubicBezTo>
                <a:lnTo>
                  <a:pt x="4057650" y="647702"/>
                </a:lnTo>
                <a:cubicBezTo>
                  <a:pt x="4057650" y="689757"/>
                  <a:pt x="4023507" y="723900"/>
                  <a:pt x="398145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12" name="Shape 9"/>
          <p:cNvSpPr/>
          <p:nvPr/>
        </p:nvSpPr>
        <p:spPr>
          <a:xfrm>
            <a:off x="7705725" y="191452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66675"/>
                </a:moveTo>
                <a:cubicBezTo>
                  <a:pt x="112335" y="66675"/>
                  <a:pt x="126206" y="52804"/>
                  <a:pt x="126206" y="35719"/>
                </a:cubicBezTo>
                <a:cubicBezTo>
                  <a:pt x="126206" y="18634"/>
                  <a:pt x="112335" y="4763"/>
                  <a:pt x="95250" y="4763"/>
                </a:cubicBezTo>
                <a:cubicBezTo>
                  <a:pt x="78165" y="4763"/>
                  <a:pt x="64294" y="18634"/>
                  <a:pt x="64294" y="35719"/>
                </a:cubicBezTo>
                <a:cubicBezTo>
                  <a:pt x="64294" y="52804"/>
                  <a:pt x="78165" y="66675"/>
                  <a:pt x="95250" y="66675"/>
                </a:cubicBezTo>
                <a:close/>
                <a:moveTo>
                  <a:pt x="28575" y="69056"/>
                </a:moveTo>
                <a:cubicBezTo>
                  <a:pt x="40403" y="69056"/>
                  <a:pt x="50006" y="59453"/>
                  <a:pt x="50006" y="47625"/>
                </a:cubicBezTo>
                <a:cubicBezTo>
                  <a:pt x="50006" y="35797"/>
                  <a:pt x="40403" y="26194"/>
                  <a:pt x="28575" y="26194"/>
                </a:cubicBezTo>
                <a:cubicBezTo>
                  <a:pt x="16747" y="26194"/>
                  <a:pt x="7144" y="35797"/>
                  <a:pt x="7144" y="47625"/>
                </a:cubicBezTo>
                <a:cubicBezTo>
                  <a:pt x="7144" y="59453"/>
                  <a:pt x="16747" y="69056"/>
                  <a:pt x="28575" y="69056"/>
                </a:cubicBezTo>
                <a:close/>
                <a:moveTo>
                  <a:pt x="0" y="123825"/>
                </a:moveTo>
                <a:lnTo>
                  <a:pt x="0" y="133350"/>
                </a:lnTo>
                <a:cubicBezTo>
                  <a:pt x="0" y="138619"/>
                  <a:pt x="4256" y="142875"/>
                  <a:pt x="9525" y="142875"/>
                </a:cubicBezTo>
                <a:lnTo>
                  <a:pt x="35332" y="142875"/>
                </a:lnTo>
                <a:cubicBezTo>
                  <a:pt x="34052" y="139958"/>
                  <a:pt x="33338" y="136743"/>
                  <a:pt x="33338" y="133350"/>
                </a:cubicBezTo>
                <a:lnTo>
                  <a:pt x="33338" y="128588"/>
                </a:lnTo>
                <a:cubicBezTo>
                  <a:pt x="33338" y="112752"/>
                  <a:pt x="39291" y="98286"/>
                  <a:pt x="49084" y="87332"/>
                </a:cubicBezTo>
                <a:cubicBezTo>
                  <a:pt x="45601" y="86291"/>
                  <a:pt x="41910" y="85725"/>
                  <a:pt x="38100" y="85725"/>
                </a:cubicBezTo>
                <a:cubicBezTo>
                  <a:pt x="17056" y="85725"/>
                  <a:pt x="0" y="102781"/>
                  <a:pt x="0" y="123825"/>
                </a:cubicBezTo>
                <a:close/>
                <a:moveTo>
                  <a:pt x="183356" y="47625"/>
                </a:moveTo>
                <a:cubicBezTo>
                  <a:pt x="183356" y="35797"/>
                  <a:pt x="173753" y="26194"/>
                  <a:pt x="161925" y="26194"/>
                </a:cubicBezTo>
                <a:cubicBezTo>
                  <a:pt x="150097" y="26194"/>
                  <a:pt x="140494" y="35797"/>
                  <a:pt x="140494" y="47625"/>
                </a:cubicBezTo>
                <a:cubicBezTo>
                  <a:pt x="140494" y="59453"/>
                  <a:pt x="150097" y="69056"/>
                  <a:pt x="161925" y="69056"/>
                </a:cubicBezTo>
                <a:cubicBezTo>
                  <a:pt x="173753" y="69056"/>
                  <a:pt x="183356" y="59453"/>
                  <a:pt x="183356" y="47625"/>
                </a:cubicBezTo>
                <a:close/>
                <a:moveTo>
                  <a:pt x="47625" y="128588"/>
                </a:moveTo>
                <a:lnTo>
                  <a:pt x="47625" y="133350"/>
                </a:lnTo>
                <a:cubicBezTo>
                  <a:pt x="47625" y="138619"/>
                  <a:pt x="51881" y="142875"/>
                  <a:pt x="57150" y="142875"/>
                </a:cubicBezTo>
                <a:lnTo>
                  <a:pt x="103823" y="142875"/>
                </a:lnTo>
                <a:cubicBezTo>
                  <a:pt x="101709" y="136446"/>
                  <a:pt x="101947" y="129659"/>
                  <a:pt x="107007" y="123825"/>
                </a:cubicBezTo>
                <a:cubicBezTo>
                  <a:pt x="102840" y="119003"/>
                  <a:pt x="100905" y="112008"/>
                  <a:pt x="103614" y="104983"/>
                </a:cubicBezTo>
                <a:cubicBezTo>
                  <a:pt x="105579" y="99893"/>
                  <a:pt x="108347" y="95131"/>
                  <a:pt x="111770" y="90904"/>
                </a:cubicBezTo>
                <a:cubicBezTo>
                  <a:pt x="113377" y="88940"/>
                  <a:pt x="115223" y="87422"/>
                  <a:pt x="117217" y="86320"/>
                </a:cubicBezTo>
                <a:cubicBezTo>
                  <a:pt x="110639" y="82897"/>
                  <a:pt x="103168" y="80962"/>
                  <a:pt x="95250" y="80962"/>
                </a:cubicBezTo>
                <a:cubicBezTo>
                  <a:pt x="68937" y="80962"/>
                  <a:pt x="47625" y="102275"/>
                  <a:pt x="47625" y="128588"/>
                </a:cubicBezTo>
                <a:close/>
                <a:moveTo>
                  <a:pt x="185916" y="115461"/>
                </a:moveTo>
                <a:cubicBezTo>
                  <a:pt x="187791" y="114389"/>
                  <a:pt x="188744" y="112157"/>
                  <a:pt x="187940" y="110103"/>
                </a:cubicBezTo>
                <a:cubicBezTo>
                  <a:pt x="186511" y="106412"/>
                  <a:pt x="184517" y="102930"/>
                  <a:pt x="182017" y="99864"/>
                </a:cubicBezTo>
                <a:cubicBezTo>
                  <a:pt x="180648" y="98167"/>
                  <a:pt x="178237" y="97869"/>
                  <a:pt x="176361" y="98971"/>
                </a:cubicBezTo>
                <a:cubicBezTo>
                  <a:pt x="169872" y="102721"/>
                  <a:pt x="161895" y="98137"/>
                  <a:pt x="161895" y="90607"/>
                </a:cubicBezTo>
                <a:cubicBezTo>
                  <a:pt x="161895" y="88434"/>
                  <a:pt x="160437" y="86499"/>
                  <a:pt x="158294" y="86171"/>
                </a:cubicBezTo>
                <a:cubicBezTo>
                  <a:pt x="154454" y="85576"/>
                  <a:pt x="150316" y="85576"/>
                  <a:pt x="146477" y="86171"/>
                </a:cubicBezTo>
                <a:cubicBezTo>
                  <a:pt x="144334" y="86499"/>
                  <a:pt x="142875" y="88434"/>
                  <a:pt x="142875" y="90607"/>
                </a:cubicBezTo>
                <a:cubicBezTo>
                  <a:pt x="142875" y="98108"/>
                  <a:pt x="134898" y="102721"/>
                  <a:pt x="128409" y="98971"/>
                </a:cubicBezTo>
                <a:cubicBezTo>
                  <a:pt x="126534" y="97899"/>
                  <a:pt x="124123" y="98197"/>
                  <a:pt x="122753" y="99864"/>
                </a:cubicBezTo>
                <a:cubicBezTo>
                  <a:pt x="120253" y="102930"/>
                  <a:pt x="118259" y="106412"/>
                  <a:pt x="116830" y="110103"/>
                </a:cubicBezTo>
                <a:cubicBezTo>
                  <a:pt x="116056" y="112127"/>
                  <a:pt x="116979" y="114360"/>
                  <a:pt x="118854" y="115431"/>
                </a:cubicBezTo>
                <a:cubicBezTo>
                  <a:pt x="125373" y="119182"/>
                  <a:pt x="125373" y="128379"/>
                  <a:pt x="118854" y="132159"/>
                </a:cubicBezTo>
                <a:cubicBezTo>
                  <a:pt x="116979" y="133231"/>
                  <a:pt x="116026" y="135463"/>
                  <a:pt x="116830" y="137487"/>
                </a:cubicBezTo>
                <a:cubicBezTo>
                  <a:pt x="118259" y="141178"/>
                  <a:pt x="120253" y="144661"/>
                  <a:pt x="122753" y="147727"/>
                </a:cubicBezTo>
                <a:cubicBezTo>
                  <a:pt x="124123" y="149423"/>
                  <a:pt x="126534" y="149721"/>
                  <a:pt x="128409" y="148620"/>
                </a:cubicBezTo>
                <a:cubicBezTo>
                  <a:pt x="134898" y="144869"/>
                  <a:pt x="142875" y="149483"/>
                  <a:pt x="142875" y="156984"/>
                </a:cubicBezTo>
                <a:cubicBezTo>
                  <a:pt x="142875" y="159157"/>
                  <a:pt x="144334" y="161092"/>
                  <a:pt x="146477" y="161419"/>
                </a:cubicBezTo>
                <a:cubicBezTo>
                  <a:pt x="150316" y="162014"/>
                  <a:pt x="154454" y="162014"/>
                  <a:pt x="158294" y="161419"/>
                </a:cubicBezTo>
                <a:cubicBezTo>
                  <a:pt x="160437" y="161092"/>
                  <a:pt x="161895" y="159157"/>
                  <a:pt x="161895" y="156984"/>
                </a:cubicBezTo>
                <a:cubicBezTo>
                  <a:pt x="161895" y="149483"/>
                  <a:pt x="169872" y="144869"/>
                  <a:pt x="176361" y="148620"/>
                </a:cubicBezTo>
                <a:cubicBezTo>
                  <a:pt x="178237" y="149691"/>
                  <a:pt x="180648" y="149394"/>
                  <a:pt x="182017" y="147727"/>
                </a:cubicBezTo>
                <a:cubicBezTo>
                  <a:pt x="184517" y="144661"/>
                  <a:pt x="186511" y="141178"/>
                  <a:pt x="187940" y="137487"/>
                </a:cubicBezTo>
                <a:cubicBezTo>
                  <a:pt x="188714" y="135463"/>
                  <a:pt x="187791" y="133231"/>
                  <a:pt x="185916" y="132159"/>
                </a:cubicBezTo>
                <a:cubicBezTo>
                  <a:pt x="179397" y="128409"/>
                  <a:pt x="179397" y="119211"/>
                  <a:pt x="185916" y="115431"/>
                </a:cubicBezTo>
                <a:close/>
                <a:moveTo>
                  <a:pt x="140494" y="123825"/>
                </a:moveTo>
                <a:cubicBezTo>
                  <a:pt x="140494" y="117254"/>
                  <a:pt x="145829" y="111919"/>
                  <a:pt x="152400" y="111919"/>
                </a:cubicBezTo>
                <a:cubicBezTo>
                  <a:pt x="158971" y="111919"/>
                  <a:pt x="164306" y="117254"/>
                  <a:pt x="164306" y="123825"/>
                </a:cubicBezTo>
                <a:cubicBezTo>
                  <a:pt x="164306" y="130396"/>
                  <a:pt x="158971" y="135731"/>
                  <a:pt x="152400" y="135731"/>
                </a:cubicBezTo>
                <a:cubicBezTo>
                  <a:pt x="145829" y="135731"/>
                  <a:pt x="140494" y="130396"/>
                  <a:pt x="140494" y="123825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13" name="Text 10"/>
          <p:cNvSpPr/>
          <p:nvPr/>
        </p:nvSpPr>
        <p:spPr>
          <a:xfrm>
            <a:off x="7972425" y="1876425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多智能体协作机制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705725" y="2181225"/>
            <a:ext cx="38957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行业首创,3-5年技术领先优势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591425" y="2705919"/>
            <a:ext cx="4057650" cy="723900"/>
          </a:xfrm>
          <a:custGeom>
            <a:avLst/>
            <a:gdLst/>
            <a:ahLst/>
            <a:cxnLst/>
            <a:rect l="l" t="t" r="r" b="b"/>
            <a:pathLst>
              <a:path w="4057650" h="723900">
                <a:moveTo>
                  <a:pt x="76198" y="0"/>
                </a:moveTo>
                <a:lnTo>
                  <a:pt x="3981452" y="0"/>
                </a:lnTo>
                <a:cubicBezTo>
                  <a:pt x="4023507" y="0"/>
                  <a:pt x="4057650" y="34143"/>
                  <a:pt x="4057650" y="76198"/>
                </a:cubicBezTo>
                <a:lnTo>
                  <a:pt x="4057650" y="647702"/>
                </a:lnTo>
                <a:cubicBezTo>
                  <a:pt x="4057650" y="689757"/>
                  <a:pt x="4023507" y="723900"/>
                  <a:pt x="398145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16" name="Shape 13"/>
          <p:cNvSpPr/>
          <p:nvPr/>
        </p:nvSpPr>
        <p:spPr>
          <a:xfrm>
            <a:off x="7724775" y="285831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17" name="Text 14"/>
          <p:cNvSpPr/>
          <p:nvPr/>
        </p:nvSpPr>
        <p:spPr>
          <a:xfrm>
            <a:off x="7972425" y="2820219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自然语言理解能力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705725" y="3125019"/>
            <a:ext cx="38957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处理非结构化数据,传统量化无法实现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591425" y="3649638"/>
            <a:ext cx="4057650" cy="723900"/>
          </a:xfrm>
          <a:custGeom>
            <a:avLst/>
            <a:gdLst/>
            <a:ahLst/>
            <a:cxnLst/>
            <a:rect l="l" t="t" r="r" b="b"/>
            <a:pathLst>
              <a:path w="4057650" h="723900">
                <a:moveTo>
                  <a:pt x="76198" y="0"/>
                </a:moveTo>
                <a:lnTo>
                  <a:pt x="3981452" y="0"/>
                </a:lnTo>
                <a:cubicBezTo>
                  <a:pt x="4023507" y="0"/>
                  <a:pt x="4057650" y="34143"/>
                  <a:pt x="4057650" y="76198"/>
                </a:cubicBezTo>
                <a:lnTo>
                  <a:pt x="4057650" y="647702"/>
                </a:lnTo>
                <a:cubicBezTo>
                  <a:pt x="4057650" y="689757"/>
                  <a:pt x="4023507" y="723900"/>
                  <a:pt x="398145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20" name="Shape 17"/>
          <p:cNvSpPr/>
          <p:nvPr/>
        </p:nvSpPr>
        <p:spPr>
          <a:xfrm>
            <a:off x="7743825" y="3802038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19050"/>
                </a:moveTo>
                <a:cubicBezTo>
                  <a:pt x="0" y="8543"/>
                  <a:pt x="8543" y="0"/>
                  <a:pt x="19050" y="0"/>
                </a:cubicBezTo>
                <a:lnTo>
                  <a:pt x="63550" y="0"/>
                </a:lnTo>
                <a:cubicBezTo>
                  <a:pt x="68610" y="0"/>
                  <a:pt x="73462" y="1994"/>
                  <a:pt x="77033" y="5566"/>
                </a:cubicBezTo>
                <a:lnTo>
                  <a:pt x="108734" y="37296"/>
                </a:lnTo>
                <a:cubicBezTo>
                  <a:pt x="112306" y="40868"/>
                  <a:pt x="114300" y="45720"/>
                  <a:pt x="114300" y="50780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19050"/>
                </a:lnTo>
                <a:close/>
                <a:moveTo>
                  <a:pt x="61912" y="17413"/>
                </a:moveTo>
                <a:lnTo>
                  <a:pt x="61912" y="45244"/>
                </a:lnTo>
                <a:cubicBezTo>
                  <a:pt x="61912" y="49203"/>
                  <a:pt x="65097" y="52388"/>
                  <a:pt x="69056" y="52388"/>
                </a:cubicBezTo>
                <a:lnTo>
                  <a:pt x="96887" y="52388"/>
                </a:lnTo>
                <a:lnTo>
                  <a:pt x="61912" y="17413"/>
                </a:lnTo>
                <a:close/>
                <a:moveTo>
                  <a:pt x="35719" y="76200"/>
                </a:moveTo>
                <a:cubicBezTo>
                  <a:pt x="31760" y="76200"/>
                  <a:pt x="28575" y="79385"/>
                  <a:pt x="28575" y="83344"/>
                </a:cubicBezTo>
                <a:cubicBezTo>
                  <a:pt x="28575" y="87303"/>
                  <a:pt x="31760" y="90488"/>
                  <a:pt x="35719" y="90488"/>
                </a:cubicBezTo>
                <a:lnTo>
                  <a:pt x="78581" y="90488"/>
                </a:lnTo>
                <a:cubicBezTo>
                  <a:pt x="82540" y="90488"/>
                  <a:pt x="85725" y="87303"/>
                  <a:pt x="85725" y="83344"/>
                </a:cubicBezTo>
                <a:cubicBezTo>
                  <a:pt x="85725" y="79385"/>
                  <a:pt x="82540" y="76200"/>
                  <a:pt x="78581" y="76200"/>
                </a:cubicBezTo>
                <a:lnTo>
                  <a:pt x="35719" y="76200"/>
                </a:lnTo>
                <a:close/>
                <a:moveTo>
                  <a:pt x="35719" y="104775"/>
                </a:moveTo>
                <a:cubicBezTo>
                  <a:pt x="31760" y="104775"/>
                  <a:pt x="28575" y="107960"/>
                  <a:pt x="28575" y="111919"/>
                </a:cubicBezTo>
                <a:cubicBezTo>
                  <a:pt x="28575" y="115878"/>
                  <a:pt x="31760" y="119062"/>
                  <a:pt x="35719" y="119062"/>
                </a:cubicBezTo>
                <a:lnTo>
                  <a:pt x="78581" y="119062"/>
                </a:lnTo>
                <a:cubicBezTo>
                  <a:pt x="82540" y="119062"/>
                  <a:pt x="85725" y="115878"/>
                  <a:pt x="85725" y="111919"/>
                </a:cubicBezTo>
                <a:cubicBezTo>
                  <a:pt x="85725" y="107960"/>
                  <a:pt x="82540" y="104775"/>
                  <a:pt x="78581" y="104775"/>
                </a:cubicBezTo>
                <a:lnTo>
                  <a:pt x="35719" y="104775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21" name="Text 18"/>
          <p:cNvSpPr/>
          <p:nvPr/>
        </p:nvSpPr>
        <p:spPr>
          <a:xfrm>
            <a:off x="7972425" y="3763938"/>
            <a:ext cx="11239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可解释的AI决策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705725" y="4068738"/>
            <a:ext cx="38957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详细报告,满足监管要求,提升信任度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591425" y="4593431"/>
            <a:ext cx="4057650" cy="723900"/>
          </a:xfrm>
          <a:custGeom>
            <a:avLst/>
            <a:gdLst/>
            <a:ahLst/>
            <a:cxnLst/>
            <a:rect l="l" t="t" r="r" b="b"/>
            <a:pathLst>
              <a:path w="4057650" h="723900">
                <a:moveTo>
                  <a:pt x="76198" y="0"/>
                </a:moveTo>
                <a:lnTo>
                  <a:pt x="3981452" y="0"/>
                </a:lnTo>
                <a:cubicBezTo>
                  <a:pt x="4023507" y="0"/>
                  <a:pt x="4057650" y="34143"/>
                  <a:pt x="4057650" y="76198"/>
                </a:cubicBezTo>
                <a:lnTo>
                  <a:pt x="4057650" y="647702"/>
                </a:lnTo>
                <a:cubicBezTo>
                  <a:pt x="4057650" y="689757"/>
                  <a:pt x="4023507" y="723900"/>
                  <a:pt x="398145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24" name="Shape 21"/>
          <p:cNvSpPr/>
          <p:nvPr/>
        </p:nvSpPr>
        <p:spPr>
          <a:xfrm>
            <a:off x="7734300" y="474583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-9525"/>
                </a:moveTo>
                <a:cubicBezTo>
                  <a:pt x="43369" y="-9525"/>
                  <a:pt x="47625" y="-5269"/>
                  <a:pt x="47625" y="0"/>
                </a:cubicBezTo>
                <a:lnTo>
                  <a:pt x="47625" y="28575"/>
                </a:lnTo>
                <a:lnTo>
                  <a:pt x="85725" y="28575"/>
                </a:lnTo>
                <a:lnTo>
                  <a:pt x="85725" y="0"/>
                </a:lnTo>
                <a:cubicBezTo>
                  <a:pt x="85725" y="-5269"/>
                  <a:pt x="89981" y="-9525"/>
                  <a:pt x="95250" y="-9525"/>
                </a:cubicBezTo>
                <a:cubicBezTo>
                  <a:pt x="100519" y="-9525"/>
                  <a:pt x="104775" y="-5269"/>
                  <a:pt x="104775" y="0"/>
                </a:cubicBezTo>
                <a:lnTo>
                  <a:pt x="104775" y="28575"/>
                </a:lnTo>
                <a:lnTo>
                  <a:pt x="123825" y="28575"/>
                </a:lnTo>
                <a:cubicBezTo>
                  <a:pt x="129094" y="28575"/>
                  <a:pt x="133350" y="32831"/>
                  <a:pt x="133350" y="38100"/>
                </a:cubicBezTo>
                <a:cubicBezTo>
                  <a:pt x="133350" y="43369"/>
                  <a:pt x="129094" y="47625"/>
                  <a:pt x="123825" y="47625"/>
                </a:cubicBezTo>
                <a:lnTo>
                  <a:pt x="123825" y="66675"/>
                </a:lnTo>
                <a:cubicBezTo>
                  <a:pt x="123825" y="94982"/>
                  <a:pt x="103227" y="118497"/>
                  <a:pt x="76200" y="123021"/>
                </a:cubicBezTo>
                <a:lnTo>
                  <a:pt x="76200" y="142875"/>
                </a:lnTo>
                <a:cubicBezTo>
                  <a:pt x="76200" y="148144"/>
                  <a:pt x="71944" y="152400"/>
                  <a:pt x="66675" y="152400"/>
                </a:cubicBezTo>
                <a:cubicBezTo>
                  <a:pt x="61406" y="152400"/>
                  <a:pt x="57150" y="148144"/>
                  <a:pt x="57150" y="142875"/>
                </a:cubicBezTo>
                <a:lnTo>
                  <a:pt x="57150" y="123021"/>
                </a:lnTo>
                <a:cubicBezTo>
                  <a:pt x="30123" y="118497"/>
                  <a:pt x="9525" y="94982"/>
                  <a:pt x="9525" y="66675"/>
                </a:cubicBezTo>
                <a:lnTo>
                  <a:pt x="9525" y="47625"/>
                </a:lnTo>
                <a:cubicBezTo>
                  <a:pt x="4256" y="47625"/>
                  <a:pt x="0" y="43369"/>
                  <a:pt x="0" y="38100"/>
                </a:cubicBezTo>
                <a:cubicBezTo>
                  <a:pt x="0" y="32831"/>
                  <a:pt x="4256" y="28575"/>
                  <a:pt x="9525" y="28575"/>
                </a:cubicBezTo>
                <a:lnTo>
                  <a:pt x="28575" y="28575"/>
                </a:lnTo>
                <a:lnTo>
                  <a:pt x="28575" y="0"/>
                </a:lnTo>
                <a:cubicBezTo>
                  <a:pt x="28575" y="-5269"/>
                  <a:pt x="32831" y="-9525"/>
                  <a:pt x="38100" y="-9525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25" name="Text 22"/>
          <p:cNvSpPr/>
          <p:nvPr/>
        </p:nvSpPr>
        <p:spPr>
          <a:xfrm>
            <a:off x="7972425" y="4707731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开放生态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705725" y="5012531"/>
            <a:ext cx="38957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API开放,模块化设计,多LLM支持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7434263" y="5598319"/>
            <a:ext cx="4371975" cy="876300"/>
          </a:xfrm>
          <a:custGeom>
            <a:avLst/>
            <a:gdLst/>
            <a:ahLst/>
            <a:cxnLst/>
            <a:rect l="l" t="t" r="r" b="b"/>
            <a:pathLst>
              <a:path w="4371975" h="876300">
                <a:moveTo>
                  <a:pt x="114296" y="0"/>
                </a:moveTo>
                <a:lnTo>
                  <a:pt x="4257679" y="0"/>
                </a:lnTo>
                <a:cubicBezTo>
                  <a:pt x="4320803" y="0"/>
                  <a:pt x="4371975" y="51172"/>
                  <a:pt x="4371975" y="114296"/>
                </a:cubicBezTo>
                <a:lnTo>
                  <a:pt x="4371975" y="762004"/>
                </a:lnTo>
                <a:cubicBezTo>
                  <a:pt x="4371975" y="825128"/>
                  <a:pt x="4320803" y="876300"/>
                  <a:pt x="4257679" y="876300"/>
                </a:cubicBezTo>
                <a:lnTo>
                  <a:pt x="114296" y="876300"/>
                </a:lnTo>
                <a:cubicBezTo>
                  <a:pt x="51172" y="876300"/>
                  <a:pt x="0" y="825128"/>
                  <a:pt x="0" y="76200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373">
                  <a:alpha val="20000"/>
                </a:srgbClr>
              </a:gs>
              <a:gs pos="100000">
                <a:srgbClr val="4A6C8C">
                  <a:alpha val="20000"/>
                </a:srgbClr>
              </a:gs>
            </a:gsLst>
            <a:lin ang="2700000" scaled="1"/>
          </a:gradFill>
          <a:ln w="1270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548563" y="5755481"/>
            <a:ext cx="41433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市场定位优势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558088" y="6098381"/>
            <a:ext cx="4124325" cy="219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Ares智能研报 = </a:t>
            </a:r>
            <a:r>
              <a:rPr lang="en-US" sz="105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人工投研的效率</a:t>
            </a: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+ </a:t>
            </a:r>
            <a:r>
              <a:rPr lang="en-US" sz="1050" b="1" dirty="0">
                <a:solidFill>
                  <a:srgbClr val="4A6C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传统量化的速度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3" name="Text 1"/>
          <p:cNvSpPr/>
          <p:nvPr/>
        </p:nvSpPr>
        <p:spPr>
          <a:xfrm>
            <a:off x="533400" y="381000"/>
            <a:ext cx="32575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商业模式与盈利预测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838200"/>
            <a:ext cx="11353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Business Model &amp; Revenue Forecast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223963"/>
            <a:ext cx="3314700" cy="1228725"/>
          </a:xfrm>
          <a:custGeom>
            <a:avLst/>
            <a:gdLst/>
            <a:ahLst/>
            <a:cxnLst/>
            <a:rect l="l" t="t" r="r" b="b"/>
            <a:pathLst>
              <a:path w="3314700" h="1228725">
                <a:moveTo>
                  <a:pt x="114296" y="0"/>
                </a:moveTo>
                <a:lnTo>
                  <a:pt x="3200404" y="0"/>
                </a:lnTo>
                <a:cubicBezTo>
                  <a:pt x="3263528" y="0"/>
                  <a:pt x="3314700" y="51172"/>
                  <a:pt x="3314700" y="114296"/>
                </a:cubicBezTo>
                <a:lnTo>
                  <a:pt x="3314700" y="1114429"/>
                </a:lnTo>
                <a:cubicBezTo>
                  <a:pt x="3314700" y="1177553"/>
                  <a:pt x="3263528" y="1228725"/>
                  <a:pt x="3200404" y="1228725"/>
                </a:cubicBezTo>
                <a:lnTo>
                  <a:pt x="114296" y="1228725"/>
                </a:lnTo>
                <a:cubicBezTo>
                  <a:pt x="51172" y="1228725"/>
                  <a:pt x="0" y="1177553"/>
                  <a:pt x="0" y="11144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6731" y="13811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0" y="125016"/>
                </a:moveTo>
                <a:cubicBezTo>
                  <a:pt x="0" y="154595"/>
                  <a:pt x="23999" y="178594"/>
                  <a:pt x="53578" y="178594"/>
                </a:cubicBezTo>
                <a:lnTo>
                  <a:pt x="166688" y="178594"/>
                </a:lnTo>
                <a:cubicBezTo>
                  <a:pt x="192993" y="178594"/>
                  <a:pt x="214313" y="157274"/>
                  <a:pt x="214313" y="130969"/>
                </a:cubicBezTo>
                <a:cubicBezTo>
                  <a:pt x="214313" y="111770"/>
                  <a:pt x="202964" y="95213"/>
                  <a:pt x="186593" y="87697"/>
                </a:cubicBezTo>
                <a:cubicBezTo>
                  <a:pt x="189086" y="82823"/>
                  <a:pt x="190500" y="77279"/>
                  <a:pt x="190500" y="71438"/>
                </a:cubicBezTo>
                <a:cubicBezTo>
                  <a:pt x="190500" y="51718"/>
                  <a:pt x="174501" y="35719"/>
                  <a:pt x="154781" y="35719"/>
                </a:cubicBezTo>
                <a:cubicBezTo>
                  <a:pt x="148196" y="35719"/>
                  <a:pt x="142056" y="37505"/>
                  <a:pt x="136773" y="40593"/>
                </a:cubicBezTo>
                <a:cubicBezTo>
                  <a:pt x="127806" y="23552"/>
                  <a:pt x="109910" y="11906"/>
                  <a:pt x="89297" y="11906"/>
                </a:cubicBezTo>
                <a:cubicBezTo>
                  <a:pt x="59717" y="11906"/>
                  <a:pt x="35719" y="35905"/>
                  <a:pt x="35719" y="65484"/>
                </a:cubicBezTo>
                <a:cubicBezTo>
                  <a:pt x="35719" y="68461"/>
                  <a:pt x="35979" y="71400"/>
                  <a:pt x="36426" y="74228"/>
                </a:cubicBezTo>
                <a:cubicBezTo>
                  <a:pt x="15255" y="81372"/>
                  <a:pt x="0" y="101426"/>
                  <a:pt x="0" y="125016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7" name="Text 5"/>
          <p:cNvSpPr/>
          <p:nvPr/>
        </p:nvSpPr>
        <p:spPr>
          <a:xfrm>
            <a:off x="819150" y="1343025"/>
            <a:ext cx="8191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SaaS订阅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4825" y="1685925"/>
            <a:ext cx="4667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个人版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631877" y="1685925"/>
            <a:ext cx="1019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500-2000元/年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4825" y="1914525"/>
            <a:ext cx="4667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专业版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65809" y="1914525"/>
            <a:ext cx="981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5000-2万元/年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4825" y="2143125"/>
            <a:ext cx="4667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机构版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828330" y="2143125"/>
            <a:ext cx="8191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5-50万元/年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26148" y="1223963"/>
            <a:ext cx="3314700" cy="1228725"/>
          </a:xfrm>
          <a:custGeom>
            <a:avLst/>
            <a:gdLst/>
            <a:ahLst/>
            <a:cxnLst/>
            <a:rect l="l" t="t" r="r" b="b"/>
            <a:pathLst>
              <a:path w="3314700" h="1228725">
                <a:moveTo>
                  <a:pt x="114296" y="0"/>
                </a:moveTo>
                <a:lnTo>
                  <a:pt x="3200404" y="0"/>
                </a:lnTo>
                <a:cubicBezTo>
                  <a:pt x="3263528" y="0"/>
                  <a:pt x="3314700" y="51172"/>
                  <a:pt x="3314700" y="114296"/>
                </a:cubicBezTo>
                <a:lnTo>
                  <a:pt x="3314700" y="1114429"/>
                </a:lnTo>
                <a:cubicBezTo>
                  <a:pt x="3314700" y="1177553"/>
                  <a:pt x="3263528" y="1228725"/>
                  <a:pt x="3200404" y="1228725"/>
                </a:cubicBezTo>
                <a:lnTo>
                  <a:pt x="114296" y="1228725"/>
                </a:lnTo>
                <a:cubicBezTo>
                  <a:pt x="51172" y="1228725"/>
                  <a:pt x="0" y="1177553"/>
                  <a:pt x="0" y="11144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69023" y="13811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47625"/>
                </a:moveTo>
                <a:lnTo>
                  <a:pt x="0" y="59531"/>
                </a:lnTo>
                <a:lnTo>
                  <a:pt x="190500" y="59531"/>
                </a:lnTo>
                <a:lnTo>
                  <a:pt x="190500" y="47625"/>
                </a:lnTo>
                <a:cubicBezTo>
                  <a:pt x="190500" y="34491"/>
                  <a:pt x="179822" y="23812"/>
                  <a:pt x="166688" y="23812"/>
                </a:cubicBezTo>
                <a:lnTo>
                  <a:pt x="23812" y="23812"/>
                </a:lnTo>
                <a:cubicBezTo>
                  <a:pt x="10678" y="23812"/>
                  <a:pt x="0" y="34491"/>
                  <a:pt x="0" y="47625"/>
                </a:cubicBezTo>
                <a:close/>
                <a:moveTo>
                  <a:pt x="0" y="77391"/>
                </a:moveTo>
                <a:lnTo>
                  <a:pt x="0" y="142875"/>
                </a:lnTo>
                <a:cubicBezTo>
                  <a:pt x="0" y="156009"/>
                  <a:pt x="10678" y="166688"/>
                  <a:pt x="23812" y="166688"/>
                </a:cubicBezTo>
                <a:lnTo>
                  <a:pt x="166688" y="166688"/>
                </a:lnTo>
                <a:cubicBezTo>
                  <a:pt x="179822" y="166688"/>
                  <a:pt x="190500" y="156009"/>
                  <a:pt x="190500" y="142875"/>
                </a:cubicBezTo>
                <a:lnTo>
                  <a:pt x="190500" y="77391"/>
                </a:lnTo>
                <a:lnTo>
                  <a:pt x="0" y="77391"/>
                </a:lnTo>
                <a:close/>
                <a:moveTo>
                  <a:pt x="23812" y="133945"/>
                </a:moveTo>
                <a:cubicBezTo>
                  <a:pt x="23812" y="128997"/>
                  <a:pt x="27794" y="125016"/>
                  <a:pt x="32742" y="125016"/>
                </a:cubicBezTo>
                <a:lnTo>
                  <a:pt x="50602" y="125016"/>
                </a:lnTo>
                <a:cubicBezTo>
                  <a:pt x="55550" y="125016"/>
                  <a:pt x="59531" y="128997"/>
                  <a:pt x="59531" y="133945"/>
                </a:cubicBezTo>
                <a:cubicBezTo>
                  <a:pt x="59531" y="138894"/>
                  <a:pt x="55550" y="142875"/>
                  <a:pt x="50602" y="142875"/>
                </a:cubicBezTo>
                <a:lnTo>
                  <a:pt x="32742" y="142875"/>
                </a:lnTo>
                <a:cubicBezTo>
                  <a:pt x="27794" y="142875"/>
                  <a:pt x="23812" y="138894"/>
                  <a:pt x="23812" y="133945"/>
                </a:cubicBezTo>
                <a:close/>
                <a:moveTo>
                  <a:pt x="77391" y="133945"/>
                </a:moveTo>
                <a:cubicBezTo>
                  <a:pt x="77391" y="128997"/>
                  <a:pt x="81372" y="125016"/>
                  <a:pt x="86320" y="125016"/>
                </a:cubicBez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6320" y="142875"/>
                </a:lnTo>
                <a:cubicBezTo>
                  <a:pt x="81372" y="142875"/>
                  <a:pt x="77391" y="138894"/>
                  <a:pt x="77391" y="133945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16" name="Text 14"/>
          <p:cNvSpPr/>
          <p:nvPr/>
        </p:nvSpPr>
        <p:spPr>
          <a:xfrm>
            <a:off x="4259535" y="1343025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按量付费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945210" y="1685925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单次分析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45734" y="1685925"/>
            <a:ext cx="7429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6C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10-50元/次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945210" y="1914525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批量分析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78525" y="1914525"/>
            <a:ext cx="9144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6C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100-500元/只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945210" y="2143125"/>
            <a:ext cx="5334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API调用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21487" y="2143125"/>
            <a:ext cx="666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6C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0.1-1元/次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5763" y="2576513"/>
            <a:ext cx="3314700" cy="1228725"/>
          </a:xfrm>
          <a:custGeom>
            <a:avLst/>
            <a:gdLst/>
            <a:ahLst/>
            <a:cxnLst/>
            <a:rect l="l" t="t" r="r" b="b"/>
            <a:pathLst>
              <a:path w="3314700" h="1228725">
                <a:moveTo>
                  <a:pt x="114296" y="0"/>
                </a:moveTo>
                <a:lnTo>
                  <a:pt x="3200404" y="0"/>
                </a:lnTo>
                <a:cubicBezTo>
                  <a:pt x="3263528" y="0"/>
                  <a:pt x="3314700" y="51172"/>
                  <a:pt x="3314700" y="114296"/>
                </a:cubicBezTo>
                <a:lnTo>
                  <a:pt x="3314700" y="1114429"/>
                </a:lnTo>
                <a:cubicBezTo>
                  <a:pt x="3314700" y="1177553"/>
                  <a:pt x="3263528" y="1228725"/>
                  <a:pt x="3200404" y="1228725"/>
                </a:cubicBezTo>
                <a:lnTo>
                  <a:pt x="114296" y="1228725"/>
                </a:lnTo>
                <a:cubicBezTo>
                  <a:pt x="51172" y="1228725"/>
                  <a:pt x="0" y="1177553"/>
                  <a:pt x="0" y="11144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 w="12700">
            <a:solidFill>
              <a:srgbClr val="8D99AE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0544" y="27336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25" name="Text 23"/>
          <p:cNvSpPr/>
          <p:nvPr/>
        </p:nvSpPr>
        <p:spPr>
          <a:xfrm>
            <a:off x="819150" y="2695575"/>
            <a:ext cx="942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私有化部署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4825" y="3038475"/>
            <a:ext cx="7334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一次性授权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846561" y="3038475"/>
            <a:ext cx="8001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50-500万元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4825" y="3267075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年度维护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915245" y="3267075"/>
            <a:ext cx="7334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授权费20%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04825" y="3495675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定制开发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049860" y="3495675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按需报价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826148" y="2576513"/>
            <a:ext cx="3314700" cy="1228725"/>
          </a:xfrm>
          <a:custGeom>
            <a:avLst/>
            <a:gdLst/>
            <a:ahLst/>
            <a:cxnLst/>
            <a:rect l="l" t="t" r="r" b="b"/>
            <a:pathLst>
              <a:path w="3314700" h="1228725">
                <a:moveTo>
                  <a:pt x="114296" y="0"/>
                </a:moveTo>
                <a:lnTo>
                  <a:pt x="3200404" y="0"/>
                </a:lnTo>
                <a:cubicBezTo>
                  <a:pt x="3263528" y="0"/>
                  <a:pt x="3314700" y="51172"/>
                  <a:pt x="3314700" y="114296"/>
                </a:cubicBezTo>
                <a:lnTo>
                  <a:pt x="3314700" y="1114429"/>
                </a:lnTo>
                <a:cubicBezTo>
                  <a:pt x="3314700" y="1177553"/>
                  <a:pt x="3263528" y="1228725"/>
                  <a:pt x="3200404" y="1228725"/>
                </a:cubicBezTo>
                <a:lnTo>
                  <a:pt x="114296" y="1228725"/>
                </a:lnTo>
                <a:cubicBezTo>
                  <a:pt x="51172" y="1228725"/>
                  <a:pt x="0" y="1177553"/>
                  <a:pt x="0" y="11144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980929" y="27336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34" name="Text 32"/>
          <p:cNvSpPr/>
          <p:nvPr/>
        </p:nvSpPr>
        <p:spPr>
          <a:xfrm>
            <a:off x="4259535" y="2695575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数据服务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945210" y="3038475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数据订阅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155978" y="3038475"/>
            <a:ext cx="9334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1000-1万元/月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945210" y="3267075"/>
            <a:ext cx="5334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API接口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223620" y="3267075"/>
            <a:ext cx="866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按调用量计费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945210" y="3495675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研究报告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067723" y="3495675"/>
            <a:ext cx="1019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500-5000元/份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85763" y="3929063"/>
            <a:ext cx="6753225" cy="2543175"/>
          </a:xfrm>
          <a:custGeom>
            <a:avLst/>
            <a:gdLst/>
            <a:ahLst/>
            <a:cxnLst/>
            <a:rect l="l" t="t" r="r" b="b"/>
            <a:pathLst>
              <a:path w="6753225" h="2543175">
                <a:moveTo>
                  <a:pt x="114290" y="0"/>
                </a:moveTo>
                <a:lnTo>
                  <a:pt x="6638935" y="0"/>
                </a:lnTo>
                <a:cubicBezTo>
                  <a:pt x="6702055" y="0"/>
                  <a:pt x="6753225" y="51170"/>
                  <a:pt x="6753225" y="114290"/>
                </a:cubicBezTo>
                <a:lnTo>
                  <a:pt x="6753225" y="2428885"/>
                </a:lnTo>
                <a:cubicBezTo>
                  <a:pt x="6753225" y="2492005"/>
                  <a:pt x="6702055" y="2543175"/>
                  <a:pt x="6638935" y="2543175"/>
                </a:cubicBezTo>
                <a:lnTo>
                  <a:pt x="114290" y="2543175"/>
                </a:lnTo>
                <a:cubicBezTo>
                  <a:pt x="51170" y="2543175"/>
                  <a:pt x="0" y="2492005"/>
                  <a:pt x="0" y="2428885"/>
                </a:cubicBezTo>
                <a:lnTo>
                  <a:pt x="0" y="114290"/>
                </a:lnTo>
                <a:cubicBezTo>
                  <a:pt x="0" y="51212"/>
                  <a:pt x="51212" y="0"/>
                  <a:pt x="11429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6738" y="41243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43" name="Text 41"/>
          <p:cNvSpPr/>
          <p:nvPr/>
        </p:nvSpPr>
        <p:spPr>
          <a:xfrm>
            <a:off x="781050" y="4086225"/>
            <a:ext cx="62960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3年盈利预测</a:t>
            </a:r>
            <a:endParaRPr lang="en-US" sz="1600" dirty="0"/>
          </a:p>
        </p:txBody>
      </p:sp>
      <p:pic>
        <p:nvPicPr>
          <p:cNvPr id="44" name="Image 0" descr="https://kimi-img.moonshot.cn/pub/slides/26-02-13-20:30:19-d67himvk67e9ikd66mog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42925" y="4467225"/>
            <a:ext cx="6438900" cy="1847850"/>
          </a:xfrm>
          <a:prstGeom prst="roundRect">
            <a:avLst>
              <a:gd name="adj" fmla="val 0"/>
            </a:avLst>
          </a:prstGeom>
        </p:spPr>
      </p:pic>
      <p:sp>
        <p:nvSpPr>
          <p:cNvPr id="45" name="Shape 42"/>
          <p:cNvSpPr/>
          <p:nvPr/>
        </p:nvSpPr>
        <p:spPr>
          <a:xfrm>
            <a:off x="7304708" y="1223963"/>
            <a:ext cx="4505325" cy="3438525"/>
          </a:xfrm>
          <a:custGeom>
            <a:avLst/>
            <a:gdLst/>
            <a:ahLst/>
            <a:cxnLst/>
            <a:rect l="l" t="t" r="r" b="b"/>
            <a:pathLst>
              <a:path w="4505325" h="3438525">
                <a:moveTo>
                  <a:pt x="114297" y="0"/>
                </a:moveTo>
                <a:lnTo>
                  <a:pt x="4391028" y="0"/>
                </a:lnTo>
                <a:cubicBezTo>
                  <a:pt x="4454153" y="0"/>
                  <a:pt x="4505325" y="51172"/>
                  <a:pt x="4505325" y="114297"/>
                </a:cubicBezTo>
                <a:lnTo>
                  <a:pt x="4505325" y="3324228"/>
                </a:lnTo>
                <a:cubicBezTo>
                  <a:pt x="4505325" y="3387353"/>
                  <a:pt x="4454153" y="3438525"/>
                  <a:pt x="4391028" y="3438525"/>
                </a:cubicBezTo>
                <a:lnTo>
                  <a:pt x="114297" y="3438525"/>
                </a:lnTo>
                <a:cubicBezTo>
                  <a:pt x="51172" y="3438525"/>
                  <a:pt x="0" y="3387353"/>
                  <a:pt x="0" y="3324228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497589" y="14192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95250" y="59531"/>
                </a:moveTo>
                <a:lnTo>
                  <a:pt x="95250" y="95250"/>
                </a:lnTo>
                <a:lnTo>
                  <a:pt x="142875" y="95250"/>
                </a:lnTo>
                <a:lnTo>
                  <a:pt x="142875" y="59531"/>
                </a:lnTo>
                <a:lnTo>
                  <a:pt x="95250" y="59531"/>
                </a:lnTo>
                <a:close/>
                <a:moveTo>
                  <a:pt x="71438" y="59531"/>
                </a:moveTo>
                <a:lnTo>
                  <a:pt x="23812" y="59531"/>
                </a:lnTo>
                <a:lnTo>
                  <a:pt x="23812" y="95250"/>
                </a:lnTo>
                <a:lnTo>
                  <a:pt x="71438" y="95250"/>
                </a:lnTo>
                <a:lnTo>
                  <a:pt x="71438" y="59531"/>
                </a:lnTo>
                <a:close/>
                <a:moveTo>
                  <a:pt x="0" y="119063"/>
                </a:moveTo>
                <a:lnTo>
                  <a:pt x="0" y="35719"/>
                </a:lnTo>
                <a:cubicBezTo>
                  <a:pt x="0" y="22585"/>
                  <a:pt x="10678" y="11906"/>
                  <a:pt x="23812" y="11906"/>
                </a:cubicBezTo>
                <a:lnTo>
                  <a:pt x="142875" y="11906"/>
                </a:lnTo>
                <a:cubicBezTo>
                  <a:pt x="156009" y="11906"/>
                  <a:pt x="166688" y="22585"/>
                  <a:pt x="166688" y="35719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119063"/>
                </a:lnTo>
                <a:close/>
                <a:moveTo>
                  <a:pt x="142875" y="119063"/>
                </a:moveTo>
                <a:lnTo>
                  <a:pt x="95250" y="119063"/>
                </a:lnTo>
                <a:lnTo>
                  <a:pt x="95250" y="154781"/>
                </a:lnTo>
                <a:lnTo>
                  <a:pt x="142875" y="154781"/>
                </a:lnTo>
                <a:lnTo>
                  <a:pt x="142875" y="119063"/>
                </a:lnTo>
                <a:close/>
                <a:moveTo>
                  <a:pt x="71438" y="154781"/>
                </a:moveTo>
                <a:lnTo>
                  <a:pt x="71438" y="119063"/>
                </a:lnTo>
                <a:lnTo>
                  <a:pt x="23812" y="119063"/>
                </a:lnTo>
                <a:lnTo>
                  <a:pt x="23812" y="154781"/>
                </a:lnTo>
                <a:lnTo>
                  <a:pt x="71438" y="154781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47" name="Text 44"/>
          <p:cNvSpPr/>
          <p:nvPr/>
        </p:nvSpPr>
        <p:spPr>
          <a:xfrm>
            <a:off x="7699995" y="1381125"/>
            <a:ext cx="4048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财务预测表</a:t>
            </a:r>
            <a:endParaRPr lang="en-US" sz="16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/>
        </p:nvGraphicFramePr>
        <p:xfrm>
          <a:off x="7461870" y="1762125"/>
          <a:ext cx="4191000" cy="2457450"/>
        </p:xfrm>
        <a:graphic>
          <a:graphicData uri="http://schemas.openxmlformats.org/drawingml/2006/table">
            <a:tbl>
              <a:tblPr/>
              <a:tblGrid>
                <a:gridCol w="857250"/>
                <a:gridCol w="1066800"/>
                <a:gridCol w="1076325"/>
                <a:gridCol w="1190625"/>
              </a:tblGrid>
              <a:tr h="351064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8D99A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指标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8D99A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第1年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8D99A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第2年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D4A37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第3年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1064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用户数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1,000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5,000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D4A37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20,000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1064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ARPU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5,000元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8,000元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D4A37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10,000元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1064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总收入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500万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4000万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D4A37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2亿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1064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总成本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300万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2000万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D4A37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8000万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1064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净利润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200万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2000万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D4A37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1.2亿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1064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利润率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40%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0F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50%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D4A37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60%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9" name="Shape 45"/>
          <p:cNvSpPr/>
          <p:nvPr/>
        </p:nvSpPr>
        <p:spPr>
          <a:xfrm>
            <a:off x="7304708" y="4786313"/>
            <a:ext cx="4505325" cy="1685925"/>
          </a:xfrm>
          <a:custGeom>
            <a:avLst/>
            <a:gdLst/>
            <a:ahLst/>
            <a:cxnLst/>
            <a:rect l="l" t="t" r="r" b="b"/>
            <a:pathLst>
              <a:path w="4505325" h="1685925">
                <a:moveTo>
                  <a:pt x="114306" y="0"/>
                </a:moveTo>
                <a:lnTo>
                  <a:pt x="4391019" y="0"/>
                </a:lnTo>
                <a:cubicBezTo>
                  <a:pt x="4454149" y="0"/>
                  <a:pt x="4505325" y="51176"/>
                  <a:pt x="4505325" y="114306"/>
                </a:cubicBezTo>
                <a:lnTo>
                  <a:pt x="4505325" y="1571619"/>
                </a:lnTo>
                <a:cubicBezTo>
                  <a:pt x="4505325" y="1634749"/>
                  <a:pt x="4454149" y="1685925"/>
                  <a:pt x="4391019" y="1685925"/>
                </a:cubicBezTo>
                <a:lnTo>
                  <a:pt x="114306" y="1685925"/>
                </a:lnTo>
                <a:cubicBezTo>
                  <a:pt x="51176" y="1685925"/>
                  <a:pt x="0" y="1634749"/>
                  <a:pt x="0" y="1571619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373">
                  <a:alpha val="20000"/>
                </a:srgbClr>
              </a:gs>
              <a:gs pos="100000">
                <a:srgbClr val="4A6C8C">
                  <a:alpha val="20000"/>
                </a:srgbClr>
              </a:gs>
            </a:gsLst>
            <a:lin ang="2700000" scaled="1"/>
          </a:gradFill>
          <a:ln w="1270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7419008" y="4943475"/>
            <a:ext cx="4276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成本结构</a:t>
            </a:r>
            <a:endParaRPr lang="en-US" sz="1600" dirty="0"/>
          </a:p>
        </p:txBody>
      </p:sp>
      <p:sp>
        <p:nvSpPr>
          <p:cNvPr id="51" name="Text 47"/>
          <p:cNvSpPr/>
          <p:nvPr/>
        </p:nvSpPr>
        <p:spPr>
          <a:xfrm>
            <a:off x="7461870" y="5324475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研发成本</a:t>
            </a:r>
            <a:endParaRPr lang="en-US" sz="1600" dirty="0"/>
          </a:p>
        </p:txBody>
      </p:sp>
      <p:sp>
        <p:nvSpPr>
          <p:cNvPr id="52" name="Shape 48"/>
          <p:cNvSpPr/>
          <p:nvPr/>
        </p:nvSpPr>
        <p:spPr>
          <a:xfrm>
            <a:off x="10387310" y="5381625"/>
            <a:ext cx="914400" cy="76200"/>
          </a:xfrm>
          <a:custGeom>
            <a:avLst/>
            <a:gdLst/>
            <a:ahLst/>
            <a:cxnLst/>
            <a:rect l="l" t="t" r="r" b="b"/>
            <a:pathLst>
              <a:path w="914400" h="76200">
                <a:moveTo>
                  <a:pt x="38100" y="0"/>
                </a:moveTo>
                <a:lnTo>
                  <a:pt x="876300" y="0"/>
                </a:lnTo>
                <a:cubicBezTo>
                  <a:pt x="897328" y="0"/>
                  <a:pt x="914400" y="17072"/>
                  <a:pt x="914400" y="38100"/>
                </a:cubicBezTo>
                <a:lnTo>
                  <a:pt x="914400" y="38100"/>
                </a:lnTo>
                <a:cubicBezTo>
                  <a:pt x="914400" y="59128"/>
                  <a:pt x="897328" y="76200"/>
                  <a:pt x="8763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</p:spPr>
      </p:sp>
      <p:sp>
        <p:nvSpPr>
          <p:cNvPr id="53" name="Shape 49"/>
          <p:cNvSpPr/>
          <p:nvPr/>
        </p:nvSpPr>
        <p:spPr>
          <a:xfrm>
            <a:off x="10387310" y="5381625"/>
            <a:ext cx="361950" cy="76200"/>
          </a:xfrm>
          <a:custGeom>
            <a:avLst/>
            <a:gdLst/>
            <a:ahLst/>
            <a:cxnLst/>
            <a:rect l="l" t="t" r="r" b="b"/>
            <a:pathLst>
              <a:path w="361950" h="76200">
                <a:moveTo>
                  <a:pt x="38100" y="0"/>
                </a:moveTo>
                <a:lnTo>
                  <a:pt x="323850" y="0"/>
                </a:lnTo>
                <a:cubicBezTo>
                  <a:pt x="344878" y="0"/>
                  <a:pt x="361950" y="17072"/>
                  <a:pt x="361950" y="38100"/>
                </a:cubicBezTo>
                <a:lnTo>
                  <a:pt x="361950" y="38100"/>
                </a:lnTo>
                <a:cubicBezTo>
                  <a:pt x="361950" y="59128"/>
                  <a:pt x="344878" y="76200"/>
                  <a:pt x="3238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54" name="Text 50"/>
          <p:cNvSpPr/>
          <p:nvPr/>
        </p:nvSpPr>
        <p:spPr>
          <a:xfrm>
            <a:off x="11377910" y="5324475"/>
            <a:ext cx="333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40%</a:t>
            </a:r>
            <a:endParaRPr lang="en-US" sz="1600" dirty="0"/>
          </a:p>
        </p:txBody>
      </p:sp>
      <p:sp>
        <p:nvSpPr>
          <p:cNvPr id="55" name="Text 51"/>
          <p:cNvSpPr/>
          <p:nvPr/>
        </p:nvSpPr>
        <p:spPr>
          <a:xfrm>
            <a:off x="7461870" y="5591175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运营成本</a:t>
            </a:r>
            <a:endParaRPr lang="en-US" sz="1600" dirty="0"/>
          </a:p>
        </p:txBody>
      </p:sp>
      <p:sp>
        <p:nvSpPr>
          <p:cNvPr id="56" name="Shape 52"/>
          <p:cNvSpPr/>
          <p:nvPr/>
        </p:nvSpPr>
        <p:spPr>
          <a:xfrm>
            <a:off x="10394528" y="5648325"/>
            <a:ext cx="914400" cy="76200"/>
          </a:xfrm>
          <a:custGeom>
            <a:avLst/>
            <a:gdLst/>
            <a:ahLst/>
            <a:cxnLst/>
            <a:rect l="l" t="t" r="r" b="b"/>
            <a:pathLst>
              <a:path w="914400" h="76200">
                <a:moveTo>
                  <a:pt x="38100" y="0"/>
                </a:moveTo>
                <a:lnTo>
                  <a:pt x="876300" y="0"/>
                </a:lnTo>
                <a:cubicBezTo>
                  <a:pt x="897328" y="0"/>
                  <a:pt x="914400" y="17072"/>
                  <a:pt x="914400" y="38100"/>
                </a:cubicBezTo>
                <a:lnTo>
                  <a:pt x="914400" y="38100"/>
                </a:lnTo>
                <a:cubicBezTo>
                  <a:pt x="914400" y="59128"/>
                  <a:pt x="897328" y="76200"/>
                  <a:pt x="8763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</p:spPr>
      </p:sp>
      <p:sp>
        <p:nvSpPr>
          <p:cNvPr id="57" name="Shape 53"/>
          <p:cNvSpPr/>
          <p:nvPr/>
        </p:nvSpPr>
        <p:spPr>
          <a:xfrm>
            <a:off x="10394528" y="5648325"/>
            <a:ext cx="228600" cy="76200"/>
          </a:xfrm>
          <a:custGeom>
            <a:avLst/>
            <a:gdLst/>
            <a:ahLst/>
            <a:cxnLst/>
            <a:rect l="l" t="t" r="r" b="b"/>
            <a:pathLst>
              <a:path w="228600" h="76200">
                <a:moveTo>
                  <a:pt x="38100" y="0"/>
                </a:moveTo>
                <a:lnTo>
                  <a:pt x="190500" y="0"/>
                </a:lnTo>
                <a:cubicBezTo>
                  <a:pt x="211528" y="0"/>
                  <a:pt x="228600" y="17072"/>
                  <a:pt x="228600" y="38100"/>
                </a:cubicBezTo>
                <a:lnTo>
                  <a:pt x="228600" y="38100"/>
                </a:lnTo>
                <a:cubicBezTo>
                  <a:pt x="228600" y="59128"/>
                  <a:pt x="211528" y="76200"/>
                  <a:pt x="1905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58" name="Text 54"/>
          <p:cNvSpPr/>
          <p:nvPr/>
        </p:nvSpPr>
        <p:spPr>
          <a:xfrm>
            <a:off x="11385128" y="5591175"/>
            <a:ext cx="333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6C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25%</a:t>
            </a:r>
            <a:endParaRPr lang="en-US" sz="1600" dirty="0"/>
          </a:p>
        </p:txBody>
      </p:sp>
      <p:sp>
        <p:nvSpPr>
          <p:cNvPr id="59" name="Text 55"/>
          <p:cNvSpPr/>
          <p:nvPr/>
        </p:nvSpPr>
        <p:spPr>
          <a:xfrm>
            <a:off x="7461870" y="5857875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营销成本</a:t>
            </a:r>
            <a:endParaRPr lang="en-US" sz="1600" dirty="0"/>
          </a:p>
        </p:txBody>
      </p:sp>
      <p:sp>
        <p:nvSpPr>
          <p:cNvPr id="60" name="Shape 56"/>
          <p:cNvSpPr/>
          <p:nvPr/>
        </p:nvSpPr>
        <p:spPr>
          <a:xfrm>
            <a:off x="10390510" y="5915025"/>
            <a:ext cx="914400" cy="76200"/>
          </a:xfrm>
          <a:custGeom>
            <a:avLst/>
            <a:gdLst/>
            <a:ahLst/>
            <a:cxnLst/>
            <a:rect l="l" t="t" r="r" b="b"/>
            <a:pathLst>
              <a:path w="914400" h="76200">
                <a:moveTo>
                  <a:pt x="38100" y="0"/>
                </a:moveTo>
                <a:lnTo>
                  <a:pt x="876300" y="0"/>
                </a:lnTo>
                <a:cubicBezTo>
                  <a:pt x="897328" y="0"/>
                  <a:pt x="914400" y="17072"/>
                  <a:pt x="914400" y="38100"/>
                </a:cubicBezTo>
                <a:lnTo>
                  <a:pt x="914400" y="38100"/>
                </a:lnTo>
                <a:cubicBezTo>
                  <a:pt x="914400" y="59128"/>
                  <a:pt x="897328" y="76200"/>
                  <a:pt x="8763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</p:spPr>
      </p:sp>
      <p:sp>
        <p:nvSpPr>
          <p:cNvPr id="61" name="Shape 57"/>
          <p:cNvSpPr/>
          <p:nvPr/>
        </p:nvSpPr>
        <p:spPr>
          <a:xfrm>
            <a:off x="10390510" y="5915025"/>
            <a:ext cx="180975" cy="76200"/>
          </a:xfrm>
          <a:custGeom>
            <a:avLst/>
            <a:gdLst/>
            <a:ahLst/>
            <a:cxnLst/>
            <a:rect l="l" t="t" r="r" b="b"/>
            <a:pathLst>
              <a:path w="180975" h="76200">
                <a:moveTo>
                  <a:pt x="38100" y="0"/>
                </a:moveTo>
                <a:lnTo>
                  <a:pt x="142875" y="0"/>
                </a:lnTo>
                <a:cubicBezTo>
                  <a:pt x="163903" y="0"/>
                  <a:pt x="180975" y="17072"/>
                  <a:pt x="180975" y="38100"/>
                </a:cubicBezTo>
                <a:lnTo>
                  <a:pt x="180975" y="38100"/>
                </a:lnTo>
                <a:cubicBezTo>
                  <a:pt x="180975" y="59128"/>
                  <a:pt x="163903" y="76200"/>
                  <a:pt x="1428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62" name="Text 58"/>
          <p:cNvSpPr/>
          <p:nvPr/>
        </p:nvSpPr>
        <p:spPr>
          <a:xfrm>
            <a:off x="11381110" y="5857875"/>
            <a:ext cx="333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20%</a:t>
            </a:r>
            <a:endParaRPr lang="en-US" sz="1600" dirty="0"/>
          </a:p>
        </p:txBody>
      </p:sp>
      <p:sp>
        <p:nvSpPr>
          <p:cNvPr id="63" name="Text 59"/>
          <p:cNvSpPr/>
          <p:nvPr/>
        </p:nvSpPr>
        <p:spPr>
          <a:xfrm>
            <a:off x="7461870" y="6124575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管理成本</a:t>
            </a:r>
            <a:endParaRPr lang="en-US" sz="1600" dirty="0"/>
          </a:p>
        </p:txBody>
      </p:sp>
      <p:sp>
        <p:nvSpPr>
          <p:cNvPr id="64" name="Shape 60"/>
          <p:cNvSpPr/>
          <p:nvPr/>
        </p:nvSpPr>
        <p:spPr>
          <a:xfrm>
            <a:off x="10413057" y="6181725"/>
            <a:ext cx="914400" cy="76200"/>
          </a:xfrm>
          <a:custGeom>
            <a:avLst/>
            <a:gdLst/>
            <a:ahLst/>
            <a:cxnLst/>
            <a:rect l="l" t="t" r="r" b="b"/>
            <a:pathLst>
              <a:path w="914400" h="76200">
                <a:moveTo>
                  <a:pt x="38100" y="0"/>
                </a:moveTo>
                <a:lnTo>
                  <a:pt x="876300" y="0"/>
                </a:lnTo>
                <a:cubicBezTo>
                  <a:pt x="897328" y="0"/>
                  <a:pt x="914400" y="17072"/>
                  <a:pt x="914400" y="38100"/>
                </a:cubicBezTo>
                <a:lnTo>
                  <a:pt x="914400" y="38100"/>
                </a:lnTo>
                <a:cubicBezTo>
                  <a:pt x="914400" y="59128"/>
                  <a:pt x="897328" y="76200"/>
                  <a:pt x="8763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</p:spPr>
      </p:sp>
      <p:sp>
        <p:nvSpPr>
          <p:cNvPr id="65" name="Shape 61"/>
          <p:cNvSpPr/>
          <p:nvPr/>
        </p:nvSpPr>
        <p:spPr>
          <a:xfrm>
            <a:off x="10413057" y="6181725"/>
            <a:ext cx="95250" cy="76200"/>
          </a:xfrm>
          <a:custGeom>
            <a:avLst/>
            <a:gdLst/>
            <a:ahLst/>
            <a:cxnLst/>
            <a:rect l="l" t="t" r="r" b="b"/>
            <a:pathLst>
              <a:path w="95250" h="76200">
                <a:moveTo>
                  <a:pt x="38100" y="0"/>
                </a:moveTo>
                <a:lnTo>
                  <a:pt x="57150" y="0"/>
                </a:lnTo>
                <a:cubicBezTo>
                  <a:pt x="78178" y="0"/>
                  <a:pt x="95250" y="17072"/>
                  <a:pt x="95250" y="38100"/>
                </a:cubicBezTo>
                <a:lnTo>
                  <a:pt x="95250" y="38100"/>
                </a:lnTo>
                <a:cubicBezTo>
                  <a:pt x="95250" y="59128"/>
                  <a:pt x="78178" y="76200"/>
                  <a:pt x="571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>
              <a:alpha val="70196"/>
            </a:srgbClr>
          </a:solidFill>
        </p:spPr>
      </p:sp>
      <p:sp>
        <p:nvSpPr>
          <p:cNvPr id="66" name="Text 62"/>
          <p:cNvSpPr/>
          <p:nvPr/>
        </p:nvSpPr>
        <p:spPr>
          <a:xfrm>
            <a:off x="11403657" y="6124575"/>
            <a:ext cx="3143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10%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855ded1231289ffa189f48a829b77f4bae149769.jpg"/>
          <p:cNvPicPr>
            <a:picLocks noChangeAspect="1"/>
          </p:cNvPicPr>
          <p:nvPr/>
        </p:nvPicPr>
        <p:blipFill>
          <a:blip r:embed="rId1">
            <a:alphaModFix amt="20000"/>
          </a:blip>
          <a:srcRect t="766" b="766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>
                  <a:alpha val="90000"/>
                </a:srgbClr>
              </a:gs>
              <a:gs pos="50000">
                <a:srgbClr val="4A6C8C">
                  <a:alpha val="30000"/>
                </a:srgbClr>
              </a:gs>
              <a:gs pos="100000">
                <a:srgbClr val="1A1D24">
                  <a:alpha val="95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381000" y="4191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5" name="Text 2"/>
          <p:cNvSpPr/>
          <p:nvPr/>
        </p:nvSpPr>
        <p:spPr>
          <a:xfrm>
            <a:off x="533400" y="381000"/>
            <a:ext cx="32575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核心价值总结与展望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33400" y="838200"/>
            <a:ext cx="11353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Core Value Summary &amp; Future Outlook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5763" y="1223963"/>
            <a:ext cx="3314700" cy="962025"/>
          </a:xfrm>
          <a:custGeom>
            <a:avLst/>
            <a:gdLst/>
            <a:ahLst/>
            <a:cxnLst/>
            <a:rect l="l" t="t" r="r" b="b"/>
            <a:pathLst>
              <a:path w="3314700" h="962025">
                <a:moveTo>
                  <a:pt x="114298" y="0"/>
                </a:moveTo>
                <a:lnTo>
                  <a:pt x="3200402" y="0"/>
                </a:lnTo>
                <a:cubicBezTo>
                  <a:pt x="3263527" y="0"/>
                  <a:pt x="3314700" y="51173"/>
                  <a:pt x="3314700" y="114298"/>
                </a:cubicBezTo>
                <a:lnTo>
                  <a:pt x="3314700" y="847727"/>
                </a:lnTo>
                <a:cubicBezTo>
                  <a:pt x="3314700" y="910852"/>
                  <a:pt x="3263527" y="962025"/>
                  <a:pt x="3200402" y="962025"/>
                </a:cubicBezTo>
                <a:lnTo>
                  <a:pt x="114298" y="962025"/>
                </a:lnTo>
                <a:cubicBezTo>
                  <a:pt x="51173" y="962025"/>
                  <a:pt x="0" y="910852"/>
                  <a:pt x="0" y="8477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2925" y="13811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</p:spPr>
      </p:sp>
      <p:sp>
        <p:nvSpPr>
          <p:cNvPr id="9" name="Shape 6"/>
          <p:cNvSpPr/>
          <p:nvPr/>
        </p:nvSpPr>
        <p:spPr>
          <a:xfrm>
            <a:off x="638175" y="14763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10" name="Text 7"/>
          <p:cNvSpPr/>
          <p:nvPr/>
        </p:nvSpPr>
        <p:spPr>
          <a:xfrm>
            <a:off x="1038225" y="1438275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技术领先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2925" y="1838325"/>
            <a:ext cx="30670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多智能体协作,行业首创,3-5年技术领先优势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826148" y="1223963"/>
            <a:ext cx="3314700" cy="962025"/>
          </a:xfrm>
          <a:custGeom>
            <a:avLst/>
            <a:gdLst/>
            <a:ahLst/>
            <a:cxnLst/>
            <a:rect l="l" t="t" r="r" b="b"/>
            <a:pathLst>
              <a:path w="3314700" h="962025">
                <a:moveTo>
                  <a:pt x="114298" y="0"/>
                </a:moveTo>
                <a:lnTo>
                  <a:pt x="3200402" y="0"/>
                </a:lnTo>
                <a:cubicBezTo>
                  <a:pt x="3263527" y="0"/>
                  <a:pt x="3314700" y="51173"/>
                  <a:pt x="3314700" y="114298"/>
                </a:cubicBezTo>
                <a:lnTo>
                  <a:pt x="3314700" y="847727"/>
                </a:lnTo>
                <a:cubicBezTo>
                  <a:pt x="3314700" y="910852"/>
                  <a:pt x="3263527" y="962025"/>
                  <a:pt x="3200402" y="962025"/>
                </a:cubicBezTo>
                <a:lnTo>
                  <a:pt x="114298" y="962025"/>
                </a:lnTo>
                <a:cubicBezTo>
                  <a:pt x="51173" y="962025"/>
                  <a:pt x="0" y="910852"/>
                  <a:pt x="0" y="8477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983310" y="13811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</p:spPr>
      </p:sp>
      <p:sp>
        <p:nvSpPr>
          <p:cNvPr id="14" name="Shape 11"/>
          <p:cNvSpPr/>
          <p:nvPr/>
        </p:nvSpPr>
        <p:spPr>
          <a:xfrm>
            <a:off x="4078560" y="14763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3344" y="0"/>
                </a:moveTo>
                <a:cubicBezTo>
                  <a:pt x="96478" y="0"/>
                  <a:pt x="107156" y="8000"/>
                  <a:pt x="107156" y="17859"/>
                </a:cubicBezTo>
                <a:cubicBezTo>
                  <a:pt x="107156" y="21729"/>
                  <a:pt x="105519" y="25301"/>
                  <a:pt x="102691" y="28240"/>
                </a:cubicBezTo>
                <a:cubicBezTo>
                  <a:pt x="100236" y="30807"/>
                  <a:pt x="98227" y="33933"/>
                  <a:pt x="98227" y="37505"/>
                </a:cubicBezTo>
                <a:cubicBezTo>
                  <a:pt x="98227" y="43086"/>
                  <a:pt x="102766" y="47625"/>
                  <a:pt x="108347" y="47625"/>
                </a:cubicBezTo>
                <a:lnTo>
                  <a:pt x="125016" y="47625"/>
                </a:lnTo>
                <a:cubicBezTo>
                  <a:pt x="134875" y="47625"/>
                  <a:pt x="142875" y="55625"/>
                  <a:pt x="142875" y="65484"/>
                </a:cubicBezTo>
                <a:lnTo>
                  <a:pt x="142875" y="82153"/>
                </a:lnTo>
                <a:cubicBezTo>
                  <a:pt x="142875" y="87734"/>
                  <a:pt x="147414" y="92273"/>
                  <a:pt x="152995" y="92273"/>
                </a:cubicBezTo>
                <a:cubicBezTo>
                  <a:pt x="156530" y="92273"/>
                  <a:pt x="159693" y="90264"/>
                  <a:pt x="162260" y="87809"/>
                </a:cubicBezTo>
                <a:cubicBezTo>
                  <a:pt x="165199" y="85018"/>
                  <a:pt x="168771" y="83344"/>
                  <a:pt x="172641" y="83344"/>
                </a:cubicBezTo>
                <a:cubicBezTo>
                  <a:pt x="182500" y="83344"/>
                  <a:pt x="190500" y="94022"/>
                  <a:pt x="190500" y="107156"/>
                </a:cubicBezTo>
                <a:cubicBezTo>
                  <a:pt x="190500" y="120290"/>
                  <a:pt x="182500" y="130969"/>
                  <a:pt x="172641" y="130969"/>
                </a:cubicBezTo>
                <a:cubicBezTo>
                  <a:pt x="168771" y="130969"/>
                  <a:pt x="165162" y="129332"/>
                  <a:pt x="162260" y="126504"/>
                </a:cubicBezTo>
                <a:cubicBezTo>
                  <a:pt x="159693" y="124048"/>
                  <a:pt x="156567" y="122039"/>
                  <a:pt x="152995" y="122039"/>
                </a:cubicBezTo>
                <a:cubicBezTo>
                  <a:pt x="147414" y="122039"/>
                  <a:pt x="142875" y="126578"/>
                  <a:pt x="142875" y="132159"/>
                </a:cubicBezTo>
                <a:lnTo>
                  <a:pt x="142875" y="172641"/>
                </a:lnTo>
                <a:cubicBezTo>
                  <a:pt x="142875" y="182500"/>
                  <a:pt x="134875" y="190500"/>
                  <a:pt x="125016" y="190500"/>
                </a:cubicBezTo>
                <a:lnTo>
                  <a:pt x="103882" y="190500"/>
                </a:lnTo>
                <a:cubicBezTo>
                  <a:pt x="99120" y="190500"/>
                  <a:pt x="95250" y="186630"/>
                  <a:pt x="95250" y="181868"/>
                </a:cubicBezTo>
                <a:cubicBezTo>
                  <a:pt x="95250" y="178445"/>
                  <a:pt x="97408" y="175431"/>
                  <a:pt x="100161" y="173385"/>
                </a:cubicBezTo>
                <a:cubicBezTo>
                  <a:pt x="104477" y="170148"/>
                  <a:pt x="107156" y="165683"/>
                  <a:pt x="107156" y="160734"/>
                </a:cubicBezTo>
                <a:cubicBezTo>
                  <a:pt x="107156" y="150875"/>
                  <a:pt x="96478" y="142875"/>
                  <a:pt x="83344" y="142875"/>
                </a:cubicBezTo>
                <a:cubicBezTo>
                  <a:pt x="70210" y="142875"/>
                  <a:pt x="59531" y="150875"/>
                  <a:pt x="59531" y="160734"/>
                </a:cubicBezTo>
                <a:cubicBezTo>
                  <a:pt x="59531" y="165683"/>
                  <a:pt x="62210" y="170148"/>
                  <a:pt x="66526" y="173385"/>
                </a:cubicBezTo>
                <a:cubicBezTo>
                  <a:pt x="69279" y="175431"/>
                  <a:pt x="71438" y="178408"/>
                  <a:pt x="71438" y="181868"/>
                </a:cubicBezTo>
                <a:cubicBezTo>
                  <a:pt x="71438" y="186630"/>
                  <a:pt x="67568" y="190500"/>
                  <a:pt x="62805" y="190500"/>
                </a:cubicBezTo>
                <a:lnTo>
                  <a:pt x="17859" y="190500"/>
                </a:lnTo>
                <a:cubicBezTo>
                  <a:pt x="8000" y="190500"/>
                  <a:pt x="0" y="182500"/>
                  <a:pt x="0" y="172641"/>
                </a:cubicBezTo>
                <a:lnTo>
                  <a:pt x="0" y="127695"/>
                </a:lnTo>
                <a:cubicBezTo>
                  <a:pt x="0" y="122932"/>
                  <a:pt x="3870" y="119063"/>
                  <a:pt x="8632" y="119063"/>
                </a:cubicBezTo>
                <a:cubicBezTo>
                  <a:pt x="12055" y="119063"/>
                  <a:pt x="15069" y="121221"/>
                  <a:pt x="17115" y="123974"/>
                </a:cubicBezTo>
                <a:cubicBezTo>
                  <a:pt x="20352" y="128290"/>
                  <a:pt x="24817" y="130969"/>
                  <a:pt x="29766" y="130969"/>
                </a:cubicBezTo>
                <a:cubicBezTo>
                  <a:pt x="39625" y="130969"/>
                  <a:pt x="47625" y="120290"/>
                  <a:pt x="47625" y="107156"/>
                </a:cubicBezTo>
                <a:cubicBezTo>
                  <a:pt x="47625" y="94022"/>
                  <a:pt x="39625" y="83344"/>
                  <a:pt x="29766" y="83344"/>
                </a:cubicBezTo>
                <a:cubicBezTo>
                  <a:pt x="24817" y="83344"/>
                  <a:pt x="20352" y="86023"/>
                  <a:pt x="17115" y="90339"/>
                </a:cubicBezTo>
                <a:cubicBezTo>
                  <a:pt x="15069" y="93092"/>
                  <a:pt x="12092" y="95250"/>
                  <a:pt x="8632" y="95250"/>
                </a:cubicBezTo>
                <a:cubicBezTo>
                  <a:pt x="3870" y="95250"/>
                  <a:pt x="0" y="91380"/>
                  <a:pt x="0" y="86618"/>
                </a:cubicBezTo>
                <a:lnTo>
                  <a:pt x="0" y="65484"/>
                </a:lnTo>
                <a:cubicBezTo>
                  <a:pt x="0" y="55625"/>
                  <a:pt x="8000" y="47625"/>
                  <a:pt x="17859" y="47625"/>
                </a:cubicBezTo>
                <a:lnTo>
                  <a:pt x="58341" y="47625"/>
                </a:lnTo>
                <a:cubicBezTo>
                  <a:pt x="63922" y="47625"/>
                  <a:pt x="68461" y="43086"/>
                  <a:pt x="68461" y="37505"/>
                </a:cubicBezTo>
                <a:cubicBezTo>
                  <a:pt x="68461" y="33970"/>
                  <a:pt x="66452" y="30807"/>
                  <a:pt x="63996" y="28240"/>
                </a:cubicBezTo>
                <a:cubicBezTo>
                  <a:pt x="61206" y="25301"/>
                  <a:pt x="59531" y="21729"/>
                  <a:pt x="59531" y="17859"/>
                </a:cubicBezTo>
                <a:cubicBezTo>
                  <a:pt x="59531" y="8000"/>
                  <a:pt x="70210" y="0"/>
                  <a:pt x="83344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15" name="Text 12"/>
          <p:cNvSpPr/>
          <p:nvPr/>
        </p:nvSpPr>
        <p:spPr>
          <a:xfrm>
            <a:off x="4478610" y="1438275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功能全面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983310" y="1838325"/>
            <a:ext cx="30670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4个分析维度全覆盖,10+专业智能体协作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85763" y="2309813"/>
            <a:ext cx="3314700" cy="962025"/>
          </a:xfrm>
          <a:custGeom>
            <a:avLst/>
            <a:gdLst/>
            <a:ahLst/>
            <a:cxnLst/>
            <a:rect l="l" t="t" r="r" b="b"/>
            <a:pathLst>
              <a:path w="3314700" h="962025">
                <a:moveTo>
                  <a:pt x="114298" y="0"/>
                </a:moveTo>
                <a:lnTo>
                  <a:pt x="3200402" y="0"/>
                </a:lnTo>
                <a:cubicBezTo>
                  <a:pt x="3263527" y="0"/>
                  <a:pt x="3314700" y="51173"/>
                  <a:pt x="3314700" y="114298"/>
                </a:cubicBezTo>
                <a:lnTo>
                  <a:pt x="3314700" y="847727"/>
                </a:lnTo>
                <a:cubicBezTo>
                  <a:pt x="3314700" y="910852"/>
                  <a:pt x="3263527" y="962025"/>
                  <a:pt x="3200402" y="962025"/>
                </a:cubicBezTo>
                <a:lnTo>
                  <a:pt x="114298" y="962025"/>
                </a:lnTo>
                <a:cubicBezTo>
                  <a:pt x="51173" y="962025"/>
                  <a:pt x="0" y="910852"/>
                  <a:pt x="0" y="8477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 w="12700">
            <a:solidFill>
              <a:srgbClr val="8D99AE">
                <a:alpha val="30196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2925" y="24669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</p:spPr>
      </p:sp>
      <p:sp>
        <p:nvSpPr>
          <p:cNvPr id="19" name="Shape 16"/>
          <p:cNvSpPr/>
          <p:nvPr/>
        </p:nvSpPr>
        <p:spPr>
          <a:xfrm>
            <a:off x="638175" y="25622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30969"/>
                </a:lnTo>
                <a:cubicBezTo>
                  <a:pt x="0" y="144103"/>
                  <a:pt x="10678" y="154781"/>
                  <a:pt x="23812" y="154781"/>
                </a:cubicBezTo>
                <a:lnTo>
                  <a:pt x="77391" y="154781"/>
                </a:lnTo>
                <a:lnTo>
                  <a:pt x="71438" y="172641"/>
                </a:lnTo>
                <a:lnTo>
                  <a:pt x="44648" y="172641"/>
                </a:lnTo>
                <a:cubicBezTo>
                  <a:pt x="39700" y="172641"/>
                  <a:pt x="35719" y="176622"/>
                  <a:pt x="35719" y="181570"/>
                </a:cubicBezTo>
                <a:cubicBezTo>
                  <a:pt x="35719" y="186519"/>
                  <a:pt x="39700" y="190500"/>
                  <a:pt x="44648" y="190500"/>
                </a:cubicBezTo>
                <a:lnTo>
                  <a:pt x="145852" y="190500"/>
                </a:lnTo>
                <a:cubicBezTo>
                  <a:pt x="150800" y="190500"/>
                  <a:pt x="154781" y="186519"/>
                  <a:pt x="154781" y="181570"/>
                </a:cubicBezTo>
                <a:cubicBezTo>
                  <a:pt x="154781" y="176622"/>
                  <a:pt x="150800" y="172641"/>
                  <a:pt x="145852" y="172641"/>
                </a:cubicBezTo>
                <a:lnTo>
                  <a:pt x="119063" y="172641"/>
                </a:lnTo>
                <a:lnTo>
                  <a:pt x="113109" y="154781"/>
                </a:lnTo>
                <a:lnTo>
                  <a:pt x="166688" y="154781"/>
                </a:lnTo>
                <a:cubicBezTo>
                  <a:pt x="179822" y="154781"/>
                  <a:pt x="190500" y="144103"/>
                  <a:pt x="190500" y="130969"/>
                </a:cubicBezTo>
                <a:lnTo>
                  <a:pt x="190500" y="35719"/>
                </a:lnTo>
                <a:cubicBezTo>
                  <a:pt x="190500" y="22585"/>
                  <a:pt x="179822" y="11906"/>
                  <a:pt x="166688" y="11906"/>
                </a:cubicBezTo>
                <a:lnTo>
                  <a:pt x="23812" y="11906"/>
                </a:lnTo>
                <a:close/>
                <a:moveTo>
                  <a:pt x="35719" y="35719"/>
                </a:move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lnTo>
                  <a:pt x="166688" y="107156"/>
                </a:lnTo>
                <a:cubicBezTo>
                  <a:pt x="166688" y="113742"/>
                  <a:pt x="161367" y="119063"/>
                  <a:pt x="154781" y="119063"/>
                </a:cubicBezTo>
                <a:lnTo>
                  <a:pt x="35719" y="119063"/>
                </a:lnTo>
                <a:cubicBezTo>
                  <a:pt x="29133" y="119063"/>
                  <a:pt x="23812" y="113742"/>
                  <a:pt x="23812" y="107156"/>
                </a:cubicBezTo>
                <a:lnTo>
                  <a:pt x="23812" y="47625"/>
                </a:lnTo>
                <a:cubicBezTo>
                  <a:pt x="23812" y="41039"/>
                  <a:pt x="29133" y="35719"/>
                  <a:pt x="35719" y="35719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20" name="Text 17"/>
          <p:cNvSpPr/>
          <p:nvPr/>
        </p:nvSpPr>
        <p:spPr>
          <a:xfrm>
            <a:off x="1038225" y="2524125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体验优秀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42925" y="2924175"/>
            <a:ext cx="30670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现代化Web界面,SSE实时推送,响应式设计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3826148" y="2309813"/>
            <a:ext cx="3314700" cy="962025"/>
          </a:xfrm>
          <a:custGeom>
            <a:avLst/>
            <a:gdLst/>
            <a:ahLst/>
            <a:cxnLst/>
            <a:rect l="l" t="t" r="r" b="b"/>
            <a:pathLst>
              <a:path w="3314700" h="962025">
                <a:moveTo>
                  <a:pt x="114298" y="0"/>
                </a:moveTo>
                <a:lnTo>
                  <a:pt x="3200402" y="0"/>
                </a:lnTo>
                <a:cubicBezTo>
                  <a:pt x="3263527" y="0"/>
                  <a:pt x="3314700" y="51173"/>
                  <a:pt x="3314700" y="114298"/>
                </a:cubicBezTo>
                <a:lnTo>
                  <a:pt x="3314700" y="847727"/>
                </a:lnTo>
                <a:cubicBezTo>
                  <a:pt x="3314700" y="910852"/>
                  <a:pt x="3263527" y="962025"/>
                  <a:pt x="3200402" y="962025"/>
                </a:cubicBezTo>
                <a:lnTo>
                  <a:pt x="114298" y="962025"/>
                </a:lnTo>
                <a:cubicBezTo>
                  <a:pt x="51173" y="962025"/>
                  <a:pt x="0" y="910852"/>
                  <a:pt x="0" y="8477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983310" y="24669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</p:spPr>
      </p:sp>
      <p:sp>
        <p:nvSpPr>
          <p:cNvPr id="24" name="Shape 21"/>
          <p:cNvSpPr/>
          <p:nvPr/>
        </p:nvSpPr>
        <p:spPr>
          <a:xfrm>
            <a:off x="4090467" y="25622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-11906"/>
                </a:moveTo>
                <a:cubicBezTo>
                  <a:pt x="54211" y="-11906"/>
                  <a:pt x="59531" y="-6586"/>
                  <a:pt x="59531" y="0"/>
                </a:cubicBezTo>
                <a:lnTo>
                  <a:pt x="59531" y="35719"/>
                </a:lnTo>
                <a:lnTo>
                  <a:pt x="107156" y="35719"/>
                </a:lnTo>
                <a:lnTo>
                  <a:pt x="107156" y="0"/>
                </a:lnTo>
                <a:cubicBezTo>
                  <a:pt x="107156" y="-6586"/>
                  <a:pt x="112477" y="-11906"/>
                  <a:pt x="119063" y="-11906"/>
                </a:cubicBezTo>
                <a:cubicBezTo>
                  <a:pt x="125648" y="-11906"/>
                  <a:pt x="130969" y="-6586"/>
                  <a:pt x="130969" y="0"/>
                </a:cubicBezTo>
                <a:lnTo>
                  <a:pt x="130969" y="35719"/>
                </a:ln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cubicBezTo>
                  <a:pt x="166688" y="54211"/>
                  <a:pt x="161367" y="59531"/>
                  <a:pt x="154781" y="59531"/>
                </a:cubicBezTo>
                <a:lnTo>
                  <a:pt x="154781" y="83344"/>
                </a:lnTo>
                <a:cubicBezTo>
                  <a:pt x="154781" y="118728"/>
                  <a:pt x="129034" y="148121"/>
                  <a:pt x="95250" y="153777"/>
                </a:cubicBezTo>
                <a:lnTo>
                  <a:pt x="95250" y="178594"/>
                </a:lnTo>
                <a:cubicBezTo>
                  <a:pt x="95250" y="185179"/>
                  <a:pt x="89929" y="190500"/>
                  <a:pt x="83344" y="190500"/>
                </a:cubicBezTo>
                <a:cubicBezTo>
                  <a:pt x="76758" y="190500"/>
                  <a:pt x="71438" y="185179"/>
                  <a:pt x="71438" y="178594"/>
                </a:cubicBezTo>
                <a:lnTo>
                  <a:pt x="71438" y="153777"/>
                </a:lnTo>
                <a:cubicBezTo>
                  <a:pt x="37654" y="148121"/>
                  <a:pt x="11906" y="118728"/>
                  <a:pt x="11906" y="83344"/>
                </a:cubicBez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35719" y="35719"/>
                </a:lnTo>
                <a:lnTo>
                  <a:pt x="35719" y="0"/>
                </a:lnTo>
                <a:cubicBezTo>
                  <a:pt x="35719" y="-6586"/>
                  <a:pt x="41039" y="-11906"/>
                  <a:pt x="47625" y="-11906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25" name="Text 22"/>
          <p:cNvSpPr/>
          <p:nvPr/>
        </p:nvSpPr>
        <p:spPr>
          <a:xfrm>
            <a:off x="4478610" y="2524125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生态开放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983310" y="2924175"/>
            <a:ext cx="30670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API开放,支持定制,多LLM/数据源支持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385763" y="3395663"/>
            <a:ext cx="6753225" cy="2733675"/>
          </a:xfrm>
          <a:custGeom>
            <a:avLst/>
            <a:gdLst/>
            <a:ahLst/>
            <a:cxnLst/>
            <a:rect l="l" t="t" r="r" b="b"/>
            <a:pathLst>
              <a:path w="6753225" h="2733675">
                <a:moveTo>
                  <a:pt x="114295" y="0"/>
                </a:moveTo>
                <a:lnTo>
                  <a:pt x="6638930" y="0"/>
                </a:lnTo>
                <a:cubicBezTo>
                  <a:pt x="6702053" y="0"/>
                  <a:pt x="6753225" y="51172"/>
                  <a:pt x="6753225" y="114295"/>
                </a:cubicBezTo>
                <a:lnTo>
                  <a:pt x="6753225" y="2619380"/>
                </a:lnTo>
                <a:cubicBezTo>
                  <a:pt x="6753225" y="2682503"/>
                  <a:pt x="6702053" y="2733675"/>
                  <a:pt x="6638930" y="2733675"/>
                </a:cubicBezTo>
                <a:lnTo>
                  <a:pt x="114295" y="2733675"/>
                </a:lnTo>
                <a:cubicBezTo>
                  <a:pt x="51172" y="2733675"/>
                  <a:pt x="0" y="2682503"/>
                  <a:pt x="0" y="261938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66738" y="35909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29" name="Text 26"/>
          <p:cNvSpPr/>
          <p:nvPr/>
        </p:nvSpPr>
        <p:spPr>
          <a:xfrm>
            <a:off x="781050" y="3552825"/>
            <a:ext cx="62960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商业前景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566738" y="41624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31" name="Text 28"/>
          <p:cNvSpPr/>
          <p:nvPr/>
        </p:nvSpPr>
        <p:spPr>
          <a:xfrm>
            <a:off x="871538" y="4038600"/>
            <a:ext cx="22002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市场规模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871538" y="4267200"/>
            <a:ext cx="2190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智能投顾市场5000亿+,年增长25%+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566738" y="48672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34" name="Text 31"/>
          <p:cNvSpPr/>
          <p:nvPr/>
        </p:nvSpPr>
        <p:spPr>
          <a:xfrm>
            <a:off x="871538" y="4743450"/>
            <a:ext cx="20002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目标客户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871538" y="4972050"/>
            <a:ext cx="19907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个人投资者2亿+,机构客户数万家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566738" y="55721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37" name="Text 34"/>
          <p:cNvSpPr/>
          <p:nvPr/>
        </p:nvSpPr>
        <p:spPr>
          <a:xfrm>
            <a:off x="871538" y="5448300"/>
            <a:ext cx="21621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3年目标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871538" y="5676900"/>
            <a:ext cx="21526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2万付费用户,收入2亿元,利润率60%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7304708" y="1223963"/>
            <a:ext cx="4505325" cy="3667125"/>
          </a:xfrm>
          <a:custGeom>
            <a:avLst/>
            <a:gdLst/>
            <a:ahLst/>
            <a:cxnLst/>
            <a:rect l="l" t="t" r="r" b="b"/>
            <a:pathLst>
              <a:path w="4505325" h="3667125">
                <a:moveTo>
                  <a:pt x="114304" y="0"/>
                </a:moveTo>
                <a:lnTo>
                  <a:pt x="4391021" y="0"/>
                </a:lnTo>
                <a:cubicBezTo>
                  <a:pt x="4454149" y="0"/>
                  <a:pt x="4505325" y="51176"/>
                  <a:pt x="4505325" y="114304"/>
                </a:cubicBezTo>
                <a:lnTo>
                  <a:pt x="4505325" y="3552821"/>
                </a:lnTo>
                <a:cubicBezTo>
                  <a:pt x="4505325" y="3615949"/>
                  <a:pt x="4454149" y="3667125"/>
                  <a:pt x="4391021" y="3667125"/>
                </a:cubicBezTo>
                <a:lnTo>
                  <a:pt x="114304" y="3667125"/>
                </a:lnTo>
                <a:cubicBezTo>
                  <a:pt x="51176" y="3667125"/>
                  <a:pt x="0" y="3615949"/>
                  <a:pt x="0" y="3552821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461870" y="141922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41" name="Text 38"/>
          <p:cNvSpPr/>
          <p:nvPr/>
        </p:nvSpPr>
        <p:spPr>
          <a:xfrm>
            <a:off x="7699995" y="1381125"/>
            <a:ext cx="4048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技术架构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7461870" y="1762125"/>
            <a:ext cx="4191000" cy="685800"/>
          </a:xfrm>
          <a:custGeom>
            <a:avLst/>
            <a:gdLst/>
            <a:ahLst/>
            <a:cxnLst/>
            <a:rect l="l" t="t" r="r" b="b"/>
            <a:pathLst>
              <a:path w="4191000" h="685800">
                <a:moveTo>
                  <a:pt x="76199" y="0"/>
                </a:moveTo>
                <a:lnTo>
                  <a:pt x="4114801" y="0"/>
                </a:lnTo>
                <a:cubicBezTo>
                  <a:pt x="4156884" y="0"/>
                  <a:pt x="4191000" y="34116"/>
                  <a:pt x="4191000" y="76199"/>
                </a:cubicBezTo>
                <a:lnTo>
                  <a:pt x="4191000" y="609601"/>
                </a:lnTo>
                <a:cubicBezTo>
                  <a:pt x="4191000" y="651684"/>
                  <a:pt x="4156884" y="685800"/>
                  <a:pt x="41148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43" name="Shape 40"/>
          <p:cNvSpPr/>
          <p:nvPr/>
        </p:nvSpPr>
        <p:spPr>
          <a:xfrm>
            <a:off x="7585695" y="191452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07394" y="357"/>
                </a:moveTo>
                <a:cubicBezTo>
                  <a:pt x="102334" y="-1101"/>
                  <a:pt x="97066" y="1845"/>
                  <a:pt x="95607" y="6906"/>
                </a:cubicBezTo>
                <a:lnTo>
                  <a:pt x="57507" y="140256"/>
                </a:lnTo>
                <a:cubicBezTo>
                  <a:pt x="56049" y="145316"/>
                  <a:pt x="58995" y="150584"/>
                  <a:pt x="64056" y="152043"/>
                </a:cubicBezTo>
                <a:cubicBezTo>
                  <a:pt x="69116" y="153501"/>
                  <a:pt x="74384" y="150555"/>
                  <a:pt x="75843" y="145494"/>
                </a:cubicBezTo>
                <a:lnTo>
                  <a:pt x="113943" y="12144"/>
                </a:lnTo>
                <a:cubicBezTo>
                  <a:pt x="115401" y="7084"/>
                  <a:pt x="112455" y="1816"/>
                  <a:pt x="107394" y="357"/>
                </a:cubicBezTo>
                <a:close/>
                <a:moveTo>
                  <a:pt x="126623" y="40868"/>
                </a:moveTo>
                <a:cubicBezTo>
                  <a:pt x="122902" y="44589"/>
                  <a:pt x="122902" y="50631"/>
                  <a:pt x="126623" y="54352"/>
                </a:cubicBezTo>
                <a:lnTo>
                  <a:pt x="148471" y="76200"/>
                </a:lnTo>
                <a:lnTo>
                  <a:pt x="126623" y="98048"/>
                </a:lnTo>
                <a:cubicBezTo>
                  <a:pt x="122902" y="101769"/>
                  <a:pt x="122902" y="107811"/>
                  <a:pt x="126623" y="111532"/>
                </a:cubicBezTo>
                <a:cubicBezTo>
                  <a:pt x="130344" y="115253"/>
                  <a:pt x="136386" y="115253"/>
                  <a:pt x="140107" y="111532"/>
                </a:cubicBezTo>
                <a:lnTo>
                  <a:pt x="168682" y="82957"/>
                </a:lnTo>
                <a:cubicBezTo>
                  <a:pt x="172403" y="79236"/>
                  <a:pt x="172403" y="73194"/>
                  <a:pt x="168682" y="69473"/>
                </a:cubicBezTo>
                <a:lnTo>
                  <a:pt x="140107" y="40898"/>
                </a:lnTo>
                <a:cubicBezTo>
                  <a:pt x="136386" y="37177"/>
                  <a:pt x="130344" y="37177"/>
                  <a:pt x="126623" y="40898"/>
                </a:cubicBezTo>
                <a:close/>
                <a:moveTo>
                  <a:pt x="44857" y="40868"/>
                </a:moveTo>
                <a:cubicBezTo>
                  <a:pt x="41136" y="37147"/>
                  <a:pt x="35094" y="37147"/>
                  <a:pt x="31373" y="40868"/>
                </a:cubicBezTo>
                <a:lnTo>
                  <a:pt x="2798" y="69443"/>
                </a:lnTo>
                <a:cubicBezTo>
                  <a:pt x="-923" y="73164"/>
                  <a:pt x="-923" y="79206"/>
                  <a:pt x="2798" y="82927"/>
                </a:cubicBezTo>
                <a:lnTo>
                  <a:pt x="31373" y="111502"/>
                </a:lnTo>
                <a:cubicBezTo>
                  <a:pt x="35094" y="115223"/>
                  <a:pt x="41136" y="115223"/>
                  <a:pt x="44857" y="111502"/>
                </a:cubicBezTo>
                <a:cubicBezTo>
                  <a:pt x="48578" y="107781"/>
                  <a:pt x="48578" y="101739"/>
                  <a:pt x="44857" y="98018"/>
                </a:cubicBezTo>
                <a:lnTo>
                  <a:pt x="23009" y="76200"/>
                </a:lnTo>
                <a:lnTo>
                  <a:pt x="44827" y="54352"/>
                </a:lnTo>
                <a:cubicBezTo>
                  <a:pt x="48548" y="50631"/>
                  <a:pt x="48548" y="44589"/>
                  <a:pt x="44827" y="40868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44" name="Text 41"/>
          <p:cNvSpPr/>
          <p:nvPr/>
        </p:nvSpPr>
        <p:spPr>
          <a:xfrm>
            <a:off x="7842870" y="1876425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前端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7576170" y="2143125"/>
            <a:ext cx="4029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Vue 3 + Element Plus,现代化单页应用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7461870" y="2524125"/>
            <a:ext cx="4191000" cy="685800"/>
          </a:xfrm>
          <a:custGeom>
            <a:avLst/>
            <a:gdLst/>
            <a:ahLst/>
            <a:cxnLst/>
            <a:rect l="l" t="t" r="r" b="b"/>
            <a:pathLst>
              <a:path w="4191000" h="685800">
                <a:moveTo>
                  <a:pt x="76199" y="0"/>
                </a:moveTo>
                <a:lnTo>
                  <a:pt x="4114801" y="0"/>
                </a:lnTo>
                <a:cubicBezTo>
                  <a:pt x="4156884" y="0"/>
                  <a:pt x="4191000" y="34116"/>
                  <a:pt x="4191000" y="76199"/>
                </a:cubicBezTo>
                <a:lnTo>
                  <a:pt x="4191000" y="609601"/>
                </a:lnTo>
                <a:cubicBezTo>
                  <a:pt x="4191000" y="651684"/>
                  <a:pt x="4156884" y="685800"/>
                  <a:pt x="41148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47" name="Shape 44"/>
          <p:cNvSpPr/>
          <p:nvPr/>
        </p:nvSpPr>
        <p:spPr>
          <a:xfrm>
            <a:off x="7604745" y="26765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47625"/>
                </a:lnTo>
                <a:cubicBezTo>
                  <a:pt x="0" y="58132"/>
                  <a:pt x="8543" y="66675"/>
                  <a:pt x="19050" y="66675"/>
                </a:cubicBezTo>
                <a:lnTo>
                  <a:pt x="114300" y="66675"/>
                </a:lnTo>
                <a:cubicBezTo>
                  <a:pt x="124807" y="66675"/>
                  <a:pt x="133350" y="58132"/>
                  <a:pt x="133350" y="47625"/>
                </a:cubicBezTo>
                <a:lnTo>
                  <a:pt x="133350" y="28575"/>
                </a:lnTo>
                <a:cubicBezTo>
                  <a:pt x="133350" y="18068"/>
                  <a:pt x="124807" y="9525"/>
                  <a:pt x="114300" y="9525"/>
                </a:cubicBezTo>
                <a:lnTo>
                  <a:pt x="19050" y="9525"/>
                </a:lnTo>
                <a:close/>
                <a:moveTo>
                  <a:pt x="83344" y="30956"/>
                </a:moveTo>
                <a:cubicBezTo>
                  <a:pt x="87286" y="30956"/>
                  <a:pt x="90488" y="34157"/>
                  <a:pt x="90488" y="38100"/>
                </a:cubicBezTo>
                <a:cubicBezTo>
                  <a:pt x="90488" y="42043"/>
                  <a:pt x="87286" y="45244"/>
                  <a:pt x="83344" y="45244"/>
                </a:cubicBezTo>
                <a:cubicBezTo>
                  <a:pt x="79401" y="45244"/>
                  <a:pt x="76200" y="42043"/>
                  <a:pt x="76200" y="38100"/>
                </a:cubicBezTo>
                <a:cubicBezTo>
                  <a:pt x="76200" y="34157"/>
                  <a:pt x="79401" y="30956"/>
                  <a:pt x="83344" y="30956"/>
                </a:cubicBezTo>
                <a:close/>
                <a:moveTo>
                  <a:pt x="100013" y="38100"/>
                </a:moveTo>
                <a:cubicBezTo>
                  <a:pt x="100013" y="34157"/>
                  <a:pt x="103214" y="30956"/>
                  <a:pt x="107156" y="30956"/>
                </a:cubicBezTo>
                <a:cubicBezTo>
                  <a:pt x="111099" y="30956"/>
                  <a:pt x="114300" y="34157"/>
                  <a:pt x="114300" y="38100"/>
                </a:cubicBezTo>
                <a:cubicBezTo>
                  <a:pt x="114300" y="42043"/>
                  <a:pt x="111099" y="45244"/>
                  <a:pt x="107156" y="45244"/>
                </a:cubicBezTo>
                <a:cubicBezTo>
                  <a:pt x="103214" y="45244"/>
                  <a:pt x="100013" y="42043"/>
                  <a:pt x="100013" y="38100"/>
                </a:cubicBezTo>
                <a:close/>
                <a:moveTo>
                  <a:pt x="19050" y="85725"/>
                </a:moveTo>
                <a:cubicBezTo>
                  <a:pt x="8543" y="85725"/>
                  <a:pt x="0" y="94268"/>
                  <a:pt x="0" y="10477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104775"/>
                </a:lnTo>
                <a:cubicBezTo>
                  <a:pt x="133350" y="94268"/>
                  <a:pt x="124807" y="85725"/>
                  <a:pt x="114300" y="85725"/>
                </a:cubicBezTo>
                <a:lnTo>
                  <a:pt x="19050" y="85725"/>
                </a:lnTo>
                <a:close/>
                <a:moveTo>
                  <a:pt x="83344" y="107156"/>
                </a:moveTo>
                <a:cubicBezTo>
                  <a:pt x="87286" y="107156"/>
                  <a:pt x="90488" y="110357"/>
                  <a:pt x="90488" y="114300"/>
                </a:cubicBezTo>
                <a:cubicBezTo>
                  <a:pt x="90488" y="118243"/>
                  <a:pt x="87286" y="121444"/>
                  <a:pt x="83344" y="121444"/>
                </a:cubicBezTo>
                <a:cubicBezTo>
                  <a:pt x="79401" y="121444"/>
                  <a:pt x="76200" y="118243"/>
                  <a:pt x="76200" y="114300"/>
                </a:cubicBezTo>
                <a:cubicBezTo>
                  <a:pt x="76200" y="110357"/>
                  <a:pt x="79401" y="107156"/>
                  <a:pt x="83344" y="107156"/>
                </a:cubicBezTo>
                <a:close/>
                <a:moveTo>
                  <a:pt x="100013" y="114300"/>
                </a:moveTo>
                <a:cubicBezTo>
                  <a:pt x="100013" y="110357"/>
                  <a:pt x="103214" y="107156"/>
                  <a:pt x="107156" y="107156"/>
                </a:cubicBezTo>
                <a:cubicBezTo>
                  <a:pt x="111099" y="107156"/>
                  <a:pt x="114300" y="110357"/>
                  <a:pt x="114300" y="114300"/>
                </a:cubicBezTo>
                <a:cubicBezTo>
                  <a:pt x="114300" y="118243"/>
                  <a:pt x="111099" y="121444"/>
                  <a:pt x="107156" y="121444"/>
                </a:cubicBezTo>
                <a:cubicBezTo>
                  <a:pt x="103214" y="121444"/>
                  <a:pt x="100013" y="118243"/>
                  <a:pt x="100013" y="114300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48" name="Text 45"/>
          <p:cNvSpPr/>
          <p:nvPr/>
        </p:nvSpPr>
        <p:spPr>
          <a:xfrm>
            <a:off x="7842870" y="2638425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后端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7576170" y="2905125"/>
            <a:ext cx="4029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FastAPI + MongoDB + Redis,高性能架构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7461870" y="3286125"/>
            <a:ext cx="4191000" cy="685800"/>
          </a:xfrm>
          <a:custGeom>
            <a:avLst/>
            <a:gdLst/>
            <a:ahLst/>
            <a:cxnLst/>
            <a:rect l="l" t="t" r="r" b="b"/>
            <a:pathLst>
              <a:path w="4191000" h="685800">
                <a:moveTo>
                  <a:pt x="76199" y="0"/>
                </a:moveTo>
                <a:lnTo>
                  <a:pt x="4114801" y="0"/>
                </a:lnTo>
                <a:cubicBezTo>
                  <a:pt x="4156884" y="0"/>
                  <a:pt x="4191000" y="34116"/>
                  <a:pt x="4191000" y="76199"/>
                </a:cubicBezTo>
                <a:lnTo>
                  <a:pt x="4191000" y="609601"/>
                </a:lnTo>
                <a:cubicBezTo>
                  <a:pt x="4191000" y="651684"/>
                  <a:pt x="4156884" y="685800"/>
                  <a:pt x="41148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51" name="Shape 48"/>
          <p:cNvSpPr/>
          <p:nvPr/>
        </p:nvSpPr>
        <p:spPr>
          <a:xfrm>
            <a:off x="7595220" y="34385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52" name="Text 49"/>
          <p:cNvSpPr/>
          <p:nvPr/>
        </p:nvSpPr>
        <p:spPr>
          <a:xfrm>
            <a:off x="7842870" y="3400425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分析引擎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7576170" y="3667125"/>
            <a:ext cx="4029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多智能体协作,LangGraph工作流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7461870" y="4048125"/>
            <a:ext cx="4191000" cy="685800"/>
          </a:xfrm>
          <a:custGeom>
            <a:avLst/>
            <a:gdLst/>
            <a:ahLst/>
            <a:cxnLst/>
            <a:rect l="l" t="t" r="r" b="b"/>
            <a:pathLst>
              <a:path w="4191000" h="685800">
                <a:moveTo>
                  <a:pt x="76199" y="0"/>
                </a:moveTo>
                <a:lnTo>
                  <a:pt x="4114801" y="0"/>
                </a:lnTo>
                <a:cubicBezTo>
                  <a:pt x="4156884" y="0"/>
                  <a:pt x="4191000" y="34116"/>
                  <a:pt x="4191000" y="76199"/>
                </a:cubicBezTo>
                <a:lnTo>
                  <a:pt x="4191000" y="609601"/>
                </a:lnTo>
                <a:cubicBezTo>
                  <a:pt x="4191000" y="651684"/>
                  <a:pt x="4156884" y="685800"/>
                  <a:pt x="41148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</p:spPr>
      </p:sp>
      <p:sp>
        <p:nvSpPr>
          <p:cNvPr id="55" name="Shape 52"/>
          <p:cNvSpPr/>
          <p:nvPr/>
        </p:nvSpPr>
        <p:spPr>
          <a:xfrm>
            <a:off x="7604745" y="42005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D4A373"/>
          </a:solidFill>
        </p:spPr>
      </p:sp>
      <p:sp>
        <p:nvSpPr>
          <p:cNvPr id="56" name="Text 53"/>
          <p:cNvSpPr/>
          <p:nvPr/>
        </p:nvSpPr>
        <p:spPr>
          <a:xfrm>
            <a:off x="7842870" y="4162425"/>
            <a:ext cx="533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数据层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7576170" y="4429125"/>
            <a:ext cx="4029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多数据源融合,智能缓存机制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7304708" y="5014913"/>
            <a:ext cx="4505325" cy="1114425"/>
          </a:xfrm>
          <a:custGeom>
            <a:avLst/>
            <a:gdLst/>
            <a:ahLst/>
            <a:cxnLst/>
            <a:rect l="l" t="t" r="r" b="b"/>
            <a:pathLst>
              <a:path w="4505325" h="1114425">
                <a:moveTo>
                  <a:pt x="114295" y="0"/>
                </a:moveTo>
                <a:lnTo>
                  <a:pt x="4391030" y="0"/>
                </a:lnTo>
                <a:cubicBezTo>
                  <a:pt x="4454111" y="0"/>
                  <a:pt x="4505325" y="51214"/>
                  <a:pt x="4505325" y="114295"/>
                </a:cubicBezTo>
                <a:lnTo>
                  <a:pt x="4505325" y="1000130"/>
                </a:lnTo>
                <a:cubicBezTo>
                  <a:pt x="4505325" y="1063211"/>
                  <a:pt x="4454111" y="1114425"/>
                  <a:pt x="4391030" y="1114425"/>
                </a:cubicBezTo>
                <a:lnTo>
                  <a:pt x="114295" y="1114425"/>
                </a:lnTo>
                <a:cubicBezTo>
                  <a:pt x="51214" y="1114425"/>
                  <a:pt x="0" y="1063211"/>
                  <a:pt x="0" y="100013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373">
                  <a:alpha val="30000"/>
                </a:srgbClr>
              </a:gs>
              <a:gs pos="100000">
                <a:srgbClr val="4A6C8C">
                  <a:alpha val="30000"/>
                </a:srgbClr>
              </a:gs>
            </a:gsLst>
            <a:lin ang="2700000" scaled="1"/>
          </a:gradFill>
          <a:ln w="12700">
            <a:solidFill>
              <a:srgbClr val="D4A373">
                <a:alpha val="50196"/>
              </a:srgbClr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7404720" y="5172075"/>
            <a:ext cx="4305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0F0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期待与您合作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8963695" y="55816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2502" y="16669"/>
                </a:moveTo>
                <a:cubicBezTo>
                  <a:pt x="5600" y="16669"/>
                  <a:pt x="0" y="22268"/>
                  <a:pt x="0" y="29170"/>
                </a:cubicBezTo>
                <a:cubicBezTo>
                  <a:pt x="0" y="33103"/>
                  <a:pt x="1849" y="36801"/>
                  <a:pt x="5001" y="39172"/>
                </a:cubicBezTo>
                <a:lnTo>
                  <a:pt x="59174" y="79802"/>
                </a:lnTo>
                <a:cubicBezTo>
                  <a:pt x="63628" y="83135"/>
                  <a:pt x="69722" y="83135"/>
                  <a:pt x="74176" y="79802"/>
                </a:cubicBezTo>
                <a:lnTo>
                  <a:pt x="128349" y="39172"/>
                </a:lnTo>
                <a:cubicBezTo>
                  <a:pt x="131501" y="36801"/>
                  <a:pt x="133350" y="33103"/>
                  <a:pt x="133350" y="29170"/>
                </a:cubicBezTo>
                <a:cubicBezTo>
                  <a:pt x="133350" y="22268"/>
                  <a:pt x="127750" y="16669"/>
                  <a:pt x="120848" y="16669"/>
                </a:cubicBezTo>
                <a:lnTo>
                  <a:pt x="12502" y="16669"/>
                </a:lnTo>
                <a:close/>
                <a:moveTo>
                  <a:pt x="0" y="51048"/>
                </a:moveTo>
                <a:lnTo>
                  <a:pt x="0" y="100013"/>
                </a:lnTo>
                <a:cubicBezTo>
                  <a:pt x="0" y="109206"/>
                  <a:pt x="7475" y="116681"/>
                  <a:pt x="16669" y="116681"/>
                </a:cubicBezTo>
                <a:lnTo>
                  <a:pt x="116681" y="116681"/>
                </a:lnTo>
                <a:cubicBezTo>
                  <a:pt x="125875" y="116681"/>
                  <a:pt x="133350" y="109206"/>
                  <a:pt x="133350" y="100013"/>
                </a:cubicBezTo>
                <a:lnTo>
                  <a:pt x="133350" y="51048"/>
                </a:lnTo>
                <a:lnTo>
                  <a:pt x="81677" y="89803"/>
                </a:lnTo>
                <a:cubicBezTo>
                  <a:pt x="72796" y="96470"/>
                  <a:pt x="60554" y="96470"/>
                  <a:pt x="51673" y="89803"/>
                </a:cubicBezTo>
                <a:lnTo>
                  <a:pt x="0" y="51048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61" name="Text 58"/>
          <p:cNvSpPr/>
          <p:nvPr/>
        </p:nvSpPr>
        <p:spPr>
          <a:xfrm>
            <a:off x="9154195" y="5553075"/>
            <a:ext cx="1047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62" name="Shape 59"/>
          <p:cNvSpPr/>
          <p:nvPr/>
        </p:nvSpPr>
        <p:spPr>
          <a:xfrm>
            <a:off x="8799537" y="58102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91652" y="72926"/>
                </a:moveTo>
                <a:lnTo>
                  <a:pt x="41932" y="72926"/>
                </a:lnTo>
                <a:cubicBezTo>
                  <a:pt x="42688" y="89725"/>
                  <a:pt x="46412" y="105195"/>
                  <a:pt x="51699" y="116525"/>
                </a:cubicBezTo>
                <a:cubicBezTo>
                  <a:pt x="54668" y="122906"/>
                  <a:pt x="57872" y="127412"/>
                  <a:pt x="60841" y="130173"/>
                </a:cubicBezTo>
                <a:cubicBezTo>
                  <a:pt x="63758" y="132907"/>
                  <a:pt x="65763" y="133350"/>
                  <a:pt x="66805" y="133350"/>
                </a:cubicBezTo>
                <a:cubicBezTo>
                  <a:pt x="67847" y="133350"/>
                  <a:pt x="69852" y="132907"/>
                  <a:pt x="72770" y="130173"/>
                </a:cubicBezTo>
                <a:cubicBezTo>
                  <a:pt x="75739" y="127412"/>
                  <a:pt x="78942" y="122880"/>
                  <a:pt x="81911" y="116525"/>
                </a:cubicBezTo>
                <a:cubicBezTo>
                  <a:pt x="87198" y="105195"/>
                  <a:pt x="90923" y="89725"/>
                  <a:pt x="91678" y="72926"/>
                </a:cubicBezTo>
                <a:close/>
                <a:moveTo>
                  <a:pt x="41906" y="60424"/>
                </a:moveTo>
                <a:lnTo>
                  <a:pt x="91626" y="60424"/>
                </a:lnTo>
                <a:cubicBezTo>
                  <a:pt x="90897" y="43625"/>
                  <a:pt x="87172" y="28155"/>
                  <a:pt x="81885" y="16825"/>
                </a:cubicBezTo>
                <a:cubicBezTo>
                  <a:pt x="78916" y="10470"/>
                  <a:pt x="75713" y="5938"/>
                  <a:pt x="72743" y="3177"/>
                </a:cubicBezTo>
                <a:cubicBezTo>
                  <a:pt x="69826" y="443"/>
                  <a:pt x="67821" y="0"/>
                  <a:pt x="66779" y="0"/>
                </a:cubicBezTo>
                <a:cubicBezTo>
                  <a:pt x="65737" y="0"/>
                  <a:pt x="63732" y="443"/>
                  <a:pt x="60815" y="3177"/>
                </a:cubicBezTo>
                <a:cubicBezTo>
                  <a:pt x="57846" y="5938"/>
                  <a:pt x="54642" y="10470"/>
                  <a:pt x="51673" y="16825"/>
                </a:cubicBezTo>
                <a:cubicBezTo>
                  <a:pt x="46386" y="28155"/>
                  <a:pt x="42662" y="43625"/>
                  <a:pt x="41906" y="60424"/>
                </a:cubicBezTo>
                <a:close/>
                <a:moveTo>
                  <a:pt x="29405" y="60424"/>
                </a:moveTo>
                <a:cubicBezTo>
                  <a:pt x="30316" y="38130"/>
                  <a:pt x="36072" y="17424"/>
                  <a:pt x="44485" y="3829"/>
                </a:cubicBezTo>
                <a:cubicBezTo>
                  <a:pt x="20497" y="12319"/>
                  <a:pt x="2839" y="34171"/>
                  <a:pt x="391" y="60424"/>
                </a:cubicBezTo>
                <a:lnTo>
                  <a:pt x="29405" y="60424"/>
                </a:lnTo>
                <a:close/>
                <a:moveTo>
                  <a:pt x="391" y="72926"/>
                </a:moveTo>
                <a:cubicBezTo>
                  <a:pt x="2839" y="99179"/>
                  <a:pt x="20497" y="121031"/>
                  <a:pt x="44485" y="129521"/>
                </a:cubicBezTo>
                <a:cubicBezTo>
                  <a:pt x="36072" y="115926"/>
                  <a:pt x="30316" y="95220"/>
                  <a:pt x="29405" y="72926"/>
                </a:cubicBezTo>
                <a:lnTo>
                  <a:pt x="391" y="72926"/>
                </a:lnTo>
                <a:close/>
                <a:moveTo>
                  <a:pt x="104154" y="72926"/>
                </a:moveTo>
                <a:cubicBezTo>
                  <a:pt x="103242" y="95220"/>
                  <a:pt x="97486" y="115926"/>
                  <a:pt x="89074" y="129521"/>
                </a:cubicBezTo>
                <a:cubicBezTo>
                  <a:pt x="113061" y="121005"/>
                  <a:pt x="130719" y="99179"/>
                  <a:pt x="133168" y="72926"/>
                </a:cubicBezTo>
                <a:lnTo>
                  <a:pt x="104154" y="72926"/>
                </a:lnTo>
                <a:close/>
                <a:moveTo>
                  <a:pt x="133168" y="60424"/>
                </a:moveTo>
                <a:cubicBezTo>
                  <a:pt x="130719" y="34171"/>
                  <a:pt x="113061" y="12319"/>
                  <a:pt x="89074" y="3829"/>
                </a:cubicBezTo>
                <a:cubicBezTo>
                  <a:pt x="97486" y="17424"/>
                  <a:pt x="103242" y="38130"/>
                  <a:pt x="104154" y="60424"/>
                </a:cubicBezTo>
                <a:lnTo>
                  <a:pt x="133168" y="60424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63" name="Text 60"/>
          <p:cNvSpPr/>
          <p:nvPr/>
        </p:nvSpPr>
        <p:spPr>
          <a:xfrm>
            <a:off x="8990037" y="5781675"/>
            <a:ext cx="13716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64" name="Shape 61"/>
          <p:cNvSpPr/>
          <p:nvPr/>
        </p:nvSpPr>
        <p:spPr>
          <a:xfrm>
            <a:off x="4842867" y="6253163"/>
            <a:ext cx="2505075" cy="428625"/>
          </a:xfrm>
          <a:custGeom>
            <a:avLst/>
            <a:gdLst/>
            <a:ahLst/>
            <a:cxnLst/>
            <a:rect l="l" t="t" r="r" b="b"/>
            <a:pathLst>
              <a:path w="2505075" h="428625">
                <a:moveTo>
                  <a:pt x="76201" y="0"/>
                </a:moveTo>
                <a:lnTo>
                  <a:pt x="2428874" y="0"/>
                </a:lnTo>
                <a:cubicBezTo>
                  <a:pt x="2470959" y="0"/>
                  <a:pt x="2505075" y="34116"/>
                  <a:pt x="2505075" y="76201"/>
                </a:cubicBezTo>
                <a:lnTo>
                  <a:pt x="2505075" y="352424"/>
                </a:lnTo>
                <a:cubicBezTo>
                  <a:pt x="2505075" y="394509"/>
                  <a:pt x="2470959" y="428625"/>
                  <a:pt x="2428874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 w="1270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5033367" y="6353175"/>
            <a:ext cx="212519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D4A37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让AI成为您的专业投资顾问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3720</Words>
  <Application>WPS 演示</Application>
  <PresentationFormat>On-screen Show (16:9)</PresentationFormat>
  <Paragraphs>861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宋体</vt:lpstr>
      <vt:lpstr>Wingdings</vt:lpstr>
      <vt:lpstr>MiSans</vt:lpstr>
      <vt:lpstr>MiSans</vt:lpstr>
      <vt:lpstr>微软雅黑</vt:lpstr>
      <vt:lpstr>微软雅黑</vt:lpstr>
      <vt:lpstr>Calibri</vt:lpstr>
      <vt:lpstr>Arial Unicode MS</vt:lpstr>
      <vt:lpstr>等线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Ares 智能研报 - 商业演示</dc:title>
  <dc:creator>Kimi</dc:creator>
  <dc:subject>Ares 智能研报 - 商业演示</dc:subject>
  <cp:lastModifiedBy>杨琦</cp:lastModifiedBy>
  <cp:revision>4</cp:revision>
  <dcterms:created xsi:type="dcterms:W3CDTF">2026-02-13T12:30:00Z</dcterms:created>
  <dcterms:modified xsi:type="dcterms:W3CDTF">2026-03-07T06:54:37Z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{"Label":"Ares 智能研报 - 商业演示","ContentProducer":"001191110108MACG2KBH8F10000","ProduceID":"19c56f52-7cb2-82c1-8000-000097857bd9","ReservedCode1":"","ContentPropagator":"001191110108MACG2KBH8F20000","PropagateID":"19c56f52-7cb2-82c1-8000-000097857bd9","ReservedCode2":""}</vt:lpwstr>
  </property>
  <property fmtid="{D5CDD505-2E9C-101B-9397-08002B2CF9AE}" pid="3" name="ICV">
    <vt:lpwstr>9349AD55F50E4C6BB4779C934C58E5A8_12</vt:lpwstr>
  </property>
  <property fmtid="{D5CDD505-2E9C-101B-9397-08002B2CF9AE}" pid="4" name="KSOProductBuildVer">
    <vt:lpwstr>2052-12.1.0.25225</vt:lpwstr>
  </property>
</Properties>
</file>